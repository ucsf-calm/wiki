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vml" ContentType="application/vnd.openxmlformats-officedocument.vmlDrawing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8"/>
  </p:notesMasterIdLst>
  <p:sldIdLst>
    <p:sldId id="549" r:id="rId2"/>
    <p:sldId id="617" r:id="rId3"/>
    <p:sldId id="588" r:id="rId4"/>
    <p:sldId id="589" r:id="rId5"/>
    <p:sldId id="590" r:id="rId6"/>
    <p:sldId id="591" r:id="rId7"/>
    <p:sldId id="583" r:id="rId8"/>
    <p:sldId id="584" r:id="rId9"/>
    <p:sldId id="586" r:id="rId10"/>
    <p:sldId id="592" r:id="rId11"/>
    <p:sldId id="593" r:id="rId12"/>
    <p:sldId id="582" r:id="rId13"/>
    <p:sldId id="559" r:id="rId14"/>
    <p:sldId id="560" r:id="rId15"/>
    <p:sldId id="594" r:id="rId16"/>
    <p:sldId id="580" r:id="rId17"/>
    <p:sldId id="524" r:id="rId18"/>
    <p:sldId id="525" r:id="rId19"/>
    <p:sldId id="522" r:id="rId20"/>
    <p:sldId id="523" r:id="rId21"/>
    <p:sldId id="562" r:id="rId22"/>
    <p:sldId id="563" r:id="rId23"/>
    <p:sldId id="564" r:id="rId24"/>
    <p:sldId id="565" r:id="rId25"/>
    <p:sldId id="595" r:id="rId26"/>
    <p:sldId id="596" r:id="rId27"/>
    <p:sldId id="518" r:id="rId28"/>
    <p:sldId id="570" r:id="rId29"/>
    <p:sldId id="526" r:id="rId30"/>
    <p:sldId id="572" r:id="rId31"/>
    <p:sldId id="573" r:id="rId32"/>
    <p:sldId id="574" r:id="rId33"/>
    <p:sldId id="519" r:id="rId34"/>
    <p:sldId id="531" r:id="rId35"/>
    <p:sldId id="532" r:id="rId36"/>
    <p:sldId id="534" r:id="rId37"/>
    <p:sldId id="575" r:id="rId38"/>
    <p:sldId id="579" r:id="rId39"/>
    <p:sldId id="597" r:id="rId40"/>
    <p:sldId id="598" r:id="rId41"/>
    <p:sldId id="599" r:id="rId42"/>
    <p:sldId id="600" r:id="rId43"/>
    <p:sldId id="601" r:id="rId44"/>
    <p:sldId id="602" r:id="rId45"/>
    <p:sldId id="603" r:id="rId46"/>
    <p:sldId id="604" r:id="rId47"/>
    <p:sldId id="605" r:id="rId48"/>
    <p:sldId id="606" r:id="rId49"/>
    <p:sldId id="607" r:id="rId50"/>
    <p:sldId id="608" r:id="rId51"/>
    <p:sldId id="609" r:id="rId52"/>
    <p:sldId id="612" r:id="rId53"/>
    <p:sldId id="613" r:id="rId54"/>
    <p:sldId id="614" r:id="rId55"/>
    <p:sldId id="615" r:id="rId56"/>
    <p:sldId id="485" r:id="rId5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FFE0"/>
    <a:srgbClr val="66FFCC"/>
    <a:srgbClr val="00CC00"/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0" autoAdjust="0"/>
    <p:restoredTop sz="94660"/>
  </p:normalViewPr>
  <p:slideViewPr>
    <p:cSldViewPr>
      <p:cViewPr varScale="1">
        <p:scale>
          <a:sx n="104" d="100"/>
          <a:sy n="104" d="100"/>
        </p:scale>
        <p:origin x="-1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8DD8A68-2F37-4844-AF8D-D69507D00CC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C0E3F-0D15-4F82-B1EB-2B4D76F1AD1B}" type="slidenum">
              <a:rPr lang="en-US"/>
              <a:pPr/>
              <a:t>1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702DDA-73EE-4D95-99D4-AD365A5628FA}" type="slidenum">
              <a:rPr lang="en-US"/>
              <a:pPr/>
              <a:t>2</a:t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2DEDE8-D55A-4C40-93AC-90DF7C2FF7B4}" type="slidenum">
              <a:rPr lang="en-US"/>
              <a:pPr/>
              <a:t>7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814CF-D09F-4973-87BF-2313256EF9FA}" type="slidenum">
              <a:rPr lang="en-US"/>
              <a:pPr/>
              <a:t>8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45F52B-A99E-4228-8FDA-59B0A668576C}" type="slidenum">
              <a:rPr lang="en-US"/>
              <a:pPr/>
              <a:t>9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0BB77-B3E4-4266-8D5F-3D94FD1F3B21}" type="slidenum">
              <a:rPr lang="en-US"/>
              <a:pPr/>
              <a:t>12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750EA-B269-4156-BC67-6FE854854899}" type="slidenum">
              <a:rPr lang="en-US"/>
              <a:pPr/>
              <a:t>13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744903-7689-481B-84E2-18FC14430A0E}" type="slidenum">
              <a:rPr lang="en-US"/>
              <a:pPr/>
              <a:t>14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1836C-B273-4E2B-BC21-739FFE2992B3}" type="slidenum">
              <a:rPr lang="en-US"/>
              <a:pPr/>
              <a:t>16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CD27FB-0545-4A7C-9E7F-257510D60F11}" type="slidenum">
              <a:rPr lang="en-US"/>
              <a:pPr/>
              <a:t>17</a:t>
            </a:fld>
            <a:endParaRPr lang="en-US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7105F-018D-4682-88C3-76AB0660AB98}" type="slidenum">
              <a:rPr lang="en-US"/>
              <a:pPr/>
              <a:t>18</a:t>
            </a:fld>
            <a:endParaRPr lang="en-US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A35-2107-4197-AA7E-FF1DE4E559DF}" type="slidenum">
              <a:rPr lang="en-US"/>
              <a:pPr/>
              <a:t>19</a:t>
            </a:fld>
            <a:endParaRPr lang="en-US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D89B-DF18-4DEA-A4F4-F7F2B63B2BBE}" type="slidenum">
              <a:rPr lang="en-US"/>
              <a:pPr/>
              <a:t>20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E8008-E243-4DC9-8B7F-5D6A56143346}" type="slidenum">
              <a:rPr lang="en-US"/>
              <a:pPr/>
              <a:t>21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82D4C-3E36-4993-9BFB-93589FF2288F}" type="slidenum">
              <a:rPr lang="en-US"/>
              <a:pPr/>
              <a:t>22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A7B12C-CC32-4407-9EB9-5100DD38A8FA}" type="slidenum">
              <a:rPr lang="en-US"/>
              <a:pPr/>
              <a:t>23</a:t>
            </a:fld>
            <a:endParaRPr lang="en-US"/>
          </a:p>
        </p:txBody>
      </p:sp>
      <p:sp>
        <p:nvSpPr>
          <p:cNvPr id="50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584C2-470F-48F6-830D-5BDF52F58976}" type="slidenum">
              <a:rPr lang="en-US"/>
              <a:pPr/>
              <a:t>24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9CB4F-F7F8-4B10-BDA3-C837EADB4572}" type="slidenum">
              <a:rPr lang="en-US"/>
              <a:pPr/>
              <a:t>27</a:t>
            </a:fld>
            <a:endParaRPr 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E8E91-D093-464C-958B-F42A089197F5}" type="slidenum">
              <a:rPr lang="en-US"/>
              <a:pPr/>
              <a:t>28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4A648-D597-4F2D-9FD6-127327AE06FE}" type="slidenum">
              <a:rPr lang="en-US"/>
              <a:pPr/>
              <a:t>29</a:t>
            </a:fld>
            <a:endParaRPr lang="en-US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4C6451-9540-43EC-8FBE-0F2ADFA74FE7}" type="slidenum">
              <a:rPr lang="en-US"/>
              <a:pPr/>
              <a:t>30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D3247-65ED-408B-B9D0-F8BD61C9F377}" type="slidenum">
              <a:rPr lang="en-US"/>
              <a:pPr/>
              <a:t>31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7EEB7-2F49-4B39-85A1-397A10031A9B}" type="slidenum">
              <a:rPr lang="en-US"/>
              <a:pPr/>
              <a:t>32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4E99FB-A0AB-4A21-806E-ACFF51D40FA2}" type="slidenum">
              <a:rPr lang="en-US"/>
              <a:pPr/>
              <a:t>33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C1D9-7AC5-46BE-B715-2F4C90D454C7}" type="slidenum">
              <a:rPr lang="en-US"/>
              <a:pPr/>
              <a:t>34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35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CA9BA-2BBB-468F-B5A7-00D1D9533687}" type="slidenum">
              <a:rPr lang="en-US"/>
              <a:pPr/>
              <a:t>36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C427A-B3ED-4F4C-9444-C26455A129CC}" type="slidenum">
              <a:rPr lang="en-US"/>
              <a:pPr/>
              <a:t>37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D587E-17F6-471A-84D5-14B0BF2F940D}" type="slidenum">
              <a:rPr lang="en-US"/>
              <a:pPr/>
              <a:t>38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F26E1-6076-42CB-A61B-BDCB0F090DBC}" type="slidenum">
              <a:rPr lang="en-US"/>
              <a:pPr/>
              <a:t>56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BF809-DD56-4E50-8B9D-7EA4C2827E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72FF8-6030-4C33-9E20-1EC600389E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0A5ED-27EB-4298-9402-79666ADB88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819A-0765-491C-ACF8-208FB98C35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090D1-2A66-463B-B200-CF568CDA1E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57C18-4DE3-49A9-BCA6-FF0A4E01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52CDA-3C57-4AE6-B3A7-96C93E98F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F0AD-436B-4336-85E8-6FA2109A7C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E460E-A5E3-4CD3-860F-4A92CAF92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F0A3-1742-4720-B2A7-3CD2F67CE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AA44B-1395-47B3-A25C-050F024A9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582690D-F12C-40BB-AA74-A7EC309E67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07231C-495D-4609-8D86-44304D3D6E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62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1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8.png"/><Relationship Id="rId7" Type="http://schemas.openxmlformats.org/officeDocument/2006/relationships/image" Target="../media/image63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7.wmf"/><Relationship Id="rId4" Type="http://schemas.openxmlformats.org/officeDocument/2006/relationships/image" Target="../media/image12.wmf"/><Relationship Id="rId9" Type="http://schemas.openxmlformats.org/officeDocument/2006/relationships/image" Target="../media/image1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72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815711"/>
            <a:ext cx="5673725" cy="4127889"/>
          </a:xfrm>
          <a:prstGeom prst="rect">
            <a:avLst/>
          </a:prstGeom>
          <a:noFill/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5486400" y="6172200"/>
            <a:ext cx="1795724" cy="2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(Image: T. </a:t>
            </a:r>
            <a:r>
              <a:rPr lang="en-US" sz="1000" b="0" dirty="0" err="1">
                <a:solidFill>
                  <a:schemeClr val="folHlink"/>
                </a:solidFill>
                <a:latin typeface="Helvetica" pitchFamily="34" charset="0"/>
              </a:rPr>
              <a:t>Wittman</a:t>
            </a:r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, Scripps)</a:t>
            </a:r>
            <a:endParaRPr lang="en-US" sz="1000" b="0" dirty="0">
              <a:solidFill>
                <a:schemeClr val="folHlink"/>
              </a:solidFill>
              <a:latin typeface="Times" pitchFamily="18" charset="0"/>
            </a:endParaRPr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7221538" y="704850"/>
            <a:ext cx="0" cy="42261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8001000" y="1414463"/>
            <a:ext cx="185738" cy="506253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685800" y="282575"/>
            <a:ext cx="77724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Principles &amp; Practice of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Light Microscopy: 2</a:t>
            </a:r>
            <a:endParaRPr lang="en-US" sz="3600" dirty="0">
              <a:solidFill>
                <a:srgbClr val="CC00CC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2" name="Rectangle 22"/>
          <p:cNvSpPr>
            <a:spLocks noChangeArrowheads="1"/>
          </p:cNvSpPr>
          <p:nvPr/>
        </p:nvSpPr>
        <p:spPr bwMode="auto">
          <a:xfrm>
            <a:off x="3149600" y="2133600"/>
            <a:ext cx="2776538" cy="3657600"/>
          </a:xfrm>
          <a:prstGeom prst="rect">
            <a:avLst/>
          </a:prstGeom>
          <a:solidFill>
            <a:srgbClr val="A3FFE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3" name="Rectangle 2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77863"/>
          </a:xfrm>
        </p:spPr>
        <p:txBody>
          <a:bodyPr/>
          <a:lstStyle/>
          <a:p>
            <a:r>
              <a:rPr lang="en-US" dirty="0"/>
              <a:t>Light travels more slowly in matter</a:t>
            </a:r>
          </a:p>
        </p:txBody>
      </p:sp>
      <p:pic>
        <p:nvPicPr>
          <p:cNvPr id="35914" name="Picture 7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738" y="3054350"/>
            <a:ext cx="2249487" cy="1816100"/>
          </a:xfrm>
          <a:prstGeom prst="rect">
            <a:avLst/>
          </a:prstGeom>
          <a:noFill/>
        </p:spPr>
      </p:pic>
      <p:pic>
        <p:nvPicPr>
          <p:cNvPr id="35917" name="Picture 7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988" y="3054350"/>
            <a:ext cx="2249487" cy="1816100"/>
          </a:xfrm>
          <a:prstGeom prst="rect">
            <a:avLst/>
          </a:prstGeom>
          <a:noFill/>
        </p:spPr>
      </p:pic>
      <p:pic>
        <p:nvPicPr>
          <p:cNvPr id="35918" name="Picture 7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0225" y="3059113"/>
            <a:ext cx="2925763" cy="1808162"/>
          </a:xfrm>
          <a:prstGeom prst="rect">
            <a:avLst/>
          </a:prstGeom>
          <a:noFill/>
        </p:spPr>
      </p:pic>
      <p:sp>
        <p:nvSpPr>
          <p:cNvPr id="35919" name="Rectangle 79"/>
          <p:cNvSpPr>
            <a:spLocks noChangeArrowheads="1"/>
          </p:cNvSpPr>
          <p:nvPr/>
        </p:nvSpPr>
        <p:spPr bwMode="auto">
          <a:xfrm>
            <a:off x="1506538" y="2309813"/>
            <a:ext cx="7413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1</a:t>
            </a:r>
          </a:p>
        </p:txBody>
      </p:sp>
      <p:sp>
        <p:nvSpPr>
          <p:cNvPr id="35920" name="Rectangle 80"/>
          <p:cNvSpPr>
            <a:spLocks noChangeArrowheads="1"/>
          </p:cNvSpPr>
          <p:nvPr/>
        </p:nvSpPr>
        <p:spPr bwMode="auto">
          <a:xfrm>
            <a:off x="4130675" y="2309813"/>
            <a:ext cx="7302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&gt; 1</a:t>
            </a:r>
          </a:p>
        </p:txBody>
      </p:sp>
      <p:sp>
        <p:nvSpPr>
          <p:cNvPr id="35921" name="Rectangle 81"/>
          <p:cNvSpPr>
            <a:spLocks noChangeArrowheads="1"/>
          </p:cNvSpPr>
          <p:nvPr/>
        </p:nvSpPr>
        <p:spPr bwMode="auto">
          <a:xfrm>
            <a:off x="6561138" y="2309813"/>
            <a:ext cx="7413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1</a:t>
            </a:r>
          </a:p>
        </p:txBody>
      </p:sp>
      <p:sp>
        <p:nvSpPr>
          <p:cNvPr id="35922" name="Line 82"/>
          <p:cNvSpPr>
            <a:spLocks noChangeShapeType="1"/>
          </p:cNvSpPr>
          <p:nvPr/>
        </p:nvSpPr>
        <p:spPr bwMode="auto">
          <a:xfrm>
            <a:off x="8212138" y="3952875"/>
            <a:ext cx="6270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09600" y="10668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Chalkboard"/>
              </a:rPr>
              <a:t>Velocity</a:t>
            </a:r>
            <a:r>
              <a:rPr lang="en-US" sz="2000" b="0" dirty="0" smtClean="0">
                <a:latin typeface="Arial"/>
                <a:cs typeface="Arial"/>
              </a:rPr>
              <a:t> </a:t>
            </a:r>
            <a:r>
              <a:rPr lang="en-US" sz="2000" b="0" dirty="0" smtClean="0">
                <a:latin typeface="Arial"/>
                <a:cs typeface="Arial"/>
              </a:rPr>
              <a:t>slower</a:t>
            </a:r>
          </a:p>
          <a:p>
            <a:r>
              <a:rPr lang="en-US" sz="2000" b="0" dirty="0" smtClean="0">
                <a:latin typeface="Arial"/>
                <a:cs typeface="Arial"/>
              </a:rPr>
              <a:t>Wavelength slower</a:t>
            </a:r>
            <a:endParaRPr lang="en-US" sz="2000" b="0" dirty="0">
              <a:latin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1066800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Chalkboard"/>
              </a:rPr>
              <a:t>Frequency unchanged</a:t>
            </a:r>
            <a:endParaRPr lang="en-US" sz="2000" b="0" dirty="0" smtClean="0">
              <a:latin typeface="Arial"/>
              <a:cs typeface="Arial"/>
            </a:endParaRPr>
          </a:p>
          <a:p>
            <a:r>
              <a:rPr lang="en-US" sz="2000" b="0" dirty="0" smtClean="0">
                <a:latin typeface="Arial"/>
                <a:cs typeface="Arial"/>
              </a:rPr>
              <a:t>Energy unchanged</a:t>
            </a:r>
            <a:endParaRPr lang="en-US" sz="2000" b="0" dirty="0">
              <a:latin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10668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1" dirty="0" smtClean="0">
                <a:latin typeface="Chalkboard"/>
              </a:rPr>
              <a:t>E = </a:t>
            </a:r>
            <a:r>
              <a:rPr lang="en-US" sz="2000" b="0" i="1" dirty="0" err="1" smtClean="0">
                <a:latin typeface="Chalkboard"/>
              </a:rPr>
              <a:t>h</a:t>
            </a:r>
            <a:r>
              <a:rPr lang="en-US" sz="2000" b="0" i="1" dirty="0" err="1" smtClean="0">
                <a:latin typeface="Symbol" pitchFamily="18" charset="2"/>
              </a:rPr>
              <a:t>n</a:t>
            </a:r>
            <a:endParaRPr lang="en-US" sz="2000" b="0" i="1" dirty="0" smtClean="0">
              <a:latin typeface="Symbol" pitchFamily="18" charset="2"/>
              <a:cs typeface="Arial"/>
            </a:endParaRPr>
          </a:p>
          <a:p>
            <a:r>
              <a:rPr lang="en-US" sz="2000" b="0" i="1" dirty="0" smtClean="0">
                <a:latin typeface="Symbol" pitchFamily="18" charset="2"/>
                <a:cs typeface="Arial"/>
              </a:rPr>
              <a:t>n</a:t>
            </a:r>
            <a:r>
              <a:rPr lang="en-US" sz="2000" b="0" i="1" dirty="0" smtClean="0">
                <a:latin typeface="Arial"/>
                <a:cs typeface="Arial"/>
              </a:rPr>
              <a:t> = c/</a:t>
            </a:r>
            <a:r>
              <a:rPr lang="en-US" sz="2000" b="0" i="1" dirty="0" smtClean="0">
                <a:latin typeface="Symbol" pitchFamily="18" charset="2"/>
                <a:cs typeface="Arial"/>
              </a:rPr>
              <a:t>l</a:t>
            </a:r>
            <a:endParaRPr lang="en-US" sz="2000" b="0" i="1" dirty="0">
              <a:latin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rot="5400000">
            <a:off x="1983581" y="2672557"/>
            <a:ext cx="6588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5400000">
            <a:off x="1979613" y="3716338"/>
            <a:ext cx="666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96975" y="3044825"/>
            <a:ext cx="4508500" cy="307975"/>
            <a:chOff x="1731" y="1502"/>
            <a:chExt cx="2840" cy="434"/>
          </a:xfrm>
        </p:grpSpPr>
        <p:sp>
          <p:nvSpPr>
            <p:cNvPr id="19474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9476" name="Picture 20" descr="NA .1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>
          <a:xfrm>
            <a:off x="685800" y="136525"/>
            <a:ext cx="7772400" cy="609600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0485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5400000">
            <a:off x="2059781" y="2596357"/>
            <a:ext cx="506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rot="5400000">
            <a:off x="2043113" y="3779838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3325" y="2879725"/>
            <a:ext cx="4508500" cy="625475"/>
            <a:chOff x="1731" y="1502"/>
            <a:chExt cx="2840" cy="434"/>
          </a:xfrm>
        </p:grpSpPr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500" name="Picture 20" descr="NA .3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rot="5400000">
            <a:off x="2132013" y="2524125"/>
            <a:ext cx="361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rot="5400000">
            <a:off x="2123281" y="3860007"/>
            <a:ext cx="379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0150" y="2733675"/>
            <a:ext cx="4508500" cy="923925"/>
            <a:chOff x="1731" y="1502"/>
            <a:chExt cx="2840" cy="434"/>
          </a:xfrm>
        </p:grpSpPr>
        <p:sp>
          <p:nvSpPr>
            <p:cNvPr id="21522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24" name="Picture 20" descr="NA .4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38200" y="5334000"/>
            <a:ext cx="629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1800">
                <a:latin typeface="Chalkboard" charset="0"/>
              </a:rPr>
              <a:t>Image resolution improves with Numerical Aperture (NA)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2536" name="Freeform 8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Freeform 9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93800" y="2593975"/>
            <a:ext cx="4508500" cy="1216025"/>
            <a:chOff x="1731" y="1502"/>
            <a:chExt cx="2840" cy="434"/>
          </a:xfrm>
        </p:grpSpPr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1" name="Line 13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rot="5400000">
            <a:off x="2195513" y="2460625"/>
            <a:ext cx="234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rot="5400000">
            <a:off x="2186781" y="3923507"/>
            <a:ext cx="252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Freeform 16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Freeform 17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2551" name="Picture 23" descr="NA .5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828800"/>
            <a:ext cx="2741613" cy="2741613"/>
          </a:xfrm>
          <a:prstGeom prst="rect">
            <a:avLst/>
          </a:prstGeom>
          <a:noFill/>
        </p:spPr>
      </p:pic>
      <p:sp>
        <p:nvSpPr>
          <p:cNvPr id="22553" name="Arc 25"/>
          <p:cNvSpPr>
            <a:spLocks/>
          </p:cNvSpPr>
          <p:nvPr/>
        </p:nvSpPr>
        <p:spPr bwMode="auto">
          <a:xfrm>
            <a:off x="1219200" y="3052763"/>
            <a:ext cx="195263" cy="149225"/>
          </a:xfrm>
          <a:custGeom>
            <a:avLst/>
            <a:gdLst>
              <a:gd name="G0" fmla="+- 0 0 0"/>
              <a:gd name="G1" fmla="+- 16530 0 0"/>
              <a:gd name="G2" fmla="+- 21600 0 0"/>
              <a:gd name="T0" fmla="*/ 13903 w 21600"/>
              <a:gd name="T1" fmla="*/ 0 h 16530"/>
              <a:gd name="T2" fmla="*/ 21600 w 21600"/>
              <a:gd name="T3" fmla="*/ 16530 h 16530"/>
              <a:gd name="T4" fmla="*/ 0 w 21600"/>
              <a:gd name="T5" fmla="*/ 16530 h 16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30" fill="none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</a:path>
              <a:path w="21600" h="16530" stroke="0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  <a:lnTo>
                  <a:pt x="0" y="1653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357313" y="2859088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  <a:sym typeface="Symbol" charset="2"/>
              </a:rPr>
              <a:t></a:t>
            </a:r>
            <a:endParaRPr lang="en-US" sz="1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1095375" y="5924550"/>
            <a:ext cx="2011363" cy="508000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/>
            <a:r>
              <a:rPr lang="en-US" i="1">
                <a:latin typeface="Helvetica Neue" charset="0"/>
              </a:rPr>
              <a:t>NA</a:t>
            </a:r>
            <a:r>
              <a:rPr lang="en-US">
                <a:latin typeface="Helvetica Neue" charset="0"/>
              </a:rPr>
              <a:t> = </a:t>
            </a:r>
            <a:r>
              <a:rPr lang="en-US" i="1">
                <a:latin typeface="Helvetica Neue" charset="0"/>
              </a:rPr>
              <a:t>n</a:t>
            </a:r>
            <a:r>
              <a:rPr lang="en-US">
                <a:latin typeface="Helvetica Neue" charset="0"/>
              </a:rPr>
              <a:t> sin(</a:t>
            </a:r>
            <a:r>
              <a:rPr lang="en-US" i="1">
                <a:solidFill>
                  <a:schemeClr val="tx2"/>
                </a:solidFill>
                <a:latin typeface="Helvetica Neue" charset="0"/>
                <a:sym typeface="Symbol" charset="2"/>
              </a:rPr>
              <a:t></a:t>
            </a:r>
            <a:r>
              <a:rPr lang="en-US">
                <a:latin typeface="Helvetica Neue" charset="0"/>
              </a:rPr>
              <a:t>)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4445000" y="5808663"/>
            <a:ext cx="37290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  <a:sym typeface="Symbol" charset="2"/>
              </a:rPr>
              <a:t></a:t>
            </a:r>
            <a:r>
              <a:rPr lang="en-US" sz="2000">
                <a:latin typeface="Chalkboard" charset="0"/>
              </a:rPr>
              <a:t> = light gathering angle</a:t>
            </a:r>
          </a:p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refractive index of sample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3411538" y="5975350"/>
            <a:ext cx="9556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>
                <a:latin typeface="Chalkboard" charset="0"/>
              </a:rPr>
              <a:t>where:</a:t>
            </a: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2517775" y="131763"/>
            <a:ext cx="367347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Resolution</a:t>
            </a:r>
            <a:endParaRPr lang="en-US" altLang="en-US" sz="2800" b="1" u="sng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altLang="en-US" sz="2000" b="1">
                <a:solidFill>
                  <a:schemeClr val="tx2"/>
                </a:solidFill>
                <a:latin typeface="Chalkboard" charset="0"/>
              </a:rPr>
              <a:t>Ernst Abbe’s argument (1873)</a:t>
            </a: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714375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Chalkboard" charset="0"/>
              </a:rPr>
              <a:t>Sample</a:t>
            </a:r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123825" y="2657475"/>
            <a:ext cx="15192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Chalkboard" charset="0"/>
              </a:rPr>
              <a:t>Objective lens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471488" y="1503363"/>
            <a:ext cx="11572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Chalkboard" charset="0"/>
              </a:rPr>
              <a:t>Back focal</a:t>
            </a:r>
          </a:p>
          <a:p>
            <a:pPr algn="r"/>
            <a:r>
              <a:rPr lang="en-US" altLang="en-US" sz="1600">
                <a:latin typeface="Chalkboard" charset="0"/>
              </a:rPr>
              <a:t>plane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449263" y="4181475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Chalkboard" charset="0"/>
              </a:rPr>
              <a:t>Condenser</a:t>
            </a: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227013" y="47148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Chalkboard" charset="0"/>
              </a:rPr>
              <a:t>Light source</a:t>
            </a:r>
          </a:p>
        </p:txBody>
      </p:sp>
      <p:sp>
        <p:nvSpPr>
          <p:cNvPr id="105480" name="Freeform 8"/>
          <p:cNvSpPr>
            <a:spLocks/>
          </p:cNvSpPr>
          <p:nvPr/>
        </p:nvSpPr>
        <p:spPr bwMode="auto">
          <a:xfrm>
            <a:off x="1778000" y="25146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1" name="Freeform 9"/>
          <p:cNvSpPr>
            <a:spLocks/>
          </p:cNvSpPr>
          <p:nvPr/>
        </p:nvSpPr>
        <p:spPr bwMode="auto">
          <a:xfrm flipV="1">
            <a:off x="2393950" y="4327525"/>
            <a:ext cx="1330325" cy="168275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2" name="Freeform 10"/>
          <p:cNvSpPr>
            <a:spLocks/>
          </p:cNvSpPr>
          <p:nvPr/>
        </p:nvSpPr>
        <p:spPr bwMode="auto">
          <a:xfrm>
            <a:off x="2833688" y="4724400"/>
            <a:ext cx="590550" cy="369888"/>
          </a:xfrm>
          <a:custGeom>
            <a:avLst/>
            <a:gdLst/>
            <a:ahLst/>
            <a:cxnLst>
              <a:cxn ang="0">
                <a:pos x="96" y="297"/>
              </a:cxn>
              <a:cxn ang="0">
                <a:pos x="0" y="105"/>
              </a:cxn>
              <a:cxn ang="0">
                <a:pos x="96" y="9"/>
              </a:cxn>
              <a:cxn ang="0">
                <a:pos x="144" y="105"/>
              </a:cxn>
              <a:cxn ang="0">
                <a:pos x="96" y="105"/>
              </a:cxn>
              <a:cxn ang="0">
                <a:pos x="192" y="9"/>
              </a:cxn>
              <a:cxn ang="0">
                <a:pos x="288" y="105"/>
              </a:cxn>
              <a:cxn ang="0">
                <a:pos x="192" y="105"/>
              </a:cxn>
              <a:cxn ang="0">
                <a:pos x="336" y="9"/>
              </a:cxn>
              <a:cxn ang="0">
                <a:pos x="432" y="105"/>
              </a:cxn>
              <a:cxn ang="0">
                <a:pos x="336" y="105"/>
              </a:cxn>
              <a:cxn ang="0">
                <a:pos x="480" y="9"/>
              </a:cxn>
              <a:cxn ang="0">
                <a:pos x="528" y="57"/>
              </a:cxn>
              <a:cxn ang="0">
                <a:pos x="432" y="297"/>
              </a:cxn>
            </a:cxnLst>
            <a:rect l="0" t="0" r="r" b="b"/>
            <a:pathLst>
              <a:path w="536" h="297">
                <a:moveTo>
                  <a:pt x="96" y="297"/>
                </a:moveTo>
                <a:cubicBezTo>
                  <a:pt x="48" y="225"/>
                  <a:pt x="0" y="153"/>
                  <a:pt x="0" y="105"/>
                </a:cubicBezTo>
                <a:cubicBezTo>
                  <a:pt x="0" y="57"/>
                  <a:pt x="72" y="9"/>
                  <a:pt x="96" y="9"/>
                </a:cubicBezTo>
                <a:cubicBezTo>
                  <a:pt x="120" y="9"/>
                  <a:pt x="144" y="89"/>
                  <a:pt x="144" y="105"/>
                </a:cubicBezTo>
                <a:cubicBezTo>
                  <a:pt x="144" y="121"/>
                  <a:pt x="88" y="120"/>
                  <a:pt x="96" y="105"/>
                </a:cubicBezTo>
                <a:cubicBezTo>
                  <a:pt x="103" y="89"/>
                  <a:pt x="160" y="9"/>
                  <a:pt x="192" y="9"/>
                </a:cubicBezTo>
                <a:cubicBezTo>
                  <a:pt x="224" y="9"/>
                  <a:pt x="288" y="89"/>
                  <a:pt x="288" y="105"/>
                </a:cubicBezTo>
                <a:cubicBezTo>
                  <a:pt x="288" y="121"/>
                  <a:pt x="184" y="120"/>
                  <a:pt x="192" y="105"/>
                </a:cubicBezTo>
                <a:cubicBezTo>
                  <a:pt x="199" y="89"/>
                  <a:pt x="296" y="9"/>
                  <a:pt x="336" y="9"/>
                </a:cubicBezTo>
                <a:cubicBezTo>
                  <a:pt x="376" y="9"/>
                  <a:pt x="432" y="89"/>
                  <a:pt x="432" y="105"/>
                </a:cubicBezTo>
                <a:cubicBezTo>
                  <a:pt x="432" y="121"/>
                  <a:pt x="328" y="120"/>
                  <a:pt x="336" y="105"/>
                </a:cubicBezTo>
                <a:cubicBezTo>
                  <a:pt x="343" y="89"/>
                  <a:pt x="447" y="17"/>
                  <a:pt x="480" y="9"/>
                </a:cubicBezTo>
                <a:cubicBezTo>
                  <a:pt x="512" y="0"/>
                  <a:pt x="536" y="9"/>
                  <a:pt x="528" y="57"/>
                </a:cubicBezTo>
                <a:cubicBezTo>
                  <a:pt x="520" y="105"/>
                  <a:pt x="476" y="201"/>
                  <a:pt x="432" y="297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H="1" flipV="1">
            <a:off x="2927350" y="4343400"/>
            <a:ext cx="1524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4" name="Line 12"/>
          <p:cNvSpPr>
            <a:spLocks noChangeShapeType="1"/>
          </p:cNvSpPr>
          <p:nvPr/>
        </p:nvSpPr>
        <p:spPr bwMode="auto">
          <a:xfrm flipV="1">
            <a:off x="2927350" y="37338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5" name="Line 13"/>
          <p:cNvSpPr>
            <a:spLocks noChangeShapeType="1"/>
          </p:cNvSpPr>
          <p:nvPr/>
        </p:nvSpPr>
        <p:spPr bwMode="auto">
          <a:xfrm flipV="1">
            <a:off x="3079750" y="4343400"/>
            <a:ext cx="1524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86" name="Line 14"/>
          <p:cNvSpPr>
            <a:spLocks noChangeShapeType="1"/>
          </p:cNvSpPr>
          <p:nvPr/>
        </p:nvSpPr>
        <p:spPr bwMode="auto">
          <a:xfrm flipH="1" flipV="1">
            <a:off x="3232150" y="37338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317750" y="2743200"/>
            <a:ext cx="914400" cy="990600"/>
            <a:chOff x="1728" y="1824"/>
            <a:chExt cx="576" cy="624"/>
          </a:xfrm>
        </p:grpSpPr>
        <p:sp>
          <p:nvSpPr>
            <p:cNvPr id="105488" name="Line 16"/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9" name="Line 17"/>
            <p:cNvSpPr>
              <a:spLocks noChangeShapeType="1"/>
            </p:cNvSpPr>
            <p:nvPr/>
          </p:nvSpPr>
          <p:spPr bwMode="auto">
            <a:xfrm flipH="1" flipV="1">
              <a:off x="1728" y="1824"/>
              <a:ext cx="384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0" name="Line 18"/>
            <p:cNvSpPr>
              <a:spLocks noChangeShapeType="1"/>
            </p:cNvSpPr>
            <p:nvPr/>
          </p:nvSpPr>
          <p:spPr bwMode="auto">
            <a:xfrm flipH="1" flipV="1">
              <a:off x="1920" y="1824"/>
              <a:ext cx="384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 flipH="1">
            <a:off x="2927350" y="2743200"/>
            <a:ext cx="914400" cy="990600"/>
            <a:chOff x="1728" y="1824"/>
            <a:chExt cx="576" cy="624"/>
          </a:xfrm>
        </p:grpSpPr>
        <p:sp>
          <p:nvSpPr>
            <p:cNvPr id="105492" name="Line 20"/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3" name="Line 21"/>
            <p:cNvSpPr>
              <a:spLocks noChangeShapeType="1"/>
            </p:cNvSpPr>
            <p:nvPr/>
          </p:nvSpPr>
          <p:spPr bwMode="auto">
            <a:xfrm flipH="1" flipV="1">
              <a:off x="1728" y="1824"/>
              <a:ext cx="384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4" name="Line 22"/>
            <p:cNvSpPr>
              <a:spLocks noChangeShapeType="1"/>
            </p:cNvSpPr>
            <p:nvPr/>
          </p:nvSpPr>
          <p:spPr bwMode="auto">
            <a:xfrm flipH="1" flipV="1">
              <a:off x="1920" y="1824"/>
              <a:ext cx="384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495" name="Line 23"/>
          <p:cNvSpPr>
            <a:spLocks noChangeShapeType="1"/>
          </p:cNvSpPr>
          <p:nvPr/>
        </p:nvSpPr>
        <p:spPr bwMode="auto">
          <a:xfrm flipH="1" flipV="1">
            <a:off x="23939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96" name="Line 24"/>
          <p:cNvSpPr>
            <a:spLocks noChangeShapeType="1"/>
          </p:cNvSpPr>
          <p:nvPr/>
        </p:nvSpPr>
        <p:spPr bwMode="auto">
          <a:xfrm flipV="1">
            <a:off x="23177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97" name="Line 25"/>
          <p:cNvSpPr>
            <a:spLocks noChangeShapeType="1"/>
          </p:cNvSpPr>
          <p:nvPr/>
        </p:nvSpPr>
        <p:spPr bwMode="auto">
          <a:xfrm flipH="1" flipV="1">
            <a:off x="30035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98" name="Line 26"/>
          <p:cNvSpPr>
            <a:spLocks noChangeShapeType="1"/>
          </p:cNvSpPr>
          <p:nvPr/>
        </p:nvSpPr>
        <p:spPr bwMode="auto">
          <a:xfrm flipV="1">
            <a:off x="29273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99" name="Line 27"/>
          <p:cNvSpPr>
            <a:spLocks noChangeShapeType="1"/>
          </p:cNvSpPr>
          <p:nvPr/>
        </p:nvSpPr>
        <p:spPr bwMode="auto">
          <a:xfrm flipH="1" flipV="1">
            <a:off x="36131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00" name="Line 28"/>
          <p:cNvSpPr>
            <a:spLocks noChangeShapeType="1"/>
          </p:cNvSpPr>
          <p:nvPr/>
        </p:nvSpPr>
        <p:spPr bwMode="auto">
          <a:xfrm flipV="1">
            <a:off x="3536950" y="13716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01" name="Rectangle 29"/>
          <p:cNvSpPr>
            <a:spLocks noChangeArrowheads="1"/>
          </p:cNvSpPr>
          <p:nvPr/>
        </p:nvSpPr>
        <p:spPr bwMode="auto">
          <a:xfrm>
            <a:off x="1784350" y="17526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02" name="Rectangle 30"/>
          <p:cNvSpPr>
            <a:spLocks noChangeArrowheads="1"/>
          </p:cNvSpPr>
          <p:nvPr/>
        </p:nvSpPr>
        <p:spPr bwMode="auto">
          <a:xfrm>
            <a:off x="3841750" y="17526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03" name="Text Box 31"/>
          <p:cNvSpPr txBox="1">
            <a:spLocks noChangeArrowheads="1"/>
          </p:cNvSpPr>
          <p:nvPr/>
        </p:nvSpPr>
        <p:spPr bwMode="auto">
          <a:xfrm>
            <a:off x="1298575" y="976313"/>
            <a:ext cx="59118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Consider a striped sample ≈ a diffraction grating</a:t>
            </a:r>
          </a:p>
        </p:txBody>
      </p:sp>
      <p:sp>
        <p:nvSpPr>
          <p:cNvPr id="105504" name="Text Box 32"/>
          <p:cNvSpPr txBox="1">
            <a:spLocks noChangeArrowheads="1"/>
          </p:cNvSpPr>
          <p:nvPr/>
        </p:nvSpPr>
        <p:spPr bwMode="auto">
          <a:xfrm>
            <a:off x="3252788" y="3011488"/>
            <a:ext cx="323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Symbol" pitchFamily="18" charset="2"/>
              </a:rPr>
              <a:t>b</a:t>
            </a:r>
            <a:endParaRPr lang="en-US" altLang="en-US" sz="2000"/>
          </a:p>
        </p:txBody>
      </p:sp>
      <p:sp>
        <p:nvSpPr>
          <p:cNvPr id="105505" name="Text Box 33"/>
          <p:cNvSpPr txBox="1">
            <a:spLocks noChangeArrowheads="1"/>
          </p:cNvSpPr>
          <p:nvPr/>
        </p:nvSpPr>
        <p:spPr bwMode="auto">
          <a:xfrm>
            <a:off x="3651250" y="3116263"/>
            <a:ext cx="1792288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Diffracted beams</a:t>
            </a:r>
            <a:endParaRPr lang="en-US" altLang="en-US" sz="1600">
              <a:solidFill>
                <a:schemeClr val="accent2"/>
              </a:solidFill>
              <a:latin typeface="Helvetica" pitchFamily="34" charset="0"/>
            </a:endParaRPr>
          </a:p>
          <a:p>
            <a:r>
              <a:rPr lang="en-US" altLang="en-US" sz="1600" i="1">
                <a:solidFill>
                  <a:srgbClr val="FF0000"/>
                </a:solidFill>
                <a:latin typeface="Helvetica" pitchFamily="34" charset="0"/>
              </a:rPr>
              <a:t>d</a:t>
            </a:r>
            <a:r>
              <a:rPr lang="en-US" altLang="en-US" sz="1600">
                <a:solidFill>
                  <a:srgbClr val="FF0000"/>
                </a:solidFill>
                <a:latin typeface="Helvetica" pitchFamily="34" charset="0"/>
              </a:rPr>
              <a:t> sin(</a:t>
            </a:r>
            <a:r>
              <a:rPr lang="en-US" altLang="en-US" sz="1600" i="1">
                <a:solidFill>
                  <a:srgbClr val="FF0000"/>
                </a:solidFill>
                <a:latin typeface="Symbol" pitchFamily="18" charset="2"/>
              </a:rPr>
              <a:t>b</a:t>
            </a:r>
            <a:r>
              <a:rPr lang="en-US" altLang="en-US" sz="1600">
                <a:solidFill>
                  <a:srgbClr val="FF0000"/>
                </a:solidFill>
                <a:latin typeface="Helvetica" pitchFamily="34" charset="0"/>
              </a:rPr>
              <a:t>) = </a:t>
            </a:r>
            <a:r>
              <a:rPr lang="en-US" altLang="en-US" sz="1600" i="1">
                <a:solidFill>
                  <a:srgbClr val="FF0000"/>
                </a:solidFill>
                <a:latin typeface="Symbol" pitchFamily="18" charset="2"/>
              </a:rPr>
              <a:t>l</a:t>
            </a:r>
            <a:endParaRPr lang="en-US" altLang="en-US" sz="1600">
              <a:solidFill>
                <a:schemeClr val="accent2"/>
              </a:solidFill>
            </a:endParaRPr>
          </a:p>
        </p:txBody>
      </p:sp>
      <p:sp>
        <p:nvSpPr>
          <p:cNvPr id="105506" name="Rectangle 34"/>
          <p:cNvSpPr>
            <a:spLocks noChangeArrowheads="1"/>
          </p:cNvSpPr>
          <p:nvPr/>
        </p:nvSpPr>
        <p:spPr bwMode="auto">
          <a:xfrm>
            <a:off x="2393950" y="3937000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600" i="1">
                <a:latin typeface="Helvetica" pitchFamily="34" charset="0"/>
              </a:rPr>
              <a:t>d</a:t>
            </a:r>
          </a:p>
        </p:txBody>
      </p:sp>
      <p:sp>
        <p:nvSpPr>
          <p:cNvPr id="105507" name="Text Box 35"/>
          <p:cNvSpPr txBox="1">
            <a:spLocks noChangeArrowheads="1"/>
          </p:cNvSpPr>
          <p:nvPr/>
        </p:nvSpPr>
        <p:spPr bwMode="auto">
          <a:xfrm>
            <a:off x="2144713" y="5057775"/>
            <a:ext cx="2011362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Consider first</a:t>
            </a:r>
          </a:p>
          <a:p>
            <a:pPr algn="ctr"/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a </a:t>
            </a:r>
            <a:r>
              <a:rPr lang="en-US" altLang="en-US" sz="1600" u="sng">
                <a:solidFill>
                  <a:schemeClr val="accent2"/>
                </a:solidFill>
                <a:latin typeface="Chalkboard" charset="0"/>
              </a:rPr>
              <a:t>point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 light source</a:t>
            </a:r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457450" y="3721100"/>
            <a:ext cx="1257300" cy="152400"/>
            <a:chOff x="1536" y="2344"/>
            <a:chExt cx="792" cy="96"/>
          </a:xfrm>
        </p:grpSpPr>
        <p:sp>
          <p:nvSpPr>
            <p:cNvPr id="105509" name="Freeform 37"/>
            <p:cNvSpPr>
              <a:spLocks/>
            </p:cNvSpPr>
            <p:nvPr/>
          </p:nvSpPr>
          <p:spPr bwMode="auto">
            <a:xfrm>
              <a:off x="1800" y="2344"/>
              <a:ext cx="528" cy="96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48"/>
                </a:cxn>
                <a:cxn ang="0">
                  <a:pos x="48" y="0"/>
                </a:cxn>
                <a:cxn ang="0">
                  <a:pos x="96" y="48"/>
                </a:cxn>
                <a:cxn ang="0">
                  <a:pos x="144" y="0"/>
                </a:cxn>
                <a:cxn ang="0">
                  <a:pos x="192" y="48"/>
                </a:cxn>
                <a:cxn ang="0">
                  <a:pos x="240" y="0"/>
                </a:cxn>
                <a:cxn ang="0">
                  <a:pos x="288" y="48"/>
                </a:cxn>
                <a:cxn ang="0">
                  <a:pos x="336" y="0"/>
                </a:cxn>
                <a:cxn ang="0">
                  <a:pos x="384" y="48"/>
                </a:cxn>
                <a:cxn ang="0">
                  <a:pos x="432" y="0"/>
                </a:cxn>
                <a:cxn ang="0">
                  <a:pos x="480" y="48"/>
                </a:cxn>
                <a:cxn ang="0">
                  <a:pos x="528" y="0"/>
                </a:cxn>
                <a:cxn ang="0">
                  <a:pos x="576" y="48"/>
                </a:cxn>
                <a:cxn ang="0">
                  <a:pos x="624" y="0"/>
                </a:cxn>
                <a:cxn ang="0">
                  <a:pos x="672" y="48"/>
                </a:cxn>
                <a:cxn ang="0">
                  <a:pos x="720" y="0"/>
                </a:cxn>
                <a:cxn ang="0">
                  <a:pos x="768" y="48"/>
                </a:cxn>
                <a:cxn ang="0">
                  <a:pos x="768" y="96"/>
                </a:cxn>
                <a:cxn ang="0">
                  <a:pos x="768" y="144"/>
                </a:cxn>
                <a:cxn ang="0">
                  <a:pos x="0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144" y="0"/>
                  </a:lnTo>
                  <a:lnTo>
                    <a:pt x="192" y="48"/>
                  </a:lnTo>
                  <a:lnTo>
                    <a:pt x="240" y="0"/>
                  </a:lnTo>
                  <a:lnTo>
                    <a:pt x="288" y="48"/>
                  </a:lnTo>
                  <a:lnTo>
                    <a:pt x="336" y="0"/>
                  </a:lnTo>
                  <a:lnTo>
                    <a:pt x="384" y="48"/>
                  </a:lnTo>
                  <a:lnTo>
                    <a:pt x="432" y="0"/>
                  </a:lnTo>
                  <a:lnTo>
                    <a:pt x="480" y="48"/>
                  </a:lnTo>
                  <a:lnTo>
                    <a:pt x="528" y="0"/>
                  </a:lnTo>
                  <a:lnTo>
                    <a:pt x="576" y="48"/>
                  </a:lnTo>
                  <a:lnTo>
                    <a:pt x="624" y="0"/>
                  </a:lnTo>
                  <a:lnTo>
                    <a:pt x="672" y="48"/>
                  </a:lnTo>
                  <a:lnTo>
                    <a:pt x="720" y="0"/>
                  </a:lnTo>
                  <a:lnTo>
                    <a:pt x="768" y="48"/>
                  </a:lnTo>
                  <a:lnTo>
                    <a:pt x="768" y="96"/>
                  </a:lnTo>
                  <a:lnTo>
                    <a:pt x="768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08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0" name="Freeform 38"/>
            <p:cNvSpPr>
              <a:spLocks/>
            </p:cNvSpPr>
            <p:nvPr/>
          </p:nvSpPr>
          <p:spPr bwMode="auto">
            <a:xfrm>
              <a:off x="1536" y="2344"/>
              <a:ext cx="528" cy="96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48"/>
                </a:cxn>
                <a:cxn ang="0">
                  <a:pos x="48" y="0"/>
                </a:cxn>
                <a:cxn ang="0">
                  <a:pos x="96" y="48"/>
                </a:cxn>
                <a:cxn ang="0">
                  <a:pos x="144" y="0"/>
                </a:cxn>
                <a:cxn ang="0">
                  <a:pos x="192" y="48"/>
                </a:cxn>
                <a:cxn ang="0">
                  <a:pos x="240" y="0"/>
                </a:cxn>
                <a:cxn ang="0">
                  <a:pos x="288" y="48"/>
                </a:cxn>
                <a:cxn ang="0">
                  <a:pos x="336" y="0"/>
                </a:cxn>
                <a:cxn ang="0">
                  <a:pos x="384" y="48"/>
                </a:cxn>
                <a:cxn ang="0">
                  <a:pos x="432" y="0"/>
                </a:cxn>
                <a:cxn ang="0">
                  <a:pos x="480" y="48"/>
                </a:cxn>
                <a:cxn ang="0">
                  <a:pos x="528" y="0"/>
                </a:cxn>
                <a:cxn ang="0">
                  <a:pos x="576" y="48"/>
                </a:cxn>
                <a:cxn ang="0">
                  <a:pos x="624" y="0"/>
                </a:cxn>
                <a:cxn ang="0">
                  <a:pos x="672" y="48"/>
                </a:cxn>
                <a:cxn ang="0">
                  <a:pos x="720" y="0"/>
                </a:cxn>
                <a:cxn ang="0">
                  <a:pos x="768" y="48"/>
                </a:cxn>
                <a:cxn ang="0">
                  <a:pos x="768" y="96"/>
                </a:cxn>
                <a:cxn ang="0">
                  <a:pos x="768" y="144"/>
                </a:cxn>
                <a:cxn ang="0">
                  <a:pos x="0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144" y="0"/>
                  </a:lnTo>
                  <a:lnTo>
                    <a:pt x="192" y="48"/>
                  </a:lnTo>
                  <a:lnTo>
                    <a:pt x="240" y="0"/>
                  </a:lnTo>
                  <a:lnTo>
                    <a:pt x="288" y="48"/>
                  </a:lnTo>
                  <a:lnTo>
                    <a:pt x="336" y="0"/>
                  </a:lnTo>
                  <a:lnTo>
                    <a:pt x="384" y="48"/>
                  </a:lnTo>
                  <a:lnTo>
                    <a:pt x="432" y="0"/>
                  </a:lnTo>
                  <a:lnTo>
                    <a:pt x="480" y="48"/>
                  </a:lnTo>
                  <a:lnTo>
                    <a:pt x="528" y="0"/>
                  </a:lnTo>
                  <a:lnTo>
                    <a:pt x="576" y="48"/>
                  </a:lnTo>
                  <a:lnTo>
                    <a:pt x="624" y="0"/>
                  </a:lnTo>
                  <a:lnTo>
                    <a:pt x="672" y="48"/>
                  </a:lnTo>
                  <a:lnTo>
                    <a:pt x="720" y="0"/>
                  </a:lnTo>
                  <a:lnTo>
                    <a:pt x="768" y="48"/>
                  </a:lnTo>
                  <a:lnTo>
                    <a:pt x="768" y="96"/>
                  </a:lnTo>
                  <a:lnTo>
                    <a:pt x="768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08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511" name="Line 39"/>
          <p:cNvSpPr>
            <a:spLocks noChangeShapeType="1"/>
          </p:cNvSpPr>
          <p:nvPr/>
        </p:nvSpPr>
        <p:spPr bwMode="auto">
          <a:xfrm>
            <a:off x="2362200" y="39512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12" name="Line 40"/>
          <p:cNvSpPr>
            <a:spLocks noChangeShapeType="1"/>
          </p:cNvSpPr>
          <p:nvPr/>
        </p:nvSpPr>
        <p:spPr bwMode="auto">
          <a:xfrm flipH="1">
            <a:off x="2616200" y="39512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13" name="Line 41"/>
          <p:cNvSpPr>
            <a:spLocks noChangeShapeType="1"/>
          </p:cNvSpPr>
          <p:nvPr/>
        </p:nvSpPr>
        <p:spPr bwMode="auto">
          <a:xfrm>
            <a:off x="2514600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514" name="Line 42"/>
          <p:cNvSpPr>
            <a:spLocks noChangeShapeType="1"/>
          </p:cNvSpPr>
          <p:nvPr/>
        </p:nvSpPr>
        <p:spPr bwMode="auto">
          <a:xfrm>
            <a:off x="2617788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2246313" y="1371600"/>
            <a:ext cx="6735762" cy="5275263"/>
            <a:chOff x="1415" y="864"/>
            <a:chExt cx="4243" cy="3323"/>
          </a:xfrm>
        </p:grpSpPr>
        <p:sp>
          <p:nvSpPr>
            <p:cNvPr id="105516" name="Freeform 44"/>
            <p:cNvSpPr>
              <a:spLocks/>
            </p:cNvSpPr>
            <p:nvPr/>
          </p:nvSpPr>
          <p:spPr bwMode="auto">
            <a:xfrm>
              <a:off x="3896" y="1584"/>
              <a:ext cx="1624" cy="19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432" y="103"/>
                </a:cxn>
                <a:cxn ang="0">
                  <a:pos x="0" y="103"/>
                </a:cxn>
              </a:cxnLst>
              <a:rect l="0" t="0" r="r" b="b"/>
              <a:pathLst>
                <a:path w="432" h="104">
                  <a:moveTo>
                    <a:pt x="0" y="102"/>
                  </a:moveTo>
                  <a:cubicBezTo>
                    <a:pt x="181" y="100"/>
                    <a:pt x="256" y="104"/>
                    <a:pt x="432" y="103"/>
                  </a:cubicBezTo>
                  <a:cubicBezTo>
                    <a:pt x="256" y="0"/>
                    <a:pt x="99" y="35"/>
                    <a:pt x="0" y="103"/>
                  </a:cubicBezTo>
                </a:path>
              </a:pathLst>
            </a:custGeom>
            <a:solidFill>
              <a:schemeClr val="accent1"/>
            </a:solidFill>
            <a:ln w="19050" cmpd="sng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7" name="Freeform 45"/>
            <p:cNvSpPr>
              <a:spLocks/>
            </p:cNvSpPr>
            <p:nvPr/>
          </p:nvSpPr>
          <p:spPr bwMode="auto">
            <a:xfrm flipV="1">
              <a:off x="4292" y="2726"/>
              <a:ext cx="838" cy="106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432" y="103"/>
                </a:cxn>
                <a:cxn ang="0">
                  <a:pos x="0" y="103"/>
                </a:cxn>
              </a:cxnLst>
              <a:rect l="0" t="0" r="r" b="b"/>
              <a:pathLst>
                <a:path w="432" h="104">
                  <a:moveTo>
                    <a:pt x="0" y="102"/>
                  </a:moveTo>
                  <a:cubicBezTo>
                    <a:pt x="181" y="100"/>
                    <a:pt x="256" y="104"/>
                    <a:pt x="432" y="103"/>
                  </a:cubicBezTo>
                  <a:cubicBezTo>
                    <a:pt x="256" y="0"/>
                    <a:pt x="99" y="35"/>
                    <a:pt x="0" y="103"/>
                  </a:cubicBezTo>
                </a:path>
              </a:pathLst>
            </a:custGeom>
            <a:solidFill>
              <a:schemeClr val="accent1"/>
            </a:solidFill>
            <a:ln w="19050" cmpd="sng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8" name="Freeform 46"/>
            <p:cNvSpPr>
              <a:spLocks/>
            </p:cNvSpPr>
            <p:nvPr/>
          </p:nvSpPr>
          <p:spPr bwMode="auto">
            <a:xfrm>
              <a:off x="4569" y="2976"/>
              <a:ext cx="372" cy="233"/>
            </a:xfrm>
            <a:custGeom>
              <a:avLst/>
              <a:gdLst/>
              <a:ahLst/>
              <a:cxnLst>
                <a:cxn ang="0">
                  <a:pos x="96" y="297"/>
                </a:cxn>
                <a:cxn ang="0">
                  <a:pos x="0" y="105"/>
                </a:cxn>
                <a:cxn ang="0">
                  <a:pos x="96" y="9"/>
                </a:cxn>
                <a:cxn ang="0">
                  <a:pos x="144" y="105"/>
                </a:cxn>
                <a:cxn ang="0">
                  <a:pos x="96" y="105"/>
                </a:cxn>
                <a:cxn ang="0">
                  <a:pos x="192" y="9"/>
                </a:cxn>
                <a:cxn ang="0">
                  <a:pos x="288" y="105"/>
                </a:cxn>
                <a:cxn ang="0">
                  <a:pos x="192" y="105"/>
                </a:cxn>
                <a:cxn ang="0">
                  <a:pos x="336" y="9"/>
                </a:cxn>
                <a:cxn ang="0">
                  <a:pos x="432" y="105"/>
                </a:cxn>
                <a:cxn ang="0">
                  <a:pos x="336" y="105"/>
                </a:cxn>
                <a:cxn ang="0">
                  <a:pos x="480" y="9"/>
                </a:cxn>
                <a:cxn ang="0">
                  <a:pos x="528" y="57"/>
                </a:cxn>
                <a:cxn ang="0">
                  <a:pos x="432" y="297"/>
                </a:cxn>
              </a:cxnLst>
              <a:rect l="0" t="0" r="r" b="b"/>
              <a:pathLst>
                <a:path w="536" h="297">
                  <a:moveTo>
                    <a:pt x="96" y="297"/>
                  </a:moveTo>
                  <a:cubicBezTo>
                    <a:pt x="48" y="225"/>
                    <a:pt x="0" y="153"/>
                    <a:pt x="0" y="105"/>
                  </a:cubicBezTo>
                  <a:cubicBezTo>
                    <a:pt x="0" y="57"/>
                    <a:pt x="72" y="9"/>
                    <a:pt x="96" y="9"/>
                  </a:cubicBezTo>
                  <a:cubicBezTo>
                    <a:pt x="120" y="9"/>
                    <a:pt x="144" y="89"/>
                    <a:pt x="144" y="105"/>
                  </a:cubicBezTo>
                  <a:cubicBezTo>
                    <a:pt x="144" y="121"/>
                    <a:pt x="88" y="120"/>
                    <a:pt x="96" y="105"/>
                  </a:cubicBezTo>
                  <a:cubicBezTo>
                    <a:pt x="103" y="89"/>
                    <a:pt x="160" y="9"/>
                    <a:pt x="192" y="9"/>
                  </a:cubicBezTo>
                  <a:cubicBezTo>
                    <a:pt x="224" y="9"/>
                    <a:pt x="288" y="89"/>
                    <a:pt x="288" y="105"/>
                  </a:cubicBezTo>
                  <a:cubicBezTo>
                    <a:pt x="288" y="121"/>
                    <a:pt x="184" y="120"/>
                    <a:pt x="192" y="105"/>
                  </a:cubicBezTo>
                  <a:cubicBezTo>
                    <a:pt x="199" y="89"/>
                    <a:pt x="296" y="9"/>
                    <a:pt x="336" y="9"/>
                  </a:cubicBezTo>
                  <a:cubicBezTo>
                    <a:pt x="376" y="9"/>
                    <a:pt x="432" y="89"/>
                    <a:pt x="432" y="105"/>
                  </a:cubicBezTo>
                  <a:cubicBezTo>
                    <a:pt x="432" y="121"/>
                    <a:pt x="328" y="120"/>
                    <a:pt x="336" y="105"/>
                  </a:cubicBezTo>
                  <a:cubicBezTo>
                    <a:pt x="343" y="89"/>
                    <a:pt x="447" y="17"/>
                    <a:pt x="480" y="9"/>
                  </a:cubicBezTo>
                  <a:cubicBezTo>
                    <a:pt x="512" y="0"/>
                    <a:pt x="536" y="9"/>
                    <a:pt x="528" y="57"/>
                  </a:cubicBezTo>
                  <a:cubicBezTo>
                    <a:pt x="520" y="105"/>
                    <a:pt x="476" y="201"/>
                    <a:pt x="432" y="297"/>
                  </a:cubicBezTo>
                </a:path>
              </a:pathLst>
            </a:custGeom>
            <a:noFill/>
            <a:ln w="28575" cmpd="sng">
              <a:solidFill>
                <a:srgbClr val="FF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9" name="Line 47"/>
            <p:cNvSpPr>
              <a:spLocks noChangeShapeType="1"/>
            </p:cNvSpPr>
            <p:nvPr/>
          </p:nvSpPr>
          <p:spPr bwMode="auto">
            <a:xfrm flipH="1" flipV="1">
              <a:off x="4628" y="2736"/>
              <a:ext cx="96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0" name="Line 48"/>
            <p:cNvSpPr>
              <a:spLocks noChangeShapeType="1"/>
            </p:cNvSpPr>
            <p:nvPr/>
          </p:nvSpPr>
          <p:spPr bwMode="auto">
            <a:xfrm flipV="1">
              <a:off x="4628" y="2352"/>
              <a:ext cx="0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1" name="Line 49"/>
            <p:cNvSpPr>
              <a:spLocks noChangeShapeType="1"/>
            </p:cNvSpPr>
            <p:nvPr/>
          </p:nvSpPr>
          <p:spPr bwMode="auto">
            <a:xfrm flipV="1">
              <a:off x="4724" y="2736"/>
              <a:ext cx="96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2" name="Line 50"/>
            <p:cNvSpPr>
              <a:spLocks noChangeShapeType="1"/>
            </p:cNvSpPr>
            <p:nvPr/>
          </p:nvSpPr>
          <p:spPr bwMode="auto">
            <a:xfrm flipH="1" flipV="1">
              <a:off x="4820" y="2352"/>
              <a:ext cx="0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3" name="Line 51"/>
            <p:cNvSpPr>
              <a:spLocks noChangeShapeType="1"/>
            </p:cNvSpPr>
            <p:nvPr/>
          </p:nvSpPr>
          <p:spPr bwMode="auto">
            <a:xfrm flipV="1">
              <a:off x="4628" y="1728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4" name="Line 52"/>
            <p:cNvSpPr>
              <a:spLocks noChangeShapeType="1"/>
            </p:cNvSpPr>
            <p:nvPr/>
          </p:nvSpPr>
          <p:spPr bwMode="auto">
            <a:xfrm flipH="1" flipV="1">
              <a:off x="4052" y="1728"/>
              <a:ext cx="57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5" name="Line 53"/>
            <p:cNvSpPr>
              <a:spLocks noChangeShapeType="1"/>
            </p:cNvSpPr>
            <p:nvPr/>
          </p:nvSpPr>
          <p:spPr bwMode="auto">
            <a:xfrm flipH="1" flipV="1">
              <a:off x="4137" y="1104"/>
              <a:ext cx="107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6" name="Line 54"/>
            <p:cNvSpPr>
              <a:spLocks noChangeShapeType="1"/>
            </p:cNvSpPr>
            <p:nvPr/>
          </p:nvSpPr>
          <p:spPr bwMode="auto">
            <a:xfrm flipV="1">
              <a:off x="4052" y="1104"/>
              <a:ext cx="9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7" name="Line 55"/>
            <p:cNvSpPr>
              <a:spLocks noChangeShapeType="1"/>
            </p:cNvSpPr>
            <p:nvPr/>
          </p:nvSpPr>
          <p:spPr bwMode="auto">
            <a:xfrm flipH="1" flipV="1">
              <a:off x="4676" y="864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8" name="Line 56"/>
            <p:cNvSpPr>
              <a:spLocks noChangeShapeType="1"/>
            </p:cNvSpPr>
            <p:nvPr/>
          </p:nvSpPr>
          <p:spPr bwMode="auto">
            <a:xfrm flipV="1">
              <a:off x="4628" y="864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29" name="Line 57"/>
            <p:cNvSpPr>
              <a:spLocks noChangeShapeType="1"/>
            </p:cNvSpPr>
            <p:nvPr/>
          </p:nvSpPr>
          <p:spPr bwMode="auto">
            <a:xfrm flipH="1" flipV="1">
              <a:off x="4244" y="1728"/>
              <a:ext cx="57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0" name="Line 58"/>
            <p:cNvSpPr>
              <a:spLocks noChangeShapeType="1"/>
            </p:cNvSpPr>
            <p:nvPr/>
          </p:nvSpPr>
          <p:spPr bwMode="auto">
            <a:xfrm flipV="1">
              <a:off x="4628" y="1728"/>
              <a:ext cx="57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1" name="Line 59"/>
            <p:cNvSpPr>
              <a:spLocks noChangeShapeType="1"/>
            </p:cNvSpPr>
            <p:nvPr/>
          </p:nvSpPr>
          <p:spPr bwMode="auto">
            <a:xfrm flipV="1">
              <a:off x="5204" y="1115"/>
              <a:ext cx="106" cy="61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2" name="Line 60"/>
            <p:cNvSpPr>
              <a:spLocks noChangeShapeType="1"/>
            </p:cNvSpPr>
            <p:nvPr/>
          </p:nvSpPr>
          <p:spPr bwMode="auto">
            <a:xfrm flipH="1" flipV="1">
              <a:off x="5300" y="1104"/>
              <a:ext cx="9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3" name="Line 61"/>
            <p:cNvSpPr>
              <a:spLocks noChangeShapeType="1"/>
            </p:cNvSpPr>
            <p:nvPr/>
          </p:nvSpPr>
          <p:spPr bwMode="auto">
            <a:xfrm flipV="1">
              <a:off x="4820" y="1728"/>
              <a:ext cx="57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4" name="Line 62"/>
            <p:cNvSpPr>
              <a:spLocks noChangeShapeType="1"/>
            </p:cNvSpPr>
            <p:nvPr/>
          </p:nvSpPr>
          <p:spPr bwMode="auto">
            <a:xfrm flipV="1">
              <a:off x="4820" y="1728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5" name="Rectangle 63"/>
            <p:cNvSpPr>
              <a:spLocks noChangeArrowheads="1"/>
            </p:cNvSpPr>
            <p:nvPr/>
          </p:nvSpPr>
          <p:spPr bwMode="auto">
            <a:xfrm>
              <a:off x="3908" y="1104"/>
              <a:ext cx="336" cy="48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6" name="Rectangle 64"/>
            <p:cNvSpPr>
              <a:spLocks noChangeArrowheads="1"/>
            </p:cNvSpPr>
            <p:nvPr/>
          </p:nvSpPr>
          <p:spPr bwMode="auto">
            <a:xfrm>
              <a:off x="5204" y="1104"/>
              <a:ext cx="336" cy="48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37" name="Text Box 65"/>
            <p:cNvSpPr txBox="1">
              <a:spLocks noChangeArrowheads="1"/>
            </p:cNvSpPr>
            <p:nvPr/>
          </p:nvSpPr>
          <p:spPr bwMode="auto">
            <a:xfrm>
              <a:off x="3572" y="2191"/>
              <a:ext cx="754" cy="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altLang="en-US" sz="1600">
                  <a:solidFill>
                    <a:schemeClr val="accent2"/>
                  </a:solidFill>
                  <a:latin typeface="Chalkboard" charset="0"/>
                </a:rPr>
                <a:t>Smaller</a:t>
              </a:r>
              <a:r>
                <a:rPr lang="en-US" altLang="en-US" sz="1600">
                  <a:solidFill>
                    <a:schemeClr val="accent2"/>
                  </a:solidFill>
                  <a:latin typeface="Helvetica" pitchFamily="34" charset="0"/>
                </a:rPr>
                <a:t> </a:t>
              </a:r>
              <a:r>
                <a:rPr lang="en-US" altLang="en-US" sz="1600" i="1">
                  <a:solidFill>
                    <a:schemeClr val="accent2"/>
                  </a:solidFill>
                  <a:latin typeface="Helvetica" pitchFamily="34" charset="0"/>
                </a:rPr>
                <a:t>d</a:t>
              </a:r>
              <a:endParaRPr lang="en-US" altLang="en-US" sz="1600">
                <a:solidFill>
                  <a:schemeClr val="accent2"/>
                </a:solidFill>
                <a:latin typeface="Helvetica" pitchFamily="34" charset="0"/>
              </a:endParaRPr>
            </a:p>
            <a:p>
              <a:pPr algn="r"/>
              <a:r>
                <a:rPr lang="en-US" altLang="en-US" sz="1600">
                  <a:solidFill>
                    <a:schemeClr val="accent2"/>
                  </a:solidFill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en-US" sz="1600">
                  <a:solidFill>
                    <a:schemeClr val="accent2"/>
                  </a:solidFill>
                  <a:latin typeface="Symbol" pitchFamily="18" charset="2"/>
                </a:rPr>
                <a:t> </a:t>
              </a:r>
              <a:r>
                <a:rPr lang="en-US" altLang="en-US" sz="1600">
                  <a:solidFill>
                    <a:schemeClr val="accent2"/>
                  </a:solidFill>
                  <a:latin typeface="Chalkboard" charset="0"/>
                </a:rPr>
                <a:t>larger</a:t>
              </a:r>
              <a:r>
                <a:rPr lang="en-US" altLang="en-US" sz="1600">
                  <a:solidFill>
                    <a:schemeClr val="accent2"/>
                  </a:solidFill>
                  <a:latin typeface="Helvetica" pitchFamily="34" charset="0"/>
                </a:rPr>
                <a:t> </a:t>
              </a:r>
              <a:r>
                <a:rPr lang="en-US" altLang="en-US" sz="1600" i="1">
                  <a:solidFill>
                    <a:schemeClr val="accent2"/>
                  </a:solidFill>
                  <a:latin typeface="Symbol" pitchFamily="18" charset="2"/>
                </a:rPr>
                <a:t>b</a:t>
              </a:r>
              <a:endParaRPr lang="en-US" altLang="en-US" sz="1600">
                <a:solidFill>
                  <a:schemeClr val="accent2"/>
                </a:solidFill>
                <a:latin typeface="Symbol" pitchFamily="18" charset="2"/>
              </a:endParaRPr>
            </a:p>
          </p:txBody>
        </p:sp>
        <p:sp>
          <p:nvSpPr>
            <p:cNvPr id="105538" name="Text Box 66"/>
            <p:cNvSpPr txBox="1">
              <a:spLocks noChangeArrowheads="1"/>
            </p:cNvSpPr>
            <p:nvPr/>
          </p:nvSpPr>
          <p:spPr bwMode="auto">
            <a:xfrm>
              <a:off x="3144" y="3314"/>
              <a:ext cx="2514" cy="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600">
                  <a:latin typeface="Chalkboard" charset="0"/>
                </a:rPr>
                <a:t>If </a:t>
              </a:r>
              <a:r>
                <a:rPr lang="en-US" altLang="en-US" sz="1600" i="1">
                  <a:solidFill>
                    <a:schemeClr val="tx2"/>
                  </a:solidFill>
                  <a:latin typeface="Symbol" pitchFamily="18" charset="2"/>
                </a:rPr>
                <a:t>b</a:t>
              </a:r>
              <a:r>
                <a:rPr lang="en-US" altLang="en-US" sz="1600">
                  <a:latin typeface="Chalkboard" charset="0"/>
                </a:rPr>
                <a:t> &gt; </a:t>
              </a:r>
              <a:r>
                <a:rPr lang="en-US" altLang="en-US" sz="1600" i="1">
                  <a:solidFill>
                    <a:schemeClr val="tx2"/>
                  </a:solidFill>
                  <a:latin typeface="Symbol" pitchFamily="18" charset="2"/>
                </a:rPr>
                <a:t>a</a:t>
              </a:r>
              <a:r>
                <a:rPr lang="en-US" altLang="en-US" sz="1600">
                  <a:latin typeface="Chalkboard" charset="0"/>
                </a:rPr>
                <a:t>, only one spot makes it through</a:t>
              </a:r>
            </a:p>
            <a:p>
              <a:pPr algn="ctr"/>
              <a:r>
                <a:rPr lang="en-US" altLang="en-US" sz="1600">
                  <a:latin typeface="Chalkboard" charset="0"/>
                  <a:sym typeface="Symbol" pitchFamily="18" charset="2"/>
                </a:rPr>
                <a:t></a:t>
              </a:r>
              <a:r>
                <a:rPr lang="en-US" altLang="en-US" sz="1600">
                  <a:latin typeface="Chalkboard" charset="0"/>
                </a:rPr>
                <a:t> no interference  </a:t>
              </a:r>
              <a:r>
                <a:rPr lang="en-US" altLang="en-US" sz="1600">
                  <a:latin typeface="Chalkboard" charset="0"/>
                  <a:sym typeface="Symbol" pitchFamily="18" charset="2"/>
                </a:rPr>
                <a:t></a:t>
              </a:r>
              <a:r>
                <a:rPr lang="en-US" altLang="en-US" sz="1600">
                  <a:latin typeface="Chalkboard" charset="0"/>
                </a:rPr>
                <a:t> no image formed</a:t>
              </a:r>
              <a:endParaRPr lang="en-US" altLang="en-US" sz="1800">
                <a:latin typeface="Chalkboard" charset="0"/>
              </a:endParaRPr>
            </a:p>
          </p:txBody>
        </p:sp>
        <p:sp>
          <p:nvSpPr>
            <p:cNvPr id="105539" name="Text Box 67"/>
            <p:cNvSpPr txBox="1">
              <a:spLocks noChangeArrowheads="1"/>
            </p:cNvSpPr>
            <p:nvPr/>
          </p:nvSpPr>
          <p:spPr bwMode="auto">
            <a:xfrm>
              <a:off x="1415" y="3735"/>
              <a:ext cx="2992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>
                  <a:solidFill>
                    <a:schemeClr val="tx2"/>
                  </a:solidFill>
                  <a:latin typeface="Chalkboard" charset="0"/>
                </a:rPr>
                <a:t>Resolution (smallest resolvable d):</a:t>
              </a:r>
              <a:endParaRPr lang="en-US" altLang="en-US" sz="2000">
                <a:solidFill>
                  <a:schemeClr val="tx2"/>
                </a:solidFill>
                <a:latin typeface="Helvetica" pitchFamily="34" charset="0"/>
              </a:endParaRPr>
            </a:p>
            <a:p>
              <a:pPr algn="ctr"/>
              <a:r>
                <a:rPr lang="en-US" altLang="en-US" sz="2000" i="1">
                  <a:solidFill>
                    <a:schemeClr val="tx2"/>
                  </a:solidFill>
                  <a:latin typeface="Helvetica" pitchFamily="34" charset="0"/>
                </a:rPr>
                <a:t>d</a:t>
              </a:r>
              <a:r>
                <a:rPr lang="en-US" altLang="en-US" sz="1400">
                  <a:solidFill>
                    <a:schemeClr val="tx2"/>
                  </a:solidFill>
                  <a:latin typeface="Helvetica" pitchFamily="34" charset="0"/>
                </a:rPr>
                <a:t>min</a:t>
              </a:r>
              <a:r>
                <a:rPr lang="en-US" altLang="en-US" sz="2000">
                  <a:solidFill>
                    <a:schemeClr val="tx2"/>
                  </a:solidFill>
                  <a:latin typeface="Helvetica" pitchFamily="34" charset="0"/>
                </a:rPr>
                <a:t> = </a:t>
              </a:r>
              <a:r>
                <a:rPr lang="en-US" altLang="en-US" sz="2000" i="1">
                  <a:solidFill>
                    <a:schemeClr val="tx2"/>
                  </a:solidFill>
                  <a:latin typeface="Symbol" pitchFamily="18" charset="2"/>
                </a:rPr>
                <a:t>l</a:t>
              </a:r>
              <a:r>
                <a:rPr lang="en-US" altLang="en-US" sz="1400">
                  <a:solidFill>
                    <a:schemeClr val="tx2"/>
                  </a:solidFill>
                  <a:latin typeface="Helvetica" pitchFamily="34" charset="0"/>
                </a:rPr>
                <a:t>sample</a:t>
              </a:r>
              <a:r>
                <a:rPr lang="en-US" altLang="en-US" sz="2000">
                  <a:solidFill>
                    <a:schemeClr val="tx2"/>
                  </a:solidFill>
                  <a:latin typeface="Symbol" pitchFamily="18" charset="2"/>
                </a:rPr>
                <a:t>/</a:t>
              </a:r>
              <a:r>
                <a:rPr lang="en-US" altLang="en-US" sz="2000">
                  <a:solidFill>
                    <a:schemeClr val="tx2"/>
                  </a:solidFill>
                  <a:latin typeface="Helvetica" pitchFamily="34" charset="0"/>
                </a:rPr>
                <a:t>sin(</a:t>
              </a:r>
              <a:r>
                <a:rPr lang="en-US" altLang="en-US" sz="2000" i="1">
                  <a:solidFill>
                    <a:schemeClr val="tx2"/>
                  </a:solidFill>
                  <a:latin typeface="Symbol" pitchFamily="18" charset="2"/>
                </a:rPr>
                <a:t>a</a:t>
              </a:r>
              <a:r>
                <a:rPr lang="en-US" altLang="en-US" sz="2000">
                  <a:solidFill>
                    <a:schemeClr val="tx2"/>
                  </a:solidFill>
                  <a:latin typeface="Helvetica" pitchFamily="34" charset="0"/>
                </a:rPr>
                <a:t>) = </a:t>
              </a:r>
              <a:r>
                <a:rPr lang="en-US" altLang="en-US" sz="2000" i="1">
                  <a:solidFill>
                    <a:schemeClr val="tx2"/>
                  </a:solidFill>
                  <a:latin typeface="Symbol" pitchFamily="18" charset="2"/>
                </a:rPr>
                <a:t>l</a:t>
              </a:r>
              <a:r>
                <a:rPr lang="en-US" altLang="en-US" sz="2000">
                  <a:solidFill>
                    <a:schemeClr val="tx2"/>
                  </a:solidFill>
                  <a:latin typeface="Symbol" pitchFamily="18" charset="2"/>
                </a:rPr>
                <a:t>/</a:t>
              </a:r>
              <a:r>
                <a:rPr lang="en-US" altLang="en-US" sz="2000" i="1">
                  <a:solidFill>
                    <a:schemeClr val="tx2"/>
                  </a:solidFill>
                  <a:latin typeface="Helvetica" pitchFamily="34" charset="0"/>
                </a:rPr>
                <a:t>n</a:t>
              </a:r>
              <a:r>
                <a:rPr lang="en-US" altLang="en-US" sz="2000">
                  <a:solidFill>
                    <a:schemeClr val="tx2"/>
                  </a:solidFill>
                  <a:latin typeface="Symbol" pitchFamily="18" charset="2"/>
                </a:rPr>
                <a:t> </a:t>
              </a:r>
              <a:r>
                <a:rPr lang="en-US" altLang="en-US" sz="2000">
                  <a:solidFill>
                    <a:schemeClr val="tx2"/>
                  </a:solidFill>
                  <a:latin typeface="Helvetica" pitchFamily="34" charset="0"/>
                </a:rPr>
                <a:t>sin(</a:t>
              </a:r>
              <a:r>
                <a:rPr lang="en-US" altLang="en-US" sz="2000" i="1">
                  <a:solidFill>
                    <a:schemeClr val="tx2"/>
                  </a:solidFill>
                  <a:latin typeface="Symbol" pitchFamily="18" charset="2"/>
                </a:rPr>
                <a:t>a</a:t>
              </a:r>
              <a:r>
                <a:rPr lang="en-US" altLang="en-US" sz="2000">
                  <a:solidFill>
                    <a:schemeClr val="tx2"/>
                  </a:solidFill>
                  <a:latin typeface="Helvetica" pitchFamily="34" charset="0"/>
                </a:rPr>
                <a:t>) =    </a:t>
              </a:r>
              <a:r>
                <a:rPr lang="en-US" altLang="en-US" sz="2000" i="1">
                  <a:solidFill>
                    <a:srgbClr val="FF0000"/>
                  </a:solidFill>
                  <a:latin typeface="Symbol" pitchFamily="18" charset="2"/>
                </a:rPr>
                <a:t>l</a:t>
              </a:r>
              <a:r>
                <a:rPr lang="en-US" altLang="en-US" sz="2000">
                  <a:solidFill>
                    <a:srgbClr val="FF0000"/>
                  </a:solidFill>
                  <a:latin typeface="Symbol" pitchFamily="18" charset="2"/>
                </a:rPr>
                <a:t>/</a:t>
              </a:r>
              <a:r>
                <a:rPr lang="en-US" altLang="en-US" sz="200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endParaRPr lang="en-US" altLang="en-US" sz="2000">
                <a:solidFill>
                  <a:schemeClr val="tx2"/>
                </a:solidFill>
                <a:latin typeface="Symbol" pitchFamily="18" charset="2"/>
              </a:endParaRPr>
            </a:p>
          </p:txBody>
        </p:sp>
        <p:sp>
          <p:nvSpPr>
            <p:cNvPr id="105540" name="Oval 68"/>
            <p:cNvSpPr>
              <a:spLocks noChangeArrowheads="1"/>
            </p:cNvSpPr>
            <p:nvPr/>
          </p:nvSpPr>
          <p:spPr bwMode="auto">
            <a:xfrm>
              <a:off x="3860" y="3936"/>
              <a:ext cx="672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69"/>
            <p:cNvGrpSpPr>
              <a:grpSpLocks/>
            </p:cNvGrpSpPr>
            <p:nvPr/>
          </p:nvGrpSpPr>
          <p:grpSpPr bwMode="auto">
            <a:xfrm>
              <a:off x="4324" y="2336"/>
              <a:ext cx="398" cy="96"/>
              <a:chOff x="1536" y="2344"/>
              <a:chExt cx="792" cy="96"/>
            </a:xfrm>
          </p:grpSpPr>
          <p:sp>
            <p:nvSpPr>
              <p:cNvPr id="105542" name="Freeform 70"/>
              <p:cNvSpPr>
                <a:spLocks/>
              </p:cNvSpPr>
              <p:nvPr/>
            </p:nvSpPr>
            <p:spPr bwMode="auto">
              <a:xfrm>
                <a:off x="1800" y="2344"/>
                <a:ext cx="528" cy="96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96" y="48"/>
                  </a:cxn>
                  <a:cxn ang="0">
                    <a:pos x="144" y="0"/>
                  </a:cxn>
                  <a:cxn ang="0">
                    <a:pos x="192" y="48"/>
                  </a:cxn>
                  <a:cxn ang="0">
                    <a:pos x="240" y="0"/>
                  </a:cxn>
                  <a:cxn ang="0">
                    <a:pos x="288" y="48"/>
                  </a:cxn>
                  <a:cxn ang="0">
                    <a:pos x="336" y="0"/>
                  </a:cxn>
                  <a:cxn ang="0">
                    <a:pos x="384" y="48"/>
                  </a:cxn>
                  <a:cxn ang="0">
                    <a:pos x="432" y="0"/>
                  </a:cxn>
                  <a:cxn ang="0">
                    <a:pos x="480" y="48"/>
                  </a:cxn>
                  <a:cxn ang="0">
                    <a:pos x="528" y="0"/>
                  </a:cxn>
                  <a:cxn ang="0">
                    <a:pos x="576" y="48"/>
                  </a:cxn>
                  <a:cxn ang="0">
                    <a:pos x="624" y="0"/>
                  </a:cxn>
                  <a:cxn ang="0">
                    <a:pos x="672" y="48"/>
                  </a:cxn>
                  <a:cxn ang="0">
                    <a:pos x="720" y="0"/>
                  </a:cxn>
                  <a:cxn ang="0">
                    <a:pos x="768" y="48"/>
                  </a:cxn>
                  <a:cxn ang="0">
                    <a:pos x="768" y="96"/>
                  </a:cxn>
                  <a:cxn ang="0">
                    <a:pos x="768" y="144"/>
                  </a:cxn>
                  <a:cxn ang="0">
                    <a:pos x="0" y="144"/>
                  </a:cxn>
                </a:cxnLst>
                <a:rect l="0" t="0" r="r" b="b"/>
                <a:pathLst>
                  <a:path w="768" h="144">
                    <a:moveTo>
                      <a:pt x="0" y="144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96" y="48"/>
                    </a:lnTo>
                    <a:lnTo>
                      <a:pt x="144" y="0"/>
                    </a:lnTo>
                    <a:lnTo>
                      <a:pt x="192" y="48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336" y="0"/>
                    </a:lnTo>
                    <a:lnTo>
                      <a:pt x="384" y="48"/>
                    </a:lnTo>
                    <a:lnTo>
                      <a:pt x="432" y="0"/>
                    </a:lnTo>
                    <a:lnTo>
                      <a:pt x="480" y="48"/>
                    </a:lnTo>
                    <a:lnTo>
                      <a:pt x="528" y="0"/>
                    </a:lnTo>
                    <a:lnTo>
                      <a:pt x="576" y="48"/>
                    </a:lnTo>
                    <a:lnTo>
                      <a:pt x="624" y="0"/>
                    </a:lnTo>
                    <a:lnTo>
                      <a:pt x="672" y="48"/>
                    </a:lnTo>
                    <a:lnTo>
                      <a:pt x="720" y="0"/>
                    </a:lnTo>
                    <a:lnTo>
                      <a:pt x="768" y="48"/>
                    </a:lnTo>
                    <a:lnTo>
                      <a:pt x="768" y="96"/>
                    </a:lnTo>
                    <a:lnTo>
                      <a:pt x="768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408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543" name="Freeform 71"/>
              <p:cNvSpPr>
                <a:spLocks/>
              </p:cNvSpPr>
              <p:nvPr/>
            </p:nvSpPr>
            <p:spPr bwMode="auto">
              <a:xfrm>
                <a:off x="1536" y="2344"/>
                <a:ext cx="528" cy="96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96" y="48"/>
                  </a:cxn>
                  <a:cxn ang="0">
                    <a:pos x="144" y="0"/>
                  </a:cxn>
                  <a:cxn ang="0">
                    <a:pos x="192" y="48"/>
                  </a:cxn>
                  <a:cxn ang="0">
                    <a:pos x="240" y="0"/>
                  </a:cxn>
                  <a:cxn ang="0">
                    <a:pos x="288" y="48"/>
                  </a:cxn>
                  <a:cxn ang="0">
                    <a:pos x="336" y="0"/>
                  </a:cxn>
                  <a:cxn ang="0">
                    <a:pos x="384" y="48"/>
                  </a:cxn>
                  <a:cxn ang="0">
                    <a:pos x="432" y="0"/>
                  </a:cxn>
                  <a:cxn ang="0">
                    <a:pos x="480" y="48"/>
                  </a:cxn>
                  <a:cxn ang="0">
                    <a:pos x="528" y="0"/>
                  </a:cxn>
                  <a:cxn ang="0">
                    <a:pos x="576" y="48"/>
                  </a:cxn>
                  <a:cxn ang="0">
                    <a:pos x="624" y="0"/>
                  </a:cxn>
                  <a:cxn ang="0">
                    <a:pos x="672" y="48"/>
                  </a:cxn>
                  <a:cxn ang="0">
                    <a:pos x="720" y="0"/>
                  </a:cxn>
                  <a:cxn ang="0">
                    <a:pos x="768" y="48"/>
                  </a:cxn>
                  <a:cxn ang="0">
                    <a:pos x="768" y="96"/>
                  </a:cxn>
                  <a:cxn ang="0">
                    <a:pos x="768" y="144"/>
                  </a:cxn>
                  <a:cxn ang="0">
                    <a:pos x="0" y="144"/>
                  </a:cxn>
                </a:cxnLst>
                <a:rect l="0" t="0" r="r" b="b"/>
                <a:pathLst>
                  <a:path w="768" h="144">
                    <a:moveTo>
                      <a:pt x="0" y="144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96" y="48"/>
                    </a:lnTo>
                    <a:lnTo>
                      <a:pt x="144" y="0"/>
                    </a:lnTo>
                    <a:lnTo>
                      <a:pt x="192" y="48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336" y="0"/>
                    </a:lnTo>
                    <a:lnTo>
                      <a:pt x="384" y="48"/>
                    </a:lnTo>
                    <a:lnTo>
                      <a:pt x="432" y="0"/>
                    </a:lnTo>
                    <a:lnTo>
                      <a:pt x="480" y="48"/>
                    </a:lnTo>
                    <a:lnTo>
                      <a:pt x="528" y="0"/>
                    </a:lnTo>
                    <a:lnTo>
                      <a:pt x="576" y="48"/>
                    </a:lnTo>
                    <a:lnTo>
                      <a:pt x="624" y="0"/>
                    </a:lnTo>
                    <a:lnTo>
                      <a:pt x="672" y="48"/>
                    </a:lnTo>
                    <a:lnTo>
                      <a:pt x="720" y="0"/>
                    </a:lnTo>
                    <a:lnTo>
                      <a:pt x="768" y="48"/>
                    </a:lnTo>
                    <a:lnTo>
                      <a:pt x="768" y="96"/>
                    </a:lnTo>
                    <a:lnTo>
                      <a:pt x="768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408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72"/>
            <p:cNvGrpSpPr>
              <a:grpSpLocks/>
            </p:cNvGrpSpPr>
            <p:nvPr/>
          </p:nvGrpSpPr>
          <p:grpSpPr bwMode="auto">
            <a:xfrm>
              <a:off x="4719" y="2336"/>
              <a:ext cx="398" cy="96"/>
              <a:chOff x="1536" y="2344"/>
              <a:chExt cx="792" cy="96"/>
            </a:xfrm>
          </p:grpSpPr>
          <p:sp>
            <p:nvSpPr>
              <p:cNvPr id="105545" name="Freeform 73"/>
              <p:cNvSpPr>
                <a:spLocks/>
              </p:cNvSpPr>
              <p:nvPr/>
            </p:nvSpPr>
            <p:spPr bwMode="auto">
              <a:xfrm>
                <a:off x="1800" y="2344"/>
                <a:ext cx="528" cy="96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96" y="48"/>
                  </a:cxn>
                  <a:cxn ang="0">
                    <a:pos x="144" y="0"/>
                  </a:cxn>
                  <a:cxn ang="0">
                    <a:pos x="192" y="48"/>
                  </a:cxn>
                  <a:cxn ang="0">
                    <a:pos x="240" y="0"/>
                  </a:cxn>
                  <a:cxn ang="0">
                    <a:pos x="288" y="48"/>
                  </a:cxn>
                  <a:cxn ang="0">
                    <a:pos x="336" y="0"/>
                  </a:cxn>
                  <a:cxn ang="0">
                    <a:pos x="384" y="48"/>
                  </a:cxn>
                  <a:cxn ang="0">
                    <a:pos x="432" y="0"/>
                  </a:cxn>
                  <a:cxn ang="0">
                    <a:pos x="480" y="48"/>
                  </a:cxn>
                  <a:cxn ang="0">
                    <a:pos x="528" y="0"/>
                  </a:cxn>
                  <a:cxn ang="0">
                    <a:pos x="576" y="48"/>
                  </a:cxn>
                  <a:cxn ang="0">
                    <a:pos x="624" y="0"/>
                  </a:cxn>
                  <a:cxn ang="0">
                    <a:pos x="672" y="48"/>
                  </a:cxn>
                  <a:cxn ang="0">
                    <a:pos x="720" y="0"/>
                  </a:cxn>
                  <a:cxn ang="0">
                    <a:pos x="768" y="48"/>
                  </a:cxn>
                  <a:cxn ang="0">
                    <a:pos x="768" y="96"/>
                  </a:cxn>
                  <a:cxn ang="0">
                    <a:pos x="768" y="144"/>
                  </a:cxn>
                  <a:cxn ang="0">
                    <a:pos x="0" y="144"/>
                  </a:cxn>
                </a:cxnLst>
                <a:rect l="0" t="0" r="r" b="b"/>
                <a:pathLst>
                  <a:path w="768" h="144">
                    <a:moveTo>
                      <a:pt x="0" y="144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96" y="48"/>
                    </a:lnTo>
                    <a:lnTo>
                      <a:pt x="144" y="0"/>
                    </a:lnTo>
                    <a:lnTo>
                      <a:pt x="192" y="48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336" y="0"/>
                    </a:lnTo>
                    <a:lnTo>
                      <a:pt x="384" y="48"/>
                    </a:lnTo>
                    <a:lnTo>
                      <a:pt x="432" y="0"/>
                    </a:lnTo>
                    <a:lnTo>
                      <a:pt x="480" y="48"/>
                    </a:lnTo>
                    <a:lnTo>
                      <a:pt x="528" y="0"/>
                    </a:lnTo>
                    <a:lnTo>
                      <a:pt x="576" y="48"/>
                    </a:lnTo>
                    <a:lnTo>
                      <a:pt x="624" y="0"/>
                    </a:lnTo>
                    <a:lnTo>
                      <a:pt x="672" y="48"/>
                    </a:lnTo>
                    <a:lnTo>
                      <a:pt x="720" y="0"/>
                    </a:lnTo>
                    <a:lnTo>
                      <a:pt x="768" y="48"/>
                    </a:lnTo>
                    <a:lnTo>
                      <a:pt x="768" y="96"/>
                    </a:lnTo>
                    <a:lnTo>
                      <a:pt x="768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408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546" name="Freeform 74"/>
              <p:cNvSpPr>
                <a:spLocks/>
              </p:cNvSpPr>
              <p:nvPr/>
            </p:nvSpPr>
            <p:spPr bwMode="auto">
              <a:xfrm>
                <a:off x="1536" y="2344"/>
                <a:ext cx="528" cy="96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96" y="48"/>
                  </a:cxn>
                  <a:cxn ang="0">
                    <a:pos x="144" y="0"/>
                  </a:cxn>
                  <a:cxn ang="0">
                    <a:pos x="192" y="48"/>
                  </a:cxn>
                  <a:cxn ang="0">
                    <a:pos x="240" y="0"/>
                  </a:cxn>
                  <a:cxn ang="0">
                    <a:pos x="288" y="48"/>
                  </a:cxn>
                  <a:cxn ang="0">
                    <a:pos x="336" y="0"/>
                  </a:cxn>
                  <a:cxn ang="0">
                    <a:pos x="384" y="48"/>
                  </a:cxn>
                  <a:cxn ang="0">
                    <a:pos x="432" y="0"/>
                  </a:cxn>
                  <a:cxn ang="0">
                    <a:pos x="480" y="48"/>
                  </a:cxn>
                  <a:cxn ang="0">
                    <a:pos x="528" y="0"/>
                  </a:cxn>
                  <a:cxn ang="0">
                    <a:pos x="576" y="48"/>
                  </a:cxn>
                  <a:cxn ang="0">
                    <a:pos x="624" y="0"/>
                  </a:cxn>
                  <a:cxn ang="0">
                    <a:pos x="672" y="48"/>
                  </a:cxn>
                  <a:cxn ang="0">
                    <a:pos x="720" y="0"/>
                  </a:cxn>
                  <a:cxn ang="0">
                    <a:pos x="768" y="48"/>
                  </a:cxn>
                  <a:cxn ang="0">
                    <a:pos x="768" y="96"/>
                  </a:cxn>
                  <a:cxn ang="0">
                    <a:pos x="768" y="144"/>
                  </a:cxn>
                  <a:cxn ang="0">
                    <a:pos x="0" y="144"/>
                  </a:cxn>
                </a:cxnLst>
                <a:rect l="0" t="0" r="r" b="b"/>
                <a:pathLst>
                  <a:path w="768" h="144">
                    <a:moveTo>
                      <a:pt x="0" y="144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96" y="48"/>
                    </a:lnTo>
                    <a:lnTo>
                      <a:pt x="144" y="0"/>
                    </a:lnTo>
                    <a:lnTo>
                      <a:pt x="192" y="48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336" y="0"/>
                    </a:lnTo>
                    <a:lnTo>
                      <a:pt x="384" y="48"/>
                    </a:lnTo>
                    <a:lnTo>
                      <a:pt x="432" y="0"/>
                    </a:lnTo>
                    <a:lnTo>
                      <a:pt x="480" y="48"/>
                    </a:lnTo>
                    <a:lnTo>
                      <a:pt x="528" y="0"/>
                    </a:lnTo>
                    <a:lnTo>
                      <a:pt x="576" y="48"/>
                    </a:lnTo>
                    <a:lnTo>
                      <a:pt x="624" y="0"/>
                    </a:lnTo>
                    <a:lnTo>
                      <a:pt x="672" y="48"/>
                    </a:lnTo>
                    <a:lnTo>
                      <a:pt x="720" y="0"/>
                    </a:lnTo>
                    <a:lnTo>
                      <a:pt x="768" y="48"/>
                    </a:lnTo>
                    <a:lnTo>
                      <a:pt x="768" y="96"/>
                    </a:lnTo>
                    <a:lnTo>
                      <a:pt x="768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408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5547" name="Arc 75"/>
          <p:cNvSpPr>
            <a:spLocks/>
          </p:cNvSpPr>
          <p:nvPr/>
        </p:nvSpPr>
        <p:spPr bwMode="auto">
          <a:xfrm>
            <a:off x="3228975" y="3330575"/>
            <a:ext cx="209550" cy="3984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1364"/>
              <a:gd name="T1" fmla="*/ 0 h 21600"/>
              <a:gd name="T2" fmla="*/ 11364 w 11364"/>
              <a:gd name="T3" fmla="*/ 3232 h 21600"/>
              <a:gd name="T4" fmla="*/ 0 w 1136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64" h="21600" fill="none" extrusionOk="0">
                <a:moveTo>
                  <a:pt x="-1" y="0"/>
                </a:moveTo>
                <a:cubicBezTo>
                  <a:pt x="4014" y="0"/>
                  <a:pt x="7950" y="1118"/>
                  <a:pt x="11364" y="3231"/>
                </a:cubicBezTo>
              </a:path>
              <a:path w="11364" h="21600" stroke="0" extrusionOk="0">
                <a:moveTo>
                  <a:pt x="-1" y="0"/>
                </a:moveTo>
                <a:cubicBezTo>
                  <a:pt x="4014" y="0"/>
                  <a:pt x="7950" y="1118"/>
                  <a:pt x="11364" y="323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AutoShape 2"/>
          <p:cNvSpPr>
            <a:spLocks noChangeArrowheads="1"/>
          </p:cNvSpPr>
          <p:nvPr/>
        </p:nvSpPr>
        <p:spPr bwMode="auto">
          <a:xfrm>
            <a:off x="912813" y="6276975"/>
            <a:ext cx="1057275" cy="5175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/>
            <a:endParaRPr lang="en-US">
              <a:latin typeface="Helvetica Neue" charset="0"/>
            </a:endParaRP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2563813" y="231775"/>
            <a:ext cx="35877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chemeClr val="tx2"/>
                </a:solidFill>
                <a:latin typeface="Chalkboard" charset="0"/>
              </a:rPr>
              <a:t>(Abbe’s argument, continued)</a:t>
            </a:r>
          </a:p>
        </p:txBody>
      </p:sp>
      <p:sp>
        <p:nvSpPr>
          <p:cNvPr id="106500" name="Freeform 4"/>
          <p:cNvSpPr>
            <a:spLocks/>
          </p:cNvSpPr>
          <p:nvPr/>
        </p:nvSpPr>
        <p:spPr bwMode="auto">
          <a:xfrm>
            <a:off x="1778000" y="26543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1" name="Freeform 5"/>
          <p:cNvSpPr>
            <a:spLocks/>
          </p:cNvSpPr>
          <p:nvPr/>
        </p:nvSpPr>
        <p:spPr bwMode="auto">
          <a:xfrm flipV="1">
            <a:off x="2393950" y="4467225"/>
            <a:ext cx="1330325" cy="168275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2" name="Freeform 6"/>
          <p:cNvSpPr>
            <a:spLocks/>
          </p:cNvSpPr>
          <p:nvPr/>
        </p:nvSpPr>
        <p:spPr bwMode="auto">
          <a:xfrm>
            <a:off x="2833688" y="4864100"/>
            <a:ext cx="590550" cy="369888"/>
          </a:xfrm>
          <a:custGeom>
            <a:avLst/>
            <a:gdLst/>
            <a:ahLst/>
            <a:cxnLst>
              <a:cxn ang="0">
                <a:pos x="96" y="297"/>
              </a:cxn>
              <a:cxn ang="0">
                <a:pos x="0" y="105"/>
              </a:cxn>
              <a:cxn ang="0">
                <a:pos x="96" y="9"/>
              </a:cxn>
              <a:cxn ang="0">
                <a:pos x="144" y="105"/>
              </a:cxn>
              <a:cxn ang="0">
                <a:pos x="96" y="105"/>
              </a:cxn>
              <a:cxn ang="0">
                <a:pos x="192" y="9"/>
              </a:cxn>
              <a:cxn ang="0">
                <a:pos x="288" y="105"/>
              </a:cxn>
              <a:cxn ang="0">
                <a:pos x="192" y="105"/>
              </a:cxn>
              <a:cxn ang="0">
                <a:pos x="336" y="9"/>
              </a:cxn>
              <a:cxn ang="0">
                <a:pos x="432" y="105"/>
              </a:cxn>
              <a:cxn ang="0">
                <a:pos x="336" y="105"/>
              </a:cxn>
              <a:cxn ang="0">
                <a:pos x="480" y="9"/>
              </a:cxn>
              <a:cxn ang="0">
                <a:pos x="528" y="57"/>
              </a:cxn>
              <a:cxn ang="0">
                <a:pos x="432" y="297"/>
              </a:cxn>
            </a:cxnLst>
            <a:rect l="0" t="0" r="r" b="b"/>
            <a:pathLst>
              <a:path w="536" h="297">
                <a:moveTo>
                  <a:pt x="96" y="297"/>
                </a:moveTo>
                <a:cubicBezTo>
                  <a:pt x="48" y="225"/>
                  <a:pt x="0" y="153"/>
                  <a:pt x="0" y="105"/>
                </a:cubicBezTo>
                <a:cubicBezTo>
                  <a:pt x="0" y="57"/>
                  <a:pt x="72" y="9"/>
                  <a:pt x="96" y="9"/>
                </a:cubicBezTo>
                <a:cubicBezTo>
                  <a:pt x="120" y="9"/>
                  <a:pt x="144" y="89"/>
                  <a:pt x="144" y="105"/>
                </a:cubicBezTo>
                <a:cubicBezTo>
                  <a:pt x="144" y="121"/>
                  <a:pt x="88" y="120"/>
                  <a:pt x="96" y="105"/>
                </a:cubicBezTo>
                <a:cubicBezTo>
                  <a:pt x="103" y="89"/>
                  <a:pt x="160" y="9"/>
                  <a:pt x="192" y="9"/>
                </a:cubicBezTo>
                <a:cubicBezTo>
                  <a:pt x="224" y="9"/>
                  <a:pt x="288" y="89"/>
                  <a:pt x="288" y="105"/>
                </a:cubicBezTo>
                <a:cubicBezTo>
                  <a:pt x="288" y="121"/>
                  <a:pt x="184" y="120"/>
                  <a:pt x="192" y="105"/>
                </a:cubicBezTo>
                <a:cubicBezTo>
                  <a:pt x="199" y="89"/>
                  <a:pt x="296" y="9"/>
                  <a:pt x="336" y="9"/>
                </a:cubicBezTo>
                <a:cubicBezTo>
                  <a:pt x="376" y="9"/>
                  <a:pt x="432" y="89"/>
                  <a:pt x="432" y="105"/>
                </a:cubicBezTo>
                <a:cubicBezTo>
                  <a:pt x="432" y="121"/>
                  <a:pt x="328" y="120"/>
                  <a:pt x="336" y="105"/>
                </a:cubicBezTo>
                <a:cubicBezTo>
                  <a:pt x="343" y="89"/>
                  <a:pt x="447" y="17"/>
                  <a:pt x="480" y="9"/>
                </a:cubicBezTo>
                <a:cubicBezTo>
                  <a:pt x="512" y="0"/>
                  <a:pt x="536" y="9"/>
                  <a:pt x="528" y="57"/>
                </a:cubicBezTo>
                <a:cubicBezTo>
                  <a:pt x="520" y="105"/>
                  <a:pt x="476" y="201"/>
                  <a:pt x="432" y="297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1784350" y="18923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4" name="Rectangle 8"/>
          <p:cNvSpPr>
            <a:spLocks noChangeArrowheads="1"/>
          </p:cNvSpPr>
          <p:nvPr/>
        </p:nvSpPr>
        <p:spPr bwMode="auto">
          <a:xfrm>
            <a:off x="3841750" y="18923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1501775" y="747713"/>
            <a:ext cx="400526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Now consider oblique illumination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(an off-axis source point):</a:t>
            </a:r>
          </a:p>
        </p:txBody>
      </p:sp>
      <p:sp>
        <p:nvSpPr>
          <p:cNvPr id="106506" name="Freeform 10"/>
          <p:cNvSpPr>
            <a:spLocks/>
          </p:cNvSpPr>
          <p:nvPr/>
        </p:nvSpPr>
        <p:spPr bwMode="auto">
          <a:xfrm>
            <a:off x="3206750" y="3468688"/>
            <a:ext cx="228600" cy="79375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144" y="50"/>
              </a:cxn>
            </a:cxnLst>
            <a:rect l="0" t="0" r="r" b="b"/>
            <a:pathLst>
              <a:path w="144" h="50">
                <a:moveTo>
                  <a:pt x="0" y="2"/>
                </a:moveTo>
                <a:cubicBezTo>
                  <a:pt x="80" y="0"/>
                  <a:pt x="102" y="16"/>
                  <a:pt x="144" y="5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3155950" y="3176588"/>
            <a:ext cx="569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Symbol" pitchFamily="18" charset="2"/>
              </a:rPr>
              <a:t>b</a:t>
            </a:r>
            <a:r>
              <a:rPr lang="en-US" altLang="en-US" sz="1400">
                <a:latin typeface="Helvetica" pitchFamily="34" charset="0"/>
              </a:rPr>
              <a:t>out</a:t>
            </a:r>
            <a:endParaRPr lang="en-US" altLang="en-US" sz="2000"/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3870325" y="3384550"/>
            <a:ext cx="2557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i="1">
                <a:solidFill>
                  <a:srgbClr val="FF0000"/>
                </a:solidFill>
                <a:latin typeface="Helvetica" pitchFamily="34" charset="0"/>
              </a:rPr>
              <a:t>d</a:t>
            </a:r>
            <a:r>
              <a:rPr lang="en-US" altLang="en-US" sz="1600">
                <a:solidFill>
                  <a:srgbClr val="FF0000"/>
                </a:solidFill>
                <a:latin typeface="Helvetica" pitchFamily="34" charset="0"/>
              </a:rPr>
              <a:t> [sin(</a:t>
            </a:r>
            <a:r>
              <a:rPr lang="en-US" altLang="en-US" sz="2000" i="1">
                <a:solidFill>
                  <a:srgbClr val="FF0000"/>
                </a:solidFill>
                <a:latin typeface="Symbol" pitchFamily="18" charset="2"/>
              </a:rPr>
              <a:t>b</a:t>
            </a:r>
            <a:r>
              <a:rPr lang="en-US" altLang="en-US" sz="1400">
                <a:solidFill>
                  <a:srgbClr val="FF0000"/>
                </a:solidFill>
                <a:latin typeface="Helvetica" pitchFamily="34" charset="0"/>
              </a:rPr>
              <a:t>in</a:t>
            </a:r>
            <a:r>
              <a:rPr lang="en-US" altLang="en-US" sz="1600">
                <a:solidFill>
                  <a:srgbClr val="FF0000"/>
                </a:solidFill>
                <a:latin typeface="Helvetica" pitchFamily="34" charset="0"/>
              </a:rPr>
              <a:t>) + sin(</a:t>
            </a:r>
            <a:r>
              <a:rPr lang="en-US" altLang="en-US" sz="2000" i="1">
                <a:solidFill>
                  <a:srgbClr val="FF0000"/>
                </a:solidFill>
                <a:latin typeface="Symbol" pitchFamily="18" charset="2"/>
              </a:rPr>
              <a:t>b</a:t>
            </a:r>
            <a:r>
              <a:rPr lang="en-US" altLang="en-US" sz="1400">
                <a:solidFill>
                  <a:srgbClr val="FF0000"/>
                </a:solidFill>
                <a:latin typeface="Helvetica" pitchFamily="34" charset="0"/>
              </a:rPr>
              <a:t>out</a:t>
            </a:r>
            <a:r>
              <a:rPr lang="en-US" altLang="en-US" sz="1600">
                <a:solidFill>
                  <a:srgbClr val="FF0000"/>
                </a:solidFill>
                <a:latin typeface="Helvetica" pitchFamily="34" charset="0"/>
              </a:rPr>
              <a:t>) ] = </a:t>
            </a:r>
            <a:r>
              <a:rPr lang="en-US" altLang="en-US" sz="1600" i="1">
                <a:solidFill>
                  <a:srgbClr val="FF0000"/>
                </a:solidFill>
                <a:latin typeface="Symbol" pitchFamily="18" charset="2"/>
              </a:rPr>
              <a:t>l</a:t>
            </a:r>
            <a:endParaRPr lang="en-US" altLang="en-US" sz="1600">
              <a:solidFill>
                <a:srgbClr val="FF0000"/>
              </a:solidFill>
              <a:latin typeface="Symbol" pitchFamily="18" charset="2"/>
            </a:endParaRPr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5129213" y="2032000"/>
            <a:ext cx="369252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One spot hopelessly lost,</a:t>
            </a:r>
          </a:p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but </a:t>
            </a:r>
            <a:r>
              <a:rPr lang="en-US" altLang="en-US" sz="1800" b="1">
                <a:solidFill>
                  <a:schemeClr val="accent2"/>
                </a:solidFill>
                <a:latin typeface="Chalkboard" charset="0"/>
              </a:rPr>
              <a:t>two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spots get through</a:t>
            </a:r>
          </a:p>
          <a:p>
            <a:pPr algn="ctr"/>
            <a:r>
              <a:rPr lang="en-US" altLang="en-US" sz="1600">
                <a:solidFill>
                  <a:schemeClr val="accent2"/>
                </a:solidFill>
                <a:latin typeface="Chalkboard" charset="0"/>
                <a:sym typeface="Symbol" pitchFamily="18" charset="2"/>
              </a:rPr>
              <a:t>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interference  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  <a:sym typeface="Symbol" pitchFamily="18" charset="2"/>
              </a:rPr>
              <a:t>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image formed!</a:t>
            </a:r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966788" y="5345113"/>
            <a:ext cx="7386637" cy="141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Resolution (smallest resolvable </a:t>
            </a:r>
            <a:r>
              <a:rPr lang="en-US" altLang="en-US" sz="1800" i="1">
                <a:latin typeface="Helvetica" pitchFamily="34" charset="0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)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with incoherent illumination (all possible illumination directions):</a:t>
            </a:r>
          </a:p>
          <a:p>
            <a:pPr algn="ctr">
              <a:spcBef>
                <a:spcPct val="20000"/>
              </a:spcBef>
              <a:spcAft>
                <a:spcPct val="20000"/>
              </a:spcAft>
            </a:pPr>
            <a:r>
              <a:rPr lang="en-US" altLang="en-US" sz="2000" i="1">
                <a:solidFill>
                  <a:srgbClr val="660066"/>
                </a:solidFill>
                <a:latin typeface="Helvetica" pitchFamily="34" charset="0"/>
              </a:rPr>
              <a:t>d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min</a:t>
            </a:r>
            <a:r>
              <a:rPr lang="en-US" altLang="en-US" sz="2000">
                <a:solidFill>
                  <a:srgbClr val="660066"/>
                </a:solidFill>
                <a:latin typeface="Helvetica" pitchFamily="34" charset="0"/>
              </a:rPr>
              <a:t> = </a:t>
            </a:r>
            <a:r>
              <a:rPr lang="en-US" altLang="en-US" sz="2000" i="1">
                <a:solidFill>
                  <a:srgbClr val="660066"/>
                </a:solidFill>
                <a:latin typeface="Symbol" pitchFamily="18" charset="2"/>
              </a:rPr>
              <a:t>l</a:t>
            </a:r>
            <a:r>
              <a:rPr lang="en-US" altLang="en-US" sz="2000">
                <a:solidFill>
                  <a:srgbClr val="660066"/>
                </a:solidFill>
                <a:latin typeface="Symbol" pitchFamily="18" charset="2"/>
              </a:rPr>
              <a:t>/(</a:t>
            </a:r>
            <a:r>
              <a:rPr lang="en-US" altLang="en-US" sz="2000" i="1">
                <a:solidFill>
                  <a:srgbClr val="660066"/>
                </a:solidFill>
                <a:latin typeface="Helvetica" pitchFamily="34" charset="0"/>
              </a:rPr>
              <a:t>NA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obj</a:t>
            </a:r>
            <a:r>
              <a:rPr lang="en-US" altLang="en-US" sz="2000">
                <a:solidFill>
                  <a:srgbClr val="660066"/>
                </a:solidFill>
                <a:latin typeface="Helvetica" pitchFamily="34" charset="0"/>
              </a:rPr>
              <a:t> + </a:t>
            </a:r>
            <a:r>
              <a:rPr lang="en-US" altLang="en-US" sz="2000" i="1">
                <a:solidFill>
                  <a:srgbClr val="660066"/>
                </a:solidFill>
                <a:latin typeface="Helvetica" pitchFamily="34" charset="0"/>
              </a:rPr>
              <a:t>NA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condenser </a:t>
            </a:r>
            <a:r>
              <a:rPr lang="en-US" altLang="en-US" sz="2000">
                <a:solidFill>
                  <a:srgbClr val="660066"/>
                </a:solidFill>
                <a:latin typeface="Helvetica" pitchFamily="34" charset="0"/>
              </a:rPr>
              <a:t>)</a:t>
            </a:r>
            <a:endParaRPr lang="en-US" altLang="en-US" sz="1400">
              <a:solidFill>
                <a:schemeClr val="tx2"/>
              </a:solidFill>
              <a:latin typeface="Helvetica" pitchFamily="34" charset="0"/>
            </a:endParaRPr>
          </a:p>
          <a:p>
            <a:pPr algn="ctr"/>
            <a:r>
              <a:rPr lang="en-US" altLang="en-US" sz="2000">
                <a:solidFill>
                  <a:srgbClr val="FF0000"/>
                </a:solidFill>
                <a:latin typeface="Symbol" pitchFamily="18" charset="2"/>
              </a:rPr>
              <a:t>l/2 </a:t>
            </a:r>
            <a:r>
              <a:rPr lang="en-US" altLang="en-US" sz="2000" i="1">
                <a:solidFill>
                  <a:srgbClr val="FF0000"/>
                </a:solidFill>
                <a:latin typeface="Helvetica" pitchFamily="34" charset="0"/>
              </a:rPr>
              <a:t>NA</a:t>
            </a:r>
            <a:r>
              <a:rPr lang="en-US" altLang="en-US" sz="2000">
                <a:solidFill>
                  <a:srgbClr val="FF0000"/>
                </a:solidFill>
                <a:latin typeface="Helvetica" pitchFamily="34" charset="0"/>
              </a:rPr>
              <a:t> </a:t>
            </a:r>
            <a:r>
              <a:rPr lang="en-US" altLang="en-US" sz="2000">
                <a:solidFill>
                  <a:schemeClr val="tx2"/>
                </a:solidFill>
                <a:latin typeface="Helvetica" pitchFamily="34" charset="0"/>
              </a:rPr>
              <a:t>    </a:t>
            </a:r>
            <a:r>
              <a:rPr lang="en-US" altLang="en-US" sz="2000">
                <a:solidFill>
                  <a:schemeClr val="tx2"/>
                </a:solidFill>
                <a:latin typeface="Chalkboard" charset="0"/>
              </a:rPr>
              <a:t>if</a:t>
            </a:r>
            <a:r>
              <a:rPr lang="en-US" altLang="en-US" sz="2000">
                <a:solidFill>
                  <a:schemeClr val="tx2"/>
                </a:solidFill>
                <a:latin typeface="Helvetica" pitchFamily="34" charset="0"/>
              </a:rPr>
              <a:t>     </a:t>
            </a:r>
            <a:r>
              <a:rPr lang="en-US" altLang="en-US" sz="2000" i="1">
                <a:solidFill>
                  <a:srgbClr val="660066"/>
                </a:solidFill>
                <a:latin typeface="Helvetica" pitchFamily="34" charset="0"/>
              </a:rPr>
              <a:t>NA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condenser </a:t>
            </a:r>
            <a:r>
              <a:rPr lang="en-US" altLang="en-US" sz="2000">
                <a:solidFill>
                  <a:srgbClr val="660066"/>
                </a:solidFill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 </a:t>
            </a:r>
            <a:r>
              <a:rPr lang="en-US" altLang="en-US" sz="2000" i="1">
                <a:solidFill>
                  <a:srgbClr val="660066"/>
                </a:solidFill>
                <a:latin typeface="Helvetica" pitchFamily="34" charset="0"/>
              </a:rPr>
              <a:t>NA</a:t>
            </a:r>
            <a:r>
              <a:rPr lang="en-US" altLang="en-US" sz="1400">
                <a:solidFill>
                  <a:srgbClr val="660066"/>
                </a:solidFill>
                <a:latin typeface="Helvetica" pitchFamily="34" charset="0"/>
              </a:rPr>
              <a:t>obj</a:t>
            </a:r>
            <a:r>
              <a:rPr lang="en-US" altLang="en-US" sz="1400">
                <a:solidFill>
                  <a:schemeClr val="tx2"/>
                </a:solidFill>
                <a:latin typeface="Helvetica" pitchFamily="34" charset="0"/>
              </a:rPr>
              <a:t>   </a:t>
            </a:r>
            <a:r>
              <a:rPr lang="en-US" altLang="en-US" sz="1800">
                <a:solidFill>
                  <a:schemeClr val="tx2"/>
                </a:solidFill>
                <a:latin typeface="Helvetica" pitchFamily="34" charset="0"/>
              </a:rPr>
              <a:t>  </a:t>
            </a:r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(“Filling the back focal plane”)</a:t>
            </a:r>
            <a:r>
              <a:rPr lang="en-US" altLang="en-US" sz="1800">
                <a:solidFill>
                  <a:schemeClr val="tx2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106511" name="Line 15"/>
          <p:cNvSpPr>
            <a:spLocks noChangeShapeType="1"/>
          </p:cNvSpPr>
          <p:nvPr/>
        </p:nvSpPr>
        <p:spPr bwMode="auto">
          <a:xfrm flipH="1" flipV="1">
            <a:off x="2895600" y="3873500"/>
            <a:ext cx="2286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2" name="Line 16"/>
          <p:cNvSpPr>
            <a:spLocks noChangeShapeType="1"/>
          </p:cNvSpPr>
          <p:nvPr/>
        </p:nvSpPr>
        <p:spPr bwMode="auto">
          <a:xfrm flipH="1" flipV="1">
            <a:off x="2895600" y="2882900"/>
            <a:ext cx="533400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3" name="Line 17"/>
          <p:cNvSpPr>
            <a:spLocks noChangeShapeType="1"/>
          </p:cNvSpPr>
          <p:nvPr/>
        </p:nvSpPr>
        <p:spPr bwMode="auto">
          <a:xfrm flipH="1" flipV="1">
            <a:off x="3124200" y="45593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4" name="Line 18"/>
          <p:cNvSpPr>
            <a:spLocks noChangeShapeType="1"/>
          </p:cNvSpPr>
          <p:nvPr/>
        </p:nvSpPr>
        <p:spPr bwMode="auto">
          <a:xfrm flipV="1">
            <a:off x="3276600" y="45593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5" name="Line 19"/>
          <p:cNvSpPr>
            <a:spLocks noChangeShapeType="1"/>
          </p:cNvSpPr>
          <p:nvPr/>
        </p:nvSpPr>
        <p:spPr bwMode="auto">
          <a:xfrm flipH="1" flipV="1">
            <a:off x="2590800" y="2882900"/>
            <a:ext cx="304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6" name="Line 20"/>
          <p:cNvSpPr>
            <a:spLocks noChangeShapeType="1"/>
          </p:cNvSpPr>
          <p:nvPr/>
        </p:nvSpPr>
        <p:spPr bwMode="auto">
          <a:xfrm flipV="1">
            <a:off x="2590800" y="15113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7" name="Line 21"/>
          <p:cNvSpPr>
            <a:spLocks noChangeShapeType="1"/>
          </p:cNvSpPr>
          <p:nvPr/>
        </p:nvSpPr>
        <p:spPr bwMode="auto">
          <a:xfrm flipH="1" flipV="1">
            <a:off x="2667000" y="15113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8" name="Line 22"/>
          <p:cNvSpPr>
            <a:spLocks noChangeShapeType="1"/>
          </p:cNvSpPr>
          <p:nvPr/>
        </p:nvSpPr>
        <p:spPr bwMode="auto">
          <a:xfrm flipV="1">
            <a:off x="2895600" y="2882900"/>
            <a:ext cx="685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19" name="Line 23"/>
          <p:cNvSpPr>
            <a:spLocks noChangeShapeType="1"/>
          </p:cNvSpPr>
          <p:nvPr/>
        </p:nvSpPr>
        <p:spPr bwMode="auto">
          <a:xfrm flipV="1">
            <a:off x="3200400" y="2882900"/>
            <a:ext cx="685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0" name="Line 24"/>
          <p:cNvSpPr>
            <a:spLocks noChangeShapeType="1"/>
          </p:cNvSpPr>
          <p:nvPr/>
        </p:nvSpPr>
        <p:spPr bwMode="auto">
          <a:xfrm flipV="1">
            <a:off x="3581400" y="15113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1" name="Line 25"/>
          <p:cNvSpPr>
            <a:spLocks noChangeShapeType="1"/>
          </p:cNvSpPr>
          <p:nvPr/>
        </p:nvSpPr>
        <p:spPr bwMode="auto">
          <a:xfrm flipH="1" flipV="1">
            <a:off x="3657600" y="1511300"/>
            <a:ext cx="2286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2" name="Line 26"/>
          <p:cNvSpPr>
            <a:spLocks noChangeShapeType="1"/>
          </p:cNvSpPr>
          <p:nvPr/>
        </p:nvSpPr>
        <p:spPr bwMode="auto">
          <a:xfrm flipH="1" flipV="1">
            <a:off x="1435100" y="3289300"/>
            <a:ext cx="1460500" cy="58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3" name="Line 27"/>
          <p:cNvSpPr>
            <a:spLocks noChangeShapeType="1"/>
          </p:cNvSpPr>
          <p:nvPr/>
        </p:nvSpPr>
        <p:spPr bwMode="auto">
          <a:xfrm flipV="1">
            <a:off x="3200400" y="33401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3340100" y="4000500"/>
            <a:ext cx="461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Symbol" pitchFamily="18" charset="2"/>
              </a:rPr>
              <a:t>b</a:t>
            </a:r>
            <a:r>
              <a:rPr lang="en-US" altLang="en-US" sz="1400">
                <a:latin typeface="Helvetica" pitchFamily="34" charset="0"/>
              </a:rPr>
              <a:t>in</a:t>
            </a:r>
            <a:endParaRPr lang="en-US" altLang="en-US" sz="2000"/>
          </a:p>
        </p:txBody>
      </p:sp>
      <p:sp>
        <p:nvSpPr>
          <p:cNvPr id="106525" name="Line 29"/>
          <p:cNvSpPr>
            <a:spLocks noChangeShapeType="1"/>
          </p:cNvSpPr>
          <p:nvPr/>
        </p:nvSpPr>
        <p:spPr bwMode="auto">
          <a:xfrm>
            <a:off x="3203575" y="38481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6" name="Freeform 30"/>
          <p:cNvSpPr>
            <a:spLocks/>
          </p:cNvSpPr>
          <p:nvPr/>
        </p:nvSpPr>
        <p:spPr bwMode="auto">
          <a:xfrm>
            <a:off x="3206750" y="4191000"/>
            <a:ext cx="95250" cy="190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36" y="10"/>
              </a:cxn>
              <a:cxn ang="0">
                <a:pos x="60" y="0"/>
              </a:cxn>
            </a:cxnLst>
            <a:rect l="0" t="0" r="r" b="b"/>
            <a:pathLst>
              <a:path w="60" h="12">
                <a:moveTo>
                  <a:pt x="0" y="12"/>
                </a:moveTo>
                <a:cubicBezTo>
                  <a:pt x="12" y="11"/>
                  <a:pt x="24" y="11"/>
                  <a:pt x="36" y="10"/>
                </a:cubicBezTo>
                <a:cubicBezTo>
                  <a:pt x="44" y="8"/>
                  <a:pt x="60" y="0"/>
                  <a:pt x="6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27" name="Text Box 31"/>
          <p:cNvSpPr txBox="1">
            <a:spLocks noChangeArrowheads="1"/>
          </p:cNvSpPr>
          <p:nvPr/>
        </p:nvSpPr>
        <p:spPr bwMode="auto">
          <a:xfrm>
            <a:off x="5354638" y="3873500"/>
            <a:ext cx="281146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Two spots get through if</a:t>
            </a:r>
            <a:endParaRPr lang="en-US" altLang="en-US" sz="1800">
              <a:solidFill>
                <a:schemeClr val="accent2"/>
              </a:solidFill>
              <a:latin typeface="Helvetica" pitchFamily="34" charset="0"/>
            </a:endParaRPr>
          </a:p>
          <a:p>
            <a:pPr algn="ctr"/>
            <a:r>
              <a:rPr lang="en-US" altLang="en-US" sz="2000" i="1">
                <a:solidFill>
                  <a:schemeClr val="accent2"/>
                </a:solidFill>
                <a:latin typeface="Symbol" pitchFamily="18" charset="2"/>
              </a:rPr>
              <a:t>b</a:t>
            </a:r>
            <a:r>
              <a:rPr lang="en-US" altLang="en-US" sz="140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altLang="en-US" sz="1800">
                <a:solidFill>
                  <a:schemeClr val="accent2"/>
                </a:solidFill>
                <a:latin typeface="Symbol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Helvetica" pitchFamily="34" charset="0"/>
              </a:rPr>
              <a:t>&lt; </a:t>
            </a:r>
            <a:r>
              <a:rPr lang="en-US" altLang="en-US" sz="1800" i="1">
                <a:solidFill>
                  <a:schemeClr val="accent2"/>
                </a:solidFill>
                <a:latin typeface="Symbol" pitchFamily="18" charset="2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Helvetica" pitchFamily="34" charset="0"/>
              </a:rPr>
              <a:t>   </a:t>
            </a:r>
            <a:r>
              <a:rPr lang="en-US" altLang="en-US" sz="1800" u="sng">
                <a:solidFill>
                  <a:schemeClr val="accent2"/>
                </a:solidFill>
                <a:latin typeface="Helvetica" pitchFamily="34" charset="0"/>
              </a:rPr>
              <a:t>and</a:t>
            </a:r>
            <a:r>
              <a:rPr lang="en-US" altLang="en-US" sz="1800">
                <a:solidFill>
                  <a:schemeClr val="accent2"/>
                </a:solidFill>
                <a:latin typeface="Symbol" pitchFamily="18" charset="2"/>
              </a:rPr>
              <a:t>     </a:t>
            </a:r>
            <a:r>
              <a:rPr lang="en-US" altLang="en-US" sz="2000" i="1">
                <a:solidFill>
                  <a:schemeClr val="accent2"/>
                </a:solidFill>
                <a:latin typeface="Symbol" pitchFamily="18" charset="2"/>
              </a:rPr>
              <a:t>b</a:t>
            </a:r>
            <a:r>
              <a:rPr lang="en-US" altLang="en-US" sz="140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altLang="en-US" sz="1800">
                <a:solidFill>
                  <a:schemeClr val="accent2"/>
                </a:solidFill>
                <a:latin typeface="Symbol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Helvetica" pitchFamily="34" charset="0"/>
              </a:rPr>
              <a:t>&lt; </a:t>
            </a:r>
            <a:r>
              <a:rPr lang="en-US" altLang="en-US" sz="1800" i="1">
                <a:solidFill>
                  <a:schemeClr val="accent2"/>
                </a:solidFill>
                <a:latin typeface="Symbol" pitchFamily="18" charset="2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Symbol" pitchFamily="18" charset="2"/>
              </a:rPr>
              <a:t>.</a:t>
            </a:r>
          </a:p>
        </p:txBody>
      </p:sp>
      <p:sp>
        <p:nvSpPr>
          <p:cNvPr id="106528" name="Line 32"/>
          <p:cNvSpPr>
            <a:spLocks noChangeShapeType="1"/>
          </p:cNvSpPr>
          <p:nvPr/>
        </p:nvSpPr>
        <p:spPr bwMode="auto">
          <a:xfrm flipH="1" flipV="1">
            <a:off x="1739900" y="3289300"/>
            <a:ext cx="1460500" cy="58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09825" y="3868738"/>
            <a:ext cx="1257300" cy="152400"/>
            <a:chOff x="1536" y="2344"/>
            <a:chExt cx="792" cy="96"/>
          </a:xfrm>
        </p:grpSpPr>
        <p:sp>
          <p:nvSpPr>
            <p:cNvPr id="106530" name="Freeform 34"/>
            <p:cNvSpPr>
              <a:spLocks/>
            </p:cNvSpPr>
            <p:nvPr/>
          </p:nvSpPr>
          <p:spPr bwMode="auto">
            <a:xfrm>
              <a:off x="1800" y="2344"/>
              <a:ext cx="528" cy="96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48"/>
                </a:cxn>
                <a:cxn ang="0">
                  <a:pos x="48" y="0"/>
                </a:cxn>
                <a:cxn ang="0">
                  <a:pos x="96" y="48"/>
                </a:cxn>
                <a:cxn ang="0">
                  <a:pos x="144" y="0"/>
                </a:cxn>
                <a:cxn ang="0">
                  <a:pos x="192" y="48"/>
                </a:cxn>
                <a:cxn ang="0">
                  <a:pos x="240" y="0"/>
                </a:cxn>
                <a:cxn ang="0">
                  <a:pos x="288" y="48"/>
                </a:cxn>
                <a:cxn ang="0">
                  <a:pos x="336" y="0"/>
                </a:cxn>
                <a:cxn ang="0">
                  <a:pos x="384" y="48"/>
                </a:cxn>
                <a:cxn ang="0">
                  <a:pos x="432" y="0"/>
                </a:cxn>
                <a:cxn ang="0">
                  <a:pos x="480" y="48"/>
                </a:cxn>
                <a:cxn ang="0">
                  <a:pos x="528" y="0"/>
                </a:cxn>
                <a:cxn ang="0">
                  <a:pos x="576" y="48"/>
                </a:cxn>
                <a:cxn ang="0">
                  <a:pos x="624" y="0"/>
                </a:cxn>
                <a:cxn ang="0">
                  <a:pos x="672" y="48"/>
                </a:cxn>
                <a:cxn ang="0">
                  <a:pos x="720" y="0"/>
                </a:cxn>
                <a:cxn ang="0">
                  <a:pos x="768" y="48"/>
                </a:cxn>
                <a:cxn ang="0">
                  <a:pos x="768" y="96"/>
                </a:cxn>
                <a:cxn ang="0">
                  <a:pos x="768" y="144"/>
                </a:cxn>
                <a:cxn ang="0">
                  <a:pos x="0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144" y="0"/>
                  </a:lnTo>
                  <a:lnTo>
                    <a:pt x="192" y="48"/>
                  </a:lnTo>
                  <a:lnTo>
                    <a:pt x="240" y="0"/>
                  </a:lnTo>
                  <a:lnTo>
                    <a:pt x="288" y="48"/>
                  </a:lnTo>
                  <a:lnTo>
                    <a:pt x="336" y="0"/>
                  </a:lnTo>
                  <a:lnTo>
                    <a:pt x="384" y="48"/>
                  </a:lnTo>
                  <a:lnTo>
                    <a:pt x="432" y="0"/>
                  </a:lnTo>
                  <a:lnTo>
                    <a:pt x="480" y="48"/>
                  </a:lnTo>
                  <a:lnTo>
                    <a:pt x="528" y="0"/>
                  </a:lnTo>
                  <a:lnTo>
                    <a:pt x="576" y="48"/>
                  </a:lnTo>
                  <a:lnTo>
                    <a:pt x="624" y="0"/>
                  </a:lnTo>
                  <a:lnTo>
                    <a:pt x="672" y="48"/>
                  </a:lnTo>
                  <a:lnTo>
                    <a:pt x="720" y="0"/>
                  </a:lnTo>
                  <a:lnTo>
                    <a:pt x="768" y="48"/>
                  </a:lnTo>
                  <a:lnTo>
                    <a:pt x="768" y="96"/>
                  </a:lnTo>
                  <a:lnTo>
                    <a:pt x="768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08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31" name="Freeform 35"/>
            <p:cNvSpPr>
              <a:spLocks/>
            </p:cNvSpPr>
            <p:nvPr/>
          </p:nvSpPr>
          <p:spPr bwMode="auto">
            <a:xfrm>
              <a:off x="1536" y="2344"/>
              <a:ext cx="528" cy="96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48"/>
                </a:cxn>
                <a:cxn ang="0">
                  <a:pos x="48" y="0"/>
                </a:cxn>
                <a:cxn ang="0">
                  <a:pos x="96" y="48"/>
                </a:cxn>
                <a:cxn ang="0">
                  <a:pos x="144" y="0"/>
                </a:cxn>
                <a:cxn ang="0">
                  <a:pos x="192" y="48"/>
                </a:cxn>
                <a:cxn ang="0">
                  <a:pos x="240" y="0"/>
                </a:cxn>
                <a:cxn ang="0">
                  <a:pos x="288" y="48"/>
                </a:cxn>
                <a:cxn ang="0">
                  <a:pos x="336" y="0"/>
                </a:cxn>
                <a:cxn ang="0">
                  <a:pos x="384" y="48"/>
                </a:cxn>
                <a:cxn ang="0">
                  <a:pos x="432" y="0"/>
                </a:cxn>
                <a:cxn ang="0">
                  <a:pos x="480" y="48"/>
                </a:cxn>
                <a:cxn ang="0">
                  <a:pos x="528" y="0"/>
                </a:cxn>
                <a:cxn ang="0">
                  <a:pos x="576" y="48"/>
                </a:cxn>
                <a:cxn ang="0">
                  <a:pos x="624" y="0"/>
                </a:cxn>
                <a:cxn ang="0">
                  <a:pos x="672" y="48"/>
                </a:cxn>
                <a:cxn ang="0">
                  <a:pos x="720" y="0"/>
                </a:cxn>
                <a:cxn ang="0">
                  <a:pos x="768" y="48"/>
                </a:cxn>
                <a:cxn ang="0">
                  <a:pos x="768" y="96"/>
                </a:cxn>
                <a:cxn ang="0">
                  <a:pos x="768" y="144"/>
                </a:cxn>
                <a:cxn ang="0">
                  <a:pos x="0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144" y="0"/>
                  </a:lnTo>
                  <a:lnTo>
                    <a:pt x="192" y="48"/>
                  </a:lnTo>
                  <a:lnTo>
                    <a:pt x="240" y="0"/>
                  </a:lnTo>
                  <a:lnTo>
                    <a:pt x="288" y="48"/>
                  </a:lnTo>
                  <a:lnTo>
                    <a:pt x="336" y="0"/>
                  </a:lnTo>
                  <a:lnTo>
                    <a:pt x="384" y="48"/>
                  </a:lnTo>
                  <a:lnTo>
                    <a:pt x="432" y="0"/>
                  </a:lnTo>
                  <a:lnTo>
                    <a:pt x="480" y="48"/>
                  </a:lnTo>
                  <a:lnTo>
                    <a:pt x="528" y="0"/>
                  </a:lnTo>
                  <a:lnTo>
                    <a:pt x="576" y="48"/>
                  </a:lnTo>
                  <a:lnTo>
                    <a:pt x="624" y="0"/>
                  </a:lnTo>
                  <a:lnTo>
                    <a:pt x="672" y="48"/>
                  </a:lnTo>
                  <a:lnTo>
                    <a:pt x="720" y="0"/>
                  </a:lnTo>
                  <a:lnTo>
                    <a:pt x="768" y="48"/>
                  </a:lnTo>
                  <a:lnTo>
                    <a:pt x="768" y="96"/>
                  </a:lnTo>
                  <a:lnTo>
                    <a:pt x="768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08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532" name="Rectangle 36"/>
          <p:cNvSpPr>
            <a:spLocks noChangeArrowheads="1"/>
          </p:cNvSpPr>
          <p:nvPr/>
        </p:nvSpPr>
        <p:spPr bwMode="auto">
          <a:xfrm>
            <a:off x="2343150" y="4098925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600" i="1">
                <a:latin typeface="Helvetica" pitchFamily="34" charset="0"/>
              </a:rPr>
              <a:t>d</a:t>
            </a:r>
          </a:p>
        </p:txBody>
      </p:sp>
      <p:sp>
        <p:nvSpPr>
          <p:cNvPr id="106533" name="Line 37"/>
          <p:cNvSpPr>
            <a:spLocks noChangeShapeType="1"/>
          </p:cNvSpPr>
          <p:nvPr/>
        </p:nvSpPr>
        <p:spPr bwMode="auto">
          <a:xfrm>
            <a:off x="2311400" y="41132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34" name="Line 38"/>
          <p:cNvSpPr>
            <a:spLocks noChangeShapeType="1"/>
          </p:cNvSpPr>
          <p:nvPr/>
        </p:nvSpPr>
        <p:spPr bwMode="auto">
          <a:xfrm flipH="1">
            <a:off x="2565400" y="41132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535" name="Line 39"/>
          <p:cNvSpPr>
            <a:spLocks noChangeShapeType="1"/>
          </p:cNvSpPr>
          <p:nvPr/>
        </p:nvSpPr>
        <p:spPr bwMode="auto">
          <a:xfrm>
            <a:off x="2463800" y="38639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6536" name="Line 40"/>
          <p:cNvSpPr>
            <a:spLocks noChangeShapeType="1"/>
          </p:cNvSpPr>
          <p:nvPr/>
        </p:nvSpPr>
        <p:spPr bwMode="auto">
          <a:xfrm>
            <a:off x="2566988" y="38639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6537" name="Line 41"/>
          <p:cNvSpPr>
            <a:spLocks noChangeShapeType="1"/>
          </p:cNvSpPr>
          <p:nvPr/>
        </p:nvSpPr>
        <p:spPr bwMode="auto">
          <a:xfrm>
            <a:off x="365125" y="6496050"/>
            <a:ext cx="320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1143000"/>
          </a:xfrm>
        </p:spPr>
        <p:txBody>
          <a:bodyPr/>
          <a:lstStyle/>
          <a:p>
            <a:r>
              <a:rPr lang="en-US">
                <a:latin typeface="Arial" charset="0"/>
                <a:cs typeface="Times New Roman" pitchFamily="18" charset="0"/>
              </a:rPr>
              <a:t>NA and Resolution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charset="0"/>
              <a:cs typeface="Times New Roman" pitchFamily="18" charset="0"/>
            </a:endParaRPr>
          </a:p>
          <a:p>
            <a:endParaRPr lang="en-US">
              <a:latin typeface="Arial" charset="0"/>
            </a:endParaRPr>
          </a:p>
        </p:txBody>
      </p:sp>
      <p:pic>
        <p:nvPicPr>
          <p:cNvPr id="99332" name="Picture 4" descr="Mont2"/>
          <p:cNvPicPr>
            <a:picLocks noChangeAspect="1" noChangeArrowheads="1"/>
          </p:cNvPicPr>
          <p:nvPr/>
        </p:nvPicPr>
        <p:blipFill>
          <a:blip r:embed="rId3" cstate="print"/>
          <a:srcRect l="67415"/>
          <a:stretch>
            <a:fillRect/>
          </a:stretch>
        </p:blipFill>
        <p:spPr bwMode="auto">
          <a:xfrm>
            <a:off x="4953000" y="1828800"/>
            <a:ext cx="3482975" cy="4114800"/>
          </a:xfrm>
          <a:prstGeom prst="rect">
            <a:avLst/>
          </a:prstGeom>
          <a:noFill/>
        </p:spPr>
      </p:pic>
      <p:pic>
        <p:nvPicPr>
          <p:cNvPr id="99333" name="Picture 5" descr="MONT"/>
          <p:cNvPicPr>
            <a:picLocks noChangeAspect="1" noChangeArrowheads="1"/>
          </p:cNvPicPr>
          <p:nvPr/>
        </p:nvPicPr>
        <p:blipFill>
          <a:blip r:embed="rId3" cstate="print">
            <a:lum bright="-36000" contrast="54000"/>
          </a:blip>
          <a:srcRect l="33673" r="33673"/>
          <a:stretch>
            <a:fillRect/>
          </a:stretch>
        </p:blipFill>
        <p:spPr bwMode="auto">
          <a:xfrm>
            <a:off x="381000" y="1828800"/>
            <a:ext cx="3490913" cy="4114800"/>
          </a:xfrm>
          <a:prstGeom prst="rect">
            <a:avLst/>
          </a:prstGeom>
          <a:noFill/>
        </p:spPr>
      </p:pic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604838" y="6176963"/>
            <a:ext cx="7685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High NA Objective                    	      Low NA Objective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Freeform 6"/>
          <p:cNvSpPr>
            <a:spLocks/>
          </p:cNvSpPr>
          <p:nvPr/>
        </p:nvSpPr>
        <p:spPr bwMode="auto">
          <a:xfrm>
            <a:off x="2063750" y="6237288"/>
            <a:ext cx="1481138" cy="381000"/>
          </a:xfrm>
          <a:custGeom>
            <a:avLst/>
            <a:gdLst/>
            <a:ahLst/>
            <a:cxnLst>
              <a:cxn ang="0">
                <a:pos x="184" y="240"/>
              </a:cxn>
              <a:cxn ang="0">
                <a:pos x="21" y="89"/>
              </a:cxn>
              <a:cxn ang="0">
                <a:pos x="60" y="12"/>
              </a:cxn>
              <a:cxn ang="0">
                <a:pos x="184" y="14"/>
              </a:cxn>
              <a:cxn ang="0">
                <a:pos x="266" y="89"/>
              </a:cxn>
              <a:cxn ang="0">
                <a:pos x="225" y="114"/>
              </a:cxn>
              <a:cxn ang="0">
                <a:pos x="184" y="89"/>
              </a:cxn>
              <a:cxn ang="0">
                <a:pos x="268" y="18"/>
              </a:cxn>
              <a:cxn ang="0">
                <a:pos x="401" y="23"/>
              </a:cxn>
              <a:cxn ang="0">
                <a:pos x="511" y="89"/>
              </a:cxn>
              <a:cxn ang="0">
                <a:pos x="428" y="140"/>
              </a:cxn>
              <a:cxn ang="0">
                <a:pos x="348" y="89"/>
              </a:cxn>
              <a:cxn ang="0">
                <a:pos x="593" y="14"/>
              </a:cxn>
              <a:cxn ang="0">
                <a:pos x="756" y="89"/>
              </a:cxn>
              <a:cxn ang="0">
                <a:pos x="668" y="140"/>
              </a:cxn>
              <a:cxn ang="0">
                <a:pos x="593" y="89"/>
              </a:cxn>
              <a:cxn ang="0">
                <a:pos x="838" y="14"/>
              </a:cxn>
              <a:cxn ang="0">
                <a:pos x="919" y="52"/>
              </a:cxn>
              <a:cxn ang="0">
                <a:pos x="756" y="240"/>
              </a:cxn>
            </a:cxnLst>
            <a:rect l="0" t="0" r="r" b="b"/>
            <a:pathLst>
              <a:path w="933" h="240">
                <a:moveTo>
                  <a:pt x="184" y="240"/>
                </a:moveTo>
                <a:cubicBezTo>
                  <a:pt x="103" y="184"/>
                  <a:pt x="42" y="127"/>
                  <a:pt x="21" y="89"/>
                </a:cubicBezTo>
                <a:cubicBezTo>
                  <a:pt x="0" y="51"/>
                  <a:pt x="33" y="24"/>
                  <a:pt x="60" y="12"/>
                </a:cubicBezTo>
                <a:cubicBezTo>
                  <a:pt x="87" y="0"/>
                  <a:pt x="150" y="1"/>
                  <a:pt x="184" y="14"/>
                </a:cubicBezTo>
                <a:cubicBezTo>
                  <a:pt x="218" y="27"/>
                  <a:pt x="259" y="72"/>
                  <a:pt x="266" y="89"/>
                </a:cubicBezTo>
                <a:cubicBezTo>
                  <a:pt x="273" y="106"/>
                  <a:pt x="239" y="114"/>
                  <a:pt x="225" y="114"/>
                </a:cubicBezTo>
                <a:cubicBezTo>
                  <a:pt x="211" y="114"/>
                  <a:pt x="177" y="105"/>
                  <a:pt x="184" y="89"/>
                </a:cubicBezTo>
                <a:cubicBezTo>
                  <a:pt x="191" y="73"/>
                  <a:pt x="232" y="29"/>
                  <a:pt x="268" y="18"/>
                </a:cubicBezTo>
                <a:cubicBezTo>
                  <a:pt x="304" y="7"/>
                  <a:pt x="361" y="11"/>
                  <a:pt x="401" y="23"/>
                </a:cubicBezTo>
                <a:cubicBezTo>
                  <a:pt x="441" y="35"/>
                  <a:pt x="507" y="70"/>
                  <a:pt x="511" y="89"/>
                </a:cubicBezTo>
                <a:cubicBezTo>
                  <a:pt x="515" y="108"/>
                  <a:pt x="455" y="140"/>
                  <a:pt x="428" y="140"/>
                </a:cubicBezTo>
                <a:cubicBezTo>
                  <a:pt x="401" y="140"/>
                  <a:pt x="321" y="110"/>
                  <a:pt x="348" y="89"/>
                </a:cubicBezTo>
                <a:cubicBezTo>
                  <a:pt x="375" y="68"/>
                  <a:pt x="525" y="14"/>
                  <a:pt x="593" y="14"/>
                </a:cubicBezTo>
                <a:cubicBezTo>
                  <a:pt x="661" y="14"/>
                  <a:pt x="744" y="68"/>
                  <a:pt x="756" y="89"/>
                </a:cubicBezTo>
                <a:cubicBezTo>
                  <a:pt x="768" y="110"/>
                  <a:pt x="695" y="140"/>
                  <a:pt x="668" y="140"/>
                </a:cubicBezTo>
                <a:cubicBezTo>
                  <a:pt x="641" y="140"/>
                  <a:pt x="565" y="110"/>
                  <a:pt x="593" y="89"/>
                </a:cubicBezTo>
                <a:cubicBezTo>
                  <a:pt x="621" y="68"/>
                  <a:pt x="782" y="20"/>
                  <a:pt x="838" y="14"/>
                </a:cubicBezTo>
                <a:cubicBezTo>
                  <a:pt x="892" y="7"/>
                  <a:pt x="933" y="14"/>
                  <a:pt x="919" y="52"/>
                </a:cubicBezTo>
                <a:cubicBezTo>
                  <a:pt x="906" y="89"/>
                  <a:pt x="831" y="165"/>
                  <a:pt x="756" y="240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0400" y="3505200"/>
            <a:ext cx="927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objective</a:t>
            </a:r>
            <a:endParaRPr lang="en-US" altLang="en-US" sz="1800"/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495800" y="2286000"/>
            <a:ext cx="4431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For the highest resolution,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to have</a:t>
            </a:r>
          </a:p>
          <a:p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smtClean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 smtClean="0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        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baseline="-25000" dirty="0">
              <a:solidFill>
                <a:srgbClr val="FF0000"/>
              </a:solidFill>
              <a:latin typeface="Helvetica" charset="0"/>
            </a:endParaRP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buFont typeface="Symbol" charset="2"/>
              <a:buChar char="Þ"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 with oil immersion objectives,</a:t>
            </a:r>
          </a:p>
          <a:p>
            <a:pPr>
              <a:buFont typeface="Symbol" charset="2"/>
              <a:buNone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an </a:t>
            </a:r>
            <a:r>
              <a:rPr lang="en-US" altLang="en-US" sz="2000" b="0" i="1" dirty="0">
                <a:solidFill>
                  <a:srgbClr val="660066"/>
                </a:solidFill>
                <a:latin typeface="Chalkboard" charset="0"/>
              </a:rPr>
              <a:t>oil immersion condenser!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3276600" y="4419600"/>
            <a:ext cx="1036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condenser</a:t>
            </a:r>
            <a:endParaRPr lang="en-US" altLang="en-US" sz="1800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2946400" y="4013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Text Box 42"/>
          <p:cNvSpPr txBox="1">
            <a:spLocks noChangeArrowheads="1"/>
          </p:cNvSpPr>
          <p:nvPr/>
        </p:nvSpPr>
        <p:spPr bwMode="auto">
          <a:xfrm>
            <a:off x="2022475" y="131763"/>
            <a:ext cx="47005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Filling the back focal plane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520825" y="28194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52717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55282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V="1">
            <a:off x="2943225" y="3505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181225" y="4127500"/>
            <a:ext cx="1227138" cy="117475"/>
          </a:xfrm>
          <a:prstGeom prst="rect">
            <a:avLst/>
          </a:prstGeom>
          <a:solidFill>
            <a:srgbClr val="40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52625" y="1689100"/>
            <a:ext cx="304800" cy="1371600"/>
            <a:chOff x="1632" y="952"/>
            <a:chExt cx="192" cy="864"/>
          </a:xfrm>
        </p:grpSpPr>
        <p:sp>
          <p:nvSpPr>
            <p:cNvPr id="26675" name="Line 5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5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81225" y="1689100"/>
            <a:ext cx="304800" cy="1371600"/>
            <a:chOff x="1632" y="952"/>
            <a:chExt cx="192" cy="864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6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2409825" y="1689100"/>
            <a:ext cx="304800" cy="1371600"/>
            <a:chOff x="1632" y="952"/>
            <a:chExt cx="192" cy="864"/>
          </a:xfrm>
        </p:grpSpPr>
        <p:sp>
          <p:nvSpPr>
            <p:cNvPr id="26682" name="Line 58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9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638425" y="1689100"/>
            <a:ext cx="304800" cy="1371600"/>
            <a:chOff x="1632" y="952"/>
            <a:chExt cx="192" cy="864"/>
          </a:xfrm>
        </p:grpSpPr>
        <p:sp>
          <p:nvSpPr>
            <p:cNvPr id="26685" name="Line 6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6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867025" y="1689100"/>
            <a:ext cx="304800" cy="1371600"/>
            <a:chOff x="1632" y="952"/>
            <a:chExt cx="192" cy="864"/>
          </a:xfrm>
        </p:grpSpPr>
        <p:sp>
          <p:nvSpPr>
            <p:cNvPr id="26688" name="Line 64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9" name="Line 65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3095625" y="1689100"/>
            <a:ext cx="304800" cy="1371600"/>
            <a:chOff x="1632" y="952"/>
            <a:chExt cx="192" cy="864"/>
          </a:xfrm>
        </p:grpSpPr>
        <p:sp>
          <p:nvSpPr>
            <p:cNvPr id="26691" name="Line 67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2" name="Line 68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324225" y="1689100"/>
            <a:ext cx="304800" cy="1371600"/>
            <a:chOff x="1632" y="952"/>
            <a:chExt cx="192" cy="864"/>
          </a:xfrm>
        </p:grpSpPr>
        <p:sp>
          <p:nvSpPr>
            <p:cNvPr id="26694" name="Line 70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5" name="Line 71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29432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99" name="Line 75"/>
          <p:cNvSpPr>
            <a:spLocks noChangeShapeType="1"/>
          </p:cNvSpPr>
          <p:nvPr/>
        </p:nvSpPr>
        <p:spPr bwMode="auto">
          <a:xfrm flipH="1">
            <a:off x="29432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5" name="Line 91"/>
          <p:cNvSpPr>
            <a:spLocks noChangeShapeType="1"/>
          </p:cNvSpPr>
          <p:nvPr/>
        </p:nvSpPr>
        <p:spPr bwMode="auto">
          <a:xfrm>
            <a:off x="2257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6" name="Line 92"/>
          <p:cNvSpPr>
            <a:spLocks noChangeShapeType="1"/>
          </p:cNvSpPr>
          <p:nvPr/>
        </p:nvSpPr>
        <p:spPr bwMode="auto">
          <a:xfrm>
            <a:off x="24860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27146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H="1">
            <a:off x="2943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9" name="Line 95"/>
          <p:cNvSpPr>
            <a:spLocks noChangeShapeType="1"/>
          </p:cNvSpPr>
          <p:nvPr/>
        </p:nvSpPr>
        <p:spPr bwMode="auto">
          <a:xfrm flipH="1">
            <a:off x="29432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0" name="Line 96"/>
          <p:cNvSpPr>
            <a:spLocks noChangeShapeType="1"/>
          </p:cNvSpPr>
          <p:nvPr/>
        </p:nvSpPr>
        <p:spPr bwMode="auto">
          <a:xfrm>
            <a:off x="26384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1" name="Line 97"/>
          <p:cNvSpPr>
            <a:spLocks noChangeShapeType="1"/>
          </p:cNvSpPr>
          <p:nvPr/>
        </p:nvSpPr>
        <p:spPr bwMode="auto">
          <a:xfrm flipH="1">
            <a:off x="26384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2" name="Line 98"/>
          <p:cNvSpPr>
            <a:spLocks noChangeShapeType="1"/>
          </p:cNvSpPr>
          <p:nvPr/>
        </p:nvSpPr>
        <p:spPr bwMode="auto">
          <a:xfrm>
            <a:off x="19526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3" name="Line 99"/>
          <p:cNvSpPr>
            <a:spLocks noChangeShapeType="1"/>
          </p:cNvSpPr>
          <p:nvPr/>
        </p:nvSpPr>
        <p:spPr bwMode="auto">
          <a:xfrm>
            <a:off x="2181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4098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5" name="Line 101"/>
          <p:cNvSpPr>
            <a:spLocks noChangeShapeType="1"/>
          </p:cNvSpPr>
          <p:nvPr/>
        </p:nvSpPr>
        <p:spPr bwMode="auto">
          <a:xfrm flipH="1">
            <a:off x="26384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6" name="Line 102"/>
          <p:cNvSpPr>
            <a:spLocks noChangeShapeType="1"/>
          </p:cNvSpPr>
          <p:nvPr/>
        </p:nvSpPr>
        <p:spPr bwMode="auto">
          <a:xfrm flipH="1">
            <a:off x="2638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8" name="Arc 104"/>
          <p:cNvSpPr>
            <a:spLocks/>
          </p:cNvSpPr>
          <p:nvPr/>
        </p:nvSpPr>
        <p:spPr bwMode="auto">
          <a:xfrm>
            <a:off x="2943225" y="3659188"/>
            <a:ext cx="284163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2773"/>
              <a:gd name="T1" fmla="*/ 0 h 21600"/>
              <a:gd name="T2" fmla="*/ 12773 w 12773"/>
              <a:gd name="T3" fmla="*/ 4182 h 21600"/>
              <a:gd name="T4" fmla="*/ 0 w 127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773" h="21600" fill="none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</a:path>
              <a:path w="12773" h="21600" stroke="0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9" name="Text Box 105"/>
          <p:cNvSpPr txBox="1">
            <a:spLocks noChangeArrowheads="1"/>
          </p:cNvSpPr>
          <p:nvPr/>
        </p:nvSpPr>
        <p:spPr bwMode="auto">
          <a:xfrm>
            <a:off x="533400" y="838200"/>
            <a:ext cx="7654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accent2"/>
                </a:solidFill>
                <a:latin typeface="Chalkboard" charset="0"/>
              </a:rPr>
              <a:t>In trans-illumination microscopy</a:t>
            </a:r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, to get maximum resolution,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the illumination must “fill the back focal plane”</a:t>
            </a:r>
          </a:p>
        </p:txBody>
      </p:sp>
      <p:sp>
        <p:nvSpPr>
          <p:cNvPr id="26814" name="Line 190"/>
          <p:cNvSpPr>
            <a:spLocks noChangeShapeType="1"/>
          </p:cNvSpPr>
          <p:nvPr/>
        </p:nvSpPr>
        <p:spPr bwMode="auto">
          <a:xfrm flipV="1">
            <a:off x="1952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5" name="Line 191"/>
          <p:cNvSpPr>
            <a:spLocks noChangeShapeType="1"/>
          </p:cNvSpPr>
          <p:nvPr/>
        </p:nvSpPr>
        <p:spPr bwMode="auto">
          <a:xfrm flipH="1" flipV="1">
            <a:off x="2105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7" name="Line 193"/>
          <p:cNvSpPr>
            <a:spLocks noChangeShapeType="1"/>
          </p:cNvSpPr>
          <p:nvPr/>
        </p:nvSpPr>
        <p:spPr bwMode="auto">
          <a:xfrm flipV="1">
            <a:off x="2181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8" name="Line 194"/>
          <p:cNvSpPr>
            <a:spLocks noChangeShapeType="1"/>
          </p:cNvSpPr>
          <p:nvPr/>
        </p:nvSpPr>
        <p:spPr bwMode="auto">
          <a:xfrm flipH="1" flipV="1">
            <a:off x="2333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0" name="Line 196"/>
          <p:cNvSpPr>
            <a:spLocks noChangeShapeType="1"/>
          </p:cNvSpPr>
          <p:nvPr/>
        </p:nvSpPr>
        <p:spPr bwMode="auto">
          <a:xfrm flipV="1">
            <a:off x="2409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1" name="Line 197"/>
          <p:cNvSpPr>
            <a:spLocks noChangeShapeType="1"/>
          </p:cNvSpPr>
          <p:nvPr/>
        </p:nvSpPr>
        <p:spPr bwMode="auto">
          <a:xfrm flipH="1" flipV="1">
            <a:off x="2562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3" name="Line 199"/>
          <p:cNvSpPr>
            <a:spLocks noChangeShapeType="1"/>
          </p:cNvSpPr>
          <p:nvPr/>
        </p:nvSpPr>
        <p:spPr bwMode="auto">
          <a:xfrm flipV="1">
            <a:off x="2638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4" name="Line 200"/>
          <p:cNvSpPr>
            <a:spLocks noChangeShapeType="1"/>
          </p:cNvSpPr>
          <p:nvPr/>
        </p:nvSpPr>
        <p:spPr bwMode="auto">
          <a:xfrm flipH="1" flipV="1">
            <a:off x="2790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6" name="Line 202"/>
          <p:cNvSpPr>
            <a:spLocks noChangeShapeType="1"/>
          </p:cNvSpPr>
          <p:nvPr/>
        </p:nvSpPr>
        <p:spPr bwMode="auto">
          <a:xfrm flipV="1">
            <a:off x="2867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7" name="Line 203"/>
          <p:cNvSpPr>
            <a:spLocks noChangeShapeType="1"/>
          </p:cNvSpPr>
          <p:nvPr/>
        </p:nvSpPr>
        <p:spPr bwMode="auto">
          <a:xfrm flipH="1" flipV="1">
            <a:off x="3019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9" name="Line 205"/>
          <p:cNvSpPr>
            <a:spLocks noChangeShapeType="1"/>
          </p:cNvSpPr>
          <p:nvPr/>
        </p:nvSpPr>
        <p:spPr bwMode="auto">
          <a:xfrm flipV="1">
            <a:off x="3095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0" name="Line 206"/>
          <p:cNvSpPr>
            <a:spLocks noChangeShapeType="1"/>
          </p:cNvSpPr>
          <p:nvPr/>
        </p:nvSpPr>
        <p:spPr bwMode="auto">
          <a:xfrm flipH="1" flipV="1">
            <a:off x="3248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" name="Line 208"/>
          <p:cNvSpPr>
            <a:spLocks noChangeShapeType="1"/>
          </p:cNvSpPr>
          <p:nvPr/>
        </p:nvSpPr>
        <p:spPr bwMode="auto">
          <a:xfrm flipV="1">
            <a:off x="3324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3" name="Line 209"/>
          <p:cNvSpPr>
            <a:spLocks noChangeShapeType="1"/>
          </p:cNvSpPr>
          <p:nvPr/>
        </p:nvSpPr>
        <p:spPr bwMode="auto">
          <a:xfrm flipH="1" flipV="1">
            <a:off x="3476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4" name="Freeform 210"/>
          <p:cNvSpPr>
            <a:spLocks/>
          </p:cNvSpPr>
          <p:nvPr/>
        </p:nvSpPr>
        <p:spPr bwMode="auto">
          <a:xfrm flipV="1">
            <a:off x="1524000" y="52578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7" name="Line 213"/>
          <p:cNvSpPr>
            <a:spLocks noChangeShapeType="1"/>
          </p:cNvSpPr>
          <p:nvPr/>
        </p:nvSpPr>
        <p:spPr bwMode="auto">
          <a:xfrm>
            <a:off x="2946400" y="43434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8" name="Line 214"/>
          <p:cNvSpPr>
            <a:spLocks noChangeShapeType="1"/>
          </p:cNvSpPr>
          <p:nvPr/>
        </p:nvSpPr>
        <p:spPr bwMode="auto">
          <a:xfrm flipV="1">
            <a:off x="29464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39" name="Line 215"/>
          <p:cNvSpPr>
            <a:spLocks noChangeShapeType="1"/>
          </p:cNvSpPr>
          <p:nvPr/>
        </p:nvSpPr>
        <p:spPr bwMode="auto">
          <a:xfrm flipH="1" flipV="1">
            <a:off x="29464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0" name="Line 216"/>
          <p:cNvSpPr>
            <a:spLocks noChangeShapeType="1"/>
          </p:cNvSpPr>
          <p:nvPr/>
        </p:nvSpPr>
        <p:spPr bwMode="auto">
          <a:xfrm flipV="1">
            <a:off x="2260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1" name="Line 217"/>
          <p:cNvSpPr>
            <a:spLocks noChangeShapeType="1"/>
          </p:cNvSpPr>
          <p:nvPr/>
        </p:nvSpPr>
        <p:spPr bwMode="auto">
          <a:xfrm flipV="1">
            <a:off x="24892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2" name="Line 218"/>
          <p:cNvSpPr>
            <a:spLocks noChangeShapeType="1"/>
          </p:cNvSpPr>
          <p:nvPr/>
        </p:nvSpPr>
        <p:spPr bwMode="auto">
          <a:xfrm flipV="1">
            <a:off x="27178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3" name="Line 219"/>
          <p:cNvSpPr>
            <a:spLocks noChangeShapeType="1"/>
          </p:cNvSpPr>
          <p:nvPr/>
        </p:nvSpPr>
        <p:spPr bwMode="auto">
          <a:xfrm flipH="1" flipV="1">
            <a:off x="2946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4" name="Line 220"/>
          <p:cNvSpPr>
            <a:spLocks noChangeShapeType="1"/>
          </p:cNvSpPr>
          <p:nvPr/>
        </p:nvSpPr>
        <p:spPr bwMode="auto">
          <a:xfrm flipH="1" flipV="1">
            <a:off x="29464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5" name="Line 221"/>
          <p:cNvSpPr>
            <a:spLocks noChangeShapeType="1"/>
          </p:cNvSpPr>
          <p:nvPr/>
        </p:nvSpPr>
        <p:spPr bwMode="auto">
          <a:xfrm flipV="1">
            <a:off x="26416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6" name="Line 222"/>
          <p:cNvSpPr>
            <a:spLocks noChangeShapeType="1"/>
          </p:cNvSpPr>
          <p:nvPr/>
        </p:nvSpPr>
        <p:spPr bwMode="auto">
          <a:xfrm flipH="1" flipV="1">
            <a:off x="26416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7" name="Line 223"/>
          <p:cNvSpPr>
            <a:spLocks noChangeShapeType="1"/>
          </p:cNvSpPr>
          <p:nvPr/>
        </p:nvSpPr>
        <p:spPr bwMode="auto">
          <a:xfrm flipV="1">
            <a:off x="19558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8" name="Line 224"/>
          <p:cNvSpPr>
            <a:spLocks noChangeShapeType="1"/>
          </p:cNvSpPr>
          <p:nvPr/>
        </p:nvSpPr>
        <p:spPr bwMode="auto">
          <a:xfrm flipV="1">
            <a:off x="2184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9" name="Line 225"/>
          <p:cNvSpPr>
            <a:spLocks noChangeShapeType="1"/>
          </p:cNvSpPr>
          <p:nvPr/>
        </p:nvSpPr>
        <p:spPr bwMode="auto">
          <a:xfrm flipV="1">
            <a:off x="24130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0" name="Line 226"/>
          <p:cNvSpPr>
            <a:spLocks noChangeShapeType="1"/>
          </p:cNvSpPr>
          <p:nvPr/>
        </p:nvSpPr>
        <p:spPr bwMode="auto">
          <a:xfrm flipH="1" flipV="1">
            <a:off x="26416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1" name="Line 227"/>
          <p:cNvSpPr>
            <a:spLocks noChangeShapeType="1"/>
          </p:cNvSpPr>
          <p:nvPr/>
        </p:nvSpPr>
        <p:spPr bwMode="auto">
          <a:xfrm flipH="1" flipV="1">
            <a:off x="2641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2" name="Arc 228"/>
          <p:cNvSpPr>
            <a:spLocks/>
          </p:cNvSpPr>
          <p:nvPr/>
        </p:nvSpPr>
        <p:spPr bwMode="auto">
          <a:xfrm flipV="1">
            <a:off x="2946400" y="4265613"/>
            <a:ext cx="293688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3231"/>
              <a:gd name="T1" fmla="*/ 0 h 21600"/>
              <a:gd name="T2" fmla="*/ 13231 w 13231"/>
              <a:gd name="T3" fmla="*/ 4527 h 21600"/>
              <a:gd name="T4" fmla="*/ 0 w 132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31" h="21600" fill="none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</a:path>
              <a:path w="13231" h="21600" stroke="0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3" name="Line 229"/>
          <p:cNvSpPr>
            <a:spLocks noChangeShapeType="1"/>
          </p:cNvSpPr>
          <p:nvPr/>
        </p:nvSpPr>
        <p:spPr bwMode="auto">
          <a:xfrm>
            <a:off x="1955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4" name="Line 230"/>
          <p:cNvSpPr>
            <a:spLocks noChangeShapeType="1"/>
          </p:cNvSpPr>
          <p:nvPr/>
        </p:nvSpPr>
        <p:spPr bwMode="auto">
          <a:xfrm flipH="1">
            <a:off x="2108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5" name="Line 231"/>
          <p:cNvSpPr>
            <a:spLocks noChangeShapeType="1"/>
          </p:cNvSpPr>
          <p:nvPr/>
        </p:nvSpPr>
        <p:spPr bwMode="auto">
          <a:xfrm>
            <a:off x="2184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6" name="Line 232"/>
          <p:cNvSpPr>
            <a:spLocks noChangeShapeType="1"/>
          </p:cNvSpPr>
          <p:nvPr/>
        </p:nvSpPr>
        <p:spPr bwMode="auto">
          <a:xfrm flipH="1">
            <a:off x="2336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7" name="Line 233"/>
          <p:cNvSpPr>
            <a:spLocks noChangeShapeType="1"/>
          </p:cNvSpPr>
          <p:nvPr/>
        </p:nvSpPr>
        <p:spPr bwMode="auto">
          <a:xfrm>
            <a:off x="2413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8" name="Line 234"/>
          <p:cNvSpPr>
            <a:spLocks noChangeShapeType="1"/>
          </p:cNvSpPr>
          <p:nvPr/>
        </p:nvSpPr>
        <p:spPr bwMode="auto">
          <a:xfrm flipH="1">
            <a:off x="2565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9" name="Line 235"/>
          <p:cNvSpPr>
            <a:spLocks noChangeShapeType="1"/>
          </p:cNvSpPr>
          <p:nvPr/>
        </p:nvSpPr>
        <p:spPr bwMode="auto">
          <a:xfrm>
            <a:off x="2641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0" name="Line 236"/>
          <p:cNvSpPr>
            <a:spLocks noChangeShapeType="1"/>
          </p:cNvSpPr>
          <p:nvPr/>
        </p:nvSpPr>
        <p:spPr bwMode="auto">
          <a:xfrm flipH="1">
            <a:off x="2794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1" name="Line 237"/>
          <p:cNvSpPr>
            <a:spLocks noChangeShapeType="1"/>
          </p:cNvSpPr>
          <p:nvPr/>
        </p:nvSpPr>
        <p:spPr bwMode="auto">
          <a:xfrm>
            <a:off x="2870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2" name="Line 238"/>
          <p:cNvSpPr>
            <a:spLocks noChangeShapeType="1"/>
          </p:cNvSpPr>
          <p:nvPr/>
        </p:nvSpPr>
        <p:spPr bwMode="auto">
          <a:xfrm flipH="1">
            <a:off x="3022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3" name="Line 239"/>
          <p:cNvSpPr>
            <a:spLocks noChangeShapeType="1"/>
          </p:cNvSpPr>
          <p:nvPr/>
        </p:nvSpPr>
        <p:spPr bwMode="auto">
          <a:xfrm>
            <a:off x="3098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4" name="Line 240"/>
          <p:cNvSpPr>
            <a:spLocks noChangeShapeType="1"/>
          </p:cNvSpPr>
          <p:nvPr/>
        </p:nvSpPr>
        <p:spPr bwMode="auto">
          <a:xfrm flipH="1">
            <a:off x="3251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5" name="Line 241"/>
          <p:cNvSpPr>
            <a:spLocks noChangeShapeType="1"/>
          </p:cNvSpPr>
          <p:nvPr/>
        </p:nvSpPr>
        <p:spPr bwMode="auto">
          <a:xfrm>
            <a:off x="3327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6" name="Line 242"/>
          <p:cNvSpPr>
            <a:spLocks noChangeShapeType="1"/>
          </p:cNvSpPr>
          <p:nvPr/>
        </p:nvSpPr>
        <p:spPr bwMode="auto">
          <a:xfrm flipH="1">
            <a:off x="3479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2" name="Rectangle 278"/>
          <p:cNvSpPr>
            <a:spLocks noChangeArrowheads="1"/>
          </p:cNvSpPr>
          <p:nvPr/>
        </p:nvSpPr>
        <p:spPr bwMode="auto">
          <a:xfrm>
            <a:off x="352425" y="2895600"/>
            <a:ext cx="10779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Objective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3" name="Rectangle 279"/>
          <p:cNvSpPr>
            <a:spLocks noChangeArrowheads="1"/>
          </p:cNvSpPr>
          <p:nvPr/>
        </p:nvSpPr>
        <p:spPr bwMode="auto">
          <a:xfrm>
            <a:off x="352425" y="5105400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Condenser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4" name="Rectangle 280"/>
          <p:cNvSpPr>
            <a:spLocks noChangeArrowheads="1"/>
          </p:cNvSpPr>
          <p:nvPr/>
        </p:nvSpPr>
        <p:spPr bwMode="auto">
          <a:xfrm>
            <a:off x="352425" y="6248400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Light source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5" name="Rectangle 281"/>
          <p:cNvSpPr>
            <a:spLocks noChangeArrowheads="1"/>
          </p:cNvSpPr>
          <p:nvPr/>
        </p:nvSpPr>
        <p:spPr bwMode="auto">
          <a:xfrm>
            <a:off x="590550" y="1758950"/>
            <a:ext cx="671513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Back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focal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plane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6" name="Rectangle 282"/>
          <p:cNvSpPr>
            <a:spLocks noChangeArrowheads="1"/>
          </p:cNvSpPr>
          <p:nvPr/>
        </p:nvSpPr>
        <p:spPr bwMode="auto">
          <a:xfrm flipV="1">
            <a:off x="357505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7" name="Rectangle 283"/>
          <p:cNvSpPr>
            <a:spLocks noChangeArrowheads="1"/>
          </p:cNvSpPr>
          <p:nvPr/>
        </p:nvSpPr>
        <p:spPr bwMode="auto">
          <a:xfrm flipV="1">
            <a:off x="167640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33400" y="4775200"/>
            <a:ext cx="3676650" cy="1981200"/>
            <a:chOff x="432" y="2976"/>
            <a:chExt cx="2316" cy="1248"/>
          </a:xfrm>
        </p:grpSpPr>
        <p:pic>
          <p:nvPicPr>
            <p:cNvPr id="27651" name="Picture 3" descr="condenserfigure5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2" y="2976"/>
              <a:ext cx="2316" cy="1237"/>
            </a:xfrm>
            <a:prstGeom prst="rect">
              <a:avLst/>
            </a:prstGeom>
            <a:noFill/>
          </p:spPr>
        </p:pic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1344" y="4080"/>
              <a:ext cx="67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3100388" y="131763"/>
            <a:ext cx="25447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The Condenser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953000" y="4775200"/>
            <a:ext cx="3676650" cy="1752600"/>
            <a:chOff x="3120" y="2976"/>
            <a:chExt cx="2316" cy="1104"/>
          </a:xfrm>
        </p:grpSpPr>
        <p:pic>
          <p:nvPicPr>
            <p:cNvPr id="27656" name="Picture 8" descr="condenserfigure6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20" y="2976"/>
              <a:ext cx="2316" cy="1090"/>
            </a:xfrm>
            <a:prstGeom prst="rect">
              <a:avLst/>
            </a:prstGeom>
            <a:noFill/>
          </p:spPr>
        </p:pic>
        <p:sp>
          <p:nvSpPr>
            <p:cNvPr id="27652" name="Rectangle 4"/>
            <p:cNvSpPr>
              <a:spLocks noChangeArrowheads="1"/>
            </p:cNvSpPr>
            <p:nvPr/>
          </p:nvSpPr>
          <p:spPr bwMode="auto">
            <a:xfrm>
              <a:off x="4608" y="393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58800" y="736600"/>
            <a:ext cx="2725738" cy="3200400"/>
            <a:chOff x="432" y="528"/>
            <a:chExt cx="1717" cy="2016"/>
          </a:xfrm>
        </p:grpSpPr>
        <p:pic>
          <p:nvPicPr>
            <p:cNvPr id="27657" name="Picture 9" descr="abbecondenser.jpg   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8" y="528"/>
              <a:ext cx="1621" cy="2016"/>
            </a:xfrm>
            <a:prstGeom prst="rect">
              <a:avLst/>
            </a:prstGeom>
            <a:noFill/>
          </p:spPr>
        </p:pic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32" y="105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3878263" y="585788"/>
            <a:ext cx="5265737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b="1">
                <a:latin typeface="Chalkboard" charset="0"/>
              </a:rPr>
              <a:t>Tasks:</a:t>
            </a:r>
            <a:r>
              <a:rPr lang="en-US" altLang="en-US" sz="1800" b="1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Illuminate at all angles &lt;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  <a:r>
              <a:rPr lang="en-US" altLang="en-US" sz="1800" baseline="-25000">
                <a:solidFill>
                  <a:schemeClr val="accent2"/>
                </a:solidFill>
                <a:latin typeface="Helvetica" charset="0"/>
              </a:rPr>
              <a:t>objective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Concentrate light on the field of view for </a:t>
            </a:r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all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objectives to be used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Problem: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Low mag objectives have large FOV,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High mag objectives have large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</a:p>
          <a:p>
            <a:pPr lvl="1" indent="-228600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(With 2X and 100x objectives we need (100/2)</a:t>
            </a:r>
            <a:r>
              <a:rPr lang="en-US" altLang="en-US" sz="1600" baseline="30000">
                <a:solidFill>
                  <a:schemeClr val="accent2"/>
                </a:solidFill>
                <a:latin typeface="Chalkboard" charset="0"/>
              </a:rPr>
              <a:t>2 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= 2500 times more light than any objective uses!)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Solutions: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Compromise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Exchangable condensers,</a:t>
            </a:r>
          </a:p>
          <a:p>
            <a:pPr lvl="1" indent="-228600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	swing-out front lenses,…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161925" y="4325938"/>
            <a:ext cx="201136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Grade of correction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5" name="Freeform 17"/>
          <p:cNvSpPr>
            <a:spLocks/>
          </p:cNvSpPr>
          <p:nvPr/>
        </p:nvSpPr>
        <p:spPr bwMode="auto">
          <a:xfrm>
            <a:off x="546100" y="4678363"/>
            <a:ext cx="1263650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 flipH="1">
            <a:off x="955675" y="4622800"/>
            <a:ext cx="34925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3430588" y="4338638"/>
            <a:ext cx="449262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NA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8" name="Freeform 20"/>
          <p:cNvSpPr>
            <a:spLocks/>
          </p:cNvSpPr>
          <p:nvPr/>
        </p:nvSpPr>
        <p:spPr bwMode="auto">
          <a:xfrm>
            <a:off x="3787775" y="4665663"/>
            <a:ext cx="350838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3724275" y="4598988"/>
            <a:ext cx="107950" cy="809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800" b="1">
                <a:solidFill>
                  <a:schemeClr val="tx2"/>
                </a:solidFill>
                <a:latin typeface="Chalkboard" charset="0"/>
              </a:rPr>
              <a:t>Aperture, Resolution &amp; Contrast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19125" y="706438"/>
            <a:ext cx="765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Can adjust the condenser NA with the </a:t>
            </a:r>
            <a:r>
              <a:rPr lang="en-US" altLang="en-US" sz="2000" b="1">
                <a:solidFill>
                  <a:schemeClr val="accent2"/>
                </a:solidFill>
                <a:latin typeface="Chalkboard" charset="0"/>
              </a:rPr>
              <a:t>aperture iris</a:t>
            </a:r>
            <a:endParaRPr lang="en-US" alt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622550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2239963" y="3333750"/>
            <a:ext cx="1077912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949450" y="2530475"/>
            <a:ext cx="1069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09575" name="Freeform 7"/>
          <p:cNvSpPr>
            <a:spLocks/>
          </p:cNvSpPr>
          <p:nvPr/>
        </p:nvSpPr>
        <p:spPr bwMode="auto">
          <a:xfrm rot="16200000" flipV="1">
            <a:off x="3563144" y="2340769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Freeform 8"/>
          <p:cNvSpPr>
            <a:spLocks/>
          </p:cNvSpPr>
          <p:nvPr/>
        </p:nvSpPr>
        <p:spPr bwMode="auto">
          <a:xfrm rot="-16200000">
            <a:off x="3544888" y="3205163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3460750" y="3778250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" name="Freeform 10"/>
          <p:cNvSpPr>
            <a:spLocks/>
          </p:cNvSpPr>
          <p:nvPr/>
        </p:nvSpPr>
        <p:spPr bwMode="auto">
          <a:xfrm>
            <a:off x="3457575" y="1709738"/>
            <a:ext cx="371475" cy="2047875"/>
          </a:xfrm>
          <a:custGeom>
            <a:avLst/>
            <a:gdLst/>
            <a:ahLst/>
            <a:cxnLst>
              <a:cxn ang="0">
                <a:pos x="98" y="1290"/>
              </a:cxn>
              <a:cxn ang="0">
                <a:pos x="0" y="1139"/>
              </a:cxn>
              <a:cxn ang="0">
                <a:pos x="0" y="670"/>
              </a:cxn>
              <a:cxn ang="0">
                <a:pos x="234" y="0"/>
              </a:cxn>
            </a:cxnLst>
            <a:rect l="0" t="0" r="r" b="b"/>
            <a:pathLst>
              <a:path w="234" h="1290">
                <a:moveTo>
                  <a:pt x="98" y="1290"/>
                </a:moveTo>
                <a:lnTo>
                  <a:pt x="0" y="1139"/>
                </a:lnTo>
                <a:lnTo>
                  <a:pt x="0" y="670"/>
                </a:lnTo>
                <a:lnTo>
                  <a:pt x="234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Freeform 11"/>
          <p:cNvSpPr>
            <a:spLocks/>
          </p:cNvSpPr>
          <p:nvPr/>
        </p:nvSpPr>
        <p:spPr bwMode="auto">
          <a:xfrm>
            <a:off x="3403600" y="1709738"/>
            <a:ext cx="373063" cy="2065337"/>
          </a:xfrm>
          <a:custGeom>
            <a:avLst/>
            <a:gdLst/>
            <a:ahLst/>
            <a:cxnLst>
              <a:cxn ang="0">
                <a:pos x="132" y="1301"/>
              </a:cxn>
              <a:cxn ang="0">
                <a:pos x="235" y="1139"/>
              </a:cxn>
              <a:cxn ang="0">
                <a:pos x="235" y="670"/>
              </a:cxn>
              <a:cxn ang="0">
                <a:pos x="0" y="0"/>
              </a:cxn>
            </a:cxnLst>
            <a:rect l="0" t="0" r="r" b="b"/>
            <a:pathLst>
              <a:path w="235" h="1301">
                <a:moveTo>
                  <a:pt x="132" y="1301"/>
                </a:moveTo>
                <a:lnTo>
                  <a:pt x="235" y="1139"/>
                </a:lnTo>
                <a:lnTo>
                  <a:pt x="235" y="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" name="Freeform 12"/>
          <p:cNvSpPr>
            <a:spLocks/>
          </p:cNvSpPr>
          <p:nvPr/>
        </p:nvSpPr>
        <p:spPr bwMode="auto">
          <a:xfrm>
            <a:off x="3222625" y="1714500"/>
            <a:ext cx="514350" cy="2049463"/>
          </a:xfrm>
          <a:custGeom>
            <a:avLst/>
            <a:gdLst/>
            <a:ahLst/>
            <a:cxnLst>
              <a:cxn ang="0">
                <a:pos x="324" y="1291"/>
              </a:cxn>
              <a:cxn ang="0">
                <a:pos x="226" y="1140"/>
              </a:cxn>
              <a:cxn ang="0">
                <a:pos x="0" y="647"/>
              </a:cxn>
              <a:cxn ang="0">
                <a:pos x="268" y="0"/>
              </a:cxn>
            </a:cxnLst>
            <a:rect l="0" t="0" r="r" b="b"/>
            <a:pathLst>
              <a:path w="324" h="1291">
                <a:moveTo>
                  <a:pt x="324" y="1291"/>
                </a:moveTo>
                <a:lnTo>
                  <a:pt x="226" y="1140"/>
                </a:lnTo>
                <a:lnTo>
                  <a:pt x="0" y="647"/>
                </a:lnTo>
                <a:lnTo>
                  <a:pt x="26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" name="Freeform 13"/>
          <p:cNvSpPr>
            <a:spLocks/>
          </p:cNvSpPr>
          <p:nvPr/>
        </p:nvSpPr>
        <p:spPr bwMode="auto">
          <a:xfrm>
            <a:off x="3190875" y="1744663"/>
            <a:ext cx="709613" cy="2030412"/>
          </a:xfrm>
          <a:custGeom>
            <a:avLst/>
            <a:gdLst/>
            <a:ahLst/>
            <a:cxnLst>
              <a:cxn ang="0">
                <a:pos x="344" y="1279"/>
              </a:cxn>
              <a:cxn ang="0">
                <a:pos x="447" y="1117"/>
              </a:cxn>
              <a:cxn ang="0">
                <a:pos x="229" y="631"/>
              </a:cxn>
              <a:cxn ang="0">
                <a:pos x="0" y="0"/>
              </a:cxn>
            </a:cxnLst>
            <a:rect l="0" t="0" r="r" b="b"/>
            <a:pathLst>
              <a:path w="447" h="1279">
                <a:moveTo>
                  <a:pt x="344" y="1279"/>
                </a:moveTo>
                <a:lnTo>
                  <a:pt x="447" y="1117"/>
                </a:lnTo>
                <a:lnTo>
                  <a:pt x="229" y="6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Freeform 14"/>
          <p:cNvSpPr>
            <a:spLocks/>
          </p:cNvSpPr>
          <p:nvPr/>
        </p:nvSpPr>
        <p:spPr bwMode="auto">
          <a:xfrm>
            <a:off x="3497263" y="1709738"/>
            <a:ext cx="514350" cy="2051050"/>
          </a:xfrm>
          <a:custGeom>
            <a:avLst/>
            <a:gdLst/>
            <a:ahLst/>
            <a:cxnLst>
              <a:cxn ang="0">
                <a:pos x="0" y="1292"/>
              </a:cxn>
              <a:cxn ang="0">
                <a:pos x="98" y="1141"/>
              </a:cxn>
              <a:cxn ang="0">
                <a:pos x="324" y="648"/>
              </a:cxn>
              <a:cxn ang="0">
                <a:pos x="56" y="0"/>
              </a:cxn>
            </a:cxnLst>
            <a:rect l="0" t="0" r="r" b="b"/>
            <a:pathLst>
              <a:path w="324" h="1292">
                <a:moveTo>
                  <a:pt x="0" y="1292"/>
                </a:moveTo>
                <a:lnTo>
                  <a:pt x="98" y="1141"/>
                </a:lnTo>
                <a:lnTo>
                  <a:pt x="324" y="648"/>
                </a:lnTo>
                <a:lnTo>
                  <a:pt x="5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Freeform 15"/>
          <p:cNvSpPr>
            <a:spLocks/>
          </p:cNvSpPr>
          <p:nvPr/>
        </p:nvSpPr>
        <p:spPr bwMode="auto">
          <a:xfrm>
            <a:off x="3333750" y="1739900"/>
            <a:ext cx="708025" cy="2032000"/>
          </a:xfrm>
          <a:custGeom>
            <a:avLst/>
            <a:gdLst/>
            <a:ahLst/>
            <a:cxnLst>
              <a:cxn ang="0">
                <a:pos x="103" y="1280"/>
              </a:cxn>
              <a:cxn ang="0">
                <a:pos x="0" y="1118"/>
              </a:cxn>
              <a:cxn ang="0">
                <a:pos x="217" y="632"/>
              </a:cxn>
              <a:cxn ang="0">
                <a:pos x="446" y="0"/>
              </a:cxn>
            </a:cxnLst>
            <a:rect l="0" t="0" r="r" b="b"/>
            <a:pathLst>
              <a:path w="446" h="1280">
                <a:moveTo>
                  <a:pt x="103" y="1280"/>
                </a:moveTo>
                <a:lnTo>
                  <a:pt x="0" y="1118"/>
                </a:lnTo>
                <a:lnTo>
                  <a:pt x="217" y="632"/>
                </a:lnTo>
                <a:lnTo>
                  <a:pt x="44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>
            <a:off x="3252788" y="3246438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3816350" y="3246438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3838575" y="3779838"/>
            <a:ext cx="12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V="1">
            <a:off x="3465513" y="3779838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8" name="Freeform 20"/>
          <p:cNvSpPr>
            <a:spLocks/>
          </p:cNvSpPr>
          <p:nvPr/>
        </p:nvSpPr>
        <p:spPr bwMode="auto">
          <a:xfrm>
            <a:off x="1177925" y="1643063"/>
            <a:ext cx="431800" cy="2043112"/>
          </a:xfrm>
          <a:custGeom>
            <a:avLst/>
            <a:gdLst/>
            <a:ahLst/>
            <a:cxnLst>
              <a:cxn ang="0">
                <a:pos x="186" y="0"/>
              </a:cxn>
              <a:cxn ang="0">
                <a:pos x="112" y="569"/>
              </a:cxn>
              <a:cxn ang="0">
                <a:pos x="272" y="1287"/>
              </a:cxn>
            </a:cxnLst>
            <a:rect l="0" t="0" r="r" b="b"/>
            <a:pathLst>
              <a:path w="272" h="1287">
                <a:moveTo>
                  <a:pt x="186" y="0"/>
                </a:moveTo>
                <a:cubicBezTo>
                  <a:pt x="176" y="176"/>
                  <a:pt x="267" y="533"/>
                  <a:pt x="112" y="569"/>
                </a:cubicBezTo>
                <a:cubicBezTo>
                  <a:pt x="267" y="600"/>
                  <a:pt x="0" y="1287"/>
                  <a:pt x="272" y="1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339725" y="2152650"/>
            <a:ext cx="90011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Imaging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590" name="Freeform 22"/>
          <p:cNvSpPr>
            <a:spLocks/>
          </p:cNvSpPr>
          <p:nvPr/>
        </p:nvSpPr>
        <p:spPr bwMode="auto">
          <a:xfrm rot="-16200000">
            <a:off x="3563938" y="5289550"/>
            <a:ext cx="146050" cy="9556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1" name="Freeform 23"/>
          <p:cNvSpPr>
            <a:spLocks/>
          </p:cNvSpPr>
          <p:nvPr/>
        </p:nvSpPr>
        <p:spPr bwMode="auto">
          <a:xfrm rot="-16200000">
            <a:off x="3567907" y="4337844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2" name="Freeform 24"/>
          <p:cNvSpPr>
            <a:spLocks/>
          </p:cNvSpPr>
          <p:nvPr/>
        </p:nvSpPr>
        <p:spPr bwMode="auto">
          <a:xfrm rot="16200000" flipV="1">
            <a:off x="3549650" y="3781425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3" name="Freeform 25"/>
          <p:cNvSpPr>
            <a:spLocks/>
          </p:cNvSpPr>
          <p:nvPr/>
        </p:nvSpPr>
        <p:spPr bwMode="auto">
          <a:xfrm>
            <a:off x="3462338" y="3800475"/>
            <a:ext cx="371475" cy="2425700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151"/>
              </a:cxn>
              <a:cxn ang="0">
                <a:pos x="0" y="620"/>
              </a:cxn>
              <a:cxn ang="0">
                <a:pos x="234" y="1290"/>
              </a:cxn>
              <a:cxn ang="0">
                <a:pos x="188" y="1528"/>
              </a:cxn>
            </a:cxnLst>
            <a:rect l="0" t="0" r="r" b="b"/>
            <a:pathLst>
              <a:path w="234" h="1528">
                <a:moveTo>
                  <a:pt x="98" y="0"/>
                </a:moveTo>
                <a:lnTo>
                  <a:pt x="0" y="151"/>
                </a:lnTo>
                <a:lnTo>
                  <a:pt x="0" y="620"/>
                </a:lnTo>
                <a:lnTo>
                  <a:pt x="234" y="1290"/>
                </a:lnTo>
                <a:lnTo>
                  <a:pt x="188" y="152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4" name="Freeform 26"/>
          <p:cNvSpPr>
            <a:spLocks/>
          </p:cNvSpPr>
          <p:nvPr/>
        </p:nvSpPr>
        <p:spPr bwMode="auto">
          <a:xfrm>
            <a:off x="3408363" y="3784600"/>
            <a:ext cx="373062" cy="2424113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235" y="162"/>
              </a:cxn>
              <a:cxn ang="0">
                <a:pos x="235" y="631"/>
              </a:cxn>
              <a:cxn ang="0">
                <a:pos x="0" y="1301"/>
              </a:cxn>
              <a:cxn ang="0">
                <a:pos x="36" y="1527"/>
              </a:cxn>
            </a:cxnLst>
            <a:rect l="0" t="0" r="r" b="b"/>
            <a:pathLst>
              <a:path w="235" h="1527">
                <a:moveTo>
                  <a:pt x="132" y="0"/>
                </a:moveTo>
                <a:lnTo>
                  <a:pt x="235" y="162"/>
                </a:lnTo>
                <a:lnTo>
                  <a:pt x="235" y="631"/>
                </a:lnTo>
                <a:lnTo>
                  <a:pt x="0" y="1301"/>
                </a:lnTo>
                <a:lnTo>
                  <a:pt x="36" y="1527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5" name="Freeform 27"/>
          <p:cNvSpPr>
            <a:spLocks/>
          </p:cNvSpPr>
          <p:nvPr/>
        </p:nvSpPr>
        <p:spPr bwMode="auto">
          <a:xfrm>
            <a:off x="3227388" y="3794125"/>
            <a:ext cx="542925" cy="2414588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226" y="151"/>
              </a:cxn>
              <a:cxn ang="0">
                <a:pos x="0" y="644"/>
              </a:cxn>
              <a:cxn ang="0">
                <a:pos x="268" y="1291"/>
              </a:cxn>
              <a:cxn ang="0">
                <a:pos x="342" y="1521"/>
              </a:cxn>
            </a:cxnLst>
            <a:rect l="0" t="0" r="r" b="b"/>
            <a:pathLst>
              <a:path w="342" h="1521">
                <a:moveTo>
                  <a:pt x="324" y="0"/>
                </a:moveTo>
                <a:lnTo>
                  <a:pt x="226" y="151"/>
                </a:lnTo>
                <a:lnTo>
                  <a:pt x="0" y="644"/>
                </a:lnTo>
                <a:lnTo>
                  <a:pt x="268" y="1291"/>
                </a:lnTo>
                <a:lnTo>
                  <a:pt x="342" y="152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6" name="Freeform 28"/>
          <p:cNvSpPr>
            <a:spLocks/>
          </p:cNvSpPr>
          <p:nvPr/>
        </p:nvSpPr>
        <p:spPr bwMode="auto">
          <a:xfrm>
            <a:off x="3195638" y="3784600"/>
            <a:ext cx="709612" cy="2416175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447" y="162"/>
              </a:cxn>
              <a:cxn ang="0">
                <a:pos x="229" y="648"/>
              </a:cxn>
              <a:cxn ang="0">
                <a:pos x="0" y="1279"/>
              </a:cxn>
              <a:cxn ang="0">
                <a:pos x="170" y="1522"/>
              </a:cxn>
            </a:cxnLst>
            <a:rect l="0" t="0" r="r" b="b"/>
            <a:pathLst>
              <a:path w="447" h="1522">
                <a:moveTo>
                  <a:pt x="344" y="0"/>
                </a:moveTo>
                <a:lnTo>
                  <a:pt x="447" y="162"/>
                </a:lnTo>
                <a:lnTo>
                  <a:pt x="229" y="648"/>
                </a:lnTo>
                <a:lnTo>
                  <a:pt x="0" y="1279"/>
                </a:lnTo>
                <a:lnTo>
                  <a:pt x="170" y="15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7" name="Freeform 29"/>
          <p:cNvSpPr>
            <a:spLocks/>
          </p:cNvSpPr>
          <p:nvPr/>
        </p:nvSpPr>
        <p:spPr bwMode="auto">
          <a:xfrm>
            <a:off x="3465513" y="3797300"/>
            <a:ext cx="550862" cy="241141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21" y="151"/>
              </a:cxn>
              <a:cxn ang="0">
                <a:pos x="347" y="644"/>
              </a:cxn>
              <a:cxn ang="0">
                <a:pos x="79" y="1292"/>
              </a:cxn>
              <a:cxn ang="0">
                <a:pos x="0" y="1519"/>
              </a:cxn>
            </a:cxnLst>
            <a:rect l="0" t="0" r="r" b="b"/>
            <a:pathLst>
              <a:path w="347" h="1519">
                <a:moveTo>
                  <a:pt x="23" y="0"/>
                </a:moveTo>
                <a:lnTo>
                  <a:pt x="121" y="151"/>
                </a:lnTo>
                <a:lnTo>
                  <a:pt x="347" y="644"/>
                </a:lnTo>
                <a:lnTo>
                  <a:pt x="79" y="1292"/>
                </a:lnTo>
                <a:lnTo>
                  <a:pt x="0" y="1519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8" name="Freeform 30"/>
          <p:cNvSpPr>
            <a:spLocks/>
          </p:cNvSpPr>
          <p:nvPr/>
        </p:nvSpPr>
        <p:spPr bwMode="auto">
          <a:xfrm>
            <a:off x="3338513" y="3787775"/>
            <a:ext cx="708025" cy="2430463"/>
          </a:xfrm>
          <a:custGeom>
            <a:avLst/>
            <a:gdLst/>
            <a:ahLst/>
            <a:cxnLst>
              <a:cxn ang="0">
                <a:pos x="103" y="0"/>
              </a:cxn>
              <a:cxn ang="0">
                <a:pos x="0" y="162"/>
              </a:cxn>
              <a:cxn ang="0">
                <a:pos x="217" y="648"/>
              </a:cxn>
              <a:cxn ang="0">
                <a:pos x="446" y="1280"/>
              </a:cxn>
              <a:cxn ang="0">
                <a:pos x="266" y="1531"/>
              </a:cxn>
            </a:cxnLst>
            <a:rect l="0" t="0" r="r" b="b"/>
            <a:pathLst>
              <a:path w="446" h="1531">
                <a:moveTo>
                  <a:pt x="103" y="0"/>
                </a:moveTo>
                <a:lnTo>
                  <a:pt x="0" y="162"/>
                </a:lnTo>
                <a:lnTo>
                  <a:pt x="217" y="648"/>
                </a:lnTo>
                <a:lnTo>
                  <a:pt x="446" y="1280"/>
                </a:lnTo>
                <a:lnTo>
                  <a:pt x="266" y="15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 flipV="1">
            <a:off x="3257550" y="4311650"/>
            <a:ext cx="160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 flipV="1">
            <a:off x="3821113" y="4311650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 flipV="1">
            <a:off x="3208338" y="5243513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 flipV="1">
            <a:off x="3875088" y="5243513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3" name="Freeform 35"/>
          <p:cNvSpPr>
            <a:spLocks/>
          </p:cNvSpPr>
          <p:nvPr/>
        </p:nvSpPr>
        <p:spPr bwMode="auto">
          <a:xfrm>
            <a:off x="3475038" y="6184900"/>
            <a:ext cx="304800" cy="168275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96"/>
              </a:cxn>
              <a:cxn ang="0">
                <a:pos x="48" y="0"/>
              </a:cxn>
              <a:cxn ang="0">
                <a:pos x="96" y="96"/>
              </a:cxn>
              <a:cxn ang="0">
                <a:pos x="144" y="0"/>
              </a:cxn>
              <a:cxn ang="0">
                <a:pos x="192" y="96"/>
              </a:cxn>
              <a:cxn ang="0">
                <a:pos x="240" y="0"/>
              </a:cxn>
              <a:cxn ang="0">
                <a:pos x="288" y="96"/>
              </a:cxn>
              <a:cxn ang="0">
                <a:pos x="336" y="0"/>
              </a:cxn>
              <a:cxn ang="0">
                <a:pos x="384" y="96"/>
              </a:cxn>
              <a:cxn ang="0">
                <a:pos x="336" y="336"/>
              </a:cxn>
            </a:cxnLst>
            <a:rect l="0" t="0" r="r" b="b"/>
            <a:pathLst>
              <a:path w="384" h="336">
                <a:moveTo>
                  <a:pt x="48" y="336"/>
                </a:moveTo>
                <a:lnTo>
                  <a:pt x="0" y="96"/>
                </a:lnTo>
                <a:lnTo>
                  <a:pt x="48" y="0"/>
                </a:lnTo>
                <a:lnTo>
                  <a:pt x="96" y="96"/>
                </a:lnTo>
                <a:lnTo>
                  <a:pt x="144" y="0"/>
                </a:lnTo>
                <a:lnTo>
                  <a:pt x="192" y="96"/>
                </a:lnTo>
                <a:lnTo>
                  <a:pt x="240" y="0"/>
                </a:lnTo>
                <a:lnTo>
                  <a:pt x="288" y="96"/>
                </a:lnTo>
                <a:lnTo>
                  <a:pt x="336" y="0"/>
                </a:lnTo>
                <a:lnTo>
                  <a:pt x="384" y="96"/>
                </a:lnTo>
                <a:lnTo>
                  <a:pt x="336" y="336"/>
                </a:lnTo>
              </a:path>
            </a:pathLst>
          </a:custGeom>
          <a:noFill/>
          <a:ln w="38100" cmpd="sng">
            <a:solidFill>
              <a:srgbClr val="FF932E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1870075" y="4122738"/>
            <a:ext cx="13985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halkboard" charset="0"/>
              </a:rPr>
              <a:t>Aperture iris</a:t>
            </a:r>
          </a:p>
        </p:txBody>
      </p:sp>
      <p:sp>
        <p:nvSpPr>
          <p:cNvPr id="109605" name="Rectangle 37"/>
          <p:cNvSpPr>
            <a:spLocks noChangeArrowheads="1"/>
          </p:cNvSpPr>
          <p:nvPr/>
        </p:nvSpPr>
        <p:spPr bwMode="auto">
          <a:xfrm>
            <a:off x="2127250" y="5057775"/>
            <a:ext cx="9699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iris</a:t>
            </a:r>
          </a:p>
        </p:txBody>
      </p:sp>
      <p:sp>
        <p:nvSpPr>
          <p:cNvPr id="109606" name="Rectangle 38"/>
          <p:cNvSpPr>
            <a:spLocks noChangeArrowheads="1"/>
          </p:cNvSpPr>
          <p:nvPr/>
        </p:nvSpPr>
        <p:spPr bwMode="auto">
          <a:xfrm>
            <a:off x="2127250" y="60483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Light source</a:t>
            </a:r>
          </a:p>
        </p:txBody>
      </p:sp>
      <p:sp>
        <p:nvSpPr>
          <p:cNvPr id="109607" name="Freeform 39"/>
          <p:cNvSpPr>
            <a:spLocks/>
          </p:cNvSpPr>
          <p:nvPr/>
        </p:nvSpPr>
        <p:spPr bwMode="auto">
          <a:xfrm>
            <a:off x="1228725" y="3762375"/>
            <a:ext cx="381000" cy="26670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Rectangle 40"/>
          <p:cNvSpPr>
            <a:spLocks noChangeArrowheads="1"/>
          </p:cNvSpPr>
          <p:nvPr/>
        </p:nvSpPr>
        <p:spPr bwMode="auto">
          <a:xfrm>
            <a:off x="111125" y="4841875"/>
            <a:ext cx="126206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Illumination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609" name="Rectangle 41"/>
          <p:cNvSpPr>
            <a:spLocks noChangeArrowheads="1"/>
          </p:cNvSpPr>
          <p:nvPr/>
        </p:nvSpPr>
        <p:spPr bwMode="auto">
          <a:xfrm>
            <a:off x="2051050" y="5591175"/>
            <a:ext cx="10096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Collector</a:t>
            </a:r>
          </a:p>
        </p:txBody>
      </p:sp>
      <p:sp>
        <p:nvSpPr>
          <p:cNvPr id="109610" name="Rectangle 42"/>
          <p:cNvSpPr>
            <a:spLocks noChangeArrowheads="1"/>
          </p:cNvSpPr>
          <p:nvPr/>
        </p:nvSpPr>
        <p:spPr bwMode="auto">
          <a:xfrm>
            <a:off x="1720850" y="3844925"/>
            <a:ext cx="1543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Condenser lens</a:t>
            </a:r>
          </a:p>
        </p:txBody>
      </p:sp>
      <p:sp>
        <p:nvSpPr>
          <p:cNvPr id="109611" name="Rectangle 43"/>
          <p:cNvSpPr>
            <a:spLocks noChangeArrowheads="1"/>
          </p:cNvSpPr>
          <p:nvPr/>
        </p:nvSpPr>
        <p:spPr bwMode="auto">
          <a:xfrm>
            <a:off x="1974850" y="4618038"/>
            <a:ext cx="104933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lens</a:t>
            </a:r>
          </a:p>
        </p:txBody>
      </p:sp>
      <p:sp>
        <p:nvSpPr>
          <p:cNvPr id="109612" name="Rectangle 44"/>
          <p:cNvSpPr>
            <a:spLocks noChangeArrowheads="1"/>
          </p:cNvSpPr>
          <p:nvPr/>
        </p:nvSpPr>
        <p:spPr bwMode="auto">
          <a:xfrm>
            <a:off x="1679575" y="3038475"/>
            <a:ext cx="15113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Back aperture</a:t>
            </a:r>
          </a:p>
        </p:txBody>
      </p:sp>
      <p:sp>
        <p:nvSpPr>
          <p:cNvPr id="109613" name="Rectangle 45"/>
          <p:cNvSpPr>
            <a:spLocks noChangeArrowheads="1"/>
          </p:cNvSpPr>
          <p:nvPr/>
        </p:nvSpPr>
        <p:spPr bwMode="auto">
          <a:xfrm>
            <a:off x="1619250" y="2124075"/>
            <a:ext cx="16938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Intermed. image</a:t>
            </a:r>
          </a:p>
        </p:txBody>
      </p:sp>
      <p:sp>
        <p:nvSpPr>
          <p:cNvPr id="109614" name="Freeform 46"/>
          <p:cNvSpPr>
            <a:spLocks/>
          </p:cNvSpPr>
          <p:nvPr/>
        </p:nvSpPr>
        <p:spPr bwMode="auto">
          <a:xfrm>
            <a:off x="1468438" y="1236663"/>
            <a:ext cx="17462" cy="407987"/>
          </a:xfrm>
          <a:custGeom>
            <a:avLst/>
            <a:gdLst/>
            <a:ahLst/>
            <a:cxnLst>
              <a:cxn ang="0">
                <a:pos x="3" y="257"/>
              </a:cxn>
              <a:cxn ang="0">
                <a:pos x="11" y="0"/>
              </a:cxn>
            </a:cxnLst>
            <a:rect l="0" t="0" r="r" b="b"/>
            <a:pathLst>
              <a:path w="11" h="257">
                <a:moveTo>
                  <a:pt x="3" y="257"/>
                </a:moveTo>
                <a:cubicBezTo>
                  <a:pt x="0" y="197"/>
                  <a:pt x="8" y="53"/>
                  <a:pt x="1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43450" y="3200400"/>
            <a:ext cx="3867150" cy="2624138"/>
            <a:chOff x="2988" y="2016"/>
            <a:chExt cx="2436" cy="1653"/>
          </a:xfrm>
        </p:grpSpPr>
        <p:sp>
          <p:nvSpPr>
            <p:cNvPr id="109616" name="Text Box 48"/>
            <p:cNvSpPr txBox="1">
              <a:spLocks noChangeArrowheads="1"/>
            </p:cNvSpPr>
            <p:nvPr/>
          </p:nvSpPr>
          <p:spPr bwMode="auto">
            <a:xfrm>
              <a:off x="2988" y="2016"/>
              <a:ext cx="2436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Q:	Don’t we always want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	it full open??</a:t>
              </a: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A:	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No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Why? Tradeoff: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 	resolution vs. 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contrast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</p:txBody>
        </p:sp>
        <p:sp>
          <p:nvSpPr>
            <p:cNvPr id="109617" name="Rectangle 49"/>
            <p:cNvSpPr>
              <a:spLocks noChangeArrowheads="1"/>
            </p:cNvSpPr>
            <p:nvPr/>
          </p:nvSpPr>
          <p:spPr bwMode="auto">
            <a:xfrm>
              <a:off x="4299" y="3557"/>
              <a:ext cx="400" cy="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806575" y="23813"/>
            <a:ext cx="53641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863600" y="5680075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0888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3150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00" y="52546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93575" name="Group 7"/>
          <p:cNvGrpSpPr>
            <a:grpSpLocks/>
          </p:cNvGrpSpPr>
          <p:nvPr/>
        </p:nvGrpSpPr>
        <p:grpSpPr bwMode="auto">
          <a:xfrm>
            <a:off x="727075" y="3814763"/>
            <a:ext cx="5815013" cy="1333500"/>
            <a:chOff x="458" y="2403"/>
            <a:chExt cx="3663" cy="840"/>
          </a:xfrm>
        </p:grpSpPr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458" y="2686"/>
              <a:ext cx="7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Observed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image</a:t>
              </a:r>
            </a:p>
          </p:txBody>
        </p:sp>
        <p:pic>
          <p:nvPicPr>
            <p:cNvPr id="493577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74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8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77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9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81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3580" name="Group 12"/>
          <p:cNvGrpSpPr>
            <a:grpSpLocks/>
          </p:cNvGrpSpPr>
          <p:nvPr/>
        </p:nvGrpSpPr>
        <p:grpSpPr bwMode="auto">
          <a:xfrm>
            <a:off x="720725" y="1089025"/>
            <a:ext cx="8258175" cy="2738438"/>
            <a:chOff x="454" y="686"/>
            <a:chExt cx="5202" cy="1725"/>
          </a:xfrm>
        </p:grpSpPr>
        <p:pic>
          <p:nvPicPr>
            <p:cNvPr id="493581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9" y="874"/>
              <a:ext cx="3025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93582" name="Rectangle 14"/>
            <p:cNvSpPr>
              <a:spLocks noChangeArrowheads="1"/>
            </p:cNvSpPr>
            <p:nvPr/>
          </p:nvSpPr>
          <p:spPr bwMode="auto">
            <a:xfrm>
              <a:off x="454" y="816"/>
              <a:ext cx="1572" cy="11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3" name="Rectangle 15"/>
            <p:cNvSpPr>
              <a:spLocks noChangeArrowheads="1"/>
            </p:cNvSpPr>
            <p:nvPr/>
          </p:nvSpPr>
          <p:spPr bwMode="auto">
            <a:xfrm>
              <a:off x="4473" y="1958"/>
              <a:ext cx="118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(Spatial frequency,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periods/meter)</a:t>
              </a:r>
            </a:p>
          </p:txBody>
        </p:sp>
        <p:sp>
          <p:nvSpPr>
            <p:cNvPr id="493584" name="Freeform 16"/>
            <p:cNvSpPr>
              <a:spLocks/>
            </p:cNvSpPr>
            <p:nvPr/>
          </p:nvSpPr>
          <p:spPr bwMode="auto">
            <a:xfrm>
              <a:off x="3952" y="2005"/>
              <a:ext cx="560" cy="129"/>
            </a:xfrm>
            <a:custGeom>
              <a:avLst/>
              <a:gdLst/>
              <a:ahLst/>
              <a:cxnLst>
                <a:cxn ang="0">
                  <a:pos x="560" y="86"/>
                </a:cxn>
                <a:cxn ang="0">
                  <a:pos x="0" y="17"/>
                </a:cxn>
              </a:cxnLst>
              <a:rect l="0" t="0" r="r" b="b"/>
              <a:pathLst>
                <a:path w="560" h="129">
                  <a:moveTo>
                    <a:pt x="560" y="86"/>
                  </a:moveTo>
                  <a:cubicBezTo>
                    <a:pt x="415" y="129"/>
                    <a:pt x="219" y="0"/>
                    <a:pt x="0" y="1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5" name="Freeform 17"/>
            <p:cNvSpPr>
              <a:spLocks/>
            </p:cNvSpPr>
            <p:nvPr/>
          </p:nvSpPr>
          <p:spPr bwMode="auto">
            <a:xfrm>
              <a:off x="1685" y="1910"/>
              <a:ext cx="641" cy="490"/>
            </a:xfrm>
            <a:custGeom>
              <a:avLst/>
              <a:gdLst/>
              <a:ahLst/>
              <a:cxnLst>
                <a:cxn ang="0">
                  <a:pos x="0" y="549"/>
                </a:cxn>
                <a:cxn ang="0">
                  <a:pos x="1014" y="0"/>
                </a:cxn>
              </a:cxnLst>
              <a:rect l="0" t="0" r="r" b="b"/>
              <a:pathLst>
                <a:path w="1014" h="549">
                  <a:moveTo>
                    <a:pt x="0" y="549"/>
                  </a:moveTo>
                  <a:cubicBezTo>
                    <a:pt x="11" y="341"/>
                    <a:pt x="1008" y="448"/>
                    <a:pt x="1014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6" name="Freeform 18"/>
            <p:cNvSpPr>
              <a:spLocks/>
            </p:cNvSpPr>
            <p:nvPr/>
          </p:nvSpPr>
          <p:spPr bwMode="auto">
            <a:xfrm>
              <a:off x="2704" y="1896"/>
              <a:ext cx="240" cy="515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453" y="0"/>
                </a:cxn>
              </a:cxnLst>
              <a:rect l="0" t="0" r="r" b="b"/>
              <a:pathLst>
                <a:path w="453" h="571">
                  <a:moveTo>
                    <a:pt x="0" y="571"/>
                  </a:moveTo>
                  <a:cubicBezTo>
                    <a:pt x="11" y="363"/>
                    <a:pt x="453" y="464"/>
                    <a:pt x="453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7" name="Freeform 19"/>
            <p:cNvSpPr>
              <a:spLocks/>
            </p:cNvSpPr>
            <p:nvPr/>
          </p:nvSpPr>
          <p:spPr bwMode="auto">
            <a:xfrm>
              <a:off x="3504" y="1898"/>
              <a:ext cx="187" cy="507"/>
            </a:xfrm>
            <a:custGeom>
              <a:avLst/>
              <a:gdLst/>
              <a:ahLst/>
              <a:cxnLst>
                <a:cxn ang="0">
                  <a:pos x="91" y="539"/>
                </a:cxn>
                <a:cxn ang="0">
                  <a:pos x="0" y="0"/>
                </a:cxn>
              </a:cxnLst>
              <a:rect l="0" t="0" r="r" b="b"/>
              <a:pathLst>
                <a:path w="91" h="539">
                  <a:moveTo>
                    <a:pt x="91" y="539"/>
                  </a:moveTo>
                  <a:cubicBezTo>
                    <a:pt x="80" y="336"/>
                    <a:pt x="0" y="46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8" name="Line 20"/>
            <p:cNvSpPr>
              <a:spLocks noChangeShapeType="1"/>
            </p:cNvSpPr>
            <p:nvPr/>
          </p:nvSpPr>
          <p:spPr bwMode="auto">
            <a:xfrm>
              <a:off x="1933" y="1900"/>
              <a:ext cx="1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9" name="Line 21"/>
            <p:cNvSpPr>
              <a:spLocks noChangeShapeType="1"/>
            </p:cNvSpPr>
            <p:nvPr/>
          </p:nvSpPr>
          <p:spPr bwMode="auto">
            <a:xfrm flipV="1">
              <a:off x="2330" y="1238"/>
              <a:ext cx="0" cy="659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0" name="Line 22"/>
            <p:cNvSpPr>
              <a:spLocks noChangeShapeType="1"/>
            </p:cNvSpPr>
            <p:nvPr/>
          </p:nvSpPr>
          <p:spPr bwMode="auto">
            <a:xfrm flipV="1">
              <a:off x="2939" y="1744"/>
              <a:ext cx="0" cy="1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1" name="Line 23"/>
            <p:cNvSpPr>
              <a:spLocks noChangeShapeType="1"/>
            </p:cNvSpPr>
            <p:nvPr/>
          </p:nvSpPr>
          <p:spPr bwMode="auto">
            <a:xfrm flipH="1">
              <a:off x="3259" y="1898"/>
              <a:ext cx="32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2" name="Text Box 24"/>
            <p:cNvSpPr txBox="1">
              <a:spLocks noChangeArrowheads="1"/>
            </p:cNvSpPr>
            <p:nvPr/>
          </p:nvSpPr>
          <p:spPr bwMode="auto">
            <a:xfrm>
              <a:off x="3766" y="192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600" b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3" name="Line 25"/>
            <p:cNvSpPr>
              <a:spLocks noChangeShapeType="1"/>
            </p:cNvSpPr>
            <p:nvPr/>
          </p:nvSpPr>
          <p:spPr bwMode="auto">
            <a:xfrm flipV="1">
              <a:off x="2034" y="686"/>
              <a:ext cx="0" cy="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4" name="Text Box 26"/>
            <p:cNvSpPr txBox="1">
              <a:spLocks noChangeArrowheads="1"/>
            </p:cNvSpPr>
            <p:nvPr/>
          </p:nvSpPr>
          <p:spPr bwMode="auto">
            <a:xfrm>
              <a:off x="2272" y="919"/>
              <a:ext cx="5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OTF(</a:t>
              </a:r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sz="160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5" name="Text Box 27"/>
            <p:cNvSpPr txBox="1">
              <a:spLocks noChangeArrowheads="1"/>
            </p:cNvSpPr>
            <p:nvPr/>
          </p:nvSpPr>
          <p:spPr bwMode="auto">
            <a:xfrm>
              <a:off x="1758" y="793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493596" name="Line 28"/>
            <p:cNvSpPr>
              <a:spLocks noChangeShapeType="1"/>
            </p:cNvSpPr>
            <p:nvPr/>
          </p:nvSpPr>
          <p:spPr bwMode="auto">
            <a:xfrm>
              <a:off x="1955" y="91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7" name="Rectangle 29"/>
            <p:cNvSpPr>
              <a:spLocks noChangeArrowheads="1"/>
            </p:cNvSpPr>
            <p:nvPr/>
          </p:nvSpPr>
          <p:spPr bwMode="auto">
            <a:xfrm>
              <a:off x="1321" y="1131"/>
              <a:ext cx="6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(Image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contrast)</a:t>
              </a:r>
            </a:p>
          </p:txBody>
        </p:sp>
        <p:grpSp>
          <p:nvGrpSpPr>
            <p:cNvPr id="493598" name="Group 30"/>
            <p:cNvGrpSpPr>
              <a:grpSpLocks/>
            </p:cNvGrpSpPr>
            <p:nvPr/>
          </p:nvGrpSpPr>
          <p:grpSpPr bwMode="auto">
            <a:xfrm>
              <a:off x="3350" y="994"/>
              <a:ext cx="2092" cy="877"/>
              <a:chOff x="3398" y="989"/>
              <a:chExt cx="2092" cy="877"/>
            </a:xfrm>
          </p:grpSpPr>
          <p:sp>
            <p:nvSpPr>
              <p:cNvPr id="493599" name="Rectangle 31"/>
              <p:cNvSpPr>
                <a:spLocks noChangeArrowheads="1"/>
              </p:cNvSpPr>
              <p:nvPr/>
            </p:nvSpPr>
            <p:spPr bwMode="auto">
              <a:xfrm>
                <a:off x="4244" y="989"/>
                <a:ext cx="1246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en-US" sz="2000" b="0">
                    <a:latin typeface="Helvetica" pitchFamily="34" charset="0"/>
                  </a:rPr>
                  <a:t>Resolution limit:</a:t>
                </a:r>
                <a:endParaRPr lang="en-US" altLang="en-US" sz="2000" b="0">
                  <a:solidFill>
                    <a:srgbClr val="FF0000"/>
                  </a:solidFill>
                  <a:latin typeface="Helvetica" pitchFamily="34" charset="0"/>
                </a:endParaRPr>
              </a:p>
              <a:p>
                <a:pPr algn="ctr" eaLnBrk="0" hangingPunct="0"/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Helvetica" pitchFamily="34" charset="0"/>
                  </a:rPr>
                  <a:t>max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Helvetica" pitchFamily="34" charset="0"/>
                  </a:rPr>
                  <a:t>= 2 </a:t>
                </a:r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NA</a:t>
                </a:r>
                <a:r>
                  <a:rPr lang="en-US" altLang="en-US" sz="2000" b="0">
                    <a:solidFill>
                      <a:srgbClr val="FF0000"/>
                    </a:solidFill>
                    <a:latin typeface="Symbol" pitchFamily="18" charset="2"/>
                  </a:rPr>
                  <a:t> / l</a:t>
                </a:r>
                <a:endParaRPr lang="en-US" sz="2000" b="0">
                  <a:solidFill>
                    <a:srgbClr val="FF0000"/>
                  </a:solidFill>
                  <a:latin typeface="Symbol" pitchFamily="18" charset="2"/>
                </a:endParaRPr>
              </a:p>
            </p:txBody>
          </p:sp>
          <p:sp>
            <p:nvSpPr>
              <p:cNvPr id="493600" name="Freeform 32"/>
              <p:cNvSpPr>
                <a:spLocks/>
              </p:cNvSpPr>
              <p:nvPr/>
            </p:nvSpPr>
            <p:spPr bwMode="auto">
              <a:xfrm>
                <a:off x="3398" y="1205"/>
                <a:ext cx="847" cy="661"/>
              </a:xfrm>
              <a:custGeom>
                <a:avLst/>
                <a:gdLst/>
                <a:ahLst/>
                <a:cxnLst>
                  <a:cxn ang="0">
                    <a:pos x="847" y="0"/>
                  </a:cxn>
                  <a:cxn ang="0">
                    <a:pos x="0" y="661"/>
                  </a:cxn>
                </a:cxnLst>
                <a:rect l="0" t="0" r="r" b="b"/>
                <a:pathLst>
                  <a:path w="847" h="661">
                    <a:moveTo>
                      <a:pt x="847" y="0"/>
                    </a:moveTo>
                    <a:cubicBezTo>
                      <a:pt x="666" y="22"/>
                      <a:pt x="106" y="182"/>
                      <a:pt x="0" y="66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14363" y="109538"/>
            <a:ext cx="79168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Resolution &amp; Contrast vs. Illumination aperture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168525" y="3875088"/>
            <a:ext cx="1698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Resolution</a:t>
            </a:r>
          </a:p>
        </p:txBody>
      </p:sp>
      <p:pic>
        <p:nvPicPr>
          <p:cNvPr id="495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1524000"/>
            <a:ext cx="39227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1" name="Text Box 5"/>
          <p:cNvSpPr txBox="1">
            <a:spLocks noChangeArrowheads="1"/>
          </p:cNvSpPr>
          <p:nvPr/>
        </p:nvSpPr>
        <p:spPr bwMode="auto">
          <a:xfrm rot="-5400000">
            <a:off x="-91281" y="2415381"/>
            <a:ext cx="169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Contrast</a:t>
            </a:r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auto">
          <a:xfrm>
            <a:off x="4257675" y="1708150"/>
            <a:ext cx="171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 0</a:t>
            </a:r>
            <a:endParaRPr 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auto">
          <a:xfrm>
            <a:off x="3983038" y="2854325"/>
            <a:ext cx="226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obj</a:t>
            </a:r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 </a:t>
            </a: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3716338" y="3071813"/>
            <a:ext cx="312737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 flipH="1">
            <a:off x="2995613" y="1879600"/>
            <a:ext cx="1311275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6" name="AutoShape 10"/>
          <p:cNvSpPr>
            <a:spLocks noChangeArrowheads="1"/>
          </p:cNvSpPr>
          <p:nvPr/>
        </p:nvSpPr>
        <p:spPr bwMode="auto">
          <a:xfrm>
            <a:off x="2166938" y="5348288"/>
            <a:ext cx="4773612" cy="11779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Increasing the illumination aperture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increases resolution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but decreases contrast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495627" name="Group 11"/>
          <p:cNvGrpSpPr>
            <a:grpSpLocks/>
          </p:cNvGrpSpPr>
          <p:nvPr/>
        </p:nvGrpSpPr>
        <p:grpSpPr bwMode="auto">
          <a:xfrm>
            <a:off x="6205538" y="1465263"/>
            <a:ext cx="881062" cy="881062"/>
            <a:chOff x="3433" y="866"/>
            <a:chExt cx="555" cy="555"/>
          </a:xfrm>
        </p:grpSpPr>
        <p:sp>
          <p:nvSpPr>
            <p:cNvPr id="495628" name="Oval 12"/>
            <p:cNvSpPr>
              <a:spLocks noChangeArrowheads="1"/>
            </p:cNvSpPr>
            <p:nvPr/>
          </p:nvSpPr>
          <p:spPr bwMode="auto">
            <a:xfrm>
              <a:off x="3433" y="866"/>
              <a:ext cx="555" cy="55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29" name="Oval 13"/>
            <p:cNvSpPr>
              <a:spLocks noChangeArrowheads="1"/>
            </p:cNvSpPr>
            <p:nvPr/>
          </p:nvSpPr>
          <p:spPr bwMode="auto">
            <a:xfrm>
              <a:off x="3696" y="1129"/>
              <a:ext cx="28" cy="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7188200" y="1603375"/>
            <a:ext cx="1379538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(“Coherent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1" name="Rectangle 15"/>
          <p:cNvSpPr>
            <a:spLocks noChangeArrowheads="1"/>
          </p:cNvSpPr>
          <p:nvPr/>
        </p:nvSpPr>
        <p:spPr bwMode="auto">
          <a:xfrm>
            <a:off x="7188200" y="2622550"/>
            <a:ext cx="17065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(= Full aperture,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“incoherent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6205538" y="2613025"/>
            <a:ext cx="881062" cy="8810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33" name="Rectangle 17"/>
          <p:cNvSpPr>
            <a:spLocks noChangeArrowheads="1"/>
          </p:cNvSpPr>
          <p:nvPr/>
        </p:nvSpPr>
        <p:spPr bwMode="auto">
          <a:xfrm>
            <a:off x="6029325" y="938213"/>
            <a:ext cx="12334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Pupil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appearance</a:t>
            </a:r>
            <a:endParaRPr lang="en-US" sz="1600" b="0">
              <a:latin typeface="Chalkboard" charset="0"/>
            </a:endParaRPr>
          </a:p>
        </p:txBody>
      </p:sp>
      <p:grpSp>
        <p:nvGrpSpPr>
          <p:cNvPr id="495634" name="Group 18"/>
          <p:cNvGrpSpPr>
            <a:grpSpLocks/>
          </p:cNvGrpSpPr>
          <p:nvPr/>
        </p:nvGrpSpPr>
        <p:grpSpPr bwMode="auto">
          <a:xfrm>
            <a:off x="3690938" y="3835400"/>
            <a:ext cx="4821237" cy="931863"/>
            <a:chOff x="2325" y="2416"/>
            <a:chExt cx="3037" cy="587"/>
          </a:xfrm>
        </p:grpSpPr>
        <p:sp>
          <p:nvSpPr>
            <p:cNvPr id="495635" name="Rectangle 19"/>
            <p:cNvSpPr>
              <a:spLocks noChangeArrowheads="1"/>
            </p:cNvSpPr>
            <p:nvPr/>
          </p:nvSpPr>
          <p:spPr bwMode="auto">
            <a:xfrm>
              <a:off x="3048" y="2561"/>
              <a:ext cx="231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 b="0">
                  <a:latin typeface="Helvetica" pitchFamily="34" charset="0"/>
                </a:rPr>
                <a:t>Resolution limit:</a:t>
              </a:r>
              <a:endParaRPr lang="en-US" altLang="en-US" sz="2000" b="0">
                <a:solidFill>
                  <a:srgbClr val="FF0000"/>
                </a:solidFill>
                <a:latin typeface="Helvetica" pitchFamily="34" charset="0"/>
              </a:endParaRPr>
            </a:p>
            <a:p>
              <a:pPr algn="ctr" eaLnBrk="0" hangingPunct="0"/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k</a:t>
              </a:r>
              <a:r>
                <a:rPr lang="en-US" altLang="en-US" sz="2000" b="0" baseline="-25000">
                  <a:solidFill>
                    <a:srgbClr val="FF0000"/>
                  </a:solidFill>
                  <a:latin typeface="Helvetica" pitchFamily="34" charset="0"/>
                </a:rPr>
                <a:t>max </a:t>
              </a:r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= (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objective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+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condenser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)/ l</a:t>
              </a:r>
              <a:endParaRPr lang="en-US" sz="2000" b="0">
                <a:solidFill>
                  <a:srgbClr val="FF0000"/>
                </a:solidFill>
                <a:latin typeface="Symbol" pitchFamily="18" charset="2"/>
              </a:endParaRPr>
            </a:p>
          </p:txBody>
        </p:sp>
        <p:sp>
          <p:nvSpPr>
            <p:cNvPr id="495636" name="Freeform 20"/>
            <p:cNvSpPr>
              <a:spLocks/>
            </p:cNvSpPr>
            <p:nvPr/>
          </p:nvSpPr>
          <p:spPr bwMode="auto">
            <a:xfrm>
              <a:off x="2549" y="2416"/>
              <a:ext cx="518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7" name="Freeform 21"/>
            <p:cNvSpPr>
              <a:spLocks/>
            </p:cNvSpPr>
            <p:nvPr/>
          </p:nvSpPr>
          <p:spPr bwMode="auto">
            <a:xfrm>
              <a:off x="2325" y="2416"/>
              <a:ext cx="742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8" name="Freeform 22"/>
            <p:cNvSpPr>
              <a:spLocks/>
            </p:cNvSpPr>
            <p:nvPr/>
          </p:nvSpPr>
          <p:spPr bwMode="auto">
            <a:xfrm>
              <a:off x="2762" y="2416"/>
              <a:ext cx="305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14600" y="109538"/>
            <a:ext cx="41275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Definitions of Resolution</a:t>
            </a:r>
          </a:p>
        </p:txBody>
      </p:sp>
      <p:pic>
        <p:nvPicPr>
          <p:cNvPr id="57363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1206500"/>
            <a:ext cx="432435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2020888" y="1123950"/>
            <a:ext cx="2484437" cy="160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4333875" y="2674938"/>
            <a:ext cx="2792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6704013" y="2674938"/>
            <a:ext cx="401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 flipV="1">
            <a:off x="4516438" y="938213"/>
            <a:ext cx="0" cy="1808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4649788" y="1052513"/>
            <a:ext cx="8397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4106863" y="1074738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1</a:t>
            </a:r>
          </a:p>
        </p:txBody>
      </p:sp>
      <p:sp>
        <p:nvSpPr>
          <p:cNvPr id="57378" name="Line 34"/>
          <p:cNvSpPr>
            <a:spLocks noChangeShapeType="1"/>
          </p:cNvSpPr>
          <p:nvPr/>
        </p:nvSpPr>
        <p:spPr bwMode="auto">
          <a:xfrm>
            <a:off x="4403725" y="1262063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6156325" y="1046163"/>
            <a:ext cx="17764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Cutoff frequency</a:t>
            </a:r>
            <a:endParaRPr lang="en-US" altLang="en-US" sz="2000" i="1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1600" i="1">
                <a:latin typeface="Helvetica" charset="0"/>
              </a:rPr>
              <a:t> k</a:t>
            </a:r>
            <a:r>
              <a:rPr lang="en-US" altLang="en-US" sz="1600" baseline="-25000">
                <a:latin typeface="Helvetica" charset="0"/>
              </a:rPr>
              <a:t>max </a:t>
            </a:r>
            <a:r>
              <a:rPr lang="en-US" altLang="en-US" sz="1600">
                <a:latin typeface="Helvetica" charset="0"/>
              </a:rPr>
              <a:t>= 2 </a:t>
            </a:r>
            <a:r>
              <a:rPr lang="en-US" altLang="en-US" sz="1600" i="1">
                <a:latin typeface="Helvetica" charset="0"/>
              </a:rPr>
              <a:t>NA</a:t>
            </a:r>
            <a:r>
              <a:rPr lang="en-US" altLang="en-US" sz="1600">
                <a:latin typeface="Symbol" charset="2"/>
              </a:rPr>
              <a:t> / </a:t>
            </a:r>
            <a:r>
              <a:rPr lang="en-US" altLang="en-US" sz="1600" i="1">
                <a:latin typeface="Symbol" charset="2"/>
              </a:rPr>
              <a:t>l</a:t>
            </a:r>
            <a:endParaRPr lang="en-US" sz="2000" i="1">
              <a:solidFill>
                <a:srgbClr val="FF0000"/>
              </a:solidFill>
              <a:latin typeface="Symbol" charset="2"/>
            </a:endParaRPr>
          </a:p>
        </p:txBody>
      </p:sp>
      <p:sp>
        <p:nvSpPr>
          <p:cNvPr id="57382" name="Freeform 38"/>
          <p:cNvSpPr>
            <a:spLocks/>
          </p:cNvSpPr>
          <p:nvPr/>
        </p:nvSpPr>
        <p:spPr bwMode="auto">
          <a:xfrm>
            <a:off x="6405563" y="1693863"/>
            <a:ext cx="342900" cy="938212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591"/>
              </a:cxn>
            </a:cxnLst>
            <a:rect l="0" t="0" r="r" b="b"/>
            <a:pathLst>
              <a:path w="216" h="591">
                <a:moveTo>
                  <a:pt x="216" y="0"/>
                </a:moveTo>
                <a:cubicBezTo>
                  <a:pt x="146" y="85"/>
                  <a:pt x="43" y="205"/>
                  <a:pt x="0" y="5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Rectangle 40"/>
          <p:cNvSpPr>
            <a:spLocks noChangeArrowheads="1"/>
          </p:cNvSpPr>
          <p:nvPr/>
        </p:nvSpPr>
        <p:spPr bwMode="auto">
          <a:xfrm>
            <a:off x="463550" y="1797050"/>
            <a:ext cx="33812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OTF cutoff frequency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6" name="Rectangle 42"/>
          <p:cNvSpPr>
            <a:spLocks noChangeArrowheads="1"/>
          </p:cNvSpPr>
          <p:nvPr/>
        </p:nvSpPr>
        <p:spPr bwMode="auto">
          <a:xfrm>
            <a:off x="463550" y="3295650"/>
            <a:ext cx="34884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As the Full Width at Half Max</a:t>
            </a:r>
          </a:p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(FWHM) of the PSF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7" name="Rectangle 43"/>
          <p:cNvSpPr>
            <a:spLocks noChangeArrowheads="1"/>
          </p:cNvSpPr>
          <p:nvPr/>
        </p:nvSpPr>
        <p:spPr bwMode="auto">
          <a:xfrm>
            <a:off x="463550" y="4845050"/>
            <a:ext cx="371473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diameter of the Airy disk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(first dark ring of the PSF)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= “Rayleigh criterion”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983163" y="3449638"/>
            <a:ext cx="3611562" cy="2105025"/>
            <a:chOff x="2841" y="2205"/>
            <a:chExt cx="2275" cy="1113"/>
          </a:xfrm>
        </p:grpSpPr>
        <p:pic>
          <p:nvPicPr>
            <p:cNvPr id="57389" name="Picture 45" descr="&#10;AiryDisk.pict                                                  001F1E40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41" y="2205"/>
              <a:ext cx="2275" cy="941"/>
            </a:xfrm>
            <a:prstGeom prst="rect">
              <a:avLst/>
            </a:prstGeom>
            <a:noFill/>
          </p:spPr>
        </p:pic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3706" y="3265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3707" y="312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48"/>
            <p:cNvSpPr>
              <a:spLocks noChangeShapeType="1"/>
            </p:cNvSpPr>
            <p:nvPr/>
          </p:nvSpPr>
          <p:spPr bwMode="auto">
            <a:xfrm>
              <a:off x="4256" y="312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3" name="Rectangle 49"/>
          <p:cNvSpPr>
            <a:spLocks noChangeArrowheads="1"/>
          </p:cNvSpPr>
          <p:nvPr/>
        </p:nvSpPr>
        <p:spPr bwMode="auto">
          <a:xfrm>
            <a:off x="5862638" y="5781675"/>
            <a:ext cx="18938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Airy disk diameter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0.61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5" name="Rectangle 51"/>
          <p:cNvSpPr>
            <a:spLocks noChangeArrowheads="1"/>
          </p:cNvSpPr>
          <p:nvPr/>
        </p:nvSpPr>
        <p:spPr bwMode="auto">
          <a:xfrm>
            <a:off x="7099300" y="4181475"/>
            <a:ext cx="1568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FWHM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0.353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>
            <a:off x="6256338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 flipH="1">
            <a:off x="6983413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 flipH="1">
            <a:off x="6327775" y="2670175"/>
            <a:ext cx="508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7727950" y="1828800"/>
            <a:ext cx="1314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1/</a:t>
            </a:r>
            <a:r>
              <a:rPr lang="en-US" sz="1600" i="1">
                <a:solidFill>
                  <a:schemeClr val="tx2"/>
                </a:solidFill>
                <a:latin typeface="Chalkboard" charset="0"/>
              </a:rPr>
              <a:t>k</a:t>
            </a:r>
            <a:r>
              <a:rPr lang="en-US" sz="1600" i="1" baseline="-25000">
                <a:solidFill>
                  <a:schemeClr val="tx2"/>
                </a:solidFill>
                <a:latin typeface="Chalkboard" charset="0"/>
              </a:rPr>
              <a:t>max</a:t>
            </a:r>
            <a:endParaRPr lang="en-US" sz="1600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0.5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  <a:endParaRPr lang="en-US" sz="1600" i="1">
              <a:solidFill>
                <a:schemeClr val="tx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0013" y="2790825"/>
            <a:ext cx="2498725" cy="2454275"/>
          </a:xfrm>
          <a:prstGeom prst="rect">
            <a:avLst/>
          </a:prstGeom>
          <a:noFill/>
        </p:spPr>
      </p:pic>
      <p:sp>
        <p:nvSpPr>
          <p:cNvPr id="536579" name="Text Box 3"/>
          <p:cNvSpPr txBox="1">
            <a:spLocks noChangeArrowheads="1"/>
          </p:cNvSpPr>
          <p:nvPr/>
        </p:nvSpPr>
        <p:spPr bwMode="auto">
          <a:xfrm>
            <a:off x="7131050" y="2311400"/>
            <a:ext cx="11858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Measured</a:t>
            </a:r>
          </a:p>
        </p:txBody>
      </p:sp>
      <p:sp>
        <p:nvSpPr>
          <p:cNvPr id="536580" name="Line 4"/>
          <p:cNvSpPr>
            <a:spLocks noChangeShapeType="1"/>
          </p:cNvSpPr>
          <p:nvPr/>
        </p:nvSpPr>
        <p:spPr bwMode="auto">
          <a:xfrm>
            <a:off x="4621213" y="553878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5334000" y="5318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82" name="Text Box 6"/>
          <p:cNvSpPr txBox="1">
            <a:spLocks noChangeArrowheads="1"/>
          </p:cNvSpPr>
          <p:nvPr/>
        </p:nvSpPr>
        <p:spPr bwMode="auto">
          <a:xfrm>
            <a:off x="3352800" y="25733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z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3505200" y="2954338"/>
            <a:ext cx="0" cy="703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4344988" y="2312988"/>
            <a:ext cx="12906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Calculated</a:t>
            </a:r>
          </a:p>
        </p:txBody>
      </p:sp>
      <p:pic>
        <p:nvPicPr>
          <p:cNvPr id="53658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4413" y="2743200"/>
            <a:ext cx="2686050" cy="2686050"/>
          </a:xfrm>
          <a:prstGeom prst="rect">
            <a:avLst/>
          </a:prstGeom>
          <a:noFill/>
        </p:spPr>
      </p:pic>
      <p:sp>
        <p:nvSpPr>
          <p:cNvPr id="536586" name="Text Box 10"/>
          <p:cNvSpPr txBox="1">
            <a:spLocks noChangeArrowheads="1"/>
          </p:cNvSpPr>
          <p:nvPr/>
        </p:nvSpPr>
        <p:spPr bwMode="auto">
          <a:xfrm>
            <a:off x="1581150" y="109538"/>
            <a:ext cx="60023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The 3D Point Spread Function (PSF)</a:t>
            </a:r>
          </a:p>
        </p:txBody>
      </p:sp>
      <p:pic>
        <p:nvPicPr>
          <p:cNvPr id="53658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2385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524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9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953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381000" y="3244850"/>
            <a:ext cx="49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Z=0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1" name="Rectangle 15"/>
          <p:cNvSpPr>
            <a:spLocks noChangeArrowheads="1"/>
          </p:cNvSpPr>
          <p:nvPr/>
        </p:nvSpPr>
        <p:spPr bwMode="auto">
          <a:xfrm>
            <a:off x="381000" y="1524000"/>
            <a:ext cx="847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Z=+2µm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381000" y="4953000"/>
            <a:ext cx="803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Z=-2µm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3" name="Text Box 17"/>
          <p:cNvSpPr txBox="1">
            <a:spLocks noChangeArrowheads="1"/>
          </p:cNvSpPr>
          <p:nvPr/>
        </p:nvSpPr>
        <p:spPr bwMode="auto">
          <a:xfrm>
            <a:off x="-36513" y="968375"/>
            <a:ext cx="2432051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2D PSF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for different defocus</a:t>
            </a:r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2855913" y="577850"/>
            <a:ext cx="34972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>
                <a:solidFill>
                  <a:srgbClr val="408000"/>
                </a:solidFill>
                <a:latin typeface="Chalkboard" charset="0"/>
              </a:rPr>
              <a:t>The image of a point object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990600" y="6705600"/>
            <a:ext cx="715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1736725" y="65008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97" name="Text Box 21"/>
          <p:cNvSpPr txBox="1">
            <a:spLocks noChangeArrowheads="1"/>
          </p:cNvSpPr>
          <p:nvPr/>
        </p:nvSpPr>
        <p:spPr bwMode="auto">
          <a:xfrm>
            <a:off x="152400" y="5105400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y</a:t>
            </a:r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V="1">
            <a:off x="304800" y="5486400"/>
            <a:ext cx="0" cy="70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9" name="Freeform 23"/>
          <p:cNvSpPr>
            <a:spLocks/>
          </p:cNvSpPr>
          <p:nvPr/>
        </p:nvSpPr>
        <p:spPr bwMode="auto">
          <a:xfrm flipH="1">
            <a:off x="2209800" y="1524000"/>
            <a:ext cx="431800" cy="50292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12700" cmpd="sng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2590800" y="3994150"/>
            <a:ext cx="609600" cy="0"/>
          </a:xfrm>
          <a:prstGeom prst="line">
            <a:avLst/>
          </a:prstGeom>
          <a:noFill/>
          <a:ln w="57150">
            <a:solidFill>
              <a:srgbClr val="408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1" name="Rectangle 25"/>
          <p:cNvSpPr>
            <a:spLocks noChangeArrowheads="1"/>
          </p:cNvSpPr>
          <p:nvPr/>
        </p:nvSpPr>
        <p:spPr bwMode="auto">
          <a:xfrm>
            <a:off x="5688013" y="1676400"/>
            <a:ext cx="11953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3D PSF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362200"/>
            <a:ext cx="6197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743200"/>
            <a:ext cx="2352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7467600" y="57912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x - 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Z-resolution, a.k.a. depth of field, for widefield microscopy</a:t>
            </a:r>
          </a:p>
        </p:txBody>
      </p:sp>
      <p:graphicFrame>
        <p:nvGraphicFramePr>
          <p:cNvPr id="412793" name="Group 121"/>
          <p:cNvGraphicFramePr>
            <a:graphicFrameLocks noGrp="1"/>
          </p:cNvGraphicFramePr>
          <p:nvPr>
            <p:ph type="tbl" idx="1"/>
          </p:nvPr>
        </p:nvGraphicFramePr>
        <p:xfrm>
          <a:off x="3810000" y="3962400"/>
          <a:ext cx="5029200" cy="24688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56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(nm; X-Y)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 of field (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321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218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678" name="Picture 6" descr="02"/>
          <p:cNvPicPr>
            <a:picLocks noChangeAspect="1" noChangeArrowheads="1"/>
          </p:cNvPicPr>
          <p:nvPr/>
        </p:nvPicPr>
        <p:blipFill>
          <a:blip r:embed="rId3" cstate="print"/>
          <a:srcRect l="25000" t="57777" r="30800" b="2222"/>
          <a:stretch>
            <a:fillRect/>
          </a:stretch>
        </p:blipFill>
        <p:spPr bwMode="auto">
          <a:xfrm>
            <a:off x="609600" y="1676400"/>
            <a:ext cx="4041775" cy="2743200"/>
          </a:xfrm>
          <a:prstGeom prst="rect">
            <a:avLst/>
          </a:prstGeom>
          <a:noFill/>
        </p:spPr>
      </p:pic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187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latin typeface="Arial" charset="0"/>
              </a:rPr>
              <a:t>Z-resolution:</a:t>
            </a:r>
          </a:p>
          <a:p>
            <a:r>
              <a:rPr lang="en-US" b="0">
                <a:latin typeface="Arial" charset="0"/>
              </a:rPr>
              <a:t>2</a:t>
            </a:r>
            <a:r>
              <a:rPr lang="en-US" b="0">
                <a:latin typeface="Symbol" pitchFamily="18" charset="2"/>
              </a:rPr>
              <a:t>l</a:t>
            </a:r>
            <a:r>
              <a:rPr lang="en-US" b="0">
                <a:latin typeface="Arial" charset="0"/>
              </a:rPr>
              <a:t>n / NA</a:t>
            </a:r>
            <a:r>
              <a:rPr lang="en-US" b="0" baseline="3000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Summary: Numerical Aperture and Resolution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Numerical aperture, </a:t>
            </a:r>
            <a:r>
              <a:rPr lang="en-US" sz="2400" b="1" i="1" dirty="0">
                <a:latin typeface="Chalkboard"/>
              </a:rPr>
              <a:t>not magnification</a:t>
            </a:r>
            <a:r>
              <a:rPr lang="en-US" sz="2400" dirty="0">
                <a:latin typeface="Chalkboard"/>
              </a:rPr>
              <a:t>, sets the smallest details you can resolve in an image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Increasing NA also increases the amount of light collected by the lens, thereby increasing the brightness of the image – this scales as NA</a:t>
            </a:r>
            <a:r>
              <a:rPr lang="en-US" sz="2400" baseline="30000" dirty="0">
                <a:latin typeface="Chalkboard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79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Specifications for some common objectives</a:t>
            </a:r>
          </a:p>
        </p:txBody>
      </p:sp>
      <p:graphicFrame>
        <p:nvGraphicFramePr>
          <p:cNvPr id="404608" name="Group 128"/>
          <p:cNvGraphicFramePr>
            <a:graphicFrameLocks noGrp="1"/>
          </p:cNvGraphicFramePr>
          <p:nvPr>
            <p:ph type="tbl" idx="1"/>
          </p:nvPr>
        </p:nvGraphicFramePr>
        <p:xfrm>
          <a:off x="609600" y="2514600"/>
          <a:ext cx="7772400" cy="3302318"/>
        </p:xfrm>
        <a:graphic>
          <a:graphicData uri="http://schemas.openxmlformats.org/drawingml/2006/table">
            <a:tbl>
              <a:tblPr/>
              <a:tblGrid>
                <a:gridCol w="1676400"/>
                <a:gridCol w="685800"/>
                <a:gridCol w="1371600"/>
                <a:gridCol w="1733681"/>
                <a:gridCol w="2304919"/>
              </a:tblGrid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Magnification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 of Field</a:t>
                      </a:r>
                      <a:b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Light gathering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units)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16830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2690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3333750" y="1568450"/>
            <a:ext cx="206057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52763" y="4089400"/>
            <a:ext cx="30146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They are the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3024188" y="412750"/>
            <a:ext cx="25955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36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1905000" y="1608138"/>
            <a:ext cx="35925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Chromatic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Longitudinal chr. Ab.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Lateral chr. Ab.</a:t>
            </a:r>
          </a:p>
          <a:p>
            <a:pPr lvl="1" eaLnBrk="0" hangingPunct="0"/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Spherical aberration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Astigmatism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Coma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…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Curvature of field </a:t>
            </a:r>
          </a:p>
          <a:p>
            <a:pPr marL="228600" indent="-228600" eaLnBrk="0" hangingPunct="0">
              <a:buFontTx/>
              <a:buChar char="•"/>
            </a:pPr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Distortion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2563813" y="171450"/>
            <a:ext cx="35242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Geometric Distortion</a:t>
            </a:r>
          </a:p>
        </p:txBody>
      </p:sp>
      <p:sp>
        <p:nvSpPr>
          <p:cNvPr id="503811" name="Text Box 3"/>
          <p:cNvSpPr txBox="1">
            <a:spLocks noChangeArrowheads="1"/>
          </p:cNvSpPr>
          <p:nvPr/>
        </p:nvSpPr>
        <p:spPr bwMode="auto">
          <a:xfrm>
            <a:off x="1981200" y="762000"/>
            <a:ext cx="47577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 = Radially varying magnification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503812" name="Group 4"/>
          <p:cNvGrpSpPr>
            <a:grpSpLocks/>
          </p:cNvGrpSpPr>
          <p:nvPr/>
        </p:nvGrpSpPr>
        <p:grpSpPr bwMode="auto">
          <a:xfrm>
            <a:off x="914400" y="2895600"/>
            <a:ext cx="1600200" cy="1600200"/>
            <a:chOff x="2304" y="1152"/>
            <a:chExt cx="1536" cy="1536"/>
          </a:xfrm>
        </p:grpSpPr>
        <p:grpSp>
          <p:nvGrpSpPr>
            <p:cNvPr id="503813" name="Group 5"/>
            <p:cNvGrpSpPr>
              <a:grpSpLocks/>
            </p:cNvGrpSpPr>
            <p:nvPr/>
          </p:nvGrpSpPr>
          <p:grpSpPr bwMode="auto">
            <a:xfrm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14" name="Rectangle 6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5" name="Rectangle 7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6" name="Rectangle 8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7" name="Rectangle 9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8" name="Rectangle 10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9" name="Rectangle 11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0" name="Rectangle 12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1" name="Rectangle 13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2" name="Rectangle 14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3" name="Rectangle 15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4" name="Rectangle 16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5" name="Rectangle 17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6" name="Rectangle 18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7" name="Rectangle 19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8" name="Rectangle 20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9" name="Rectangle 21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3830" name="Group 22"/>
            <p:cNvGrpSpPr>
              <a:grpSpLocks/>
            </p:cNvGrpSpPr>
            <p:nvPr/>
          </p:nvGrpSpPr>
          <p:grpSpPr bwMode="auto">
            <a:xfrm rot="-5400000"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31" name="Rectangle 23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2" name="Rectangle 24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3" name="Rectangle 25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4" name="Rectangle 26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5" name="Rectangle 27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6" name="Rectangle 28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7" name="Rectangle 29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8" name="Rectangle 30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9" name="Rectangle 31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0" name="Rectangle 32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1" name="Rectangle 33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2" name="Rectangle 34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3" name="Rectangle 35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4" name="Rectangle 36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5" name="Rectangle 37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6" name="Rectangle 38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503847" name="Picture 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676400"/>
            <a:ext cx="21336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3848" name="Picture 4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2600" y="3886200"/>
            <a:ext cx="20828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3849" name="Freeform 41"/>
          <p:cNvSpPr>
            <a:spLocks/>
          </p:cNvSpPr>
          <p:nvPr/>
        </p:nvSpPr>
        <p:spPr bwMode="auto">
          <a:xfrm>
            <a:off x="2532063" y="2684463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0" name="Freeform 42"/>
          <p:cNvSpPr>
            <a:spLocks/>
          </p:cNvSpPr>
          <p:nvPr/>
        </p:nvSpPr>
        <p:spPr bwMode="auto">
          <a:xfrm flipV="1">
            <a:off x="2522538" y="3886200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1" name="Text Box 43"/>
          <p:cNvSpPr txBox="1">
            <a:spLocks noChangeArrowheads="1"/>
          </p:cNvSpPr>
          <p:nvPr/>
        </p:nvSpPr>
        <p:spPr bwMode="auto">
          <a:xfrm>
            <a:off x="6750050" y="4495800"/>
            <a:ext cx="14922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 Barrel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2" name="Text Box 44"/>
          <p:cNvSpPr txBox="1">
            <a:spLocks noChangeArrowheads="1"/>
          </p:cNvSpPr>
          <p:nvPr/>
        </p:nvSpPr>
        <p:spPr bwMode="auto">
          <a:xfrm>
            <a:off x="6705600" y="2438400"/>
            <a:ext cx="15811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Pincushion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3" name="Text Box 45"/>
          <p:cNvSpPr txBox="1">
            <a:spLocks noChangeArrowheads="1"/>
          </p:cNvSpPr>
          <p:nvPr/>
        </p:nvSpPr>
        <p:spPr bwMode="auto">
          <a:xfrm>
            <a:off x="1143000" y="2495550"/>
            <a:ext cx="1143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Object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4" name="Text Box 46"/>
          <p:cNvSpPr txBox="1">
            <a:spLocks noChangeArrowheads="1"/>
          </p:cNvSpPr>
          <p:nvPr/>
        </p:nvSpPr>
        <p:spPr bwMode="auto">
          <a:xfrm>
            <a:off x="4800600" y="1352550"/>
            <a:ext cx="102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Image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5" name="Rectangle 47"/>
          <p:cNvSpPr>
            <a:spLocks noChangeArrowheads="1"/>
          </p:cNvSpPr>
          <p:nvPr/>
        </p:nvSpPr>
        <p:spPr bwMode="auto">
          <a:xfrm>
            <a:off x="1219200" y="6172200"/>
            <a:ext cx="66786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May be introduced by the projection eyepiece</a:t>
            </a:r>
            <a:endParaRPr lang="en-US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Wavefront Aberrations</a:t>
            </a:r>
          </a:p>
        </p:txBody>
      </p:sp>
      <p:sp>
        <p:nvSpPr>
          <p:cNvPr id="505859" name="Arc 3"/>
          <p:cNvSpPr>
            <a:spLocks/>
          </p:cNvSpPr>
          <p:nvPr/>
        </p:nvSpPr>
        <p:spPr bwMode="auto">
          <a:xfrm rot="2700000">
            <a:off x="2438400" y="3200400"/>
            <a:ext cx="9906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0" name="Arc 4"/>
          <p:cNvSpPr>
            <a:spLocks/>
          </p:cNvSpPr>
          <p:nvPr/>
        </p:nvSpPr>
        <p:spPr bwMode="auto">
          <a:xfrm rot="2700000">
            <a:off x="2030413" y="4216400"/>
            <a:ext cx="2057400" cy="241300"/>
          </a:xfrm>
          <a:custGeom>
            <a:avLst/>
            <a:gdLst>
              <a:gd name="G0" fmla="+- 0 0 0"/>
              <a:gd name="G1" fmla="+- 2525 0 0"/>
              <a:gd name="G2" fmla="+- 21600 0 0"/>
              <a:gd name="T0" fmla="*/ 21451 w 21600"/>
              <a:gd name="T1" fmla="*/ 0 h 2525"/>
              <a:gd name="T2" fmla="*/ 21600 w 21600"/>
              <a:gd name="T3" fmla="*/ 2525 h 2525"/>
              <a:gd name="T4" fmla="*/ 0 w 21600"/>
              <a:gd name="T5" fmla="*/ 2525 h 2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5" fill="none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</a:path>
              <a:path w="21600" h="2525" stroke="0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  <a:lnTo>
                  <a:pt x="0" y="2525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1" name="Arc 5"/>
          <p:cNvSpPr>
            <a:spLocks/>
          </p:cNvSpPr>
          <p:nvPr/>
        </p:nvSpPr>
        <p:spPr bwMode="auto">
          <a:xfrm rot="2700000">
            <a:off x="2484438" y="3124200"/>
            <a:ext cx="1143000" cy="1143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2" name="Arc 6"/>
          <p:cNvSpPr>
            <a:spLocks/>
          </p:cNvSpPr>
          <p:nvPr/>
        </p:nvSpPr>
        <p:spPr bwMode="auto">
          <a:xfrm rot="2700000">
            <a:off x="2516188" y="3048000"/>
            <a:ext cx="1295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3" name="Arc 7"/>
          <p:cNvSpPr>
            <a:spLocks/>
          </p:cNvSpPr>
          <p:nvPr/>
        </p:nvSpPr>
        <p:spPr bwMode="auto">
          <a:xfrm rot="2700000">
            <a:off x="2609850" y="2819400"/>
            <a:ext cx="1752600" cy="1752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4" name="Arc 8"/>
          <p:cNvSpPr>
            <a:spLocks/>
          </p:cNvSpPr>
          <p:nvPr/>
        </p:nvSpPr>
        <p:spPr bwMode="auto">
          <a:xfrm rot="2700000">
            <a:off x="2546350" y="2971800"/>
            <a:ext cx="1447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5" name="Arc 9"/>
          <p:cNvSpPr>
            <a:spLocks/>
          </p:cNvSpPr>
          <p:nvPr/>
        </p:nvSpPr>
        <p:spPr bwMode="auto">
          <a:xfrm rot="2700000">
            <a:off x="2641600" y="2743200"/>
            <a:ext cx="1905000" cy="1905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6" name="Arc 10"/>
          <p:cNvSpPr>
            <a:spLocks/>
          </p:cNvSpPr>
          <p:nvPr/>
        </p:nvSpPr>
        <p:spPr bwMode="auto">
          <a:xfrm rot="2700000">
            <a:off x="2578100" y="2895600"/>
            <a:ext cx="1600200" cy="1600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7" name="Arc 11"/>
          <p:cNvSpPr>
            <a:spLocks/>
          </p:cNvSpPr>
          <p:nvPr/>
        </p:nvSpPr>
        <p:spPr bwMode="auto">
          <a:xfrm rot="2700000">
            <a:off x="2900362" y="2124076"/>
            <a:ext cx="523875" cy="2057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5493"/>
              <a:gd name="T1" fmla="*/ 0 h 21600"/>
              <a:gd name="T2" fmla="*/ 5493 w 5493"/>
              <a:gd name="T3" fmla="*/ 711 h 21600"/>
              <a:gd name="T4" fmla="*/ 0 w 549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93" h="21600" fill="none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</a:path>
              <a:path w="5493" h="21600" stroke="0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8" name="Arc 12"/>
          <p:cNvSpPr>
            <a:spLocks/>
          </p:cNvSpPr>
          <p:nvPr/>
        </p:nvSpPr>
        <p:spPr bwMode="auto">
          <a:xfrm rot="2700000">
            <a:off x="2406650" y="3275013"/>
            <a:ext cx="8382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9" name="Arc 13"/>
          <p:cNvSpPr>
            <a:spLocks/>
          </p:cNvSpPr>
          <p:nvPr/>
        </p:nvSpPr>
        <p:spPr bwMode="auto">
          <a:xfrm rot="2700000">
            <a:off x="2374900" y="3351213"/>
            <a:ext cx="6858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0" name="Arc 14"/>
          <p:cNvSpPr>
            <a:spLocks/>
          </p:cNvSpPr>
          <p:nvPr/>
        </p:nvSpPr>
        <p:spPr bwMode="auto">
          <a:xfrm rot="2700000">
            <a:off x="2247900" y="3656013"/>
            <a:ext cx="762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1" name="Arc 15"/>
          <p:cNvSpPr>
            <a:spLocks/>
          </p:cNvSpPr>
          <p:nvPr/>
        </p:nvSpPr>
        <p:spPr bwMode="auto">
          <a:xfrm rot="2700000">
            <a:off x="2279650" y="3579813"/>
            <a:ext cx="228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2" name="Arc 16"/>
          <p:cNvSpPr>
            <a:spLocks/>
          </p:cNvSpPr>
          <p:nvPr/>
        </p:nvSpPr>
        <p:spPr bwMode="auto">
          <a:xfrm rot="2700000">
            <a:off x="2311400" y="3503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3" name="Arc 17"/>
          <p:cNvSpPr>
            <a:spLocks/>
          </p:cNvSpPr>
          <p:nvPr/>
        </p:nvSpPr>
        <p:spPr bwMode="auto">
          <a:xfrm rot="2700000">
            <a:off x="2343150" y="3427413"/>
            <a:ext cx="5334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4" name="Oval 18"/>
          <p:cNvSpPr>
            <a:spLocks noChangeArrowheads="1"/>
          </p:cNvSpPr>
          <p:nvPr/>
        </p:nvSpPr>
        <p:spPr bwMode="auto">
          <a:xfrm>
            <a:off x="2209800" y="3657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638800" y="16764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5638800" y="51816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7" name="Line 21"/>
          <p:cNvSpPr>
            <a:spLocks noChangeShapeType="1"/>
          </p:cNvSpPr>
          <p:nvPr/>
        </p:nvSpPr>
        <p:spPr bwMode="auto">
          <a:xfrm flipH="1" flipV="1">
            <a:off x="5740400" y="5080000"/>
            <a:ext cx="508000" cy="71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5878" name="Group 22"/>
          <p:cNvGrpSpPr>
            <a:grpSpLocks/>
          </p:cNvGrpSpPr>
          <p:nvPr/>
        </p:nvGrpSpPr>
        <p:grpSpPr bwMode="auto">
          <a:xfrm>
            <a:off x="3970338" y="2209800"/>
            <a:ext cx="3827462" cy="4175125"/>
            <a:chOff x="2501" y="1392"/>
            <a:chExt cx="2411" cy="2630"/>
          </a:xfrm>
        </p:grpSpPr>
        <p:grpSp>
          <p:nvGrpSpPr>
            <p:cNvPr id="505879" name="Group 23"/>
            <p:cNvGrpSpPr>
              <a:grpSpLocks/>
            </p:cNvGrpSpPr>
            <p:nvPr/>
          </p:nvGrpSpPr>
          <p:grpSpPr bwMode="auto">
            <a:xfrm>
              <a:off x="2501" y="1392"/>
              <a:ext cx="1414" cy="1872"/>
              <a:chOff x="2501" y="1392"/>
              <a:chExt cx="1414" cy="1872"/>
            </a:xfrm>
          </p:grpSpPr>
          <p:sp>
            <p:nvSpPr>
              <p:cNvPr id="505880" name="Freeform 24"/>
              <p:cNvSpPr>
                <a:spLocks/>
              </p:cNvSpPr>
              <p:nvPr/>
            </p:nvSpPr>
            <p:spPr bwMode="auto">
              <a:xfrm>
                <a:off x="250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1" name="Freeform 25"/>
              <p:cNvSpPr>
                <a:spLocks/>
              </p:cNvSpPr>
              <p:nvPr/>
            </p:nvSpPr>
            <p:spPr bwMode="auto">
              <a:xfrm>
                <a:off x="259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2" name="Freeform 26"/>
              <p:cNvSpPr>
                <a:spLocks/>
              </p:cNvSpPr>
              <p:nvPr/>
            </p:nvSpPr>
            <p:spPr bwMode="auto">
              <a:xfrm>
                <a:off x="269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3" name="Freeform 27"/>
              <p:cNvSpPr>
                <a:spLocks/>
              </p:cNvSpPr>
              <p:nvPr/>
            </p:nvSpPr>
            <p:spPr bwMode="auto">
              <a:xfrm>
                <a:off x="278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4" name="Freeform 28"/>
              <p:cNvSpPr>
                <a:spLocks/>
              </p:cNvSpPr>
              <p:nvPr/>
            </p:nvSpPr>
            <p:spPr bwMode="auto">
              <a:xfrm>
                <a:off x="288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5" name="Freeform 29"/>
              <p:cNvSpPr>
                <a:spLocks/>
              </p:cNvSpPr>
              <p:nvPr/>
            </p:nvSpPr>
            <p:spPr bwMode="auto">
              <a:xfrm>
                <a:off x="298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6" name="Freeform 30"/>
              <p:cNvSpPr>
                <a:spLocks/>
              </p:cNvSpPr>
              <p:nvPr/>
            </p:nvSpPr>
            <p:spPr bwMode="auto">
              <a:xfrm>
                <a:off x="307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7" name="Freeform 31"/>
              <p:cNvSpPr>
                <a:spLocks/>
              </p:cNvSpPr>
              <p:nvPr/>
            </p:nvSpPr>
            <p:spPr bwMode="auto">
              <a:xfrm>
                <a:off x="317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8" name="Freeform 32"/>
              <p:cNvSpPr>
                <a:spLocks/>
              </p:cNvSpPr>
              <p:nvPr/>
            </p:nvSpPr>
            <p:spPr bwMode="auto">
              <a:xfrm>
                <a:off x="326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9" name="Freeform 33"/>
              <p:cNvSpPr>
                <a:spLocks/>
              </p:cNvSpPr>
              <p:nvPr/>
            </p:nvSpPr>
            <p:spPr bwMode="auto">
              <a:xfrm>
                <a:off x="336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0" name="Freeform 34"/>
              <p:cNvSpPr>
                <a:spLocks/>
              </p:cNvSpPr>
              <p:nvPr/>
            </p:nvSpPr>
            <p:spPr bwMode="auto">
              <a:xfrm>
                <a:off x="346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1" name="Freeform 35"/>
              <p:cNvSpPr>
                <a:spLocks/>
              </p:cNvSpPr>
              <p:nvPr/>
            </p:nvSpPr>
            <p:spPr bwMode="auto">
              <a:xfrm>
                <a:off x="355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2" name="Freeform 36"/>
              <p:cNvSpPr>
                <a:spLocks/>
              </p:cNvSpPr>
              <p:nvPr/>
            </p:nvSpPr>
            <p:spPr bwMode="auto">
              <a:xfrm>
                <a:off x="365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3" name="Freeform 37"/>
              <p:cNvSpPr>
                <a:spLocks/>
              </p:cNvSpPr>
              <p:nvPr/>
            </p:nvSpPr>
            <p:spPr bwMode="auto">
              <a:xfrm>
                <a:off x="374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894" name="Text Box 38"/>
            <p:cNvSpPr txBox="1">
              <a:spLocks noChangeArrowheads="1"/>
            </p:cNvSpPr>
            <p:nvPr/>
          </p:nvSpPr>
          <p:spPr bwMode="auto">
            <a:xfrm>
              <a:off x="3408" y="3600"/>
              <a:ext cx="150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Aberrated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grpSp>
        <p:nvGrpSpPr>
          <p:cNvPr id="505895" name="Group 39"/>
          <p:cNvGrpSpPr>
            <a:grpSpLocks/>
          </p:cNvGrpSpPr>
          <p:nvPr/>
        </p:nvGrpSpPr>
        <p:grpSpPr bwMode="auto">
          <a:xfrm>
            <a:off x="4038600" y="2209800"/>
            <a:ext cx="3489325" cy="4175125"/>
            <a:chOff x="2544" y="1392"/>
            <a:chExt cx="2198" cy="2630"/>
          </a:xfrm>
        </p:grpSpPr>
        <p:grpSp>
          <p:nvGrpSpPr>
            <p:cNvPr id="505896" name="Group 40"/>
            <p:cNvGrpSpPr>
              <a:grpSpLocks/>
            </p:cNvGrpSpPr>
            <p:nvPr/>
          </p:nvGrpSpPr>
          <p:grpSpPr bwMode="auto">
            <a:xfrm>
              <a:off x="2544" y="1392"/>
              <a:ext cx="1248" cy="1872"/>
              <a:chOff x="2544" y="1392"/>
              <a:chExt cx="1248" cy="1872"/>
            </a:xfrm>
          </p:grpSpPr>
          <p:sp>
            <p:nvSpPr>
              <p:cNvPr id="505897" name="Line 41"/>
              <p:cNvSpPr>
                <a:spLocks noChangeShapeType="1"/>
              </p:cNvSpPr>
              <p:nvPr/>
            </p:nvSpPr>
            <p:spPr bwMode="auto">
              <a:xfrm>
                <a:off x="254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8" name="Line 42"/>
              <p:cNvSpPr>
                <a:spLocks noChangeShapeType="1"/>
              </p:cNvSpPr>
              <p:nvPr/>
            </p:nvSpPr>
            <p:spPr bwMode="auto">
              <a:xfrm>
                <a:off x="264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9" name="Line 43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0" name="Line 44"/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1" name="Line 45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2" name="Line 46"/>
              <p:cNvSpPr>
                <a:spLocks noChangeShapeType="1"/>
              </p:cNvSpPr>
              <p:nvPr/>
            </p:nvSpPr>
            <p:spPr bwMode="auto">
              <a:xfrm>
                <a:off x="302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3" name="Line 47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4" name="Line 48"/>
              <p:cNvSpPr>
                <a:spLocks noChangeShapeType="1"/>
              </p:cNvSpPr>
              <p:nvPr/>
            </p:nvSpPr>
            <p:spPr bwMode="auto">
              <a:xfrm>
                <a:off x="321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5" name="Line 49"/>
              <p:cNvSpPr>
                <a:spLocks noChangeShapeType="1"/>
              </p:cNvSpPr>
              <p:nvPr/>
            </p:nvSpPr>
            <p:spPr bwMode="auto">
              <a:xfrm>
                <a:off x="331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6" name="Line 50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7" name="Line 51"/>
              <p:cNvSpPr>
                <a:spLocks noChangeShapeType="1"/>
              </p:cNvSpPr>
              <p:nvPr/>
            </p:nvSpPr>
            <p:spPr bwMode="auto">
              <a:xfrm>
                <a:off x="350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8" name="Line 52"/>
              <p:cNvSpPr>
                <a:spLocks noChangeShapeType="1"/>
              </p:cNvSpPr>
              <p:nvPr/>
            </p:nvSpPr>
            <p:spPr bwMode="auto">
              <a:xfrm>
                <a:off x="360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9" name="Line 53"/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10" name="Line 54"/>
              <p:cNvSpPr>
                <a:spLocks noChangeShapeType="1"/>
              </p:cNvSpPr>
              <p:nvPr/>
            </p:nvSpPr>
            <p:spPr bwMode="auto">
              <a:xfrm>
                <a:off x="379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911" name="Text Box 55"/>
            <p:cNvSpPr txBox="1">
              <a:spLocks noChangeArrowheads="1"/>
            </p:cNvSpPr>
            <p:nvPr/>
          </p:nvSpPr>
          <p:spPr bwMode="auto">
            <a:xfrm>
              <a:off x="3573" y="3600"/>
              <a:ext cx="1169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Ideal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sp>
        <p:nvSpPr>
          <p:cNvPr id="505912" name="Freeform 56"/>
          <p:cNvSpPr>
            <a:spLocks/>
          </p:cNvSpPr>
          <p:nvPr/>
        </p:nvSpPr>
        <p:spPr bwMode="auto">
          <a:xfrm flipH="1">
            <a:off x="3817938" y="2133600"/>
            <a:ext cx="573087" cy="31242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3" name="Freeform 57"/>
          <p:cNvSpPr>
            <a:spLocks/>
          </p:cNvSpPr>
          <p:nvPr/>
        </p:nvSpPr>
        <p:spPr bwMode="auto">
          <a:xfrm>
            <a:off x="3810000" y="52578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4" name="Freeform 58"/>
          <p:cNvSpPr>
            <a:spLocks/>
          </p:cNvSpPr>
          <p:nvPr/>
        </p:nvSpPr>
        <p:spPr bwMode="auto">
          <a:xfrm flipV="1">
            <a:off x="3810000" y="16764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Zernike wavefronts.gif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7963" y="427038"/>
            <a:ext cx="9609138" cy="6242050"/>
          </a:xfrm>
          <a:prstGeom prst="rect">
            <a:avLst/>
          </a:prstGeom>
          <a:noFill/>
        </p:spPr>
      </p:pic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4" name="Rectangle 4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Rectangle 4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Rectangle 49"/>
          <p:cNvSpPr>
            <a:spLocks noChangeArrowheads="1"/>
          </p:cNvSpPr>
          <p:nvPr/>
        </p:nvSpPr>
        <p:spPr bwMode="auto">
          <a:xfrm>
            <a:off x="3200400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8" name="Rectangle 50"/>
          <p:cNvSpPr>
            <a:spLocks noChangeArrowheads="1"/>
          </p:cNvSpPr>
          <p:nvPr/>
        </p:nvSpPr>
        <p:spPr bwMode="auto">
          <a:xfrm>
            <a:off x="41068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9" name="Rectangle 5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0" name="Rectangle 5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Rectangle 56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Rectangle 57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Rectangle 58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3" name="Rectangle 45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133600" y="109538"/>
            <a:ext cx="39274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90" name="Freeform 22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Freeform 23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Freeform 24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Freeform 25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9" name="Freeform 31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Freeform 35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Freeform 36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5" name="Freeform 37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6" name="Freeform 38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0" name="Freeform 42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Freeform 43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2" name="Freeform 44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Zernike PSFs.gif      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6375" y="423863"/>
            <a:ext cx="9610725" cy="6254750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208338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122738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Text Box 20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9" name="Freeform 29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30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31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32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33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34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35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Freeform 36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Freeform 37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Freeform 38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9" name="Freeform 39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Freeform 40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1" name="Freeform 41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Freeform 42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592388" y="109538"/>
            <a:ext cx="280193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PSF Aberrations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pic>
        <p:nvPicPr>
          <p:cNvPr id="396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209800"/>
            <a:ext cx="759618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/>
          <p:cNvSpPr txBox="1">
            <a:spLocks noChangeArrowheads="1"/>
          </p:cNvSpPr>
          <p:nvPr/>
        </p:nvSpPr>
        <p:spPr bwMode="auto">
          <a:xfrm>
            <a:off x="2798763" y="109538"/>
            <a:ext cx="35480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Spherical Aberration</a:t>
            </a:r>
          </a:p>
        </p:txBody>
      </p:sp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2927350" y="923925"/>
            <a:ext cx="3292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Point spread functions</a:t>
            </a:r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 rot="-5400000">
            <a:off x="188912" y="3822701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373063" y="3594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z</a:t>
            </a:r>
          </a:p>
        </p:txBody>
      </p:sp>
      <p:sp>
        <p:nvSpPr>
          <p:cNvPr id="516102" name="Line 6"/>
          <p:cNvSpPr>
            <a:spLocks noChangeShapeType="1"/>
          </p:cNvSpPr>
          <p:nvPr/>
        </p:nvSpPr>
        <p:spPr bwMode="auto">
          <a:xfrm>
            <a:off x="2108200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3" name="Text Box 7"/>
          <p:cNvSpPr txBox="1">
            <a:spLocks noChangeArrowheads="1"/>
          </p:cNvSpPr>
          <p:nvPr/>
        </p:nvSpPr>
        <p:spPr bwMode="auto">
          <a:xfrm>
            <a:off x="2490788" y="556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pic>
        <p:nvPicPr>
          <p:cNvPr id="516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725" y="1995488"/>
            <a:ext cx="3657600" cy="3657600"/>
          </a:xfrm>
          <a:prstGeom prst="rect">
            <a:avLst/>
          </a:prstGeom>
          <a:noFill/>
        </p:spPr>
      </p:pic>
      <p:pic>
        <p:nvPicPr>
          <p:cNvPr id="516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263" y="1993900"/>
            <a:ext cx="3657600" cy="3657600"/>
          </a:xfrm>
          <a:prstGeom prst="rect">
            <a:avLst/>
          </a:prstGeom>
          <a:noFill/>
        </p:spPr>
      </p:pic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5808663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7" name="Text Box 11"/>
          <p:cNvSpPr txBox="1">
            <a:spLocks noChangeArrowheads="1"/>
          </p:cNvSpPr>
          <p:nvPr/>
        </p:nvSpPr>
        <p:spPr bwMode="auto">
          <a:xfrm>
            <a:off x="6191250" y="55895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sp>
        <p:nvSpPr>
          <p:cNvPr id="516108" name="Text Box 12"/>
          <p:cNvSpPr txBox="1">
            <a:spLocks noChangeArrowheads="1"/>
          </p:cNvSpPr>
          <p:nvPr/>
        </p:nvSpPr>
        <p:spPr bwMode="auto">
          <a:xfrm>
            <a:off x="2233613" y="1566863"/>
            <a:ext cx="892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Ideal</a:t>
            </a:r>
          </a:p>
        </p:txBody>
      </p:sp>
      <p:sp>
        <p:nvSpPr>
          <p:cNvPr id="516109" name="Text Box 13"/>
          <p:cNvSpPr txBox="1">
            <a:spLocks noChangeArrowheads="1"/>
          </p:cNvSpPr>
          <p:nvPr/>
        </p:nvSpPr>
        <p:spPr bwMode="auto">
          <a:xfrm>
            <a:off x="4643438" y="1531938"/>
            <a:ext cx="3336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1 wave of spherical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/>
              <a:t>Causes of spherical aberration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r>
              <a:rPr lang="en-US" sz="2400" dirty="0">
                <a:latin typeface="Chalkboard"/>
              </a:rPr>
              <a:t>Modern objectives are complicated!</a:t>
            </a:r>
          </a:p>
          <a:p>
            <a:r>
              <a:rPr lang="en-US" sz="2400" dirty="0">
                <a:latin typeface="Chalkboard"/>
              </a:rPr>
              <a:t>The optical design requires specifying the optical path length between the sample and the back focal plane of the lens</a:t>
            </a:r>
          </a:p>
          <a:p>
            <a:r>
              <a:rPr lang="en-US" sz="2400" dirty="0">
                <a:latin typeface="Chalkboard"/>
              </a:rPr>
              <a:t>OPL = l</a:t>
            </a:r>
            <a:r>
              <a:rPr lang="en-US" sz="2400" baseline="-25000" dirty="0">
                <a:latin typeface="Chalkboard"/>
              </a:rPr>
              <a:t>1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1 </a:t>
            </a:r>
            <a:r>
              <a:rPr lang="en-US" sz="2400" dirty="0">
                <a:latin typeface="Chalkboard"/>
              </a:rPr>
              <a:t>+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>
                <a:latin typeface="Chalkboard"/>
              </a:rPr>
              <a:t>l</a:t>
            </a:r>
            <a:r>
              <a:rPr lang="en-US" sz="2400" baseline="-25000" dirty="0">
                <a:latin typeface="Chalkboard"/>
              </a:rPr>
              <a:t>2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2 </a:t>
            </a:r>
            <a:r>
              <a:rPr lang="en-US" sz="2400" dirty="0">
                <a:latin typeface="Chalkboard"/>
              </a:rPr>
              <a:t>+ … + 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 err="1">
                <a:latin typeface="Chalkboard"/>
              </a:rPr>
              <a:t>l</a:t>
            </a:r>
            <a:r>
              <a:rPr lang="en-US" sz="2400" baseline="-25000" dirty="0" err="1">
                <a:latin typeface="Chalkboard"/>
              </a:rPr>
              <a:t>n</a:t>
            </a:r>
            <a:r>
              <a:rPr lang="en-US" sz="2400" dirty="0" err="1">
                <a:latin typeface="Chalkboard"/>
              </a:rPr>
              <a:t>n</a:t>
            </a:r>
            <a:r>
              <a:rPr lang="en-US" sz="2400" baseline="-25000" dirty="0" err="1">
                <a:latin typeface="Chalkboard"/>
              </a:rPr>
              <a:t>n</a:t>
            </a:r>
            <a:endParaRPr lang="en-US" sz="2400" baseline="-25000" dirty="0">
              <a:latin typeface="Chalkboard"/>
            </a:endParaRPr>
          </a:p>
          <a:p>
            <a:endParaRPr lang="en-US" sz="2400" baseline="-25000" dirty="0">
              <a:latin typeface="Chalkboard"/>
            </a:endParaRPr>
          </a:p>
        </p:txBody>
      </p:sp>
      <p:pic>
        <p:nvPicPr>
          <p:cNvPr id="414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6883400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995363" y="1362075"/>
            <a:ext cx="4989512" cy="406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Design compromises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Manufacturing tolerances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Immersion fluid index error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Temperature variation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Cover slip thickness</a:t>
            </a:r>
          </a:p>
          <a:p>
            <a:pPr lvl="1" eaLnBrk="0" hangingPunct="0">
              <a:lnSpc>
                <a:spcPct val="125000"/>
              </a:lnSpc>
            </a:pPr>
            <a:r>
              <a:rPr lang="en-US" altLang="en-US" sz="1800" b="0">
                <a:solidFill>
                  <a:schemeClr val="tx2"/>
                </a:solidFill>
                <a:latin typeface="Chalkboard" charset="0"/>
              </a:rPr>
              <a:t>(high-NA objectives except oil immersion)</a:t>
            </a: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Correction collar setting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i="1">
                <a:solidFill>
                  <a:schemeClr val="tx2"/>
                </a:solidFill>
                <a:latin typeface="Chalkboard" charset="0"/>
              </a:rPr>
              <a:t>Sample refractive index mismatch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79600" y="109538"/>
            <a:ext cx="5411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Spherical Aberration</a:t>
            </a:r>
          </a:p>
        </p:txBody>
      </p:sp>
      <p:grpSp>
        <p:nvGrpSpPr>
          <p:cNvPr id="520196" name="Group 4"/>
          <p:cNvGrpSpPr>
            <a:grpSpLocks/>
          </p:cNvGrpSpPr>
          <p:nvPr/>
        </p:nvGrpSpPr>
        <p:grpSpPr bwMode="auto">
          <a:xfrm>
            <a:off x="6321425" y="2338388"/>
            <a:ext cx="2451100" cy="3009900"/>
            <a:chOff x="4095" y="1166"/>
            <a:chExt cx="1544" cy="1896"/>
          </a:xfrm>
        </p:grpSpPr>
        <p:pic>
          <p:nvPicPr>
            <p:cNvPr id="52019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51840"/>
            <a:stretch>
              <a:fillRect/>
            </a:stretch>
          </p:blipFill>
          <p:spPr bwMode="auto">
            <a:xfrm>
              <a:off x="4194" y="1207"/>
              <a:ext cx="1445" cy="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4095" y="2859"/>
              <a:ext cx="235" cy="20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4272" y="1166"/>
              <a:ext cx="656" cy="2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Freeform 2"/>
          <p:cNvSpPr>
            <a:spLocks/>
          </p:cNvSpPr>
          <p:nvPr/>
        </p:nvSpPr>
        <p:spPr bwMode="auto">
          <a:xfrm>
            <a:off x="482600" y="3421063"/>
            <a:ext cx="2870200" cy="617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3" name="Freeform 3"/>
          <p:cNvSpPr>
            <a:spLocks/>
          </p:cNvSpPr>
          <p:nvPr/>
        </p:nvSpPr>
        <p:spPr bwMode="auto">
          <a:xfrm>
            <a:off x="152400" y="2481263"/>
            <a:ext cx="3675063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44" name="Freeform 4"/>
          <p:cNvSpPr>
            <a:spLocks/>
          </p:cNvSpPr>
          <p:nvPr/>
        </p:nvSpPr>
        <p:spPr bwMode="auto">
          <a:xfrm>
            <a:off x="160338" y="42418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5" name="Rectangle 5"/>
          <p:cNvSpPr>
            <a:spLocks noChangeArrowheads="1"/>
          </p:cNvSpPr>
          <p:nvPr/>
        </p:nvSpPr>
        <p:spPr bwMode="auto">
          <a:xfrm>
            <a:off x="1524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46" name="Group 6"/>
          <p:cNvGrpSpPr>
            <a:grpSpLocks/>
          </p:cNvGrpSpPr>
          <p:nvPr/>
        </p:nvGrpSpPr>
        <p:grpSpPr bwMode="auto">
          <a:xfrm>
            <a:off x="685800" y="1600200"/>
            <a:ext cx="1219200" cy="2743200"/>
            <a:chOff x="672" y="1008"/>
            <a:chExt cx="768" cy="1728"/>
          </a:xfrm>
        </p:grpSpPr>
        <p:sp>
          <p:nvSpPr>
            <p:cNvPr id="522247" name="Freeform 7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8" name="Freeform 8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9" name="Freeform 9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0" name="Freeform 10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1" name="Line 11"/>
          <p:cNvSpPr>
            <a:spLocks noChangeShapeType="1"/>
          </p:cNvSpPr>
          <p:nvPr/>
        </p:nvSpPr>
        <p:spPr bwMode="auto">
          <a:xfrm flipV="1">
            <a:off x="1905000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52" name="Group 12"/>
          <p:cNvGrpSpPr>
            <a:grpSpLocks/>
          </p:cNvGrpSpPr>
          <p:nvPr/>
        </p:nvGrpSpPr>
        <p:grpSpPr bwMode="auto">
          <a:xfrm flipH="1">
            <a:off x="1905000" y="1600200"/>
            <a:ext cx="1219200" cy="2743200"/>
            <a:chOff x="672" y="1008"/>
            <a:chExt cx="768" cy="1728"/>
          </a:xfrm>
        </p:grpSpPr>
        <p:sp>
          <p:nvSpPr>
            <p:cNvPr id="522253" name="Freeform 13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4" name="Freeform 14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5" name="Freeform 15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6" name="Freeform 16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7" name="Text Box 17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2258" name="Freeform 18"/>
          <p:cNvSpPr>
            <a:spLocks/>
          </p:cNvSpPr>
          <p:nvPr/>
        </p:nvSpPr>
        <p:spPr bwMode="auto">
          <a:xfrm>
            <a:off x="5308600" y="34210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59" name="Freeform 19"/>
          <p:cNvSpPr>
            <a:spLocks/>
          </p:cNvSpPr>
          <p:nvPr/>
        </p:nvSpPr>
        <p:spPr bwMode="auto">
          <a:xfrm>
            <a:off x="5291138" y="24812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60" name="Freeform 20"/>
          <p:cNvSpPr>
            <a:spLocks/>
          </p:cNvSpPr>
          <p:nvPr/>
        </p:nvSpPr>
        <p:spPr bwMode="auto">
          <a:xfrm>
            <a:off x="5291138" y="38862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1" name="Rectangle 21"/>
          <p:cNvSpPr>
            <a:spLocks noChangeArrowheads="1"/>
          </p:cNvSpPr>
          <p:nvPr/>
        </p:nvSpPr>
        <p:spPr bwMode="auto">
          <a:xfrm>
            <a:off x="5291138" y="37338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2" name="Freeform 22"/>
          <p:cNvSpPr>
            <a:spLocks/>
          </p:cNvSpPr>
          <p:nvPr/>
        </p:nvSpPr>
        <p:spPr bwMode="auto">
          <a:xfrm>
            <a:off x="5824538" y="16002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3" name="Freeform 23"/>
          <p:cNvSpPr>
            <a:spLocks/>
          </p:cNvSpPr>
          <p:nvPr/>
        </p:nvSpPr>
        <p:spPr bwMode="auto">
          <a:xfrm>
            <a:off x="6738938" y="16002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4" name="Freeform 24"/>
          <p:cNvSpPr>
            <a:spLocks/>
          </p:cNvSpPr>
          <p:nvPr/>
        </p:nvSpPr>
        <p:spPr bwMode="auto">
          <a:xfrm>
            <a:off x="6434138" y="1600200"/>
            <a:ext cx="693737" cy="2725738"/>
          </a:xfrm>
          <a:custGeom>
            <a:avLst/>
            <a:gdLst/>
            <a:ahLst/>
            <a:cxnLst>
              <a:cxn ang="0">
                <a:pos x="437" y="1717"/>
              </a:cxn>
              <a:cxn ang="0">
                <a:pos x="271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437" h="1717">
                <a:moveTo>
                  <a:pt x="437" y="1717"/>
                </a:moveTo>
                <a:lnTo>
                  <a:pt x="271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5" name="Freeform 25"/>
          <p:cNvSpPr>
            <a:spLocks/>
          </p:cNvSpPr>
          <p:nvPr/>
        </p:nvSpPr>
        <p:spPr bwMode="auto">
          <a:xfrm>
            <a:off x="6129338" y="1600200"/>
            <a:ext cx="1125537" cy="2725738"/>
          </a:xfrm>
          <a:custGeom>
            <a:avLst/>
            <a:gdLst/>
            <a:ahLst/>
            <a:cxnLst>
              <a:cxn ang="0">
                <a:pos x="709" y="1717"/>
              </a:cxn>
              <a:cxn ang="0">
                <a:pos x="408" y="1532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709" h="1717">
                <a:moveTo>
                  <a:pt x="709" y="1717"/>
                </a:moveTo>
                <a:lnTo>
                  <a:pt x="408" y="1532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 flipV="1">
            <a:off x="7043738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7" name="Freeform 27"/>
          <p:cNvSpPr>
            <a:spLocks/>
          </p:cNvSpPr>
          <p:nvPr/>
        </p:nvSpPr>
        <p:spPr bwMode="auto">
          <a:xfrm>
            <a:off x="6670675" y="16002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8" name="Freeform 28"/>
          <p:cNvSpPr>
            <a:spLocks/>
          </p:cNvSpPr>
          <p:nvPr/>
        </p:nvSpPr>
        <p:spPr bwMode="auto">
          <a:xfrm>
            <a:off x="7018338" y="16002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9" name="Freeform 29"/>
          <p:cNvSpPr>
            <a:spLocks/>
          </p:cNvSpPr>
          <p:nvPr/>
        </p:nvSpPr>
        <p:spPr bwMode="auto">
          <a:xfrm>
            <a:off x="6950075" y="1600200"/>
            <a:ext cx="703263" cy="2735263"/>
          </a:xfrm>
          <a:custGeom>
            <a:avLst/>
            <a:gdLst/>
            <a:ahLst/>
            <a:cxnLst>
              <a:cxn ang="0">
                <a:pos x="0" y="1723"/>
              </a:cxn>
              <a:cxn ang="0">
                <a:pos x="171" y="1531"/>
              </a:cxn>
              <a:cxn ang="0">
                <a:pos x="443" y="1056"/>
              </a:cxn>
              <a:cxn ang="0">
                <a:pos x="443" y="0"/>
              </a:cxn>
            </a:cxnLst>
            <a:rect l="0" t="0" r="r" b="b"/>
            <a:pathLst>
              <a:path w="443" h="1723">
                <a:moveTo>
                  <a:pt x="0" y="1723"/>
                </a:moveTo>
                <a:lnTo>
                  <a:pt x="171" y="1531"/>
                </a:lnTo>
                <a:lnTo>
                  <a:pt x="443" y="1056"/>
                </a:lnTo>
                <a:lnTo>
                  <a:pt x="44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0" name="Freeform 30"/>
          <p:cNvSpPr>
            <a:spLocks/>
          </p:cNvSpPr>
          <p:nvPr/>
        </p:nvSpPr>
        <p:spPr bwMode="auto">
          <a:xfrm>
            <a:off x="6865938" y="1600200"/>
            <a:ext cx="1092200" cy="2692400"/>
          </a:xfrm>
          <a:custGeom>
            <a:avLst/>
            <a:gdLst/>
            <a:ahLst/>
            <a:cxnLst>
              <a:cxn ang="0">
                <a:pos x="0" y="1696"/>
              </a:cxn>
              <a:cxn ang="0">
                <a:pos x="276" y="1535"/>
              </a:cxn>
              <a:cxn ang="0">
                <a:pos x="688" y="1056"/>
              </a:cxn>
              <a:cxn ang="0">
                <a:pos x="688" y="0"/>
              </a:cxn>
            </a:cxnLst>
            <a:rect l="0" t="0" r="r" b="b"/>
            <a:pathLst>
              <a:path w="688" h="1696">
                <a:moveTo>
                  <a:pt x="0" y="1696"/>
                </a:moveTo>
                <a:lnTo>
                  <a:pt x="276" y="1535"/>
                </a:lnTo>
                <a:lnTo>
                  <a:pt x="688" y="1056"/>
                </a:lnTo>
                <a:lnTo>
                  <a:pt x="68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1" name="Text Box 31"/>
          <p:cNvSpPr txBox="1">
            <a:spLocks noChangeArrowheads="1"/>
          </p:cNvSpPr>
          <p:nvPr/>
        </p:nvSpPr>
        <p:spPr bwMode="auto">
          <a:xfrm>
            <a:off x="3886200" y="2911475"/>
            <a:ext cx="10287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522272" name="Text Box 32"/>
          <p:cNvSpPr txBox="1">
            <a:spLocks noChangeArrowheads="1"/>
          </p:cNvSpPr>
          <p:nvPr/>
        </p:nvSpPr>
        <p:spPr bwMode="auto">
          <a:xfrm>
            <a:off x="3868738" y="3430588"/>
            <a:ext cx="11080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Immersion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fluid</a:t>
            </a:r>
          </a:p>
        </p:txBody>
      </p:sp>
      <p:sp>
        <p:nvSpPr>
          <p:cNvPr id="522273" name="Text Box 33"/>
          <p:cNvSpPr txBox="1">
            <a:spLocks noChangeArrowheads="1"/>
          </p:cNvSpPr>
          <p:nvPr/>
        </p:nvSpPr>
        <p:spPr bwMode="auto">
          <a:xfrm>
            <a:off x="592138" y="3549650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74" name="Text Box 34"/>
          <p:cNvSpPr txBox="1">
            <a:spLocks noChangeArrowheads="1"/>
          </p:cNvSpPr>
          <p:nvPr/>
        </p:nvSpPr>
        <p:spPr bwMode="auto">
          <a:xfrm>
            <a:off x="3990975" y="3962400"/>
            <a:ext cx="12271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Cover glass</a:t>
            </a:r>
          </a:p>
        </p:txBody>
      </p:sp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3200400" y="3657600"/>
            <a:ext cx="6858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6" name="Line 36"/>
          <p:cNvSpPr>
            <a:spLocks noChangeShapeType="1"/>
          </p:cNvSpPr>
          <p:nvPr/>
        </p:nvSpPr>
        <p:spPr bwMode="auto">
          <a:xfrm flipH="1" flipV="1">
            <a:off x="4953000" y="3581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7" name="Line 37"/>
          <p:cNvSpPr>
            <a:spLocks noChangeShapeType="1"/>
          </p:cNvSpPr>
          <p:nvPr/>
        </p:nvSpPr>
        <p:spPr bwMode="auto">
          <a:xfrm flipV="1">
            <a:off x="34544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8" name="Line 38"/>
          <p:cNvSpPr>
            <a:spLocks noChangeShapeType="1"/>
          </p:cNvSpPr>
          <p:nvPr/>
        </p:nvSpPr>
        <p:spPr bwMode="auto">
          <a:xfrm flipH="1" flipV="1">
            <a:off x="50292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9" name="Line 39"/>
          <p:cNvSpPr>
            <a:spLocks noChangeShapeType="1"/>
          </p:cNvSpPr>
          <p:nvPr/>
        </p:nvSpPr>
        <p:spPr bwMode="auto">
          <a:xfrm flipH="1">
            <a:off x="5105400" y="3886200"/>
            <a:ext cx="2286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0" name="Line 40"/>
          <p:cNvSpPr>
            <a:spLocks noChangeShapeType="1"/>
          </p:cNvSpPr>
          <p:nvPr/>
        </p:nvSpPr>
        <p:spPr bwMode="auto">
          <a:xfrm flipH="1">
            <a:off x="3810000" y="4191000"/>
            <a:ext cx="228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1" name="Line 41"/>
          <p:cNvSpPr>
            <a:spLocks noChangeShapeType="1"/>
          </p:cNvSpPr>
          <p:nvPr/>
        </p:nvSpPr>
        <p:spPr bwMode="auto">
          <a:xfrm flipV="1">
            <a:off x="3581400" y="48006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2" name="Line 42"/>
          <p:cNvSpPr>
            <a:spLocks noChangeShapeType="1"/>
          </p:cNvSpPr>
          <p:nvPr/>
        </p:nvSpPr>
        <p:spPr bwMode="auto">
          <a:xfrm flipV="1">
            <a:off x="4953000" y="47244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3" name="Text Box 43"/>
          <p:cNvSpPr txBox="1">
            <a:spLocks noChangeArrowheads="1"/>
          </p:cNvSpPr>
          <p:nvPr/>
        </p:nvSpPr>
        <p:spPr bwMode="auto">
          <a:xfrm>
            <a:off x="593725" y="4572000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84" name="Text Box 44"/>
          <p:cNvSpPr txBox="1">
            <a:spLocks noChangeArrowheads="1"/>
          </p:cNvSpPr>
          <p:nvPr/>
        </p:nvSpPr>
        <p:spPr bwMode="auto">
          <a:xfrm>
            <a:off x="4159250" y="4611688"/>
            <a:ext cx="836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Sample</a:t>
            </a:r>
          </a:p>
        </p:txBody>
      </p:sp>
      <p:grpSp>
        <p:nvGrpSpPr>
          <p:cNvPr id="522285" name="Group 45"/>
          <p:cNvGrpSpPr>
            <a:grpSpLocks/>
          </p:cNvGrpSpPr>
          <p:nvPr/>
        </p:nvGrpSpPr>
        <p:grpSpPr bwMode="auto">
          <a:xfrm>
            <a:off x="6515100" y="3733800"/>
            <a:ext cx="2400300" cy="2687638"/>
            <a:chOff x="4104" y="2352"/>
            <a:chExt cx="1512" cy="1693"/>
          </a:xfrm>
        </p:grpSpPr>
        <p:sp>
          <p:nvSpPr>
            <p:cNvPr id="522286" name="Oval 46"/>
            <p:cNvSpPr>
              <a:spLocks noChangeArrowheads="1"/>
            </p:cNvSpPr>
            <p:nvPr/>
          </p:nvSpPr>
          <p:spPr bwMode="auto">
            <a:xfrm>
              <a:off x="4176" y="235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7" name="AutoShape 47"/>
            <p:cNvSpPr>
              <a:spLocks noChangeArrowheads="1"/>
            </p:cNvSpPr>
            <p:nvPr/>
          </p:nvSpPr>
          <p:spPr bwMode="auto">
            <a:xfrm>
              <a:off x="4104" y="3577"/>
              <a:ext cx="1512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Spherical aberration</a:t>
              </a:r>
            </a:p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unless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2</a:t>
              </a: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 =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1</a:t>
              </a:r>
              <a:endParaRPr lang="en-US" altLang="en-US" sz="1800" b="0">
                <a:solidFill>
                  <a:srgbClr val="FF0000"/>
                </a:solidFill>
                <a:latin typeface="Chalkboard" charset="0"/>
              </a:endParaRPr>
            </a:p>
          </p:txBody>
        </p:sp>
        <p:sp>
          <p:nvSpPr>
            <p:cNvPr id="522288" name="Line 48"/>
            <p:cNvSpPr>
              <a:spLocks noChangeShapeType="1"/>
            </p:cNvSpPr>
            <p:nvPr/>
          </p:nvSpPr>
          <p:spPr bwMode="auto">
            <a:xfrm>
              <a:off x="4560" y="2905"/>
              <a:ext cx="14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89" name="Text Box 49"/>
          <p:cNvSpPr txBox="1">
            <a:spLocks noChangeArrowheads="1"/>
          </p:cNvSpPr>
          <p:nvPr/>
        </p:nvSpPr>
        <p:spPr bwMode="auto">
          <a:xfrm>
            <a:off x="4819650" y="5405438"/>
            <a:ext cx="1368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into sample</a:t>
            </a:r>
          </a:p>
        </p:txBody>
      </p:sp>
      <p:sp>
        <p:nvSpPr>
          <p:cNvPr id="522290" name="Text Box 50"/>
          <p:cNvSpPr txBox="1">
            <a:spLocks noChangeArrowheads="1"/>
          </p:cNvSpPr>
          <p:nvPr/>
        </p:nvSpPr>
        <p:spPr bwMode="auto">
          <a:xfrm>
            <a:off x="941388" y="5378450"/>
            <a:ext cx="21494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800" b="0">
                <a:latin typeface="Chalkboard" charset="0"/>
              </a:rPr>
              <a:t>Focus at cover slip</a:t>
            </a:r>
          </a:p>
        </p:txBody>
      </p:sp>
      <p:sp>
        <p:nvSpPr>
          <p:cNvPr id="522291" name="Line 51"/>
          <p:cNvSpPr>
            <a:spLocks noChangeShapeType="1"/>
          </p:cNvSpPr>
          <p:nvPr/>
        </p:nvSpPr>
        <p:spPr bwMode="auto">
          <a:xfrm flipV="1">
            <a:off x="5486400" y="4997450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92" name="Line 52"/>
          <p:cNvSpPr>
            <a:spLocks noChangeShapeType="1"/>
          </p:cNvSpPr>
          <p:nvPr/>
        </p:nvSpPr>
        <p:spPr bwMode="auto">
          <a:xfrm>
            <a:off x="3810000" y="53419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Freeform 2"/>
          <p:cNvSpPr>
            <a:spLocks/>
          </p:cNvSpPr>
          <p:nvPr/>
        </p:nvSpPr>
        <p:spPr bwMode="auto">
          <a:xfrm>
            <a:off x="415925" y="2371725"/>
            <a:ext cx="3335338" cy="617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1" name="Freeform 3"/>
          <p:cNvSpPr>
            <a:spLocks/>
          </p:cNvSpPr>
          <p:nvPr/>
        </p:nvSpPr>
        <p:spPr bwMode="auto">
          <a:xfrm>
            <a:off x="271463" y="1431925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4292" name="Freeform 4"/>
          <p:cNvSpPr>
            <a:spLocks/>
          </p:cNvSpPr>
          <p:nvPr/>
        </p:nvSpPr>
        <p:spPr bwMode="auto">
          <a:xfrm>
            <a:off x="279400" y="3089275"/>
            <a:ext cx="3852863" cy="2244725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71463" y="2989263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06425" y="2474913"/>
            <a:ext cx="15779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=1.515 (oil)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31788" y="4157663"/>
            <a:ext cx="16684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=1.44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(Vectashield)</a:t>
            </a:r>
          </a:p>
        </p:txBody>
      </p:sp>
      <p:sp>
        <p:nvSpPr>
          <p:cNvPr id="524297" name="Oval 9"/>
          <p:cNvSpPr>
            <a:spLocks noChangeArrowheads="1"/>
          </p:cNvSpPr>
          <p:nvPr/>
        </p:nvSpPr>
        <p:spPr bwMode="auto">
          <a:xfrm>
            <a:off x="2090738" y="33020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2090738" y="4106863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2090738" y="4911725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7319963" y="1973263"/>
            <a:ext cx="10493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z=0 µm</a:t>
            </a: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319963" y="380682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z=25 µm</a:t>
            </a: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319963" y="556577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z=50 µm</a:t>
            </a:r>
          </a:p>
        </p:txBody>
      </p:sp>
      <p:sp>
        <p:nvSpPr>
          <p:cNvPr id="524303" name="Freeform 15"/>
          <p:cNvSpPr>
            <a:spLocks/>
          </p:cNvSpPr>
          <p:nvPr/>
        </p:nvSpPr>
        <p:spPr bwMode="auto">
          <a:xfrm>
            <a:off x="2184400" y="2852738"/>
            <a:ext cx="3319463" cy="746125"/>
          </a:xfrm>
          <a:custGeom>
            <a:avLst/>
            <a:gdLst/>
            <a:ahLst/>
            <a:cxnLst>
              <a:cxn ang="0">
                <a:pos x="0" y="299"/>
              </a:cxn>
              <a:cxn ang="0">
                <a:pos x="2091" y="0"/>
              </a:cxn>
            </a:cxnLst>
            <a:rect l="0" t="0" r="r" b="b"/>
            <a:pathLst>
              <a:path w="2091" h="470">
                <a:moveTo>
                  <a:pt x="0" y="299"/>
                </a:moveTo>
                <a:cubicBezTo>
                  <a:pt x="1072" y="470"/>
                  <a:pt x="1456" y="262"/>
                  <a:pt x="2091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4" name="Freeform 16"/>
          <p:cNvSpPr>
            <a:spLocks/>
          </p:cNvSpPr>
          <p:nvPr/>
        </p:nvSpPr>
        <p:spPr bwMode="auto">
          <a:xfrm>
            <a:off x="2201863" y="4030663"/>
            <a:ext cx="3284537" cy="177800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2069" y="0"/>
              </a:cxn>
            </a:cxnLst>
            <a:rect l="0" t="0" r="r" b="b"/>
            <a:pathLst>
              <a:path w="2069" h="112">
                <a:moveTo>
                  <a:pt x="0" y="69"/>
                </a:moveTo>
                <a:cubicBezTo>
                  <a:pt x="954" y="48"/>
                  <a:pt x="1381" y="112"/>
                  <a:pt x="2069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5" name="Freeform 17"/>
          <p:cNvSpPr>
            <a:spLocks/>
          </p:cNvSpPr>
          <p:nvPr/>
        </p:nvSpPr>
        <p:spPr bwMode="auto">
          <a:xfrm>
            <a:off x="2219325" y="4876800"/>
            <a:ext cx="3267075" cy="322263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058" y="203"/>
              </a:cxn>
            </a:cxnLst>
            <a:rect l="0" t="0" r="r" b="b"/>
            <a:pathLst>
              <a:path w="2058" h="203">
                <a:moveTo>
                  <a:pt x="0" y="48"/>
                </a:moveTo>
                <a:cubicBezTo>
                  <a:pt x="1162" y="128"/>
                  <a:pt x="1370" y="0"/>
                  <a:pt x="2058" y="203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430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363" y="4884738"/>
            <a:ext cx="1785937" cy="1785937"/>
          </a:xfrm>
          <a:prstGeom prst="rect">
            <a:avLst/>
          </a:prstGeom>
          <a:noFill/>
        </p:spPr>
      </p:pic>
      <p:pic>
        <p:nvPicPr>
          <p:cNvPr id="524307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7363" y="3101975"/>
            <a:ext cx="1785937" cy="1785938"/>
          </a:xfrm>
          <a:prstGeom prst="rect">
            <a:avLst/>
          </a:prstGeom>
          <a:noFill/>
        </p:spPr>
      </p:pic>
      <p:pic>
        <p:nvPicPr>
          <p:cNvPr id="524308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8950" y="13208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/>
              <a:t> How to recognize spherical aberration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38200" y="914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Unaberrated</a:t>
            </a:r>
            <a:endParaRPr lang="en-US"/>
          </a:p>
        </p:txBody>
      </p:sp>
      <p:sp>
        <p:nvSpPr>
          <p:cNvPr id="397319" name="Text Box 7"/>
          <p:cNvSpPr txBox="1">
            <a:spLocks noChangeArrowheads="1"/>
          </p:cNvSpPr>
          <p:nvPr/>
        </p:nvSpPr>
        <p:spPr bwMode="auto">
          <a:xfrm>
            <a:off x="7010400" y="990600"/>
            <a:ext cx="162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Aberrated</a:t>
            </a:r>
            <a:endParaRPr lang="en-US"/>
          </a:p>
        </p:txBody>
      </p:sp>
      <p:pic>
        <p:nvPicPr>
          <p:cNvPr id="39733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124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4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5800" y="762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7" name="Picture 2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62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8" name="Picture 2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9800" y="4800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9" name="Picture 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24600" y="5638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6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812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7" name="Picture 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62200" y="4038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8" name="Picture 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43200" y="4876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9" name="Picture 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76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50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954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7351" name="Text Box 39"/>
          <p:cNvSpPr txBox="1">
            <a:spLocks noChangeArrowheads="1"/>
          </p:cNvSpPr>
          <p:nvPr/>
        </p:nvSpPr>
        <p:spPr bwMode="auto">
          <a:xfrm>
            <a:off x="2590800" y="6300788"/>
            <a:ext cx="156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0.5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  <p:sp>
        <p:nvSpPr>
          <p:cNvPr id="397352" name="Text Box 40"/>
          <p:cNvSpPr txBox="1">
            <a:spLocks noChangeArrowheads="1"/>
          </p:cNvSpPr>
          <p:nvPr/>
        </p:nvSpPr>
        <p:spPr bwMode="auto">
          <a:xfrm>
            <a:off x="7543800" y="6248400"/>
            <a:ext cx="1370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What can you do about spherical aberration?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0.17 mm </a:t>
            </a:r>
            <a:r>
              <a:rPr lang="en-US" sz="2400" dirty="0" err="1">
                <a:latin typeface="Chalkboard"/>
              </a:rPr>
              <a:t>coverslips</a:t>
            </a:r>
            <a:r>
              <a:rPr lang="en-US" sz="2400" dirty="0">
                <a:latin typeface="Chalkboard"/>
              </a:rPr>
              <a:t> (~ #1.5)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Work close to the </a:t>
            </a:r>
            <a:r>
              <a:rPr lang="en-US" sz="2400" dirty="0" err="1">
                <a:latin typeface="Chalkboard"/>
              </a:rPr>
              <a:t>coverslip</a:t>
            </a: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Match lenses to the refractive index of your samples, and vice versa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aqueous samples, use water immersion / water dipping lenses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fixed samples and oil immersion lenses, mount your sample in a medium with n = 1.515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Adjust objective correction collar when available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lower NA lenses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Correction collars</a:t>
            </a:r>
          </a:p>
        </p:txBody>
      </p:sp>
      <p:pic>
        <p:nvPicPr>
          <p:cNvPr id="4208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828800"/>
            <a:ext cx="5922963" cy="30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4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533400" y="55626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latin typeface="Chalkboard"/>
              </a:rPr>
              <a:t>A correction collar can only eliminate spherical aberration at a single focal plane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Aberrated</a:t>
            </a:r>
          </a:p>
        </p:txBody>
      </p:sp>
      <p:sp>
        <p:nvSpPr>
          <p:cNvPr id="422918" name="Text Box 6"/>
          <p:cNvSpPr txBox="1">
            <a:spLocks noChangeArrowheads="1"/>
          </p:cNvSpPr>
          <p:nvPr/>
        </p:nvSpPr>
        <p:spPr bwMode="auto">
          <a:xfrm>
            <a:off x="5257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Unaberrated</a:t>
            </a:r>
          </a:p>
        </p:txBody>
      </p:sp>
      <p:pic>
        <p:nvPicPr>
          <p:cNvPr id="422919" name="Picture 7"/>
          <p:cNvPicPr>
            <a:picLocks noChangeAspect="1" noChangeArrowheads="1"/>
          </p:cNvPicPr>
          <p:nvPr/>
        </p:nvPicPr>
        <p:blipFill>
          <a:blip r:embed="rId3" cstate="print"/>
          <a:srcRect l="23351"/>
          <a:stretch>
            <a:fillRect/>
          </a:stretch>
        </p:blipFill>
        <p:spPr bwMode="auto">
          <a:xfrm>
            <a:off x="341313" y="2590800"/>
            <a:ext cx="4002087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4" cstate="print"/>
          <a:srcRect l="21892"/>
          <a:stretch>
            <a:fillRect/>
          </a:stretch>
        </p:blipFill>
        <p:spPr bwMode="auto">
          <a:xfrm>
            <a:off x="4724400" y="2514600"/>
            <a:ext cx="4078288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Freeform 2"/>
          <p:cNvSpPr>
            <a:spLocks/>
          </p:cNvSpPr>
          <p:nvPr/>
        </p:nvSpPr>
        <p:spPr bwMode="auto">
          <a:xfrm>
            <a:off x="482600" y="2463800"/>
            <a:ext cx="2870200" cy="1455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39" name="Freeform 3"/>
          <p:cNvSpPr>
            <a:spLocks/>
          </p:cNvSpPr>
          <p:nvPr/>
        </p:nvSpPr>
        <p:spPr bwMode="auto">
          <a:xfrm>
            <a:off x="152400" y="4064000"/>
            <a:ext cx="3852863" cy="1566863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52400" y="3895725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1" name="Freeform 5"/>
          <p:cNvSpPr>
            <a:spLocks/>
          </p:cNvSpPr>
          <p:nvPr/>
        </p:nvSpPr>
        <p:spPr bwMode="auto">
          <a:xfrm>
            <a:off x="152400" y="1524000"/>
            <a:ext cx="3675063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5308600" y="2463800"/>
            <a:ext cx="3716338" cy="31273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291138" y="1524000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4" name="Freeform 8"/>
          <p:cNvSpPr>
            <a:spLocks/>
          </p:cNvSpPr>
          <p:nvPr/>
        </p:nvSpPr>
        <p:spPr bwMode="auto">
          <a:xfrm>
            <a:off x="5291138" y="2928938"/>
            <a:ext cx="3852862" cy="1566862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5291138" y="2776538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592138" y="2592388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4073525" y="4251325"/>
            <a:ext cx="13303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Mechanical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m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533400" y="4300538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 flipV="1">
            <a:off x="4613275" y="306546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>
            <a:off x="4122738" y="30781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51" name="Group 15"/>
          <p:cNvGrpSpPr>
            <a:grpSpLocks/>
          </p:cNvGrpSpPr>
          <p:nvPr/>
        </p:nvGrpSpPr>
        <p:grpSpPr bwMode="auto">
          <a:xfrm>
            <a:off x="685800" y="609600"/>
            <a:ext cx="1227138" cy="3598863"/>
            <a:chOff x="432" y="384"/>
            <a:chExt cx="773" cy="2267"/>
          </a:xfrm>
        </p:grpSpPr>
        <p:sp>
          <p:nvSpPr>
            <p:cNvPr id="526352" name="Freeform 16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3" name="Freeform 17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4" name="Freeform 18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5" name="Freeform 19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56" name="Group 20"/>
          <p:cNvGrpSpPr>
            <a:grpSpLocks/>
          </p:cNvGrpSpPr>
          <p:nvPr/>
        </p:nvGrpSpPr>
        <p:grpSpPr bwMode="auto">
          <a:xfrm flipH="1">
            <a:off x="1912938" y="609600"/>
            <a:ext cx="1211262" cy="3598863"/>
            <a:chOff x="432" y="384"/>
            <a:chExt cx="773" cy="2267"/>
          </a:xfrm>
        </p:grpSpPr>
        <p:sp>
          <p:nvSpPr>
            <p:cNvPr id="526357" name="Freeform 21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8" name="Freeform 22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9" name="Freeform 23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0" name="Freeform 24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61" name="Line 25"/>
          <p:cNvSpPr>
            <a:spLocks noChangeShapeType="1"/>
          </p:cNvSpPr>
          <p:nvPr/>
        </p:nvSpPr>
        <p:spPr bwMode="auto">
          <a:xfrm flipV="1">
            <a:off x="1905000" y="609600"/>
            <a:ext cx="0" cy="3581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62" name="Group 26"/>
          <p:cNvGrpSpPr>
            <a:grpSpLocks/>
          </p:cNvGrpSpPr>
          <p:nvPr/>
        </p:nvGrpSpPr>
        <p:grpSpPr bwMode="auto">
          <a:xfrm>
            <a:off x="5859463" y="609600"/>
            <a:ext cx="1209675" cy="3022600"/>
            <a:chOff x="3691" y="384"/>
            <a:chExt cx="762" cy="1904"/>
          </a:xfrm>
        </p:grpSpPr>
        <p:sp>
          <p:nvSpPr>
            <p:cNvPr id="526363" name="Freeform 27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4" name="Freeform 28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5" name="Freeform 29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6" name="Freeform 30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67" name="Group 31"/>
          <p:cNvGrpSpPr>
            <a:grpSpLocks/>
          </p:cNvGrpSpPr>
          <p:nvPr/>
        </p:nvGrpSpPr>
        <p:grpSpPr bwMode="auto">
          <a:xfrm flipH="1">
            <a:off x="7077075" y="609600"/>
            <a:ext cx="1228725" cy="3022600"/>
            <a:chOff x="3691" y="384"/>
            <a:chExt cx="762" cy="1904"/>
          </a:xfrm>
        </p:grpSpPr>
        <p:sp>
          <p:nvSpPr>
            <p:cNvPr id="526368" name="Freeform 32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9" name="Freeform 33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0" name="Freeform 34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1" name="Freeform 35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7072313" y="571500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3" name="Text Box 37"/>
          <p:cNvSpPr txBox="1">
            <a:spLocks noChangeArrowheads="1"/>
          </p:cNvSpPr>
          <p:nvPr/>
        </p:nvSpPr>
        <p:spPr bwMode="auto">
          <a:xfrm>
            <a:off x="7515225" y="3725863"/>
            <a:ext cx="1138238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Optical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o</a:t>
            </a:r>
          </a:p>
        </p:txBody>
      </p:sp>
      <p:sp>
        <p:nvSpPr>
          <p:cNvPr id="526374" name="Line 38"/>
          <p:cNvSpPr>
            <a:spLocks noChangeShapeType="1"/>
          </p:cNvSpPr>
          <p:nvPr/>
        </p:nvSpPr>
        <p:spPr bwMode="auto">
          <a:xfrm flipV="1">
            <a:off x="8093075" y="3090863"/>
            <a:ext cx="0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5" name="Line 39"/>
          <p:cNvSpPr>
            <a:spLocks noChangeShapeType="1"/>
          </p:cNvSpPr>
          <p:nvPr/>
        </p:nvSpPr>
        <p:spPr bwMode="auto">
          <a:xfrm>
            <a:off x="6713538" y="36449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6" name="Rectangle 40"/>
          <p:cNvSpPr>
            <a:spLocks noChangeArrowheads="1"/>
          </p:cNvSpPr>
          <p:nvPr/>
        </p:nvSpPr>
        <p:spPr bwMode="auto">
          <a:xfrm>
            <a:off x="406400" y="515938"/>
            <a:ext cx="8323263" cy="957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7" name="Text Box 41"/>
          <p:cNvSpPr txBox="1">
            <a:spLocks noChangeArrowheads="1"/>
          </p:cNvSpPr>
          <p:nvPr/>
        </p:nvSpPr>
        <p:spPr bwMode="auto">
          <a:xfrm>
            <a:off x="3216275" y="152400"/>
            <a:ext cx="275748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Axial Scaling</a:t>
            </a:r>
          </a:p>
        </p:txBody>
      </p:sp>
      <p:grpSp>
        <p:nvGrpSpPr>
          <p:cNvPr id="526378" name="Group 42"/>
          <p:cNvGrpSpPr>
            <a:grpSpLocks/>
          </p:cNvGrpSpPr>
          <p:nvPr/>
        </p:nvGrpSpPr>
        <p:grpSpPr bwMode="auto">
          <a:xfrm>
            <a:off x="2347913" y="5100638"/>
            <a:ext cx="6251575" cy="1525587"/>
            <a:chOff x="1479" y="3213"/>
            <a:chExt cx="3938" cy="961"/>
          </a:xfrm>
        </p:grpSpPr>
        <p:sp>
          <p:nvSpPr>
            <p:cNvPr id="526379" name="AutoShape 43"/>
            <p:cNvSpPr>
              <a:spLocks noChangeArrowheads="1"/>
            </p:cNvSpPr>
            <p:nvPr/>
          </p:nvSpPr>
          <p:spPr bwMode="auto">
            <a:xfrm>
              <a:off x="1479" y="3822"/>
              <a:ext cx="3254" cy="352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If there is index mismatch,</a:t>
              </a:r>
            </a:p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your z pixel size is not what you think</a:t>
              </a:r>
              <a:endParaRPr lang="en-US" sz="1800" b="0">
                <a:latin typeface="Chalkboard" charset="0"/>
              </a:endParaRPr>
            </a:p>
          </p:txBody>
        </p:sp>
        <p:sp>
          <p:nvSpPr>
            <p:cNvPr id="526380" name="AutoShape 44"/>
            <p:cNvSpPr>
              <a:spLocks noChangeArrowheads="1"/>
            </p:cNvSpPr>
            <p:nvPr/>
          </p:nvSpPr>
          <p:spPr bwMode="auto">
            <a:xfrm>
              <a:off x="4140" y="3213"/>
              <a:ext cx="1277" cy="493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</p:txBody>
        </p:sp>
        <p:graphicFrame>
          <p:nvGraphicFramePr>
            <p:cNvPr id="526381" name="Object 45"/>
            <p:cNvGraphicFramePr>
              <a:graphicFrameLocks noChangeAspect="1"/>
            </p:cNvGraphicFramePr>
            <p:nvPr/>
          </p:nvGraphicFramePr>
          <p:xfrm>
            <a:off x="4295" y="3243"/>
            <a:ext cx="901" cy="418"/>
          </p:xfrm>
          <a:graphic>
            <a:graphicData uri="http://schemas.openxmlformats.org/presentationml/2006/ole">
              <p:oleObj spid="_x0000_s526381" name="Equation" r:id="rId4" imgW="876300" imgH="406400" progId="Equation.3">
                <p:embed/>
              </p:oleObj>
            </a:graphicData>
          </a:graphic>
        </p:graphicFrame>
      </p:grpSp>
      <p:sp>
        <p:nvSpPr>
          <p:cNvPr id="526382" name="Line 46"/>
          <p:cNvSpPr>
            <a:spLocks noChangeShapeType="1"/>
          </p:cNvSpPr>
          <p:nvPr/>
        </p:nvSpPr>
        <p:spPr bwMode="auto">
          <a:xfrm>
            <a:off x="3479800" y="4195763"/>
            <a:ext cx="1481138" cy="7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404813" y="1143000"/>
            <a:ext cx="5035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Off-axis   (edges of field of view)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911350" y="109538"/>
            <a:ext cx="53705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Astigmatism &amp; Coma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81000" y="3352800"/>
            <a:ext cx="5057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On-axis   (center of field of view)</a:t>
            </a: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403225" y="1595438"/>
            <a:ext cx="3144838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All objectives have some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Present in the design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You get what you pay for</a:t>
            </a: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81000" y="3803213"/>
            <a:ext cx="697370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Should be none, by symmetry.</a:t>
            </a:r>
          </a:p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If they are there, they could be from: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manufacturing or assembly tolerances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dirt or abuse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Misalignment (tilt, off-axis shift of something)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bad downstream components 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(mirrors, </a:t>
            </a:r>
            <a:r>
              <a:rPr lang="en-US" altLang="en-US" sz="1800" b="0" dirty="0" err="1">
                <a:solidFill>
                  <a:schemeClr val="tx2"/>
                </a:solidFill>
                <a:latin typeface="Chalkboard" charset="0"/>
              </a:rPr>
              <a:t>dichroics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, filters…)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Air bubble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 in the immersion fluid or sample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Tilted cover slip</a:t>
            </a:r>
            <a:endParaRPr lang="en-US" altLang="en-US" sz="1800" b="0" dirty="0">
              <a:solidFill>
                <a:schemeClr val="tx2"/>
              </a:solidFill>
              <a:latin typeface="Chalkboard" charset="0"/>
            </a:endParaRPr>
          </a:p>
          <a:p>
            <a:pPr lvl="2"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(dry and water-immersion high-NA lenses)</a:t>
            </a:r>
          </a:p>
        </p:txBody>
      </p:sp>
      <p:sp>
        <p:nvSpPr>
          <p:cNvPr id="534535" name="Freeform 7"/>
          <p:cNvSpPr>
            <a:spLocks/>
          </p:cNvSpPr>
          <p:nvPr/>
        </p:nvSpPr>
        <p:spPr bwMode="auto">
          <a:xfrm rot="-16200000">
            <a:off x="7777956" y="27170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6" name="Freeform 8"/>
          <p:cNvSpPr>
            <a:spLocks/>
          </p:cNvSpPr>
          <p:nvPr/>
        </p:nvSpPr>
        <p:spPr bwMode="auto">
          <a:xfrm rot="-16200000">
            <a:off x="7797801" y="9779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7" name="Freeform 9"/>
          <p:cNvSpPr>
            <a:spLocks/>
          </p:cNvSpPr>
          <p:nvPr/>
        </p:nvSpPr>
        <p:spPr bwMode="auto">
          <a:xfrm rot="16200000" flipV="1">
            <a:off x="7794626" y="19256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8" name="Line 10"/>
          <p:cNvSpPr>
            <a:spLocks noChangeShapeType="1"/>
          </p:cNvSpPr>
          <p:nvPr/>
        </p:nvSpPr>
        <p:spPr bwMode="auto">
          <a:xfrm>
            <a:off x="7612063" y="33702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9" name="Freeform 11"/>
          <p:cNvSpPr>
            <a:spLocks/>
          </p:cNvSpPr>
          <p:nvPr/>
        </p:nvSpPr>
        <p:spPr bwMode="auto">
          <a:xfrm>
            <a:off x="7259638" y="741363"/>
            <a:ext cx="1141412" cy="2614612"/>
          </a:xfrm>
          <a:custGeom>
            <a:avLst/>
            <a:gdLst/>
            <a:ahLst/>
            <a:cxnLst>
              <a:cxn ang="0">
                <a:pos x="255" y="2887"/>
              </a:cxn>
              <a:cxn ang="0">
                <a:pos x="396" y="2671"/>
              </a:cxn>
              <a:cxn ang="0">
                <a:pos x="719" y="1965"/>
              </a:cxn>
              <a:cxn ang="0">
                <a:pos x="335" y="1037"/>
              </a:cxn>
              <a:cxn ang="0">
                <a:pos x="0" y="0"/>
              </a:cxn>
            </a:cxnLst>
            <a:rect l="0" t="0" r="r" b="b"/>
            <a:pathLst>
              <a:path w="719" h="2887">
                <a:moveTo>
                  <a:pt x="255" y="2887"/>
                </a:moveTo>
                <a:lnTo>
                  <a:pt x="396" y="2671"/>
                </a:lnTo>
                <a:lnTo>
                  <a:pt x="719" y="1965"/>
                </a:lnTo>
                <a:lnTo>
                  <a:pt x="335" y="103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0" name="Freeform 12"/>
          <p:cNvSpPr>
            <a:spLocks/>
          </p:cNvSpPr>
          <p:nvPr/>
        </p:nvSpPr>
        <p:spPr bwMode="auto">
          <a:xfrm>
            <a:off x="7251700" y="739775"/>
            <a:ext cx="1193800" cy="2625725"/>
          </a:xfrm>
          <a:custGeom>
            <a:avLst/>
            <a:gdLst/>
            <a:ahLst/>
            <a:cxnLst>
              <a:cxn ang="0">
                <a:pos x="260" y="2899"/>
              </a:cxn>
              <a:cxn ang="0">
                <a:pos x="113" y="2667"/>
              </a:cxn>
              <a:cxn ang="0">
                <a:pos x="424" y="1971"/>
              </a:cxn>
              <a:cxn ang="0">
                <a:pos x="752" y="1067"/>
              </a:cxn>
              <a:cxn ang="0">
                <a:pos x="0" y="0"/>
              </a:cxn>
            </a:cxnLst>
            <a:rect l="0" t="0" r="r" b="b"/>
            <a:pathLst>
              <a:path w="752" h="2899">
                <a:moveTo>
                  <a:pt x="260" y="2899"/>
                </a:moveTo>
                <a:lnTo>
                  <a:pt x="113" y="2667"/>
                </a:lnTo>
                <a:lnTo>
                  <a:pt x="424" y="1971"/>
                </a:lnTo>
                <a:lnTo>
                  <a:pt x="752" y="106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1" name="Line 13"/>
          <p:cNvSpPr>
            <a:spLocks noChangeShapeType="1"/>
          </p:cNvSpPr>
          <p:nvPr/>
        </p:nvSpPr>
        <p:spPr bwMode="auto">
          <a:xfrm>
            <a:off x="7335838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2" name="Line 14"/>
          <p:cNvSpPr>
            <a:spLocks noChangeShapeType="1"/>
          </p:cNvSpPr>
          <p:nvPr/>
        </p:nvSpPr>
        <p:spPr bwMode="auto">
          <a:xfrm>
            <a:off x="8105775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7162800" y="6858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4" name="Freeform 16"/>
          <p:cNvSpPr>
            <a:spLocks/>
          </p:cNvSpPr>
          <p:nvPr/>
        </p:nvSpPr>
        <p:spPr bwMode="auto">
          <a:xfrm>
            <a:off x="7343775" y="28733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5" name="Freeform 17"/>
          <p:cNvSpPr>
            <a:spLocks/>
          </p:cNvSpPr>
          <p:nvPr/>
        </p:nvSpPr>
        <p:spPr bwMode="auto">
          <a:xfrm rot="-16200000">
            <a:off x="7777956" y="59174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 rot="-16200000">
            <a:off x="7797801" y="41783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7" name="Freeform 19"/>
          <p:cNvSpPr>
            <a:spLocks/>
          </p:cNvSpPr>
          <p:nvPr/>
        </p:nvSpPr>
        <p:spPr bwMode="auto">
          <a:xfrm rot="16200000" flipV="1">
            <a:off x="7794626" y="51260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7612063" y="65706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9" name="Freeform 21"/>
          <p:cNvSpPr>
            <a:spLocks/>
          </p:cNvSpPr>
          <p:nvPr/>
        </p:nvSpPr>
        <p:spPr bwMode="auto">
          <a:xfrm>
            <a:off x="7607300" y="3946525"/>
            <a:ext cx="533400" cy="2608263"/>
          </a:xfrm>
          <a:custGeom>
            <a:avLst/>
            <a:gdLst/>
            <a:ahLst/>
            <a:cxnLst>
              <a:cxn ang="0">
                <a:pos x="141" y="2879"/>
              </a:cxn>
              <a:cxn ang="0">
                <a:pos x="0" y="2663"/>
              </a:cxn>
              <a:cxn ang="0">
                <a:pos x="0" y="1991"/>
              </a:cxn>
              <a:cxn ang="0">
                <a:pos x="336" y="1031"/>
              </a:cxn>
              <a:cxn ang="0">
                <a:pos x="149" y="0"/>
              </a:cxn>
            </a:cxnLst>
            <a:rect l="0" t="0" r="r" b="b"/>
            <a:pathLst>
              <a:path w="336" h="2879">
                <a:moveTo>
                  <a:pt x="141" y="2879"/>
                </a:moveTo>
                <a:lnTo>
                  <a:pt x="0" y="2663"/>
                </a:lnTo>
                <a:lnTo>
                  <a:pt x="0" y="1991"/>
                </a:lnTo>
                <a:lnTo>
                  <a:pt x="336" y="1031"/>
                </a:lnTo>
                <a:lnTo>
                  <a:pt x="149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0" name="Freeform 22"/>
          <p:cNvSpPr>
            <a:spLocks/>
          </p:cNvSpPr>
          <p:nvPr/>
        </p:nvSpPr>
        <p:spPr bwMode="auto">
          <a:xfrm>
            <a:off x="7531100" y="3941763"/>
            <a:ext cx="533400" cy="2627312"/>
          </a:xfrm>
          <a:custGeom>
            <a:avLst/>
            <a:gdLst/>
            <a:ahLst/>
            <a:cxnLst>
              <a:cxn ang="0">
                <a:pos x="189" y="2901"/>
              </a:cxn>
              <a:cxn ang="0">
                <a:pos x="336" y="2669"/>
              </a:cxn>
              <a:cxn ang="0">
                <a:pos x="336" y="1997"/>
              </a:cxn>
              <a:cxn ang="0">
                <a:pos x="0" y="1037"/>
              </a:cxn>
              <a:cxn ang="0">
                <a:pos x="197" y="0"/>
              </a:cxn>
            </a:cxnLst>
            <a:rect l="0" t="0" r="r" b="b"/>
            <a:pathLst>
              <a:path w="336" h="2901">
                <a:moveTo>
                  <a:pt x="189" y="2901"/>
                </a:moveTo>
                <a:lnTo>
                  <a:pt x="336" y="2669"/>
                </a:lnTo>
                <a:lnTo>
                  <a:pt x="336" y="1997"/>
                </a:lnTo>
                <a:lnTo>
                  <a:pt x="0" y="1037"/>
                </a:lnTo>
                <a:lnTo>
                  <a:pt x="197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1" name="Line 23"/>
          <p:cNvSpPr>
            <a:spLocks noChangeShapeType="1"/>
          </p:cNvSpPr>
          <p:nvPr/>
        </p:nvSpPr>
        <p:spPr bwMode="auto">
          <a:xfrm>
            <a:off x="7335838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8105775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3" name="Rectangle 25"/>
          <p:cNvSpPr>
            <a:spLocks noChangeArrowheads="1"/>
          </p:cNvSpPr>
          <p:nvPr/>
        </p:nvSpPr>
        <p:spPr bwMode="auto">
          <a:xfrm>
            <a:off x="7162800" y="38862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4" name="Freeform 26"/>
          <p:cNvSpPr>
            <a:spLocks/>
          </p:cNvSpPr>
          <p:nvPr/>
        </p:nvSpPr>
        <p:spPr bwMode="auto">
          <a:xfrm>
            <a:off x="7343775" y="60737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79575" y="1119188"/>
            <a:ext cx="53641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More about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7650" y="23813"/>
            <a:ext cx="8731250" cy="6564312"/>
            <a:chOff x="156" y="15"/>
            <a:chExt cx="5500" cy="4135"/>
          </a:xfrm>
        </p:grpSpPr>
        <p:sp>
          <p:nvSpPr>
            <p:cNvPr id="62466" name="Text Box 2"/>
            <p:cNvSpPr txBox="1">
              <a:spLocks noChangeArrowheads="1"/>
            </p:cNvSpPr>
            <p:nvPr/>
          </p:nvSpPr>
          <p:spPr bwMode="auto">
            <a:xfrm>
              <a:off x="156" y="15"/>
              <a:ext cx="53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The response to pure waves is well-defined by the</a:t>
              </a:r>
            </a:p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Optical Transfer Function (OTF)</a:t>
              </a:r>
            </a:p>
          </p:txBody>
        </p:sp>
        <p:sp>
          <p:nvSpPr>
            <p:cNvPr id="62467" name="Text Box 3"/>
            <p:cNvSpPr txBox="1">
              <a:spLocks noChangeArrowheads="1"/>
            </p:cNvSpPr>
            <p:nvPr/>
          </p:nvSpPr>
          <p:spPr bwMode="auto">
            <a:xfrm>
              <a:off x="544" y="3578"/>
              <a:ext cx="64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Object</a:t>
              </a:r>
            </a:p>
          </p:txBody>
        </p:sp>
        <p:pic>
          <p:nvPicPr>
            <p:cNvPr id="6246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3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6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7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0" y="3310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58" y="2403"/>
              <a:ext cx="3663" cy="840"/>
              <a:chOff x="458" y="2403"/>
              <a:chExt cx="3663" cy="840"/>
            </a:xfrm>
          </p:grpSpPr>
          <p:sp>
            <p:nvSpPr>
              <p:cNvPr id="62472" name="Text Box 8"/>
              <p:cNvSpPr txBox="1">
                <a:spLocks noChangeArrowheads="1"/>
              </p:cNvSpPr>
              <p:nvPr/>
            </p:nvSpPr>
            <p:spPr bwMode="auto">
              <a:xfrm>
                <a:off x="458" y="2686"/>
                <a:ext cx="76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62473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274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4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277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5" name="Picture 11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281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54" y="686"/>
              <a:ext cx="5202" cy="1725"/>
              <a:chOff x="454" y="686"/>
              <a:chExt cx="5202" cy="1725"/>
            </a:xfrm>
          </p:grpSpPr>
          <p:pic>
            <p:nvPicPr>
              <p:cNvPr id="62477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9" y="874"/>
                <a:ext cx="3025" cy="10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454" y="816"/>
                <a:ext cx="1572" cy="11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4473" y="1958"/>
                <a:ext cx="1183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(Spatial frequency,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periods/meter)</a:t>
                </a:r>
              </a:p>
            </p:txBody>
          </p:sp>
          <p:sp>
            <p:nvSpPr>
              <p:cNvPr id="62480" name="Freeform 16"/>
              <p:cNvSpPr>
                <a:spLocks/>
              </p:cNvSpPr>
              <p:nvPr/>
            </p:nvSpPr>
            <p:spPr bwMode="auto">
              <a:xfrm>
                <a:off x="3952" y="2005"/>
                <a:ext cx="560" cy="129"/>
              </a:xfrm>
              <a:custGeom>
                <a:avLst/>
                <a:gdLst/>
                <a:ahLst/>
                <a:cxnLst>
                  <a:cxn ang="0">
                    <a:pos x="560" y="86"/>
                  </a:cxn>
                  <a:cxn ang="0">
                    <a:pos x="0" y="17"/>
                  </a:cxn>
                </a:cxnLst>
                <a:rect l="0" t="0" r="r" b="b"/>
                <a:pathLst>
                  <a:path w="560" h="129">
                    <a:moveTo>
                      <a:pt x="560" y="86"/>
                    </a:moveTo>
                    <a:cubicBezTo>
                      <a:pt x="415" y="129"/>
                      <a:pt x="219" y="0"/>
                      <a:pt x="0" y="1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1" name="Freeform 17"/>
              <p:cNvSpPr>
                <a:spLocks/>
              </p:cNvSpPr>
              <p:nvPr/>
            </p:nvSpPr>
            <p:spPr bwMode="auto">
              <a:xfrm>
                <a:off x="1685" y="1910"/>
                <a:ext cx="641" cy="490"/>
              </a:xfrm>
              <a:custGeom>
                <a:avLst/>
                <a:gdLst/>
                <a:ahLst/>
                <a:cxnLst>
                  <a:cxn ang="0">
                    <a:pos x="0" y="549"/>
                  </a:cxn>
                  <a:cxn ang="0">
                    <a:pos x="1014" y="0"/>
                  </a:cxn>
                </a:cxnLst>
                <a:rect l="0" t="0" r="r" b="b"/>
                <a:pathLst>
                  <a:path w="1014" h="549">
                    <a:moveTo>
                      <a:pt x="0" y="549"/>
                    </a:moveTo>
                    <a:cubicBezTo>
                      <a:pt x="11" y="341"/>
                      <a:pt x="1008" y="448"/>
                      <a:pt x="1014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2" name="Freeform 18"/>
              <p:cNvSpPr>
                <a:spLocks/>
              </p:cNvSpPr>
              <p:nvPr/>
            </p:nvSpPr>
            <p:spPr bwMode="auto">
              <a:xfrm>
                <a:off x="2704" y="1896"/>
                <a:ext cx="240" cy="515"/>
              </a:xfrm>
              <a:custGeom>
                <a:avLst/>
                <a:gdLst/>
                <a:ahLst/>
                <a:cxnLst>
                  <a:cxn ang="0">
                    <a:pos x="0" y="571"/>
                  </a:cxn>
                  <a:cxn ang="0">
                    <a:pos x="453" y="0"/>
                  </a:cxn>
                </a:cxnLst>
                <a:rect l="0" t="0" r="r" b="b"/>
                <a:pathLst>
                  <a:path w="453" h="571">
                    <a:moveTo>
                      <a:pt x="0" y="571"/>
                    </a:moveTo>
                    <a:cubicBezTo>
                      <a:pt x="11" y="363"/>
                      <a:pt x="453" y="464"/>
                      <a:pt x="453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3" name="Freeform 19"/>
              <p:cNvSpPr>
                <a:spLocks/>
              </p:cNvSpPr>
              <p:nvPr/>
            </p:nvSpPr>
            <p:spPr bwMode="auto">
              <a:xfrm>
                <a:off x="3504" y="1898"/>
                <a:ext cx="187" cy="507"/>
              </a:xfrm>
              <a:custGeom>
                <a:avLst/>
                <a:gdLst/>
                <a:ahLst/>
                <a:cxnLst>
                  <a:cxn ang="0">
                    <a:pos x="91" y="539"/>
                  </a:cxn>
                  <a:cxn ang="0">
                    <a:pos x="0" y="0"/>
                  </a:cxn>
                </a:cxnLst>
                <a:rect l="0" t="0" r="r" b="b"/>
                <a:pathLst>
                  <a:path w="91" h="539">
                    <a:moveTo>
                      <a:pt x="91" y="539"/>
                    </a:moveTo>
                    <a:cubicBezTo>
                      <a:pt x="80" y="336"/>
                      <a:pt x="0" y="46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4" name="Line 20"/>
              <p:cNvSpPr>
                <a:spLocks noChangeShapeType="1"/>
              </p:cNvSpPr>
              <p:nvPr/>
            </p:nvSpPr>
            <p:spPr bwMode="auto">
              <a:xfrm>
                <a:off x="1933" y="1900"/>
                <a:ext cx="19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/>
            </p:nvSpPr>
            <p:spPr bwMode="auto">
              <a:xfrm flipV="1">
                <a:off x="2330" y="123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/>
            </p:nvSpPr>
            <p:spPr bwMode="auto">
              <a:xfrm flipV="1">
                <a:off x="2939" y="1744"/>
                <a:ext cx="0" cy="133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7" name="Line 23"/>
              <p:cNvSpPr>
                <a:spLocks noChangeShapeType="1"/>
              </p:cNvSpPr>
              <p:nvPr/>
            </p:nvSpPr>
            <p:spPr bwMode="auto">
              <a:xfrm flipH="1">
                <a:off x="3259" y="1898"/>
                <a:ext cx="32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8" name="Text Box 24"/>
              <p:cNvSpPr txBox="1">
                <a:spLocks noChangeArrowheads="1"/>
              </p:cNvSpPr>
              <p:nvPr/>
            </p:nvSpPr>
            <p:spPr bwMode="auto">
              <a:xfrm>
                <a:off x="3766" y="192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endParaRPr lang="en-US" altLang="en-US" sz="1600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89" name="Line 25"/>
              <p:cNvSpPr>
                <a:spLocks noChangeShapeType="1"/>
              </p:cNvSpPr>
              <p:nvPr/>
            </p:nvSpPr>
            <p:spPr bwMode="auto">
              <a:xfrm flipV="1">
                <a:off x="2034" y="686"/>
                <a:ext cx="0" cy="1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Text Box 26"/>
              <p:cNvSpPr txBox="1">
                <a:spLocks noChangeArrowheads="1"/>
              </p:cNvSpPr>
              <p:nvPr/>
            </p:nvSpPr>
            <p:spPr bwMode="auto">
              <a:xfrm>
                <a:off x="2272" y="919"/>
                <a:ext cx="52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OTF(</a:t>
                </a:r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)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/>
            </p:nvSpPr>
            <p:spPr bwMode="auto">
              <a:xfrm>
                <a:off x="1758" y="793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1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/>
            </p:nvSpPr>
            <p:spPr bwMode="auto">
              <a:xfrm>
                <a:off x="1955" y="912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3" name="Rectangle 29"/>
              <p:cNvSpPr>
                <a:spLocks noChangeArrowheads="1"/>
              </p:cNvSpPr>
              <p:nvPr/>
            </p:nvSpPr>
            <p:spPr bwMode="auto">
              <a:xfrm>
                <a:off x="1321" y="1131"/>
                <a:ext cx="615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(Image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contrast)</a:t>
                </a: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350" y="994"/>
                <a:ext cx="2092" cy="877"/>
                <a:chOff x="3398" y="989"/>
                <a:chExt cx="2092" cy="877"/>
              </a:xfrm>
            </p:grpSpPr>
            <p:sp>
              <p:nvSpPr>
                <p:cNvPr id="62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244" y="989"/>
                  <a:ext cx="124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>
                      <a:latin typeface="Helvetica" charset="0"/>
                    </a:rPr>
                    <a:t>Resolution limit:</a:t>
                  </a:r>
                  <a:endParaRPr lang="en-US" altLang="en-US" sz="2000">
                    <a:solidFill>
                      <a:srgbClr val="FF0000"/>
                    </a:solidFill>
                    <a:latin typeface="Helvetica" charset="0"/>
                  </a:endParaRPr>
                </a:p>
                <a:p>
                  <a:pPr algn="ctr"/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2000" baseline="-25000">
                      <a:solidFill>
                        <a:srgbClr val="FF0000"/>
                      </a:solidFill>
                      <a:latin typeface="Helvetica" charset="0"/>
                    </a:rPr>
                    <a:t>max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Helvetica" charset="0"/>
                    </a:rPr>
                    <a:t>= 2 </a:t>
                  </a:r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NA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Symbol" charset="2"/>
                    </a:rPr>
                    <a:t> / l</a:t>
                  </a:r>
                  <a:endParaRPr lang="en-US" sz="2000">
                    <a:solidFill>
                      <a:srgbClr val="FF0000"/>
                    </a:solidFill>
                    <a:latin typeface="Symbol" charset="2"/>
                  </a:endParaRPr>
                </a:p>
              </p:txBody>
            </p:sp>
            <p:sp>
              <p:nvSpPr>
                <p:cNvPr id="62496" name="Freeform 32"/>
                <p:cNvSpPr>
                  <a:spLocks/>
                </p:cNvSpPr>
                <p:nvPr/>
              </p:nvSpPr>
              <p:spPr bwMode="auto">
                <a:xfrm>
                  <a:off x="3398" y="1205"/>
                  <a:ext cx="847" cy="661"/>
                </a:xfrm>
                <a:custGeom>
                  <a:avLst/>
                  <a:gdLst/>
                  <a:ahLst/>
                  <a:cxnLst>
                    <a:cxn ang="0">
                      <a:pos x="847" y="0"/>
                    </a:cxn>
                    <a:cxn ang="0">
                      <a:pos x="0" y="661"/>
                    </a:cxn>
                  </a:cxnLst>
                  <a:rect l="0" t="0" r="r" b="b"/>
                  <a:pathLst>
                    <a:path w="847" h="661">
                      <a:moveTo>
                        <a:pt x="847" y="0"/>
                      </a:moveTo>
                      <a:cubicBezTo>
                        <a:pt x="666" y="22"/>
                        <a:pt x="106" y="182"/>
                        <a:pt x="0" y="66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 flipV="1">
            <a:off x="7348538" y="3978275"/>
            <a:ext cx="0" cy="27193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6019800" y="5465763"/>
            <a:ext cx="27590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7" name="Text Box 51"/>
          <p:cNvSpPr txBox="1">
            <a:spLocks noChangeArrowheads="1"/>
          </p:cNvSpPr>
          <p:nvPr/>
        </p:nvSpPr>
        <p:spPr bwMode="auto">
          <a:xfrm>
            <a:off x="6985000" y="4013200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426450" y="5453063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 animBg="1"/>
      <p:bldP spid="55346" grpId="0" animBg="1"/>
      <p:bldP spid="55351" grpId="0"/>
      <p:bldP spid="55356" grpId="0" animBg="1"/>
      <p:bldP spid="553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238250" y="195263"/>
            <a:ext cx="60547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rgbClr val="660066"/>
                </a:solidFill>
                <a:latin typeface="Chalkboard" charset="0"/>
              </a:rPr>
              <a:t>Properties of the Fourier Transform</a:t>
            </a:r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p:oleObj spid="_x0000_s607234" name="Equation" r:id="rId5" imgW="1295400" imgH="254000" progId="Equation.3">
              <p:embed/>
            </p:oleObj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7" cstate="print"/>
          <a:srcRect l="19171" t="7792" r="20725" b="16883"/>
          <a:stretch>
            <a:fillRect/>
          </a:stretch>
        </p:blipFill>
        <p:spPr bwMode="auto">
          <a:xfrm>
            <a:off x="6172200" y="44196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496" y="3245"/>
              <a:ext cx="847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Observable</a:t>
              </a:r>
            </a:p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Region</a:t>
              </a: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531813" y="109538"/>
            <a:ext cx="798195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Transfer Function Lives in Frequency Space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69900" y="800100"/>
            <a:ext cx="3846513" cy="4270375"/>
            <a:chOff x="296" y="504"/>
            <a:chExt cx="2423" cy="2690"/>
          </a:xfrm>
        </p:grpSpPr>
        <p:sp>
          <p:nvSpPr>
            <p:cNvPr id="52243" name="Arc 19"/>
            <p:cNvSpPr>
              <a:spLocks/>
            </p:cNvSpPr>
            <p:nvPr/>
          </p:nvSpPr>
          <p:spPr bwMode="auto">
            <a:xfrm>
              <a:off x="1359" y="3146"/>
              <a:ext cx="227" cy="43"/>
            </a:xfrm>
            <a:custGeom>
              <a:avLst/>
              <a:gdLst>
                <a:gd name="G0" fmla="+- 0 0 0"/>
                <a:gd name="G1" fmla="+- 4124 0 0"/>
                <a:gd name="G2" fmla="+- 21600 0 0"/>
                <a:gd name="T0" fmla="*/ 21202 w 21600"/>
                <a:gd name="T1" fmla="*/ 0 h 4124"/>
                <a:gd name="T2" fmla="*/ 21600 w 21600"/>
                <a:gd name="T3" fmla="*/ 4124 h 4124"/>
                <a:gd name="T4" fmla="*/ 0 w 21600"/>
                <a:gd name="T5" fmla="*/ 4124 h 4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4" fill="none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</a:path>
                <a:path w="21600" h="4124" stroke="0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  <a:lnTo>
                    <a:pt x="0" y="4124"/>
                  </a:lnTo>
                  <a:close/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96" y="504"/>
              <a:ext cx="2423" cy="2690"/>
              <a:chOff x="296" y="504"/>
              <a:chExt cx="2423" cy="2690"/>
            </a:xfrm>
          </p:grpSpPr>
          <p:sp>
            <p:nvSpPr>
              <p:cNvPr id="52245" name="Arc 21"/>
              <p:cNvSpPr>
                <a:spLocks/>
              </p:cNvSpPr>
              <p:nvPr/>
            </p:nvSpPr>
            <p:spPr bwMode="auto">
              <a:xfrm>
                <a:off x="1361" y="3065"/>
                <a:ext cx="679" cy="129"/>
              </a:xfrm>
              <a:custGeom>
                <a:avLst/>
                <a:gdLst>
                  <a:gd name="G0" fmla="+- 0 0 0"/>
                  <a:gd name="G1" fmla="+- 4177 0 0"/>
                  <a:gd name="G2" fmla="+- 21600 0 0"/>
                  <a:gd name="T0" fmla="*/ 21192 w 21598"/>
                  <a:gd name="T1" fmla="*/ 0 h 4177"/>
                  <a:gd name="T2" fmla="*/ 21598 w 21598"/>
                  <a:gd name="T3" fmla="*/ 3887 h 4177"/>
                  <a:gd name="T4" fmla="*/ 0 w 21598"/>
                  <a:gd name="T5" fmla="*/ 4177 h 4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8" h="4177" fill="none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</a:path>
                  <a:path w="21598" h="4177" stroke="0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  <a:lnTo>
                      <a:pt x="0" y="4177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46" name="Arc 22"/>
              <p:cNvSpPr>
                <a:spLocks/>
              </p:cNvSpPr>
              <p:nvPr/>
            </p:nvSpPr>
            <p:spPr bwMode="auto">
              <a:xfrm>
                <a:off x="1361" y="2981"/>
                <a:ext cx="1132" cy="208"/>
              </a:xfrm>
              <a:custGeom>
                <a:avLst/>
                <a:gdLst>
                  <a:gd name="G0" fmla="+- 0 0 0"/>
                  <a:gd name="G1" fmla="+- 4026 0 0"/>
                  <a:gd name="G2" fmla="+- 21600 0 0"/>
                  <a:gd name="T0" fmla="*/ 21221 w 21600"/>
                  <a:gd name="T1" fmla="*/ 0 h 4045"/>
                  <a:gd name="T2" fmla="*/ 21599 w 21600"/>
                  <a:gd name="T3" fmla="*/ 4045 h 4045"/>
                  <a:gd name="T4" fmla="*/ 0 w 21600"/>
                  <a:gd name="T5" fmla="*/ 4026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45" fill="none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</a:path>
                  <a:path w="21600" h="4045" stroke="0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  <a:lnTo>
                      <a:pt x="0" y="4026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96" y="504"/>
                <a:ext cx="2423" cy="2680"/>
                <a:chOff x="296" y="504"/>
                <a:chExt cx="2423" cy="2680"/>
              </a:xfrm>
            </p:grpSpPr>
            <p:sp>
              <p:nvSpPr>
                <p:cNvPr id="5224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66" y="1476"/>
                  <a:ext cx="253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</a:p>
              </p:txBody>
            </p:sp>
            <p:sp>
              <p:nvSpPr>
                <p:cNvPr id="52249" name="Line 25"/>
                <p:cNvSpPr>
                  <a:spLocks noChangeShapeType="1"/>
                </p:cNvSpPr>
                <p:nvPr/>
              </p:nvSpPr>
              <p:spPr bwMode="auto">
                <a:xfrm>
                  <a:off x="2312" y="1720"/>
                  <a:ext cx="3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52250" name="Picture 26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96" y="692"/>
                  <a:ext cx="2144" cy="10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5225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360" y="504"/>
                  <a:ext cx="0" cy="12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09" y="556"/>
                  <a:ext cx="529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OTF(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)</a:t>
                  </a:r>
                  <a:endParaRPr lang="en-US" altLang="en-US" sz="1600" b="1">
                    <a:solidFill>
                      <a:srgbClr val="000000"/>
                    </a:solidFill>
                    <a:latin typeface="Helvetica" charset="0"/>
                  </a:endParaRPr>
                </a:p>
              </p:txBody>
            </p:sp>
            <p:sp>
              <p:nvSpPr>
                <p:cNvPr id="5225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584" y="1056"/>
                  <a:ext cx="0" cy="212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043" y="1562"/>
                  <a:ext cx="0" cy="161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493" y="1717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277" y="1693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315201" y="739775"/>
            <a:ext cx="1450975" cy="5921375"/>
            <a:chOff x="4608" y="466"/>
            <a:chExt cx="914" cy="373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4608" y="466"/>
              <a:ext cx="914" cy="2876"/>
              <a:chOff x="4608" y="466"/>
              <a:chExt cx="914" cy="2876"/>
            </a:xfrm>
          </p:grpSpPr>
          <p:sp>
            <p:nvSpPr>
              <p:cNvPr id="52263" name="Text Box 39"/>
              <p:cNvSpPr txBox="1">
                <a:spLocks noChangeArrowheads="1"/>
              </p:cNvSpPr>
              <p:nvPr/>
            </p:nvSpPr>
            <p:spPr bwMode="auto">
              <a:xfrm>
                <a:off x="4608" y="466"/>
                <a:ext cx="91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52264" name="Picture 40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645" y="796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5" name="Picture 4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645" y="1649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6" name="Picture 4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645" y="2502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52267" name="Picture 43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45" y="3356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2225675" y="2052638"/>
            <a:ext cx="0" cy="2006600"/>
          </a:xfrm>
          <a:prstGeom prst="line">
            <a:avLst/>
          </a:prstGeom>
          <a:noFill/>
          <a:ln w="12700">
            <a:solidFill>
              <a:srgbClr val="0E0E0E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50"/>
          <p:cNvSpPr>
            <a:spLocks noChangeShapeType="1"/>
          </p:cNvSpPr>
          <p:nvPr/>
        </p:nvSpPr>
        <p:spPr bwMode="auto">
          <a:xfrm flipV="1">
            <a:off x="7018338" y="1573213"/>
            <a:ext cx="0" cy="906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446088" y="109538"/>
            <a:ext cx="81692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2D In-focus Optical Transfer Function (OTF)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968750" y="4521200"/>
            <a:ext cx="42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pic>
        <p:nvPicPr>
          <p:cNvPr id="54298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5" y="2427288"/>
            <a:ext cx="3403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260475" y="20351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pic>
        <p:nvPicPr>
          <p:cNvPr id="54317" name="Picture 4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188" y="1501775"/>
            <a:ext cx="3351212" cy="367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18" name="Line 46"/>
          <p:cNvSpPr>
            <a:spLocks noChangeShapeType="1"/>
          </p:cNvSpPr>
          <p:nvPr/>
        </p:nvSpPr>
        <p:spPr bwMode="auto">
          <a:xfrm>
            <a:off x="7989888" y="4338638"/>
            <a:ext cx="538162" cy="93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8559800" y="4310063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6262688" y="5294313"/>
            <a:ext cx="395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1" name="Line 49"/>
          <p:cNvSpPr>
            <a:spLocks noChangeShapeType="1"/>
          </p:cNvSpPr>
          <p:nvPr/>
        </p:nvSpPr>
        <p:spPr bwMode="auto">
          <a:xfrm flipH="1">
            <a:off x="6519863" y="4773613"/>
            <a:ext cx="249237" cy="498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Text Box 51"/>
          <p:cNvSpPr txBox="1">
            <a:spLocks noChangeArrowheads="1"/>
          </p:cNvSpPr>
          <p:nvPr/>
        </p:nvSpPr>
        <p:spPr bwMode="auto">
          <a:xfrm>
            <a:off x="6061075" y="1519238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3721100" y="4875213"/>
            <a:ext cx="52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1533525" y="5694363"/>
            <a:ext cx="163988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(Idealized calculations)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3060700" y="4962525"/>
            <a:ext cx="1049338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3938588" y="5033963"/>
            <a:ext cx="24114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36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pic>
        <p:nvPicPr>
          <p:cNvPr id="49156" name="Picture 4" descr="psf1det.tiff 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3" y="4333875"/>
            <a:ext cx="2197100" cy="2157413"/>
          </a:xfrm>
          <a:prstGeom prst="rect">
            <a:avLst/>
          </a:prstGeom>
          <a:noFill/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85775" y="1081088"/>
            <a:ext cx="24114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PSF</a:t>
            </a:r>
          </a:p>
        </p:txBody>
      </p:sp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5313" y="1431925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" y="1465263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7813" y="1198563"/>
            <a:ext cx="2251075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569913" y="3943350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3D PSF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5319713" y="1081088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OTF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3054350" y="27051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3059113" y="5370513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3460750" y="109538"/>
            <a:ext cx="21288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3D OTF</a:t>
            </a:r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2974975" y="2282825"/>
            <a:ext cx="104933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F.T.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9900" y="4010025"/>
            <a:ext cx="5434013" cy="2392363"/>
            <a:chOff x="1896" y="2526"/>
            <a:chExt cx="3423" cy="1507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2775" y="2526"/>
              <a:ext cx="2544" cy="1507"/>
              <a:chOff x="2775" y="2526"/>
              <a:chExt cx="2544" cy="1507"/>
            </a:xfrm>
          </p:grpSpPr>
          <p:pic>
            <p:nvPicPr>
              <p:cNvPr id="49165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5" y="2780"/>
                <a:ext cx="2544" cy="1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9168" name="Text Box 16"/>
              <p:cNvSpPr txBox="1">
                <a:spLocks noChangeArrowheads="1"/>
              </p:cNvSpPr>
              <p:nvPr/>
            </p:nvSpPr>
            <p:spPr bwMode="auto">
              <a:xfrm>
                <a:off x="3200" y="2526"/>
                <a:ext cx="1519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en-US" sz="2000">
                    <a:solidFill>
                      <a:srgbClr val="660066"/>
                    </a:solidFill>
                    <a:latin typeface="Chalkboard" charset="0"/>
                  </a:rPr>
                  <a:t>3D OTF</a:t>
                </a:r>
              </a:p>
            </p:txBody>
          </p:sp>
        </p:grpSp>
        <p:sp>
          <p:nvSpPr>
            <p:cNvPr id="49189" name="Text Box 37"/>
            <p:cNvSpPr txBox="1">
              <a:spLocks noChangeArrowheads="1"/>
            </p:cNvSpPr>
            <p:nvPr/>
          </p:nvSpPr>
          <p:spPr bwMode="auto">
            <a:xfrm>
              <a:off x="1896" y="3083"/>
              <a:ext cx="661" cy="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2000">
                  <a:solidFill>
                    <a:srgbClr val="660066"/>
                  </a:solidFill>
                  <a:latin typeface="Chalkboard" charset="0"/>
                </a:rPr>
                <a:t>3D F.T.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&#10;otf1det.tiff2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1014413"/>
            <a:ext cx="7421562" cy="5353050"/>
          </a:xfrm>
          <a:prstGeom prst="rect">
            <a:avLst/>
          </a:prstGeom>
          <a:noFill/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55863" y="300038"/>
            <a:ext cx="37988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Values of the 3D OTF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7162800" y="3771900"/>
            <a:ext cx="6477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475538" y="38465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z</a:t>
            </a:r>
            <a:endParaRPr lang="en-US" altLang="en-US" sz="2000" i="1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967038" y="27924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x</a:t>
            </a:r>
            <a:endParaRPr lang="en-US" altLang="en-US" sz="2000" i="1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3365500" y="2844800"/>
            <a:ext cx="203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541588" y="428625"/>
            <a:ext cx="378142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3D Observable Region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64163" y="2662238"/>
            <a:ext cx="3027362" cy="1704975"/>
            <a:chOff x="531" y="2117"/>
            <a:chExt cx="1907" cy="1074"/>
          </a:xfrm>
        </p:grpSpPr>
        <p:pic>
          <p:nvPicPr>
            <p:cNvPr id="58372" name="Picture 4" descr="sep donuts 0.jpg                                               000128D6Mats Powerbook                 ABA78158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1" y="2117"/>
              <a:ext cx="1886" cy="1074"/>
            </a:xfrm>
            <a:prstGeom prst="rect">
              <a:avLst/>
            </a:prstGeom>
            <a:noFill/>
          </p:spPr>
        </p:pic>
        <p:sp>
          <p:nvSpPr>
            <p:cNvPr id="58373" name="Freeform 5"/>
            <p:cNvSpPr>
              <a:spLocks/>
            </p:cNvSpPr>
            <p:nvPr/>
          </p:nvSpPr>
          <p:spPr bwMode="auto">
            <a:xfrm>
              <a:off x="2354" y="2476"/>
              <a:ext cx="84" cy="402"/>
            </a:xfrm>
            <a:custGeom>
              <a:avLst/>
              <a:gdLst/>
              <a:ahLst/>
              <a:cxnLst>
                <a:cxn ang="0">
                  <a:pos x="48" y="252"/>
                </a:cxn>
                <a:cxn ang="0">
                  <a:pos x="60" y="188"/>
                </a:cxn>
                <a:cxn ang="0">
                  <a:pos x="18" y="0"/>
                </a:cxn>
                <a:cxn ang="0">
                  <a:pos x="80" y="0"/>
                </a:cxn>
                <a:cxn ang="0">
                  <a:pos x="84" y="402"/>
                </a:cxn>
                <a:cxn ang="0">
                  <a:pos x="0" y="388"/>
                </a:cxn>
                <a:cxn ang="0">
                  <a:pos x="48" y="252"/>
                </a:cxn>
              </a:cxnLst>
              <a:rect l="0" t="0" r="r" b="b"/>
              <a:pathLst>
                <a:path w="84" h="402">
                  <a:moveTo>
                    <a:pt x="48" y="252"/>
                  </a:moveTo>
                  <a:lnTo>
                    <a:pt x="60" y="188"/>
                  </a:lnTo>
                  <a:lnTo>
                    <a:pt x="18" y="0"/>
                  </a:lnTo>
                  <a:lnTo>
                    <a:pt x="80" y="0"/>
                  </a:lnTo>
                  <a:lnTo>
                    <a:pt x="84" y="402"/>
                  </a:lnTo>
                  <a:lnTo>
                    <a:pt x="0" y="388"/>
                  </a:lnTo>
                  <a:lnTo>
                    <a:pt x="48" y="25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727075" y="2503488"/>
            <a:ext cx="2054225" cy="2054225"/>
          </a:xfrm>
          <a:prstGeom prst="ellipse">
            <a:avLst/>
          </a:prstGeom>
          <a:solidFill>
            <a:srgbClr val="008040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1770063" y="22828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84200" y="3543300"/>
            <a:ext cx="246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2771775" y="3532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74825" y="21272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06825" y="2606675"/>
            <a:ext cx="631825" cy="1873250"/>
            <a:chOff x="3196" y="1554"/>
            <a:chExt cx="398" cy="1180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58383" name="Freeform 1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Freeform 1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58386" name="Freeform 1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Freeform 1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388" name="Line 20"/>
          <p:cNvSpPr>
            <a:spLocks noChangeShapeType="1"/>
          </p:cNvSpPr>
          <p:nvPr/>
        </p:nvSpPr>
        <p:spPr bwMode="auto">
          <a:xfrm flipV="1">
            <a:off x="4124325" y="22955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590925" y="3540125"/>
            <a:ext cx="118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4425950" y="3552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4192588" y="23209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016125" y="815975"/>
            <a:ext cx="511968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OTF support</a:t>
            </a:r>
          </a:p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Region where the OTF is non-zero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5366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67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5369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70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6390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1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6393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4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23" name="Freeform 3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4" name="Freeform 4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26" name="Freeform 4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7" name="Freeform 4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0" name="Freeform 4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1" name="Freeform 4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33" name="Freeform 4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4" name="Freeform 5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7" name="Freeform 53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8" name="Freeform 54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40" name="Freeform 5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41" name="Freeform 5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6212126" y="2593975"/>
            <a:ext cx="254428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Lowering the NA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Degrades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faster than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lateral resolution</a:t>
            </a:r>
          </a:p>
          <a:p>
            <a:pPr algn="ctr"/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But low 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= long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depth of field</a:t>
            </a:r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This is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good</a:t>
            </a:r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,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if 2D is enough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60421" name="Freeform 5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2" name="Freeform 6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60424" name="Freeform 8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5" name="Freeform 9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6161088" y="2652713"/>
            <a:ext cx="2905125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NA = 1.4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n=1.515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        a 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= 67.5°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l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600 nm</a:t>
            </a: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Lateral (XY)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xy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0.21 µm</a:t>
            </a:r>
          </a:p>
          <a:p>
            <a:pPr>
              <a:lnSpc>
                <a:spcPct val="5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Axial (Z)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z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0.64 µm</a:t>
            </a:r>
          </a:p>
        </p:txBody>
      </p:sp>
      <p:sp>
        <p:nvSpPr>
          <p:cNvPr id="60445" name="AutoShape 29"/>
          <p:cNvSpPr>
            <a:spLocks noChangeArrowheads="1"/>
          </p:cNvSpPr>
          <p:nvPr/>
        </p:nvSpPr>
        <p:spPr bwMode="auto">
          <a:xfrm>
            <a:off x="6032500" y="1384300"/>
            <a:ext cx="2882900" cy="4851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b="0">
              <a:solidFill>
                <a:srgbClr val="CC0000"/>
              </a:solidFill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6116638" y="1774825"/>
            <a:ext cx="25701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0">
                <a:latin typeface="Chalkboard" charset="0"/>
              </a:rPr>
              <a:t>Example:</a:t>
            </a:r>
          </a:p>
          <a:p>
            <a:pPr algn="ctr"/>
            <a:r>
              <a:rPr lang="en-US" altLang="en-US" sz="2000" b="0">
                <a:latin typeface="Chalkboard" charset="0"/>
              </a:rPr>
              <a:t>a high-end objective</a:t>
            </a:r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>
            <a:off x="6299200" y="3479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7188200" y="4241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54" name="Freeform 3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5" name="Freeform 3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57" name="Freeform 41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8" name="Freeform 42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1" name="Freeform 4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2" name="Freeform 4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64" name="Freeform 4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5" name="Freeform 4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8" name="Freeform 5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9" name="Freeform 5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71" name="Freeform 5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72" name="Freeform 5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817813" y="412750"/>
            <a:ext cx="30146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3600">
                <a:solidFill>
                  <a:schemeClr val="tx2"/>
                </a:solidFill>
                <a:latin typeface="Chalkboard" charset="0"/>
              </a:rPr>
              <a:t>Nomenclature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05000" y="2682875"/>
            <a:ext cx="55626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Optical Transfer Function, OTF</a:t>
            </a:r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Complex value with amplitude and phase</a:t>
            </a:r>
          </a:p>
          <a:p>
            <a:pPr lvl="1"/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Contrast Transfer Function, CTF</a:t>
            </a: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Modulation Transfer Function, MTF</a:t>
            </a: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Same thing without the phase information</a:t>
            </a:r>
          </a:p>
          <a:p>
            <a:pPr lvl="1"/>
            <a:endParaRPr lang="en-US" altLang="en-US" sz="1800" dirty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457200" y="1295400"/>
            <a:ext cx="82296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Slides available at: http://nic.ucsf.edu/edu.html </a:t>
            </a:r>
            <a:br>
              <a:rPr lang="en-US" b="0" dirty="0" smtClean="0">
                <a:latin typeface="Arial" charset="0"/>
              </a:rPr>
            </a:br>
            <a:endParaRPr lang="en-US" b="0" dirty="0" smtClean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http</a:t>
            </a:r>
            <a:r>
              <a:rPr lang="en-US" b="0" dirty="0">
                <a:latin typeface="Arial" charset="0"/>
              </a:rPr>
              <a:t>://www.microscopyu.com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http://micro.magnet.fsu.edu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Douglas B. Murphy “Fundamentals of Light Microscopy and Electronic Imaging”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James Pawley, Ed. “Handbook of Biological </a:t>
            </a:r>
            <a:r>
              <a:rPr lang="en-US" b="0" dirty="0" err="1">
                <a:latin typeface="Arial" charset="0"/>
              </a:rPr>
              <a:t>Confocal</a:t>
            </a:r>
            <a:r>
              <a:rPr lang="en-US" b="0" dirty="0">
                <a:latin typeface="Arial" charset="0"/>
              </a:rPr>
              <a:t> Microscopy, 3rd ed.”</a:t>
            </a:r>
          </a:p>
        </p:txBody>
      </p:sp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2438400" y="5029200"/>
            <a:ext cx="419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0" dirty="0">
                <a:latin typeface="Arial" charset="0"/>
              </a:rPr>
              <a:t>Acknowledgements</a:t>
            </a:r>
          </a:p>
        </p:txBody>
      </p:sp>
      <p:sp>
        <p:nvSpPr>
          <p:cNvPr id="325642" name="Text Box 10"/>
          <p:cNvSpPr txBox="1">
            <a:spLocks noChangeArrowheads="1"/>
          </p:cNvSpPr>
          <p:nvPr/>
        </p:nvSpPr>
        <p:spPr bwMode="auto">
          <a:xfrm>
            <a:off x="6096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 smtClean="0">
                <a:latin typeface="Arial" charset="0"/>
              </a:rPr>
              <a:t>Steve </a:t>
            </a:r>
            <a:r>
              <a:rPr lang="en-US" b="0" dirty="0">
                <a:latin typeface="Arial" charset="0"/>
              </a:rPr>
              <a:t>Ross, </a:t>
            </a:r>
            <a:r>
              <a:rPr lang="en-US" b="0" dirty="0" smtClean="0">
                <a:latin typeface="Arial" charset="0"/>
              </a:rPr>
              <a:t>Mats </a:t>
            </a:r>
            <a:r>
              <a:rPr lang="en-US" b="0" dirty="0" err="1">
                <a:latin typeface="Arial" charset="0"/>
              </a:rPr>
              <a:t>Gustafsson</a:t>
            </a:r>
            <a:endParaRPr 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halkboard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20453</TotalTime>
  <Words>2008</Words>
  <Application>Microsoft Office PowerPoint</Application>
  <PresentationFormat>On-screen Show (4:3)</PresentationFormat>
  <Paragraphs>693</Paragraphs>
  <Slides>56</Slides>
  <Notes>56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Theme1</vt:lpstr>
      <vt:lpstr>Equation</vt:lpstr>
      <vt:lpstr>Microsoft Equation</vt:lpstr>
      <vt:lpstr>Slide 1</vt:lpstr>
      <vt:lpstr>Light travels more slowly in matter</vt:lpstr>
      <vt:lpstr>Aperture and Resolution</vt:lpstr>
      <vt:lpstr>Aperture and Resolution</vt:lpstr>
      <vt:lpstr>Aperture and Resolution</vt:lpstr>
      <vt:lpstr>Aperture and Resolution</vt:lpstr>
      <vt:lpstr>Slide 7</vt:lpstr>
      <vt:lpstr>Slide 8</vt:lpstr>
      <vt:lpstr>NA and Resolution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Z-resolution, a.k.a. depth of field, for widefield microscopy</vt:lpstr>
      <vt:lpstr>Summary: Numerical Aperture and Resolution</vt:lpstr>
      <vt:lpstr>Specifications for some common objectives</vt:lpstr>
      <vt:lpstr>Slide 21</vt:lpstr>
      <vt:lpstr>Slide 22</vt:lpstr>
      <vt:lpstr>Slide 23</vt:lpstr>
      <vt:lpstr>Wavefront Aberrations</vt:lpstr>
      <vt:lpstr>Slide 25</vt:lpstr>
      <vt:lpstr>Slide 26</vt:lpstr>
      <vt:lpstr>Spherical Aberration</vt:lpstr>
      <vt:lpstr>Slide 28</vt:lpstr>
      <vt:lpstr>Causes of spherical aberration</vt:lpstr>
      <vt:lpstr>Slide 30</vt:lpstr>
      <vt:lpstr>Slide 31</vt:lpstr>
      <vt:lpstr>Slide 32</vt:lpstr>
      <vt:lpstr> How to recognize spherical aberration</vt:lpstr>
      <vt:lpstr>What can you do about spherical aberration?</vt:lpstr>
      <vt:lpstr>Correction collars</vt:lpstr>
      <vt:lpstr>Example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Light Microscopy  Kurt Thorn NIC</dc:title>
  <dc:creator>kthorn</dc:creator>
  <cp:lastModifiedBy>Kurt Thorn</cp:lastModifiedBy>
  <cp:revision>230</cp:revision>
  <dcterms:created xsi:type="dcterms:W3CDTF">2002-01-07T13:00:14Z</dcterms:created>
  <dcterms:modified xsi:type="dcterms:W3CDTF">2010-04-06T23:15:15Z</dcterms:modified>
</cp:coreProperties>
</file>