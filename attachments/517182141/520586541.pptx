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50"/>
  </p:notesMasterIdLst>
  <p:sldIdLst>
    <p:sldId id="256" r:id="rId2"/>
    <p:sldId id="260" r:id="rId3"/>
    <p:sldId id="292" r:id="rId4"/>
    <p:sldId id="290" r:id="rId5"/>
    <p:sldId id="341" r:id="rId6"/>
    <p:sldId id="338" r:id="rId7"/>
    <p:sldId id="339" r:id="rId8"/>
    <p:sldId id="340" r:id="rId9"/>
    <p:sldId id="342" r:id="rId10"/>
    <p:sldId id="343" r:id="rId11"/>
    <p:sldId id="344" r:id="rId12"/>
    <p:sldId id="345" r:id="rId13"/>
    <p:sldId id="349" r:id="rId14"/>
    <p:sldId id="261" r:id="rId15"/>
    <p:sldId id="331" r:id="rId16"/>
    <p:sldId id="296" r:id="rId17"/>
    <p:sldId id="332" r:id="rId18"/>
    <p:sldId id="297" r:id="rId19"/>
    <p:sldId id="333" r:id="rId20"/>
    <p:sldId id="346" r:id="rId21"/>
    <p:sldId id="301" r:id="rId22"/>
    <p:sldId id="347" r:id="rId23"/>
    <p:sldId id="298" r:id="rId24"/>
    <p:sldId id="299" r:id="rId25"/>
    <p:sldId id="305" r:id="rId26"/>
    <p:sldId id="302" r:id="rId27"/>
    <p:sldId id="308" r:id="rId28"/>
    <p:sldId id="303" r:id="rId29"/>
    <p:sldId id="319" r:id="rId30"/>
    <p:sldId id="320" r:id="rId31"/>
    <p:sldId id="304" r:id="rId32"/>
    <p:sldId id="306" r:id="rId33"/>
    <p:sldId id="307" r:id="rId34"/>
    <p:sldId id="312" r:id="rId35"/>
    <p:sldId id="318" r:id="rId36"/>
    <p:sldId id="322" r:id="rId37"/>
    <p:sldId id="323" r:id="rId38"/>
    <p:sldId id="324" r:id="rId39"/>
    <p:sldId id="325" r:id="rId40"/>
    <p:sldId id="326" r:id="rId41"/>
    <p:sldId id="327" r:id="rId42"/>
    <p:sldId id="328" r:id="rId43"/>
    <p:sldId id="329" r:id="rId44"/>
    <p:sldId id="330" r:id="rId45"/>
    <p:sldId id="289" r:id="rId46"/>
    <p:sldId id="314" r:id="rId47"/>
    <p:sldId id="317" r:id="rId48"/>
    <p:sldId id="348" r:id="rId4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37" autoAdjust="0"/>
    <p:restoredTop sz="93363" autoAdjust="0"/>
  </p:normalViewPr>
  <p:slideViewPr>
    <p:cSldViewPr>
      <p:cViewPr>
        <p:scale>
          <a:sx n="80" d="100"/>
          <a:sy n="80" d="100"/>
        </p:scale>
        <p:origin x="-288" y="-18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40F81B-C0E9-42C4-BA03-E6D3BCDC85E4}" type="datetimeFigureOut">
              <a:rPr lang="en-US" smtClean="0"/>
              <a:pPr/>
              <a:t>3/30/2011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2E1AB7-7D89-48F4-8F44-E2BC2E25098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B2E1AB7-7D89-48F4-8F44-E2BC2E25098B}" type="slidenum">
              <a:rPr lang="en-US" smtClean="0"/>
              <a:pPr/>
              <a:t>27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DD3247-65ED-408B-B9D0-F8BD61C9F377}" type="slidenum">
              <a:rPr lang="en-US"/>
              <a:pPr/>
              <a:t>29</a:t>
            </a:fld>
            <a:endParaRPr lang="en-US"/>
          </a:p>
        </p:txBody>
      </p:sp>
      <p:sp>
        <p:nvSpPr>
          <p:cNvPr id="523266" name="Rectangle 2"/>
          <p:cNvSpPr>
            <a:spLocks noGrp="1" noRot="1" noChangeAspect="1" noChangeArrowheads="1" noTextEdit="1"/>
          </p:cNvSpPr>
          <p:nvPr>
            <p:ph type="sldImg"/>
          </p:nvPr>
        </p:nvSpPr>
        <p:spPr>
          <a:ln/>
        </p:spPr>
      </p:sp>
      <p:sp>
        <p:nvSpPr>
          <p:cNvPr id="523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47EEB7-2F49-4B39-85A1-397A10031A9B}" type="slidenum">
              <a:rPr lang="en-US"/>
              <a:pPr/>
              <a:t>30</a:t>
            </a:fld>
            <a:endParaRPr lang="en-US"/>
          </a:p>
        </p:txBody>
      </p:sp>
      <p:sp>
        <p:nvSpPr>
          <p:cNvPr id="525314" name="Rectangle 2"/>
          <p:cNvSpPr>
            <a:spLocks noGrp="1" noRot="1" noChangeAspect="1" noChangeArrowheads="1" noTextEdit="1"/>
          </p:cNvSpPr>
          <p:nvPr>
            <p:ph type="sldImg"/>
          </p:nvPr>
        </p:nvSpPr>
        <p:spPr>
          <a:ln/>
        </p:spPr>
      </p:sp>
      <p:sp>
        <p:nvSpPr>
          <p:cNvPr id="5253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036CCD-5927-4F38-A74D-AC76E34BB43E}" type="slidenum">
              <a:rPr lang="en-US"/>
              <a:pPr/>
              <a:t>36</a:t>
            </a:fld>
            <a:endParaRPr lang="en-US"/>
          </a:p>
        </p:txBody>
      </p:sp>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AF08C8-0CDB-4FA3-8786-4AC17FB48E14}" type="slidenum">
              <a:rPr lang="en-US"/>
              <a:pPr/>
              <a:t>37</a:t>
            </a:fld>
            <a:endParaRPr lang="en-US"/>
          </a:p>
        </p:txBody>
      </p:sp>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a:xfrm>
            <a:off x="914400" y="4343400"/>
            <a:ext cx="5029200" cy="4114800"/>
          </a:xfr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72FCE0-A870-4E6B-968E-7F900974FC97}" type="slidenum">
              <a:rPr lang="en-US"/>
              <a:pPr/>
              <a:t>38</a:t>
            </a:fld>
            <a:endParaRPr lang="en-US"/>
          </a:p>
        </p:txBody>
      </p:sp>
      <p:sp>
        <p:nvSpPr>
          <p:cNvPr id="163842" name="Rectangle 2"/>
          <p:cNvSpPr>
            <a:spLocks noGrp="1" noRot="1" noChangeAspect="1" noChangeArrowheads="1" noTextEdit="1"/>
          </p:cNvSpPr>
          <p:nvPr>
            <p:ph type="sldImg"/>
          </p:nvPr>
        </p:nvSpPr>
        <p:spPr>
          <a:ln/>
        </p:spPr>
      </p:sp>
      <p:sp>
        <p:nvSpPr>
          <p:cNvPr id="1638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58E8B6-D643-47EE-920A-5EEC75A58509}" type="slidenum">
              <a:rPr lang="en-US"/>
              <a:pPr/>
              <a:t>39</a:t>
            </a:fld>
            <a:endParaRPr lang="en-US"/>
          </a:p>
        </p:txBody>
      </p:sp>
      <p:sp>
        <p:nvSpPr>
          <p:cNvPr id="216066" name="Rectangle 2"/>
          <p:cNvSpPr>
            <a:spLocks noGrp="1" noRot="1" noChangeAspect="1" noChangeArrowheads="1" noTextEdit="1"/>
          </p:cNvSpPr>
          <p:nvPr>
            <p:ph type="sldImg"/>
          </p:nvPr>
        </p:nvSpPr>
        <p:spPr>
          <a:ln/>
        </p:spPr>
      </p:sp>
      <p:sp>
        <p:nvSpPr>
          <p:cNvPr id="216067" name="Rectangle 3"/>
          <p:cNvSpPr>
            <a:spLocks noGrp="1" noChangeArrowheads="1"/>
          </p:cNvSpPr>
          <p:nvPr>
            <p:ph type="body" idx="1"/>
          </p:nvPr>
        </p:nvSpPr>
        <p:spPr>
          <a:xfrm>
            <a:off x="685800" y="4343400"/>
            <a:ext cx="5486400" cy="4114800"/>
          </a:xfr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58E8B6-D643-47EE-920A-5EEC75A58509}" type="slidenum">
              <a:rPr lang="en-US"/>
              <a:pPr/>
              <a:t>40</a:t>
            </a:fld>
            <a:endParaRPr lang="en-US"/>
          </a:p>
        </p:txBody>
      </p:sp>
      <p:sp>
        <p:nvSpPr>
          <p:cNvPr id="216066" name="Rectangle 2"/>
          <p:cNvSpPr>
            <a:spLocks noGrp="1" noRot="1" noChangeAspect="1" noChangeArrowheads="1" noTextEdit="1"/>
          </p:cNvSpPr>
          <p:nvPr>
            <p:ph type="sldImg"/>
          </p:nvPr>
        </p:nvSpPr>
        <p:spPr>
          <a:ln/>
        </p:spPr>
      </p:sp>
      <p:sp>
        <p:nvSpPr>
          <p:cNvPr id="216067" name="Rectangle 3"/>
          <p:cNvSpPr>
            <a:spLocks noGrp="1" noChangeArrowheads="1"/>
          </p:cNvSpPr>
          <p:nvPr>
            <p:ph type="body" idx="1"/>
          </p:nvPr>
        </p:nvSpPr>
        <p:spPr>
          <a:xfrm>
            <a:off x="685800" y="4343400"/>
            <a:ext cx="5486400" cy="4114800"/>
          </a:xfr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9787E85-3004-4F42-8F48-D23AF3972E60}" type="slidenum">
              <a:rPr lang="en-US" smtClean="0"/>
              <a:pPr>
                <a:defRPr/>
              </a:pPr>
              <a:t>41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9787E85-3004-4F42-8F48-D23AF3972E60}" type="slidenum">
              <a:rPr lang="en-US" smtClean="0"/>
              <a:pPr>
                <a:defRPr/>
              </a:pPr>
              <a:t>42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D1F26AB9-A178-42EB-B065-4B24A901579B}" type="slidenum">
              <a:rPr lang="en-US"/>
              <a:pPr/>
              <a:t>43</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9787E85-3004-4F42-8F48-D23AF3972E60}" type="slidenum">
              <a:rPr lang="en-US" smtClean="0"/>
              <a:pPr>
                <a:defRPr/>
              </a:pPr>
              <a:t>44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98E86-DE5E-41D4-BB1A-47BB7298A20F}"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3D83F7-BA66-46A8-ADCB-EE9FBFE418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CC34D4-DF09-436A-B093-2915CA0CAEEA}"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37518-C3A5-415A-87DF-B5A17A3003F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31648E-7BE8-4F33-A567-9AE452BF6CC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CABA4B-3013-40A9-BA8E-B191144FA38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0DE11D-716D-4829-9362-EC9E58C6CDF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4FEF56-DC90-4AE6-BB62-7BC46BBDEC96}"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B9C4DB2C-BF6F-4C9D-A104-09C306F8CB4C}"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521121-D76D-403D-BB6B-65E606EF40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C98F5520-7685-4673-B685-1046CE4985E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lstStyle>
          <a:p>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lstStyle>
          <a:p>
            <a:fld id="{C64F69AF-D8DB-4D58-88AB-82D83BADBD5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8.wmf"/><Relationship Id="rId4" Type="http://schemas.openxmlformats.org/officeDocument/2006/relationships/image" Target="../media/image17.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dirty="0" smtClean="0"/>
              <a:t>Sample Prep and Best Practices for Imaging</a:t>
            </a:r>
            <a:endParaRPr lang="en-US" dirty="0"/>
          </a:p>
        </p:txBody>
      </p:sp>
      <p:sp>
        <p:nvSpPr>
          <p:cNvPr id="2051" name="Rectangle 3"/>
          <p:cNvSpPr>
            <a:spLocks noGrp="1" noChangeArrowheads="1"/>
          </p:cNvSpPr>
          <p:nvPr>
            <p:ph type="subTitle" idx="1"/>
          </p:nvPr>
        </p:nvSpPr>
        <p:spPr/>
        <p:txBody>
          <a:bodyPr/>
          <a:lstStyle/>
          <a:p>
            <a:r>
              <a:rPr lang="en-US" dirty="0" smtClean="0"/>
              <a:t>Alice </a:t>
            </a:r>
            <a:r>
              <a:rPr lang="en-US" dirty="0" err="1" smtClean="0"/>
              <a:t>Thwin</a:t>
            </a:r>
            <a:endParaRPr lang="en-US" dirty="0" smtClean="0"/>
          </a:p>
          <a:p>
            <a:r>
              <a:rPr lang="en-US" dirty="0" smtClean="0"/>
              <a:t>Nikon Imaging Center</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US" dirty="0" smtClean="0"/>
              <a:t>What is Sample Prep?</a:t>
            </a:r>
            <a:endParaRPr lang="en-US" dirty="0"/>
          </a:p>
        </p:txBody>
      </p:sp>
      <p:sp>
        <p:nvSpPr>
          <p:cNvPr id="6147" name="Rectangle 3"/>
          <p:cNvSpPr>
            <a:spLocks noGrp="1" noChangeArrowheads="1"/>
          </p:cNvSpPr>
          <p:nvPr>
            <p:ph idx="1"/>
          </p:nvPr>
        </p:nvSpPr>
        <p:spPr/>
        <p:txBody>
          <a:bodyPr>
            <a:normAutofit/>
          </a:bodyPr>
          <a:lstStyle/>
          <a:p>
            <a:r>
              <a:rPr lang="en-US" sz="2400" dirty="0" smtClean="0"/>
              <a:t>Wikipedia definition: the ways in which a sample is treated prior to its analysis</a:t>
            </a:r>
          </a:p>
          <a:p>
            <a:pPr lvl="1">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US" dirty="0" smtClean="0"/>
              <a:t>What is Sample Prep?</a:t>
            </a:r>
            <a:endParaRPr lang="en-US" dirty="0"/>
          </a:p>
        </p:txBody>
      </p:sp>
      <p:sp>
        <p:nvSpPr>
          <p:cNvPr id="6147" name="Rectangle 3"/>
          <p:cNvSpPr>
            <a:spLocks noGrp="1" noChangeArrowheads="1"/>
          </p:cNvSpPr>
          <p:nvPr>
            <p:ph idx="1"/>
          </p:nvPr>
        </p:nvSpPr>
        <p:spPr/>
        <p:txBody>
          <a:bodyPr>
            <a:normAutofit/>
          </a:bodyPr>
          <a:lstStyle/>
          <a:p>
            <a:r>
              <a:rPr lang="en-US" sz="2400" dirty="0" smtClean="0"/>
              <a:t>Wikipedia definition: the ways in which a sample is treated prior to </a:t>
            </a:r>
            <a:r>
              <a:rPr lang="en-US" sz="2400" strike="sngStrike" dirty="0" smtClean="0"/>
              <a:t>its analysis</a:t>
            </a:r>
            <a:r>
              <a:rPr lang="en-US" sz="2400" dirty="0" smtClean="0"/>
              <a:t> microscopy.</a:t>
            </a:r>
            <a:endParaRPr lang="en-US" sz="2400" strike="sngStrike" dirty="0" smtClean="0"/>
          </a:p>
          <a:p>
            <a:pPr lvl="1">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Order of events:</a:t>
            </a:r>
            <a:endParaRPr lang="en-US" dirty="0"/>
          </a:p>
        </p:txBody>
      </p:sp>
      <p:sp>
        <p:nvSpPr>
          <p:cNvPr id="3" name="Content Placeholder 2"/>
          <p:cNvSpPr>
            <a:spLocks noGrp="1"/>
          </p:cNvSpPr>
          <p:nvPr>
            <p:ph idx="1"/>
          </p:nvPr>
        </p:nvSpPr>
        <p:spPr>
          <a:xfrm>
            <a:off x="0" y="1447800"/>
            <a:ext cx="9144000" cy="5410200"/>
          </a:xfrm>
        </p:spPr>
        <p:txBody>
          <a:bodyPr>
            <a:normAutofit/>
          </a:bodyPr>
          <a:lstStyle/>
          <a:p>
            <a:pPr lvl="1"/>
            <a:r>
              <a:rPr lang="en-US" sz="2000" dirty="0" smtClean="0"/>
              <a:t>Live imaging</a:t>
            </a:r>
          </a:p>
          <a:p>
            <a:pPr lvl="2"/>
            <a:r>
              <a:rPr lang="en-US" sz="1800" dirty="0" smtClean="0"/>
              <a:t>Dyes – Trackers, useful hints</a:t>
            </a:r>
          </a:p>
          <a:p>
            <a:pPr lvl="2"/>
            <a:r>
              <a:rPr lang="en-US" sz="1800" dirty="0" smtClean="0"/>
              <a:t>Additives</a:t>
            </a:r>
          </a:p>
          <a:p>
            <a:pPr lvl="1"/>
            <a:r>
              <a:rPr lang="en-US" sz="2000" dirty="0" smtClean="0"/>
              <a:t>Fixatives</a:t>
            </a:r>
          </a:p>
          <a:p>
            <a:pPr lvl="1"/>
            <a:r>
              <a:rPr lang="en-US" sz="2000" dirty="0" err="1" smtClean="0"/>
              <a:t>ImmunoHistochemistry</a:t>
            </a:r>
            <a:r>
              <a:rPr lang="en-US" sz="2000" dirty="0" smtClean="0"/>
              <a:t> and </a:t>
            </a:r>
            <a:r>
              <a:rPr lang="en-US" sz="2000" dirty="0" err="1" smtClean="0"/>
              <a:t>ImmunoCytochemistry</a:t>
            </a:r>
            <a:endParaRPr lang="en-US" sz="2000" dirty="0" smtClean="0"/>
          </a:p>
          <a:p>
            <a:pPr lvl="2"/>
            <a:r>
              <a:rPr lang="en-US" sz="1800" dirty="0" smtClean="0"/>
              <a:t>Antibody information for best results</a:t>
            </a:r>
          </a:p>
          <a:p>
            <a:pPr lvl="1"/>
            <a:r>
              <a:rPr lang="en-US" sz="2000" dirty="0" smtClean="0"/>
              <a:t>Mounting Media </a:t>
            </a:r>
          </a:p>
          <a:p>
            <a:pPr lvl="2"/>
            <a:r>
              <a:rPr lang="en-US" sz="1800" dirty="0" smtClean="0"/>
              <a:t>Commercially available</a:t>
            </a:r>
          </a:p>
          <a:p>
            <a:pPr lvl="1"/>
            <a:r>
              <a:rPr lang="en-US" sz="2000" dirty="0" err="1" smtClean="0"/>
              <a:t>Coverslips</a:t>
            </a:r>
            <a:endParaRPr lang="en-US" sz="2000" dirty="0" smtClean="0"/>
          </a:p>
          <a:p>
            <a:pPr lvl="2"/>
            <a:r>
              <a:rPr lang="en-US" sz="1800" dirty="0" smtClean="0"/>
              <a:t>The importance of a #1.5 </a:t>
            </a:r>
            <a:r>
              <a:rPr lang="en-US" sz="1800" dirty="0" err="1" smtClean="0"/>
              <a:t>coverslip</a:t>
            </a:r>
            <a:endParaRPr lang="en-US" sz="1800" dirty="0" smtClean="0"/>
          </a:p>
          <a:p>
            <a:pPr lvl="1"/>
            <a:r>
              <a:rPr lang="en-US" sz="2000" dirty="0" smtClean="0"/>
              <a:t>Choosing your </a:t>
            </a:r>
          </a:p>
          <a:p>
            <a:pPr lvl="2"/>
            <a:r>
              <a:rPr lang="en-US" sz="1800" dirty="0" smtClean="0"/>
              <a:t>Objective</a:t>
            </a:r>
          </a:p>
          <a:p>
            <a:pPr lvl="2"/>
            <a:r>
              <a:rPr lang="en-US" sz="1800" dirty="0" smtClean="0"/>
              <a:t>Microscopy technique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Perfect Focus System</a:t>
            </a:r>
            <a:endParaRPr lang="en-US" dirty="0"/>
          </a:p>
        </p:txBody>
      </p:sp>
      <p:pic>
        <p:nvPicPr>
          <p:cNvPr id="1027" name="Picture 3"/>
          <p:cNvPicPr>
            <a:picLocks noGrp="1" noChangeAspect="1" noChangeArrowheads="1"/>
          </p:cNvPicPr>
          <p:nvPr>
            <p:ph idx="1"/>
          </p:nvPr>
        </p:nvPicPr>
        <p:blipFill>
          <a:blip r:embed="rId2" cstate="print"/>
          <a:srcRect/>
          <a:stretch>
            <a:fillRect/>
          </a:stretch>
        </p:blipFill>
        <p:spPr bwMode="auto">
          <a:xfrm>
            <a:off x="685800" y="2667000"/>
            <a:ext cx="7702676" cy="3531552"/>
          </a:xfrm>
          <a:prstGeom prst="rect">
            <a:avLst/>
          </a:prstGeom>
          <a:noFill/>
          <a:ln w="9525">
            <a:noFill/>
            <a:miter lim="800000"/>
            <a:headEnd/>
            <a:tailEnd/>
          </a:ln>
          <a:effectLst/>
        </p:spPr>
      </p:pic>
      <p:sp>
        <p:nvSpPr>
          <p:cNvPr id="8" name="Content Placeholder 2"/>
          <p:cNvSpPr txBox="1">
            <a:spLocks/>
          </p:cNvSpPr>
          <p:nvPr/>
        </p:nvSpPr>
        <p:spPr>
          <a:xfrm>
            <a:off x="457200" y="1600200"/>
            <a:ext cx="8229600" cy="4625609"/>
          </a:xfrm>
          <a:prstGeom prst="rect">
            <a:avLst/>
          </a:prstGeom>
        </p:spPr>
        <p:txBody>
          <a:bodyPr vert="horz" lIns="54864" tIns="91440" rtlCol="0">
            <a:normAutofit/>
          </a:bodyPr>
          <a:lstStyle/>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Necessary for Time-Lapse Live cell Imaging</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Live Cell Microscopy</a:t>
            </a:r>
            <a:endParaRPr lang="en-US" dirty="0"/>
          </a:p>
        </p:txBody>
      </p:sp>
      <p:sp>
        <p:nvSpPr>
          <p:cNvPr id="3" name="Content Placeholder 2"/>
          <p:cNvSpPr>
            <a:spLocks noGrp="1"/>
          </p:cNvSpPr>
          <p:nvPr>
            <p:ph idx="1"/>
          </p:nvPr>
        </p:nvSpPr>
        <p:spPr>
          <a:xfrm>
            <a:off x="457200" y="1524001"/>
            <a:ext cx="8229600" cy="5105400"/>
          </a:xfrm>
        </p:spPr>
        <p:txBody>
          <a:bodyPr>
            <a:normAutofit fontScale="40000" lnSpcReduction="20000"/>
          </a:bodyPr>
          <a:lstStyle/>
          <a:p>
            <a:r>
              <a:rPr lang="en-US" sz="4000" dirty="0" smtClean="0"/>
              <a:t>Keeping your cells happy and ALIVE!</a:t>
            </a:r>
          </a:p>
          <a:p>
            <a:pPr>
              <a:buNone/>
            </a:pPr>
            <a:endParaRPr lang="en-US" sz="4000" i="1" dirty="0" smtClean="0"/>
          </a:p>
          <a:p>
            <a:pPr>
              <a:buNone/>
            </a:pPr>
            <a:r>
              <a:rPr lang="en-US" sz="4000" i="1" dirty="0" smtClean="0"/>
              <a:t>• Maintain pH </a:t>
            </a:r>
          </a:p>
          <a:p>
            <a:pPr lvl="1"/>
            <a:r>
              <a:rPr lang="en-US" sz="3500" dirty="0" smtClean="0"/>
              <a:t>The pH value of NaHCO3 buffered media depends on the CO2 content of the incubator atmosphere. When the CO2 supply to an incubator fails, media becomes alkaline and cells are adversely affected and may die. </a:t>
            </a:r>
          </a:p>
          <a:p>
            <a:pPr lvl="1"/>
            <a:r>
              <a:rPr lang="en-US" sz="3500" dirty="0" smtClean="0"/>
              <a:t>You can image cells in their normal growth medium if you supply 5% CO2 to the dish on the microscope stage. </a:t>
            </a:r>
          </a:p>
          <a:p>
            <a:pPr lvl="1"/>
            <a:r>
              <a:rPr lang="en-US" sz="3500" dirty="0" smtClean="0"/>
              <a:t>HEPES buffer does not require a controlled atmosphere.</a:t>
            </a:r>
          </a:p>
          <a:p>
            <a:pPr lvl="1"/>
            <a:r>
              <a:rPr lang="en-US" sz="3500" dirty="0" smtClean="0"/>
              <a:t>Do not image live cells in PBS. </a:t>
            </a:r>
          </a:p>
          <a:p>
            <a:pPr lvl="1">
              <a:buNone/>
            </a:pPr>
            <a:endParaRPr lang="en-US" sz="4000" dirty="0" smtClean="0"/>
          </a:p>
          <a:p>
            <a:r>
              <a:rPr lang="en-US" sz="4000" dirty="0" smtClean="0"/>
              <a:t>A recipe for a HEPES buffered imaging medium is included below. (Brown et al. 2000 Traffic 1:124-140) </a:t>
            </a:r>
          </a:p>
          <a:p>
            <a:pPr lvl="1"/>
            <a:r>
              <a:rPr lang="en-US" sz="3500" dirty="0" smtClean="0"/>
              <a:t>Imaging Medium Stock (5x) pH 7.4 </a:t>
            </a:r>
          </a:p>
          <a:p>
            <a:pPr lvl="1"/>
            <a:r>
              <a:rPr lang="en-US" sz="3500" dirty="0" smtClean="0"/>
              <a:t>750 </a:t>
            </a:r>
            <a:r>
              <a:rPr lang="en-US" sz="3500" dirty="0" err="1" smtClean="0"/>
              <a:t>mM</a:t>
            </a:r>
            <a:r>
              <a:rPr lang="en-US" sz="3500" dirty="0" smtClean="0"/>
              <a:t> </a:t>
            </a:r>
            <a:r>
              <a:rPr lang="en-US" sz="3500" dirty="0" err="1" smtClean="0"/>
              <a:t>NaCl</a:t>
            </a:r>
            <a:r>
              <a:rPr lang="en-US" sz="3500" dirty="0" smtClean="0"/>
              <a:t> </a:t>
            </a:r>
          </a:p>
          <a:p>
            <a:pPr lvl="1"/>
            <a:r>
              <a:rPr lang="en-US" sz="3500" dirty="0" smtClean="0"/>
              <a:t>100 </a:t>
            </a:r>
            <a:r>
              <a:rPr lang="en-US" sz="3500" dirty="0" err="1" smtClean="0"/>
              <a:t>mM</a:t>
            </a:r>
            <a:r>
              <a:rPr lang="en-US" sz="3500" dirty="0" smtClean="0"/>
              <a:t> HEPES </a:t>
            </a:r>
          </a:p>
          <a:p>
            <a:pPr lvl="1"/>
            <a:r>
              <a:rPr lang="en-US" sz="3500" dirty="0" smtClean="0"/>
              <a:t>5 </a:t>
            </a:r>
            <a:r>
              <a:rPr lang="en-US" sz="3500" dirty="0" err="1" smtClean="0"/>
              <a:t>mM</a:t>
            </a:r>
            <a:r>
              <a:rPr lang="en-US" sz="3500" dirty="0" smtClean="0"/>
              <a:t> CaCl2 </a:t>
            </a:r>
          </a:p>
          <a:p>
            <a:pPr lvl="1"/>
            <a:r>
              <a:rPr lang="en-US" sz="3500" dirty="0" smtClean="0"/>
              <a:t>25 </a:t>
            </a:r>
            <a:r>
              <a:rPr lang="en-US" sz="3500" dirty="0" err="1" smtClean="0"/>
              <a:t>mM</a:t>
            </a:r>
            <a:r>
              <a:rPr lang="en-US" sz="3500" dirty="0" smtClean="0"/>
              <a:t> </a:t>
            </a:r>
            <a:r>
              <a:rPr lang="en-US" sz="3500" dirty="0" err="1" smtClean="0"/>
              <a:t>KCl</a:t>
            </a:r>
            <a:r>
              <a:rPr lang="en-US" sz="3500" dirty="0" smtClean="0"/>
              <a:t> </a:t>
            </a:r>
          </a:p>
          <a:p>
            <a:pPr lvl="1"/>
            <a:r>
              <a:rPr lang="en-US" sz="3500" dirty="0" smtClean="0"/>
              <a:t>5 </a:t>
            </a:r>
            <a:r>
              <a:rPr lang="en-US" sz="3500" dirty="0" err="1" smtClean="0"/>
              <a:t>mM</a:t>
            </a:r>
            <a:r>
              <a:rPr lang="en-US" sz="3500" dirty="0" smtClean="0"/>
              <a:t> MgCl2 </a:t>
            </a:r>
          </a:p>
          <a:p>
            <a:pPr lvl="1"/>
            <a:endParaRPr lang="en-US" dirty="0" smtClean="0"/>
          </a:p>
          <a:p>
            <a:r>
              <a:rPr lang="en-US" sz="4000" dirty="0" smtClean="0"/>
              <a:t>Use at 1x. On day of use add 95 mg glucose and 95 mg albumin to 50 ml of medium. Warm to 37°C. Keep cells in incubator in their usual medium until immediately before imaging. When ready to image, remove their usual medium and replace it with imaging medium. Cells can normally be kept on the stage in this medium for 30-60 min.</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Live cell Microscopy</a:t>
            </a:r>
            <a:endParaRPr lang="en-US" dirty="0"/>
          </a:p>
        </p:txBody>
      </p:sp>
      <p:sp>
        <p:nvSpPr>
          <p:cNvPr id="3" name="Content Placeholder 2"/>
          <p:cNvSpPr>
            <a:spLocks noGrp="1"/>
          </p:cNvSpPr>
          <p:nvPr>
            <p:ph idx="1"/>
          </p:nvPr>
        </p:nvSpPr>
        <p:spPr/>
        <p:txBody>
          <a:bodyPr>
            <a:normAutofit fontScale="85000" lnSpcReduction="10000"/>
          </a:bodyPr>
          <a:lstStyle/>
          <a:p>
            <a:pPr marL="438912" lvl="1" indent="-320040">
              <a:spcBef>
                <a:spcPts val="0"/>
              </a:spcBef>
              <a:buClr>
                <a:schemeClr val="accent1"/>
              </a:buClr>
              <a:buSzPct val="80000"/>
              <a:buFont typeface="Wingdings 2"/>
              <a:buChar char=""/>
            </a:pPr>
            <a:r>
              <a:rPr lang="en-US" dirty="0" smtClean="0"/>
              <a:t>Keeping your fluorescent markers happy</a:t>
            </a:r>
          </a:p>
          <a:p>
            <a:pPr marL="438912" lvl="1" indent="-320040">
              <a:spcBef>
                <a:spcPts val="0"/>
              </a:spcBef>
              <a:buClr>
                <a:schemeClr val="accent1"/>
              </a:buClr>
              <a:buSzPct val="80000"/>
              <a:buFont typeface="Wingdings 2"/>
              <a:buChar char=""/>
            </a:pPr>
            <a:r>
              <a:rPr lang="en-US" dirty="0" smtClean="0"/>
              <a:t>If you are worried about </a:t>
            </a:r>
            <a:r>
              <a:rPr lang="en-US" dirty="0" err="1" smtClean="0"/>
              <a:t>photobleaching</a:t>
            </a:r>
            <a:r>
              <a:rPr lang="en-US" dirty="0" smtClean="0"/>
              <a:t> or toxicity – measure it!</a:t>
            </a:r>
          </a:p>
          <a:p>
            <a:pPr marL="704088" lvl="2" indent="-320040">
              <a:spcBef>
                <a:spcPts val="0"/>
              </a:spcBef>
              <a:buClr>
                <a:schemeClr val="accent1"/>
              </a:buClr>
              <a:buSzPct val="80000"/>
              <a:buFont typeface="Arial" charset="0"/>
              <a:buChar char="•"/>
            </a:pPr>
            <a:r>
              <a:rPr lang="en-US" dirty="0" smtClean="0"/>
              <a:t>Have internal controls, </a:t>
            </a:r>
            <a:r>
              <a:rPr lang="en-US" dirty="0" err="1" smtClean="0"/>
              <a:t>ie</a:t>
            </a:r>
            <a:r>
              <a:rPr lang="en-US" dirty="0" smtClean="0"/>
              <a:t> – a well within that 24 well plate.</a:t>
            </a:r>
          </a:p>
          <a:p>
            <a:pPr marL="438912" lvl="1" indent="-320040">
              <a:spcBef>
                <a:spcPts val="0"/>
              </a:spcBef>
              <a:buClr>
                <a:schemeClr val="accent1"/>
              </a:buClr>
              <a:buSzPct val="80000"/>
              <a:buFont typeface="Wingdings 2"/>
              <a:buChar char=""/>
            </a:pPr>
            <a:r>
              <a:rPr lang="en-US" smtClean="0"/>
              <a:t>Ascorbic </a:t>
            </a:r>
            <a:r>
              <a:rPr lang="en-US" dirty="0" smtClean="0"/>
              <a:t>acid, </a:t>
            </a:r>
            <a:r>
              <a:rPr lang="en-US" dirty="0" err="1" smtClean="0"/>
              <a:t>Trolox</a:t>
            </a:r>
            <a:r>
              <a:rPr lang="en-US" dirty="0" smtClean="0"/>
              <a:t>, or </a:t>
            </a:r>
            <a:r>
              <a:rPr lang="en-US" dirty="0" err="1" smtClean="0"/>
              <a:t>Oxyrase</a:t>
            </a:r>
            <a:r>
              <a:rPr lang="en-US" dirty="0" smtClean="0"/>
              <a:t> (oxygen and free radical scavengers) can be added to the culture medium.</a:t>
            </a:r>
          </a:p>
          <a:p>
            <a:pPr marL="438912" lvl="1" indent="-320040">
              <a:spcBef>
                <a:spcPts val="0"/>
              </a:spcBef>
              <a:buClr>
                <a:schemeClr val="accent1"/>
              </a:buClr>
              <a:buSzPct val="80000"/>
              <a:buFont typeface="Wingdings 2"/>
              <a:buChar char=""/>
            </a:pPr>
            <a:r>
              <a:rPr lang="en-US" dirty="0" smtClean="0"/>
              <a:t>N -</a:t>
            </a:r>
            <a:r>
              <a:rPr lang="en-US" dirty="0" err="1" smtClean="0"/>
              <a:t>Propyl</a:t>
            </a:r>
            <a:r>
              <a:rPr lang="en-US" dirty="0" smtClean="0"/>
              <a:t> </a:t>
            </a:r>
            <a:r>
              <a:rPr lang="en-US" dirty="0" err="1" smtClean="0"/>
              <a:t>gallate</a:t>
            </a:r>
            <a:r>
              <a:rPr lang="en-US" dirty="0" smtClean="0"/>
              <a:t> (NPG)  - an </a:t>
            </a:r>
            <a:r>
              <a:rPr lang="en-US" dirty="0" err="1" smtClean="0"/>
              <a:t>antifade</a:t>
            </a:r>
            <a:r>
              <a:rPr lang="en-US" dirty="0" smtClean="0"/>
              <a:t> reagent</a:t>
            </a:r>
          </a:p>
          <a:p>
            <a:pPr marL="704088" lvl="2" indent="-320040">
              <a:spcBef>
                <a:spcPts val="0"/>
              </a:spcBef>
              <a:buClr>
                <a:schemeClr val="accent1"/>
              </a:buClr>
              <a:buSzPct val="80000"/>
              <a:buFont typeface="Arial" charset="0"/>
              <a:buChar char="•"/>
            </a:pPr>
            <a:r>
              <a:rPr lang="en-US" dirty="0" smtClean="0"/>
              <a:t>difficult to dissolve</a:t>
            </a:r>
          </a:p>
          <a:p>
            <a:pPr marL="704088" lvl="2" indent="-320040">
              <a:spcBef>
                <a:spcPts val="0"/>
              </a:spcBef>
              <a:buClr>
                <a:schemeClr val="accent1"/>
              </a:buClr>
              <a:buSzPct val="80000"/>
              <a:buFont typeface="Arial" charset="0"/>
              <a:buChar char="•"/>
            </a:pPr>
            <a:r>
              <a:rPr lang="en-US" dirty="0" smtClean="0"/>
              <a:t>Non-toxic</a:t>
            </a:r>
          </a:p>
          <a:p>
            <a:pPr marL="704088" lvl="2" indent="-320040">
              <a:spcBef>
                <a:spcPts val="0"/>
              </a:spcBef>
              <a:buClr>
                <a:schemeClr val="accent1"/>
              </a:buClr>
              <a:buSzPct val="80000"/>
              <a:buFont typeface="Arial" charset="0"/>
              <a:buChar char="•"/>
            </a:pPr>
            <a:r>
              <a:rPr lang="en-US" dirty="0" smtClean="0"/>
              <a:t>Could protect against apoptosis – could be disrupting natural cell cycle</a:t>
            </a:r>
          </a:p>
          <a:p>
            <a:pPr marL="438912" lvl="1" indent="-320040">
              <a:spcBef>
                <a:spcPts val="0"/>
              </a:spcBef>
              <a:buClr>
                <a:schemeClr val="accent1"/>
              </a:buClr>
              <a:buSzPct val="80000"/>
              <a:buFont typeface="Wingdings 2"/>
              <a:buChar char=""/>
            </a:pPr>
            <a:r>
              <a:rPr lang="en-US" dirty="0" smtClean="0"/>
              <a:t>Addition of sodium butyrate (approximately 1 to 5 </a:t>
            </a:r>
            <a:r>
              <a:rPr lang="en-US" dirty="0" err="1" smtClean="0"/>
              <a:t>millimolar</a:t>
            </a:r>
            <a:r>
              <a:rPr lang="en-US" dirty="0" smtClean="0"/>
              <a:t>) to the culture medium will increase the overall gene expression levels in stable cells lines expressing a fusion protein.</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Live Cell Microscopy- dyes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Commercially available and good for internal controls for </a:t>
            </a:r>
            <a:r>
              <a:rPr lang="en-US" dirty="0" err="1" smtClean="0"/>
              <a:t>photobleaching</a:t>
            </a:r>
            <a:r>
              <a:rPr lang="en-US" dirty="0" smtClean="0"/>
              <a:t> and localization studies.</a:t>
            </a:r>
          </a:p>
          <a:p>
            <a:pPr lvl="1"/>
            <a:r>
              <a:rPr lang="en-US" sz="2900" dirty="0" smtClean="0"/>
              <a:t>ER-Tracker Green dye</a:t>
            </a:r>
          </a:p>
          <a:p>
            <a:pPr lvl="2"/>
            <a:r>
              <a:rPr lang="en-US" dirty="0" smtClean="0"/>
              <a:t>green-fluorescent BODIPY® FL dye and </a:t>
            </a:r>
            <a:r>
              <a:rPr lang="en-US" dirty="0" err="1" smtClean="0"/>
              <a:t>glibenclamide</a:t>
            </a:r>
            <a:r>
              <a:rPr lang="en-US" dirty="0" smtClean="0"/>
              <a:t>. </a:t>
            </a:r>
          </a:p>
          <a:p>
            <a:pPr lvl="2"/>
            <a:r>
              <a:rPr lang="en-US" dirty="0" err="1" smtClean="0"/>
              <a:t>Glibenclamide</a:t>
            </a:r>
            <a:r>
              <a:rPr lang="en-US" dirty="0" smtClean="0"/>
              <a:t> (</a:t>
            </a:r>
            <a:r>
              <a:rPr lang="en-US" dirty="0" err="1" smtClean="0"/>
              <a:t>glyburide</a:t>
            </a:r>
            <a:r>
              <a:rPr lang="en-US" dirty="0" smtClean="0"/>
              <a:t>) binds to the </a:t>
            </a:r>
            <a:r>
              <a:rPr lang="en-US" dirty="0" err="1" smtClean="0"/>
              <a:t>sulphonylurea</a:t>
            </a:r>
            <a:r>
              <a:rPr lang="en-US" dirty="0" smtClean="0"/>
              <a:t> receptors of ATP-sensitive K</a:t>
            </a:r>
            <a:r>
              <a:rPr lang="en-US" baseline="30000" dirty="0" smtClean="0"/>
              <a:t>+</a:t>
            </a:r>
            <a:r>
              <a:rPr lang="en-US" dirty="0" smtClean="0"/>
              <a:t> channels which are prominent on ER</a:t>
            </a:r>
          </a:p>
          <a:p>
            <a:pPr lvl="2"/>
            <a:endParaRPr lang="en-US" dirty="0" smtClean="0"/>
          </a:p>
          <a:p>
            <a:pPr lvl="1"/>
            <a:r>
              <a:rPr lang="en-US" dirty="0" smtClean="0"/>
              <a:t>Mito-Trackers: per the </a:t>
            </a:r>
            <a:r>
              <a:rPr lang="en-US" dirty="0" err="1" smtClean="0"/>
              <a:t>Invitrogen</a:t>
            </a:r>
            <a:r>
              <a:rPr lang="en-US" dirty="0" smtClean="0"/>
              <a:t> website:</a:t>
            </a:r>
          </a:p>
          <a:p>
            <a:pPr lvl="2">
              <a:buFont typeface="Arial" charset="0"/>
              <a:buChar char="•"/>
            </a:pPr>
            <a:r>
              <a:rPr lang="en-US" dirty="0" err="1" smtClean="0"/>
              <a:t>MitoTracker</a:t>
            </a:r>
            <a:r>
              <a:rPr lang="en-US" dirty="0" smtClean="0"/>
              <a:t> Red or Green FM: mitochondrial stain which appears to localize to mitochondria regardless of mitochondrial membrane potential.</a:t>
            </a:r>
          </a:p>
          <a:p>
            <a:pPr lvl="2">
              <a:buFont typeface="Arial" charset="0"/>
              <a:buChar char="•"/>
            </a:pPr>
            <a:r>
              <a:rPr lang="en-US" dirty="0" err="1" smtClean="0"/>
              <a:t>MitoTracker</a:t>
            </a:r>
            <a:r>
              <a:rPr lang="en-US" dirty="0" smtClean="0"/>
              <a:t> Red </a:t>
            </a:r>
            <a:r>
              <a:rPr lang="en-US" dirty="0" err="1" smtClean="0"/>
              <a:t>CMXRos</a:t>
            </a:r>
            <a:r>
              <a:rPr lang="en-US" dirty="0" smtClean="0"/>
              <a:t> is a red-fluorescent dye that stains mitochondria in live cells and its accumulation is dependent upon membrane potential. </a:t>
            </a:r>
          </a:p>
          <a:p>
            <a:pPr lvl="2">
              <a:buFont typeface="Arial" charset="0"/>
              <a:buChar char="•"/>
            </a:pPr>
            <a:r>
              <a:rPr lang="en-US" dirty="0" err="1" smtClean="0"/>
              <a:t>MitoTracker</a:t>
            </a:r>
            <a:r>
              <a:rPr lang="en-US" dirty="0" smtClean="0"/>
              <a:t> Red CM-H</a:t>
            </a:r>
            <a:r>
              <a:rPr lang="en-US" baseline="-25000" dirty="0" smtClean="0"/>
              <a:t>2</a:t>
            </a:r>
            <a:r>
              <a:rPr lang="en-US" dirty="0" smtClean="0"/>
              <a:t>XRos is a reduced, </a:t>
            </a:r>
            <a:r>
              <a:rPr lang="en-US" dirty="0" err="1" smtClean="0"/>
              <a:t>nonfluorescent</a:t>
            </a:r>
            <a:r>
              <a:rPr lang="en-US" dirty="0" smtClean="0"/>
              <a:t> version of </a:t>
            </a:r>
            <a:r>
              <a:rPr lang="en-US" dirty="0" err="1" smtClean="0"/>
              <a:t>MitoTracker</a:t>
            </a:r>
            <a:r>
              <a:rPr lang="en-US" dirty="0" smtClean="0"/>
              <a:t> Red (that fluoresces upon oxidation. This dye also stains mitochondria in live cells and its accumulation is dependent upon membrane potential. </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Fixatives</a:t>
            </a:r>
            <a:endParaRPr lang="en-US" dirty="0"/>
          </a:p>
        </p:txBody>
      </p:sp>
      <p:sp>
        <p:nvSpPr>
          <p:cNvPr id="3" name="Content Placeholder 2"/>
          <p:cNvSpPr>
            <a:spLocks noGrp="1"/>
          </p:cNvSpPr>
          <p:nvPr>
            <p:ph idx="1"/>
          </p:nvPr>
        </p:nvSpPr>
        <p:spPr/>
        <p:txBody>
          <a:bodyPr>
            <a:normAutofit fontScale="70000" lnSpcReduction="20000"/>
          </a:bodyPr>
          <a:lstStyle/>
          <a:p>
            <a:r>
              <a:rPr lang="en-US" dirty="0" err="1" smtClean="0"/>
              <a:t>Crosslinking</a:t>
            </a:r>
            <a:r>
              <a:rPr lang="en-US" dirty="0" smtClean="0"/>
              <a:t> Fixatives</a:t>
            </a:r>
          </a:p>
          <a:p>
            <a:pPr lvl="1"/>
            <a:r>
              <a:rPr lang="en-US" dirty="0" smtClean="0"/>
              <a:t>Act by creating covalent chemical bonds between proteins in tissue.</a:t>
            </a:r>
          </a:p>
          <a:p>
            <a:pPr lvl="1"/>
            <a:r>
              <a:rPr lang="en-US" dirty="0" err="1" smtClean="0"/>
              <a:t>Aldehydes</a:t>
            </a:r>
            <a:endParaRPr lang="en-US" dirty="0" smtClean="0"/>
          </a:p>
          <a:p>
            <a:pPr lvl="2"/>
            <a:r>
              <a:rPr lang="en-US" dirty="0" smtClean="0"/>
              <a:t>Formaldehyde (</a:t>
            </a:r>
            <a:r>
              <a:rPr lang="en-US" dirty="0" err="1" smtClean="0"/>
              <a:t>paraformaldehyde</a:t>
            </a:r>
            <a:r>
              <a:rPr lang="en-US" dirty="0" smtClean="0"/>
              <a:t> its more stable!)</a:t>
            </a:r>
          </a:p>
          <a:p>
            <a:pPr lvl="2"/>
            <a:r>
              <a:rPr lang="en-US" dirty="0" err="1" smtClean="0"/>
              <a:t>Glutaraldehyde</a:t>
            </a:r>
            <a:endParaRPr lang="en-US" dirty="0" smtClean="0"/>
          </a:p>
          <a:p>
            <a:pPr lvl="2">
              <a:buNone/>
            </a:pPr>
            <a:endParaRPr lang="en-US" dirty="0" smtClean="0"/>
          </a:p>
          <a:p>
            <a:r>
              <a:rPr lang="en-US" dirty="0" smtClean="0"/>
              <a:t> Myth: PFA (</a:t>
            </a:r>
            <a:r>
              <a:rPr lang="en-US" dirty="0" err="1" smtClean="0"/>
              <a:t>paraformaldehyde</a:t>
            </a:r>
            <a:r>
              <a:rPr lang="en-US" dirty="0" smtClean="0"/>
              <a:t>) will quench my GFP</a:t>
            </a:r>
          </a:p>
          <a:p>
            <a:pPr lvl="1"/>
            <a:r>
              <a:rPr lang="en-US" dirty="0" smtClean="0"/>
              <a:t>FALSE – it’s the methanol stabilizer(upwards of 10%) that is commercially sold as 32%, 16% that is quenching your GFP.</a:t>
            </a:r>
          </a:p>
          <a:p>
            <a:pPr lvl="1">
              <a:buNone/>
            </a:pPr>
            <a:endParaRPr lang="en-US" dirty="0" smtClean="0"/>
          </a:p>
          <a:p>
            <a:r>
              <a:rPr lang="en-US" dirty="0" smtClean="0"/>
              <a:t>Precipitating Fixatives (denaturing)</a:t>
            </a:r>
          </a:p>
          <a:p>
            <a:pPr lvl="1"/>
            <a:r>
              <a:rPr lang="en-US" dirty="0" smtClean="0"/>
              <a:t>Reduces the solubility of protein molecules and (often) disrupts the hydrophobic interactions that give many proteins their tertiary structure</a:t>
            </a:r>
          </a:p>
          <a:p>
            <a:pPr lvl="1"/>
            <a:r>
              <a:rPr lang="en-US" dirty="0" smtClean="0"/>
              <a:t>Alcohols – methanol, ethanol, and acetone. </a:t>
            </a:r>
          </a:p>
          <a:p>
            <a:endParaRPr lang="en-US"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Glutaraldehyde</a:t>
            </a:r>
            <a:r>
              <a:rPr lang="en-US" dirty="0" smtClean="0"/>
              <a:t> Fixation:</a:t>
            </a:r>
            <a:endParaRPr lang="en-US" dirty="0"/>
          </a:p>
        </p:txBody>
      </p:sp>
      <p:sp>
        <p:nvSpPr>
          <p:cNvPr id="3" name="Content Placeholder 2"/>
          <p:cNvSpPr>
            <a:spLocks noGrp="1"/>
          </p:cNvSpPr>
          <p:nvPr>
            <p:ph idx="1"/>
          </p:nvPr>
        </p:nvSpPr>
        <p:spPr/>
        <p:txBody>
          <a:bodyPr/>
          <a:lstStyle/>
          <a:p>
            <a:pPr>
              <a:buNone/>
            </a:pPr>
            <a:endParaRPr lang="en-US" dirty="0"/>
          </a:p>
        </p:txBody>
      </p:sp>
      <p:pic>
        <p:nvPicPr>
          <p:cNvPr id="6146" name="Picture 2" descr="C:\Users\Sebastian\Desktop\glutfix.gif"/>
          <p:cNvPicPr>
            <a:picLocks noChangeAspect="1" noChangeArrowheads="1"/>
          </p:cNvPicPr>
          <p:nvPr/>
        </p:nvPicPr>
        <p:blipFill>
          <a:blip r:embed="rId2" cstate="print"/>
          <a:srcRect/>
          <a:stretch>
            <a:fillRect/>
          </a:stretch>
        </p:blipFill>
        <p:spPr bwMode="auto">
          <a:xfrm>
            <a:off x="1371600" y="1752600"/>
            <a:ext cx="6096000" cy="45720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Paraformaldehyde</a:t>
            </a:r>
            <a:endParaRPr lang="en-US" dirty="0"/>
          </a:p>
        </p:txBody>
      </p:sp>
      <p:sp>
        <p:nvSpPr>
          <p:cNvPr id="3" name="Content Placeholder 2"/>
          <p:cNvSpPr>
            <a:spLocks noGrp="1"/>
          </p:cNvSpPr>
          <p:nvPr>
            <p:ph idx="1"/>
          </p:nvPr>
        </p:nvSpPr>
        <p:spPr/>
        <p:txBody>
          <a:bodyPr/>
          <a:lstStyle/>
          <a:p>
            <a:pPr>
              <a:buNone/>
            </a:pPr>
            <a:endParaRPr lang="en-US" dirty="0"/>
          </a:p>
        </p:txBody>
      </p:sp>
      <p:pic>
        <p:nvPicPr>
          <p:cNvPr id="3074" name="Picture 2" descr="E:\formpoly.gif"/>
          <p:cNvPicPr>
            <a:picLocks noChangeAspect="1" noChangeArrowheads="1"/>
          </p:cNvPicPr>
          <p:nvPr/>
        </p:nvPicPr>
        <p:blipFill>
          <a:blip r:embed="rId2" cstate="print"/>
          <a:srcRect/>
          <a:stretch>
            <a:fillRect/>
          </a:stretch>
        </p:blipFill>
        <p:spPr bwMode="auto">
          <a:xfrm>
            <a:off x="1447800" y="1828800"/>
            <a:ext cx="6172200" cy="4629150"/>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Foraldehyde</a:t>
            </a:r>
            <a:r>
              <a:rPr lang="en-US" dirty="0" smtClean="0"/>
              <a:t> fixation</a:t>
            </a:r>
            <a:endParaRPr lang="en-US" dirty="0"/>
          </a:p>
        </p:txBody>
      </p:sp>
      <p:sp>
        <p:nvSpPr>
          <p:cNvPr id="3" name="Content Placeholder 2"/>
          <p:cNvSpPr>
            <a:spLocks noGrp="1"/>
          </p:cNvSpPr>
          <p:nvPr>
            <p:ph idx="1"/>
          </p:nvPr>
        </p:nvSpPr>
        <p:spPr/>
        <p:txBody>
          <a:bodyPr/>
          <a:lstStyle/>
          <a:p>
            <a:endParaRPr lang="en-US"/>
          </a:p>
        </p:txBody>
      </p:sp>
      <p:pic>
        <p:nvPicPr>
          <p:cNvPr id="8194" name="Picture 2" descr="C:\Users\Sebastian\Desktop\formfix.gif"/>
          <p:cNvPicPr>
            <a:picLocks noChangeAspect="1" noChangeArrowheads="1"/>
          </p:cNvPicPr>
          <p:nvPr/>
        </p:nvPicPr>
        <p:blipFill>
          <a:blip r:embed="rId2" cstate="print"/>
          <a:srcRect/>
          <a:stretch>
            <a:fillRect/>
          </a:stretch>
        </p:blipFill>
        <p:spPr bwMode="auto">
          <a:xfrm>
            <a:off x="1600200" y="1676400"/>
            <a:ext cx="6264274" cy="4698205"/>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Fixation</a:t>
            </a:r>
            <a:endParaRPr lang="en-US" dirty="0"/>
          </a:p>
        </p:txBody>
      </p:sp>
      <p:sp>
        <p:nvSpPr>
          <p:cNvPr id="3" name="Content Placeholder 2"/>
          <p:cNvSpPr>
            <a:spLocks noGrp="1"/>
          </p:cNvSpPr>
          <p:nvPr>
            <p:ph idx="1"/>
          </p:nvPr>
        </p:nvSpPr>
        <p:spPr>
          <a:xfrm>
            <a:off x="457200" y="1775191"/>
            <a:ext cx="8153400" cy="739409"/>
          </a:xfrm>
        </p:spPr>
        <p:txBody>
          <a:bodyPr>
            <a:normAutofit fontScale="85000" lnSpcReduction="10000"/>
          </a:bodyPr>
          <a:lstStyle/>
          <a:p>
            <a:r>
              <a:rPr lang="en-US" dirty="0" smtClean="0"/>
              <a:t>Per a given antigen rules of thumb (in use since 1973)</a:t>
            </a:r>
          </a:p>
          <a:p>
            <a:endParaRPr lang="en-US" dirty="0"/>
          </a:p>
        </p:txBody>
      </p:sp>
      <p:graphicFrame>
        <p:nvGraphicFramePr>
          <p:cNvPr id="4" name="Table 3"/>
          <p:cNvGraphicFramePr>
            <a:graphicFrameLocks noGrp="1"/>
          </p:cNvGraphicFramePr>
          <p:nvPr/>
        </p:nvGraphicFramePr>
        <p:xfrm>
          <a:off x="533400" y="2438400"/>
          <a:ext cx="7772400" cy="3966756"/>
        </p:xfrm>
        <a:graphic>
          <a:graphicData uri="http://schemas.openxmlformats.org/drawingml/2006/table">
            <a:tbl>
              <a:tblPr firstRow="1" bandRow="1">
                <a:tableStyleId>{5C22544A-7EE6-4342-B048-85BDC9FD1C3A}</a:tableStyleId>
              </a:tblPr>
              <a:tblGrid>
                <a:gridCol w="3886200"/>
                <a:gridCol w="3886200"/>
              </a:tblGrid>
              <a:tr h="511629">
                <a:tc>
                  <a:txBody>
                    <a:bodyPr/>
                    <a:lstStyle/>
                    <a:p>
                      <a:r>
                        <a:rPr lang="en-US" dirty="0" smtClean="0"/>
                        <a:t>Antigen</a:t>
                      </a:r>
                      <a:endParaRPr lang="en-US" dirty="0"/>
                    </a:p>
                  </a:txBody>
                  <a:tcPr/>
                </a:tc>
                <a:tc>
                  <a:txBody>
                    <a:bodyPr/>
                    <a:lstStyle/>
                    <a:p>
                      <a:r>
                        <a:rPr lang="en-US" dirty="0" smtClean="0"/>
                        <a:t>Fixative</a:t>
                      </a:r>
                      <a:endParaRPr lang="en-US" dirty="0"/>
                    </a:p>
                  </a:txBody>
                  <a:tcPr/>
                </a:tc>
              </a:tr>
              <a:tr h="511629">
                <a:tc>
                  <a:txBody>
                    <a:bodyPr/>
                    <a:lstStyle/>
                    <a:p>
                      <a:r>
                        <a:rPr lang="en-US" dirty="0" smtClean="0"/>
                        <a:t>Most proteins, peptides and enzymes of low molecular weight</a:t>
                      </a:r>
                      <a:endParaRPr lang="en-US" dirty="0"/>
                    </a:p>
                  </a:txBody>
                  <a:tcPr/>
                </a:tc>
                <a:tc>
                  <a:txBody>
                    <a:bodyPr/>
                    <a:lstStyle/>
                    <a:p>
                      <a:r>
                        <a:rPr lang="en-US" dirty="0" smtClean="0"/>
                        <a:t>4% PFA +/-</a:t>
                      </a:r>
                      <a:r>
                        <a:rPr lang="en-US" baseline="0" dirty="0" smtClean="0"/>
                        <a:t> 1%Glutaraldehyde</a:t>
                      </a:r>
                    </a:p>
                    <a:p>
                      <a:r>
                        <a:rPr lang="en-US" baseline="0" dirty="0" smtClean="0"/>
                        <a:t>10% Neutral-Buffered Formalin (NBF)</a:t>
                      </a:r>
                      <a:endParaRPr lang="en-US" dirty="0"/>
                    </a:p>
                  </a:txBody>
                  <a:tcPr/>
                </a:tc>
              </a:tr>
              <a:tr h="511629">
                <a:tc>
                  <a:txBody>
                    <a:bodyPr/>
                    <a:lstStyle/>
                    <a:p>
                      <a:r>
                        <a:rPr lang="en-US" dirty="0" smtClean="0"/>
                        <a:t>Delicate Tissue</a:t>
                      </a:r>
                      <a:endParaRPr lang="en-US" dirty="0"/>
                    </a:p>
                  </a:txBody>
                  <a:tcPr/>
                </a:tc>
                <a:tc>
                  <a:txBody>
                    <a:bodyPr/>
                    <a:lstStyle/>
                    <a:p>
                      <a:r>
                        <a:rPr lang="en-US" dirty="0" err="1" smtClean="0"/>
                        <a:t>Boulin’s</a:t>
                      </a:r>
                      <a:r>
                        <a:rPr lang="en-US" dirty="0" smtClean="0"/>
                        <a:t> Fixative</a:t>
                      </a:r>
                      <a:endParaRPr lang="en-US" dirty="0"/>
                    </a:p>
                  </a:txBody>
                  <a:tcPr/>
                </a:tc>
              </a:tr>
              <a:tr h="511629">
                <a:tc>
                  <a:txBody>
                    <a:bodyPr/>
                    <a:lstStyle/>
                    <a:p>
                      <a:r>
                        <a:rPr lang="en-US" dirty="0" smtClean="0"/>
                        <a:t>Small</a:t>
                      </a:r>
                      <a:r>
                        <a:rPr lang="en-US" baseline="0" dirty="0" smtClean="0"/>
                        <a:t> molecules</a:t>
                      </a:r>
                      <a:endParaRPr lang="en-US" dirty="0"/>
                    </a:p>
                  </a:txBody>
                  <a:tcPr/>
                </a:tc>
                <a:tc>
                  <a:txBody>
                    <a:bodyPr/>
                    <a:lstStyle/>
                    <a:p>
                      <a:r>
                        <a:rPr lang="en-US" dirty="0" smtClean="0"/>
                        <a:t>4% PFA</a:t>
                      </a:r>
                      <a:r>
                        <a:rPr lang="en-US" baseline="0" dirty="0" smtClean="0"/>
                        <a:t> + 1% </a:t>
                      </a:r>
                      <a:r>
                        <a:rPr lang="en-US" baseline="0" dirty="0" err="1" smtClean="0"/>
                        <a:t>Glutaraldehyde</a:t>
                      </a:r>
                      <a:endParaRPr lang="en-US" dirty="0"/>
                    </a:p>
                  </a:txBody>
                  <a:tcPr/>
                </a:tc>
              </a:tr>
              <a:tr h="511629">
                <a:tc>
                  <a:txBody>
                    <a:bodyPr/>
                    <a:lstStyle/>
                    <a:p>
                      <a:r>
                        <a:rPr lang="en-US" dirty="0" smtClean="0"/>
                        <a:t>Blood forming organs (liver, spleen, bone marrow); connective</a:t>
                      </a:r>
                      <a:r>
                        <a:rPr lang="en-US" baseline="0" dirty="0" smtClean="0"/>
                        <a:t> tissue</a:t>
                      </a:r>
                      <a:endParaRPr lang="en-US" dirty="0"/>
                    </a:p>
                  </a:txBody>
                  <a:tcPr/>
                </a:tc>
                <a:tc>
                  <a:txBody>
                    <a:bodyPr/>
                    <a:lstStyle/>
                    <a:p>
                      <a:r>
                        <a:rPr lang="en-US" dirty="0" err="1" smtClean="0"/>
                        <a:t>Zenker’s</a:t>
                      </a:r>
                      <a:r>
                        <a:rPr lang="en-US" dirty="0" smtClean="0"/>
                        <a:t> solution</a:t>
                      </a:r>
                    </a:p>
                    <a:p>
                      <a:r>
                        <a:rPr lang="en-US" dirty="0" err="1" smtClean="0"/>
                        <a:t>Helly</a:t>
                      </a:r>
                      <a:r>
                        <a:rPr lang="en-US" dirty="0" smtClean="0"/>
                        <a:t> Solution</a:t>
                      </a:r>
                      <a:endParaRPr lang="en-US" dirty="0"/>
                    </a:p>
                  </a:txBody>
                  <a:tcPr/>
                </a:tc>
              </a:tr>
              <a:tr h="511629">
                <a:tc>
                  <a:txBody>
                    <a:bodyPr/>
                    <a:lstStyle/>
                    <a:p>
                      <a:r>
                        <a:rPr lang="en-US" dirty="0" smtClean="0"/>
                        <a:t>Nucleic</a:t>
                      </a:r>
                      <a:r>
                        <a:rPr lang="en-US" baseline="0" dirty="0" smtClean="0"/>
                        <a:t> acids</a:t>
                      </a:r>
                      <a:endParaRPr lang="en-US" dirty="0"/>
                    </a:p>
                  </a:txBody>
                  <a:tcPr/>
                </a:tc>
                <a:tc>
                  <a:txBody>
                    <a:bodyPr/>
                    <a:lstStyle/>
                    <a:p>
                      <a:r>
                        <a:rPr lang="en-US" dirty="0" err="1" smtClean="0"/>
                        <a:t>Carnoy’s</a:t>
                      </a:r>
                      <a:r>
                        <a:rPr lang="en-US" dirty="0" smtClean="0"/>
                        <a:t> Solution</a:t>
                      </a:r>
                      <a:endParaRPr lang="en-US" dirty="0"/>
                    </a:p>
                  </a:txBody>
                  <a:tcPr/>
                </a:tc>
              </a:tr>
              <a:tr h="511629">
                <a:tc>
                  <a:txBody>
                    <a:bodyPr/>
                    <a:lstStyle/>
                    <a:p>
                      <a:r>
                        <a:rPr lang="en-US" dirty="0" smtClean="0"/>
                        <a:t>Large Protein</a:t>
                      </a:r>
                      <a:r>
                        <a:rPr lang="en-US" baseline="0" dirty="0" smtClean="0"/>
                        <a:t> antigens (immunoglobulin)</a:t>
                      </a:r>
                      <a:endParaRPr lang="en-US" dirty="0"/>
                    </a:p>
                  </a:txBody>
                  <a:tcPr/>
                </a:tc>
                <a:tc>
                  <a:txBody>
                    <a:bodyPr/>
                    <a:lstStyle/>
                    <a:p>
                      <a:r>
                        <a:rPr lang="en-US" dirty="0" smtClean="0"/>
                        <a:t>Ice</a:t>
                      </a:r>
                      <a:r>
                        <a:rPr lang="en-US" baseline="0" dirty="0" smtClean="0"/>
                        <a:t> cold acetone or Methanol (100%)</a:t>
                      </a:r>
                      <a:endParaRPr lang="en-US" dirty="0"/>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What is the </a:t>
            </a:r>
            <a:r>
              <a:rPr lang="en-US" dirty="0" smtClean="0"/>
              <a:t>IHC and ICC?</a:t>
            </a:r>
            <a:endParaRPr lang="en-US" dirty="0"/>
          </a:p>
        </p:txBody>
      </p:sp>
      <p:sp>
        <p:nvSpPr>
          <p:cNvPr id="7171" name="Rectangle 3"/>
          <p:cNvSpPr>
            <a:spLocks noGrp="1" noChangeArrowheads="1"/>
          </p:cNvSpPr>
          <p:nvPr>
            <p:ph idx="1"/>
          </p:nvPr>
        </p:nvSpPr>
        <p:spPr/>
        <p:txBody>
          <a:bodyPr>
            <a:normAutofit/>
          </a:bodyPr>
          <a:lstStyle/>
          <a:p>
            <a:pPr>
              <a:spcBef>
                <a:spcPct val="40000"/>
              </a:spcBef>
            </a:pPr>
            <a:r>
              <a:rPr lang="en-US" sz="2400" dirty="0" smtClean="0"/>
              <a:t>IHC – </a:t>
            </a:r>
            <a:r>
              <a:rPr lang="en-US" sz="2400" dirty="0" err="1" smtClean="0"/>
              <a:t>ImmunoHistochemistry</a:t>
            </a:r>
            <a:r>
              <a:rPr lang="en-US" sz="2400" dirty="0" smtClean="0"/>
              <a:t> (for tissue) and ICC-</a:t>
            </a:r>
            <a:r>
              <a:rPr lang="en-US" sz="2400" dirty="0" err="1" smtClean="0"/>
              <a:t>ImmunoCytoChemistry</a:t>
            </a:r>
            <a:r>
              <a:rPr lang="en-US" sz="2400" dirty="0" smtClean="0"/>
              <a:t> (for cell culture)</a:t>
            </a:r>
          </a:p>
          <a:p>
            <a:pPr>
              <a:spcBef>
                <a:spcPct val="40000"/>
              </a:spcBef>
            </a:pPr>
            <a:r>
              <a:rPr lang="en-US" sz="2400" dirty="0" smtClean="0"/>
              <a:t>Combination of immunological and histological techniques</a:t>
            </a:r>
          </a:p>
          <a:p>
            <a:pPr lvl="1">
              <a:spcBef>
                <a:spcPct val="40000"/>
              </a:spcBef>
            </a:pPr>
            <a:r>
              <a:rPr lang="en-US" sz="2000" dirty="0" smtClean="0"/>
              <a:t>Using Antibodies that target </a:t>
            </a:r>
            <a:r>
              <a:rPr lang="en-US" sz="2000" dirty="0" err="1" smtClean="0"/>
              <a:t>epitopes</a:t>
            </a:r>
            <a:r>
              <a:rPr lang="en-US" sz="2000" dirty="0" smtClean="0"/>
              <a:t> of an antigen of interest to directly or indirectly label </a:t>
            </a:r>
          </a:p>
          <a:p>
            <a:pPr lvl="2">
              <a:spcBef>
                <a:spcPct val="40000"/>
              </a:spcBef>
            </a:pPr>
            <a:r>
              <a:rPr lang="en-US" sz="1600" dirty="0" smtClean="0"/>
              <a:t>Direct labeling uses a primary antibody that is conjugated.</a:t>
            </a:r>
          </a:p>
          <a:p>
            <a:pPr lvl="2">
              <a:spcBef>
                <a:spcPct val="40000"/>
              </a:spcBef>
            </a:pPr>
            <a:r>
              <a:rPr lang="en-US" sz="1600" dirty="0" smtClean="0"/>
              <a:t>Indirect labeling is step wise process where a conjugated secondary antibody recognizes the host of the primary antibody.</a:t>
            </a:r>
          </a:p>
          <a:p>
            <a:pPr>
              <a:spcBef>
                <a:spcPct val="40000"/>
              </a:spcBef>
            </a:pPr>
            <a:endParaRPr lang="en-US"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IHC Process</a:t>
            </a:r>
            <a:endParaRPr lang="en-US" dirty="0"/>
          </a:p>
        </p:txBody>
      </p:sp>
      <p:sp>
        <p:nvSpPr>
          <p:cNvPr id="3" name="Content Placeholder 2"/>
          <p:cNvSpPr>
            <a:spLocks noGrp="1"/>
          </p:cNvSpPr>
          <p:nvPr>
            <p:ph idx="1"/>
          </p:nvPr>
        </p:nvSpPr>
        <p:spPr/>
        <p:txBody>
          <a:bodyPr/>
          <a:lstStyle/>
          <a:p>
            <a:pPr>
              <a:buNone/>
            </a:pPr>
            <a:endParaRPr lang="en-US" dirty="0"/>
          </a:p>
        </p:txBody>
      </p:sp>
      <p:pic>
        <p:nvPicPr>
          <p:cNvPr id="1026" name="Picture 2" descr="C:\Users\Sebastian\Desktop\process01.jpg"/>
          <p:cNvPicPr>
            <a:picLocks noChangeAspect="1" noChangeArrowheads="1"/>
          </p:cNvPicPr>
          <p:nvPr/>
        </p:nvPicPr>
        <p:blipFill>
          <a:blip r:embed="rId2" cstate="print"/>
          <a:srcRect/>
          <a:stretch>
            <a:fillRect/>
          </a:stretch>
        </p:blipFill>
        <p:spPr bwMode="auto">
          <a:xfrm>
            <a:off x="1752599" y="1981200"/>
            <a:ext cx="5562133" cy="3987728"/>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Monoclonal antibody</a:t>
            </a:r>
            <a:endParaRPr lang="en-US" dirty="0"/>
          </a:p>
        </p:txBody>
      </p:sp>
      <p:sp>
        <p:nvSpPr>
          <p:cNvPr id="3" name="Content Placeholder 2"/>
          <p:cNvSpPr>
            <a:spLocks noGrp="1"/>
          </p:cNvSpPr>
          <p:nvPr>
            <p:ph idx="1"/>
          </p:nvPr>
        </p:nvSpPr>
        <p:spPr>
          <a:xfrm>
            <a:off x="381000" y="1676400"/>
            <a:ext cx="5257800" cy="4648200"/>
          </a:xfrm>
        </p:spPr>
        <p:txBody>
          <a:bodyPr>
            <a:normAutofit fontScale="77500" lnSpcReduction="20000"/>
          </a:bodyPr>
          <a:lstStyle/>
          <a:p>
            <a:pPr lvl="1">
              <a:buNone/>
            </a:pPr>
            <a:r>
              <a:rPr lang="en-US" dirty="0" smtClean="0"/>
              <a:t>A </a:t>
            </a:r>
            <a:r>
              <a:rPr lang="en-US" dirty="0" err="1" smtClean="0"/>
              <a:t>monospecific</a:t>
            </a:r>
            <a:r>
              <a:rPr lang="en-US" dirty="0" smtClean="0"/>
              <a:t> antibody made by identical immune cells that are all clones of a unique parent cell- (derived from a single cell line)</a:t>
            </a:r>
          </a:p>
          <a:p>
            <a:pPr lvl="2"/>
            <a:r>
              <a:rPr lang="en-US" dirty="0" smtClean="0"/>
              <a:t>Made by fusing myeloma cells with the spleen cells from a mouse that has been immunized with the desired antigen</a:t>
            </a:r>
          </a:p>
          <a:p>
            <a:pPr lvl="2"/>
            <a:r>
              <a:rPr lang="en-US" dirty="0" smtClean="0"/>
              <a:t>All antibodies will have affinity for the same antigen</a:t>
            </a:r>
          </a:p>
          <a:p>
            <a:pPr lvl="2"/>
            <a:r>
              <a:rPr lang="en-US" dirty="0" smtClean="0"/>
              <a:t>Recent advances allow the use of rabbit B-cells </a:t>
            </a:r>
          </a:p>
          <a:p>
            <a:pPr lvl="2"/>
            <a:r>
              <a:rPr lang="en-US" dirty="0" smtClean="0"/>
              <a:t>Needs to be purified via filtration, ion exchange chromatography, size exclusion chromatography, Protein A/G affinity chromatography or affinity purification.</a:t>
            </a:r>
          </a:p>
        </p:txBody>
      </p:sp>
      <p:pic>
        <p:nvPicPr>
          <p:cNvPr id="1026" name="Picture 2"/>
          <p:cNvPicPr>
            <a:picLocks noChangeAspect="1" noChangeArrowheads="1"/>
          </p:cNvPicPr>
          <p:nvPr/>
        </p:nvPicPr>
        <p:blipFill>
          <a:blip r:embed="rId2" cstate="print"/>
          <a:srcRect l="55831" t="-23055" r="-1312"/>
          <a:stretch>
            <a:fillRect/>
          </a:stretch>
        </p:blipFill>
        <p:spPr bwMode="auto">
          <a:xfrm>
            <a:off x="5715000" y="1295400"/>
            <a:ext cx="3429000" cy="469289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Monoclonal Antibody production:</a:t>
            </a:r>
            <a:endParaRPr lang="en-US" dirty="0"/>
          </a:p>
        </p:txBody>
      </p:sp>
      <p:pic>
        <p:nvPicPr>
          <p:cNvPr id="6" name="Picture 3" descr="C:\Users\Sebastian\Desktop\nchembio0608-326-F1.jpg"/>
          <p:cNvPicPr>
            <a:picLocks noGrp="1" noChangeAspect="1" noChangeArrowheads="1"/>
          </p:cNvPicPr>
          <p:nvPr>
            <p:ph idx="1"/>
          </p:nvPr>
        </p:nvPicPr>
        <p:blipFill>
          <a:blip r:embed="rId2" cstate="print"/>
          <a:srcRect/>
          <a:stretch>
            <a:fillRect/>
          </a:stretch>
        </p:blipFill>
        <p:spPr bwMode="auto">
          <a:xfrm>
            <a:off x="1524000" y="2057400"/>
            <a:ext cx="5972577" cy="4000500"/>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Polyclonal Antibodies</a:t>
            </a:r>
            <a:endParaRPr lang="en-US" dirty="0"/>
          </a:p>
        </p:txBody>
      </p:sp>
      <p:sp>
        <p:nvSpPr>
          <p:cNvPr id="3" name="Content Placeholder 2"/>
          <p:cNvSpPr>
            <a:spLocks noGrp="1"/>
          </p:cNvSpPr>
          <p:nvPr>
            <p:ph idx="1"/>
          </p:nvPr>
        </p:nvSpPr>
        <p:spPr>
          <a:xfrm>
            <a:off x="457200" y="1775191"/>
            <a:ext cx="8077200" cy="3406409"/>
          </a:xfrm>
        </p:spPr>
        <p:txBody>
          <a:bodyPr>
            <a:normAutofit fontScale="85000" lnSpcReduction="20000"/>
          </a:bodyPr>
          <a:lstStyle/>
          <a:p>
            <a:r>
              <a:rPr lang="en-US" dirty="0" smtClean="0"/>
              <a:t>Also known as </a:t>
            </a:r>
            <a:r>
              <a:rPr lang="en-US" dirty="0" err="1" smtClean="0"/>
              <a:t>antisera</a:t>
            </a:r>
            <a:endParaRPr lang="en-US" dirty="0" smtClean="0"/>
          </a:p>
          <a:p>
            <a:pPr lvl="1"/>
            <a:r>
              <a:rPr lang="en-US" dirty="0" smtClean="0"/>
              <a:t>Immunoglobulin molecules that were secreted-against a specific antigen, each identifying a different </a:t>
            </a:r>
            <a:r>
              <a:rPr lang="en-US" dirty="0" err="1" smtClean="0"/>
              <a:t>epitope</a:t>
            </a:r>
            <a:r>
              <a:rPr lang="en-US" dirty="0" smtClean="0"/>
              <a:t>.</a:t>
            </a:r>
          </a:p>
          <a:p>
            <a:r>
              <a:rPr lang="en-US" dirty="0" smtClean="0"/>
              <a:t>Produced in the natural immune response</a:t>
            </a:r>
          </a:p>
          <a:p>
            <a:r>
              <a:rPr lang="en-US" dirty="0" smtClean="0"/>
              <a:t>Antibodies obtained are from different B-cell resources </a:t>
            </a:r>
          </a:p>
          <a:p>
            <a:pPr lvl="1"/>
            <a:r>
              <a:rPr lang="en-US" dirty="0" smtClean="0"/>
              <a:t>An antibody produced recognizes different </a:t>
            </a:r>
            <a:r>
              <a:rPr lang="en-US" dirty="0" err="1" smtClean="0"/>
              <a:t>epitopes</a:t>
            </a:r>
            <a:r>
              <a:rPr lang="en-US" dirty="0" smtClean="0"/>
              <a:t> on the same antigen and have varying affinities for the each </a:t>
            </a:r>
            <a:r>
              <a:rPr lang="en-US" dirty="0" err="1" smtClean="0"/>
              <a:t>epitope</a:t>
            </a:r>
            <a:r>
              <a:rPr lang="en-US" dirty="0" smtClean="0"/>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Polyclonal antibody production:</a:t>
            </a:r>
            <a:endParaRPr lang="en-US" dirty="0"/>
          </a:p>
        </p:txBody>
      </p:sp>
      <p:sp>
        <p:nvSpPr>
          <p:cNvPr id="3" name="Content Placeholder 2"/>
          <p:cNvSpPr>
            <a:spLocks noGrp="1"/>
          </p:cNvSpPr>
          <p:nvPr>
            <p:ph idx="1"/>
          </p:nvPr>
        </p:nvSpPr>
        <p:spPr/>
        <p:txBody>
          <a:bodyPr/>
          <a:lstStyle/>
          <a:p>
            <a:endParaRPr lang="en-US"/>
          </a:p>
        </p:txBody>
      </p:sp>
      <p:pic>
        <p:nvPicPr>
          <p:cNvPr id="3075" name="Picture 3" descr="C:\Users\Sebastian\Desktop\Biochem-polyclonal_production.jpg"/>
          <p:cNvPicPr>
            <a:picLocks noChangeAspect="1" noChangeArrowheads="1"/>
          </p:cNvPicPr>
          <p:nvPr/>
        </p:nvPicPr>
        <p:blipFill>
          <a:blip r:embed="rId2" cstate="print"/>
          <a:srcRect/>
          <a:stretch>
            <a:fillRect/>
          </a:stretch>
        </p:blipFill>
        <p:spPr bwMode="auto">
          <a:xfrm>
            <a:off x="533400" y="1723036"/>
            <a:ext cx="8153400" cy="4734883"/>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Polyclonal Antibody Production</a:t>
            </a:r>
            <a:endParaRPr lang="en-US" dirty="0"/>
          </a:p>
        </p:txBody>
      </p:sp>
      <p:pic>
        <p:nvPicPr>
          <p:cNvPr id="78850" name="Picture 2"/>
          <p:cNvPicPr>
            <a:picLocks noGrp="1" noChangeAspect="1" noChangeArrowheads="1"/>
          </p:cNvPicPr>
          <p:nvPr>
            <p:ph idx="1"/>
          </p:nvPr>
        </p:nvPicPr>
        <p:blipFill>
          <a:blip r:embed="rId2" cstate="print"/>
          <a:srcRect/>
          <a:stretch>
            <a:fillRect/>
          </a:stretch>
        </p:blipFill>
        <p:spPr bwMode="auto">
          <a:xfrm>
            <a:off x="2133600" y="1600200"/>
            <a:ext cx="5181600" cy="50596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Primary antibody-</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Most polyclonal antibodies are </a:t>
            </a:r>
            <a:r>
              <a:rPr lang="en-US" dirty="0" err="1" smtClean="0"/>
              <a:t>IgG</a:t>
            </a:r>
            <a:r>
              <a:rPr lang="en-US" dirty="0" smtClean="0"/>
              <a:t> class immunoglobulin – so an anti-</a:t>
            </a:r>
            <a:r>
              <a:rPr lang="en-US" dirty="0" err="1" smtClean="0"/>
              <a:t>IgG</a:t>
            </a:r>
            <a:r>
              <a:rPr lang="en-US" dirty="0" smtClean="0"/>
              <a:t> secondary antibody maybe be used.</a:t>
            </a:r>
          </a:p>
          <a:p>
            <a:r>
              <a:rPr lang="en-US" dirty="0" smtClean="0"/>
              <a:t>For Monoclonal antibodies be SURE that your secondary is well matched to your primary subclass.</a:t>
            </a:r>
          </a:p>
          <a:p>
            <a:r>
              <a:rPr lang="en-US" dirty="0" err="1" smtClean="0"/>
              <a:t>IgG</a:t>
            </a:r>
            <a:r>
              <a:rPr lang="en-US" dirty="0" smtClean="0"/>
              <a:t> subclass and how can it be useful?</a:t>
            </a:r>
          </a:p>
          <a:p>
            <a:pPr lvl="1"/>
            <a:r>
              <a:rPr lang="en-US" dirty="0" smtClean="0"/>
              <a:t>IgG1, IgG2a, IgG2b, IgG2c, IgG3 – </a:t>
            </a:r>
          </a:p>
          <a:p>
            <a:pPr lvl="1"/>
            <a:r>
              <a:rPr lang="en-US" dirty="0" smtClean="0"/>
              <a:t>Affinity purified (isolated) antibodies – give the lowest amount of non-specific binding.</a:t>
            </a:r>
          </a:p>
          <a:p>
            <a:pPr lvl="1"/>
            <a:r>
              <a:rPr lang="en-US" dirty="0" err="1" smtClean="0"/>
              <a:t>IgG</a:t>
            </a:r>
            <a:r>
              <a:rPr lang="en-US" dirty="0" smtClean="0"/>
              <a:t> fractions- contain very high affinity antibodies- best for when the antigen of interest is rare or present in low quantities.</a:t>
            </a:r>
          </a:p>
          <a:p>
            <a:pPr lvl="1"/>
            <a:r>
              <a:rPr lang="en-US" dirty="0" smtClean="0"/>
              <a:t>They make secondary antibodies that are specific for a </a:t>
            </a:r>
            <a:r>
              <a:rPr lang="en-US" dirty="0" err="1" smtClean="0"/>
              <a:t>IgG</a:t>
            </a:r>
            <a:r>
              <a:rPr lang="en-US" dirty="0" smtClean="0"/>
              <a:t> subclass</a:t>
            </a:r>
          </a:p>
          <a:p>
            <a:pPr lvl="2"/>
            <a:r>
              <a:rPr lang="en-US" dirty="0" smtClean="0"/>
              <a:t>Ex. Primary is a IgG2a and your secondary is against IgG2a</a:t>
            </a:r>
          </a:p>
          <a:p>
            <a:pPr lvl="2"/>
            <a:r>
              <a:rPr lang="en-US" dirty="0" smtClean="0"/>
              <a:t>Great for doing multiple labeling methods (double, triple, quadruple, etc.)</a:t>
            </a:r>
            <a:endParaRPr lang="en-US" dirty="0"/>
          </a:p>
        </p:txBody>
      </p:sp>
      <p:pic>
        <p:nvPicPr>
          <p:cNvPr id="4" name="Picture 2" descr="C:\Users\Sebastian\Desktop\antibo1.gif"/>
          <p:cNvPicPr>
            <a:picLocks noChangeAspect="1" noChangeArrowheads="1"/>
          </p:cNvPicPr>
          <p:nvPr/>
        </p:nvPicPr>
        <p:blipFill>
          <a:blip r:embed="rId2" cstate="print"/>
          <a:srcRect/>
          <a:stretch>
            <a:fillRect/>
          </a:stretch>
        </p:blipFill>
        <p:spPr bwMode="auto">
          <a:xfrm rot="959150">
            <a:off x="5181600" y="152400"/>
            <a:ext cx="1544595" cy="1524000"/>
          </a:xfrm>
          <a:prstGeom prst="rect">
            <a:avLst/>
          </a:prstGeom>
          <a:noFill/>
        </p:spPr>
      </p:pic>
      <p:pic>
        <p:nvPicPr>
          <p:cNvPr id="5" name="Picture 2" descr="C:\Users\Sebastian\Desktop\antibo1.gif"/>
          <p:cNvPicPr>
            <a:picLocks noChangeAspect="1" noChangeArrowheads="1"/>
          </p:cNvPicPr>
          <p:nvPr/>
        </p:nvPicPr>
        <p:blipFill>
          <a:blip r:embed="rId2" cstate="print"/>
          <a:srcRect/>
          <a:stretch>
            <a:fillRect/>
          </a:stretch>
        </p:blipFill>
        <p:spPr bwMode="auto">
          <a:xfrm rot="20296303">
            <a:off x="7161425" y="79369"/>
            <a:ext cx="1544595" cy="1524000"/>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Antibody</a:t>
            </a:r>
            <a:endParaRPr lang="en-US" dirty="0"/>
          </a:p>
        </p:txBody>
      </p:sp>
      <p:sp>
        <p:nvSpPr>
          <p:cNvPr id="5" name="Content Placeholder 4"/>
          <p:cNvSpPr>
            <a:spLocks noGrp="1"/>
          </p:cNvSpPr>
          <p:nvPr>
            <p:ph idx="1"/>
          </p:nvPr>
        </p:nvSpPr>
        <p:spPr/>
        <p:txBody>
          <a:bodyPr/>
          <a:lstStyle/>
          <a:p>
            <a:pPr>
              <a:buNone/>
            </a:pPr>
            <a:endParaRPr lang="en-US" dirty="0"/>
          </a:p>
        </p:txBody>
      </p:sp>
      <p:pic>
        <p:nvPicPr>
          <p:cNvPr id="79877" name="Picture 5" descr="C:\Users\creampuff\Desktop\05ig_mol.gif"/>
          <p:cNvPicPr>
            <a:picLocks noChangeAspect="1" noChangeArrowheads="1"/>
          </p:cNvPicPr>
          <p:nvPr/>
        </p:nvPicPr>
        <p:blipFill>
          <a:blip r:embed="rId2" cstate="print"/>
          <a:srcRect/>
          <a:stretch>
            <a:fillRect/>
          </a:stretch>
        </p:blipFill>
        <p:spPr bwMode="auto">
          <a:xfrm>
            <a:off x="2209800" y="1600200"/>
            <a:ext cx="3657601" cy="4863621"/>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antibodies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Choosing a secondary</a:t>
            </a:r>
          </a:p>
          <a:p>
            <a:pPr lvl="1"/>
            <a:r>
              <a:rPr lang="en-US" dirty="0" smtClean="0"/>
              <a:t>The secondary antibody should be against the species that the primary antibody is raised – ex if your primary is raised in mouse, an anti-mouse secondary antibody should be used.</a:t>
            </a:r>
          </a:p>
          <a:p>
            <a:pPr lvl="1"/>
            <a:r>
              <a:rPr lang="en-US" dirty="0" smtClean="0"/>
              <a:t>Match the subclass of your secondary to the subclass of your primary also – ex: if your primary is one of mouse </a:t>
            </a:r>
            <a:r>
              <a:rPr lang="en-US" dirty="0" err="1" smtClean="0"/>
              <a:t>IgG</a:t>
            </a:r>
            <a:r>
              <a:rPr lang="en-US" dirty="0" smtClean="0"/>
              <a:t> subclasses( IgG1, IgG2, IgG2b, IgG2c, IgG3) any of the anti-mouse </a:t>
            </a:r>
            <a:r>
              <a:rPr lang="en-US" dirty="0" err="1" smtClean="0"/>
              <a:t>IgG</a:t>
            </a:r>
            <a:r>
              <a:rPr lang="en-US" dirty="0" smtClean="0"/>
              <a:t> can be used.</a:t>
            </a:r>
          </a:p>
          <a:p>
            <a:pPr lvl="1"/>
            <a:endParaRPr lang="en-US" dirty="0" smtClean="0"/>
          </a:p>
          <a:p>
            <a:r>
              <a:rPr lang="en-US" dirty="0" smtClean="0"/>
              <a:t>Labeled or Conjugated Secondary Antibody</a:t>
            </a:r>
          </a:p>
          <a:p>
            <a:pPr lvl="1"/>
            <a:r>
              <a:rPr lang="en-US" dirty="0" smtClean="0"/>
              <a:t>enzyme labeled – </a:t>
            </a:r>
            <a:r>
              <a:rPr lang="en-US" dirty="0" err="1" smtClean="0"/>
              <a:t>peroxidase</a:t>
            </a:r>
            <a:r>
              <a:rPr lang="en-US" dirty="0" smtClean="0"/>
              <a:t>, alkaline </a:t>
            </a:r>
            <a:r>
              <a:rPr lang="en-US" dirty="0" err="1" smtClean="0"/>
              <a:t>phosphatase</a:t>
            </a:r>
            <a:endParaRPr lang="en-US" dirty="0" smtClean="0"/>
          </a:p>
          <a:p>
            <a:pPr lvl="1"/>
            <a:r>
              <a:rPr lang="en-US" dirty="0" smtClean="0"/>
              <a:t>fluorescent labeled – </a:t>
            </a:r>
            <a:r>
              <a:rPr lang="en-US" dirty="0" err="1" smtClean="0"/>
              <a:t>Alexa</a:t>
            </a:r>
            <a:r>
              <a:rPr lang="en-US" dirty="0" smtClean="0"/>
              <a:t> Fluor 405, 488, 568, 647</a:t>
            </a:r>
          </a:p>
          <a:p>
            <a:pPr lvl="1"/>
            <a:r>
              <a:rPr lang="en-US" dirty="0" smtClean="0"/>
              <a:t>biotin conjugated – best amplification of the signal and thus will give greater sensitivity than with enzyme or fluorescent conjugated secondary antibody alone.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Secondary antibodies- a bit more info</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What if you have a lot of non-specific staining with your secondary?</a:t>
            </a:r>
          </a:p>
          <a:p>
            <a:r>
              <a:rPr lang="en-US" dirty="0" smtClean="0"/>
              <a:t>Structural similarities are sometimes found among </a:t>
            </a:r>
            <a:r>
              <a:rPr lang="en-US" dirty="0" err="1" smtClean="0"/>
              <a:t>immunoglobulins</a:t>
            </a:r>
            <a:r>
              <a:rPr lang="en-US" dirty="0" smtClean="0"/>
              <a:t> from different species. Consequently, a polyclonal antibody directed to a specific species can also react with </a:t>
            </a:r>
            <a:r>
              <a:rPr lang="en-US" dirty="0" err="1" smtClean="0"/>
              <a:t>IgG</a:t>
            </a:r>
            <a:r>
              <a:rPr lang="en-US" dirty="0" smtClean="0"/>
              <a:t> from other species. This non-specific binding is called cross-reactivity.</a:t>
            </a:r>
          </a:p>
          <a:p>
            <a:r>
              <a:rPr lang="en-US" dirty="0" smtClean="0"/>
              <a:t>To reduce cross-reactivity among </a:t>
            </a:r>
            <a:r>
              <a:rPr lang="en-US" dirty="0" err="1" smtClean="0"/>
              <a:t>immunoglobulins</a:t>
            </a:r>
            <a:r>
              <a:rPr lang="en-US" dirty="0" smtClean="0"/>
              <a:t> from different species, an additional purification step is applied in which antibodies are pre-adsorbed against potentially cross-reactive species.</a:t>
            </a:r>
          </a:p>
          <a:p>
            <a:pPr lvl="1"/>
            <a:r>
              <a:rPr lang="en-US" dirty="0" smtClean="0"/>
              <a:t>Solution- Adsorbed secondary antibody</a:t>
            </a:r>
          </a:p>
          <a:p>
            <a:pPr lvl="2"/>
            <a:r>
              <a:rPr lang="en-US" dirty="0" smtClean="0"/>
              <a:t>Adsorbed with an animal or human </a:t>
            </a:r>
            <a:r>
              <a:rPr lang="en-US" dirty="0" err="1" smtClean="0"/>
              <a:t>IgG</a:t>
            </a:r>
            <a:r>
              <a:rPr lang="en-US" dirty="0" smtClean="0"/>
              <a:t>.</a:t>
            </a:r>
          </a:p>
          <a:p>
            <a:pPr lvl="3"/>
            <a:r>
              <a:rPr lang="en-US" dirty="0" smtClean="0"/>
              <a:t>Ex: If working with human tissue choose a secondary that is absorbed with human serum or human </a:t>
            </a:r>
            <a:r>
              <a:rPr lang="en-US" dirty="0" err="1" smtClean="0"/>
              <a:t>IgG</a:t>
            </a:r>
            <a:r>
              <a:rPr lang="en-US" dirty="0" smtClean="0"/>
              <a:t>.</a:t>
            </a:r>
          </a:p>
          <a:p>
            <a:pPr lvl="2"/>
            <a:r>
              <a:rPr lang="en-US" dirty="0" smtClean="0"/>
              <a:t>*caution - Adsorbed antibodies will reduced </a:t>
            </a:r>
            <a:r>
              <a:rPr lang="en-US" dirty="0" err="1" smtClean="0"/>
              <a:t>epitope</a:t>
            </a:r>
            <a:r>
              <a:rPr lang="en-US" dirty="0" smtClean="0"/>
              <a:t> recognition. </a:t>
            </a:r>
          </a:p>
          <a:p>
            <a:pPr lvl="2"/>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Take away of an IHC or ICC</a:t>
            </a:r>
            <a:endParaRPr lang="en-US" dirty="0"/>
          </a:p>
        </p:txBody>
      </p:sp>
      <p:sp>
        <p:nvSpPr>
          <p:cNvPr id="3" name="Content Placeholder 2"/>
          <p:cNvSpPr>
            <a:spLocks noGrp="1"/>
          </p:cNvSpPr>
          <p:nvPr>
            <p:ph idx="1"/>
          </p:nvPr>
        </p:nvSpPr>
        <p:spPr>
          <a:xfrm>
            <a:off x="457200" y="1775191"/>
            <a:ext cx="8229600" cy="3711209"/>
          </a:xfrm>
        </p:spPr>
        <p:txBody>
          <a:bodyPr>
            <a:normAutofit fontScale="70000" lnSpcReduction="20000"/>
          </a:bodyPr>
          <a:lstStyle/>
          <a:p>
            <a:r>
              <a:rPr lang="en-US" dirty="0" smtClean="0"/>
              <a:t>Indirect method will give you an amplified signal due to its step wise process.</a:t>
            </a:r>
          </a:p>
          <a:p>
            <a:r>
              <a:rPr lang="en-US" dirty="0" smtClean="0"/>
              <a:t>Monoclonal affinity isolated primary antibodies</a:t>
            </a:r>
          </a:p>
          <a:p>
            <a:pPr lvl="1"/>
            <a:r>
              <a:rPr lang="en-US" dirty="0" smtClean="0"/>
              <a:t>Target only one </a:t>
            </a:r>
            <a:r>
              <a:rPr lang="en-US" dirty="0" err="1" smtClean="0"/>
              <a:t>epitope</a:t>
            </a:r>
            <a:r>
              <a:rPr lang="en-US" dirty="0" smtClean="0"/>
              <a:t> on the antigen of interest (could be harder to work with)</a:t>
            </a:r>
          </a:p>
          <a:p>
            <a:r>
              <a:rPr lang="en-US" dirty="0" smtClean="0"/>
              <a:t>Polyclonal affinity isolated primary antibodies will be batch dependant</a:t>
            </a:r>
          </a:p>
          <a:p>
            <a:pPr lvl="1"/>
            <a:r>
              <a:rPr lang="en-US" dirty="0" smtClean="0"/>
              <a:t>Target many </a:t>
            </a:r>
            <a:r>
              <a:rPr lang="en-US" dirty="0" err="1" smtClean="0"/>
              <a:t>epitopes</a:t>
            </a:r>
            <a:r>
              <a:rPr lang="en-US" dirty="0" smtClean="0"/>
              <a:t> on the antigen (easier to work)</a:t>
            </a:r>
          </a:p>
          <a:p>
            <a:r>
              <a:rPr lang="en-US" dirty="0" smtClean="0"/>
              <a:t>Choose your secondary antibody accordingly</a:t>
            </a:r>
          </a:p>
          <a:p>
            <a:pPr marL="971550" lvl="1" indent="-514350">
              <a:buAutoNum type="alphaUcPeriod"/>
            </a:pPr>
            <a:r>
              <a:rPr lang="en-US" dirty="0" smtClean="0"/>
              <a:t>Match the subclass to primary antibody</a:t>
            </a:r>
          </a:p>
          <a:p>
            <a:pPr marL="971550" lvl="1" indent="-514350">
              <a:buAutoNum type="alphaUcPeriod"/>
            </a:pPr>
            <a:r>
              <a:rPr lang="en-US" dirty="0" smtClean="0"/>
              <a:t>Adsorbed </a:t>
            </a:r>
          </a:p>
          <a:p>
            <a:pPr marL="971550" lvl="1" indent="-514350">
              <a:buAutoNum type="alphaUcPeriod"/>
            </a:pPr>
            <a:r>
              <a:rPr lang="en-US" dirty="0" smtClean="0"/>
              <a:t>Fluorescently conjugated</a:t>
            </a:r>
          </a:p>
          <a:p>
            <a:pPr lvl="1">
              <a:buNone/>
            </a:pP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Other- more sensitive detection systems – expensive!</a:t>
            </a:r>
            <a:endParaRPr lang="en-US" dirty="0"/>
          </a:p>
        </p:txBody>
      </p:sp>
      <p:sp>
        <p:nvSpPr>
          <p:cNvPr id="3" name="Content Placeholder 2"/>
          <p:cNvSpPr>
            <a:spLocks noGrp="1"/>
          </p:cNvSpPr>
          <p:nvPr>
            <p:ph idx="1"/>
          </p:nvPr>
        </p:nvSpPr>
        <p:spPr>
          <a:xfrm>
            <a:off x="457200" y="1775191"/>
            <a:ext cx="8153400" cy="3863609"/>
          </a:xfrm>
        </p:spPr>
        <p:txBody>
          <a:bodyPr>
            <a:normAutofit fontScale="85000" lnSpcReduction="20000"/>
          </a:bodyPr>
          <a:lstStyle/>
          <a:p>
            <a:r>
              <a:rPr lang="en-US" dirty="0" smtClean="0"/>
              <a:t>If all else fails, and you need to see your protein in vivo.</a:t>
            </a:r>
          </a:p>
          <a:p>
            <a:r>
              <a:rPr lang="en-US" dirty="0" smtClean="0"/>
              <a:t>Polymer detection system</a:t>
            </a:r>
          </a:p>
          <a:p>
            <a:pPr lvl="1"/>
            <a:r>
              <a:rPr lang="en-US" dirty="0" smtClean="0"/>
              <a:t>Polymerized reporter enzyme staining system based on polymerizing an enzyme and attaching these polymers to an antibody. </a:t>
            </a:r>
          </a:p>
          <a:p>
            <a:pPr lvl="2"/>
            <a:r>
              <a:rPr lang="en-US" dirty="0" smtClean="0"/>
              <a:t>Envision (</a:t>
            </a:r>
            <a:r>
              <a:rPr lang="en-US" dirty="0" err="1" smtClean="0"/>
              <a:t>Dako</a:t>
            </a:r>
            <a:r>
              <a:rPr lang="en-US" dirty="0" smtClean="0"/>
              <a:t> </a:t>
            </a:r>
            <a:r>
              <a:rPr lang="en-US" dirty="0" err="1" smtClean="0"/>
              <a:t>Cytomation</a:t>
            </a:r>
            <a:r>
              <a:rPr lang="en-US" dirty="0" smtClean="0"/>
              <a:t>)</a:t>
            </a:r>
          </a:p>
          <a:p>
            <a:pPr lvl="2"/>
            <a:r>
              <a:rPr lang="en-US" dirty="0" err="1" smtClean="0"/>
              <a:t>ImmPRESS</a:t>
            </a:r>
            <a:r>
              <a:rPr lang="en-US" dirty="0" smtClean="0"/>
              <a:t> (Vector Labs)</a:t>
            </a:r>
          </a:p>
          <a:p>
            <a:pPr lvl="2"/>
            <a:r>
              <a:rPr lang="en-US" dirty="0" smtClean="0"/>
              <a:t>MACH 2 (</a:t>
            </a:r>
            <a:r>
              <a:rPr lang="en-US" dirty="0" err="1" smtClean="0"/>
              <a:t>Biocare</a:t>
            </a:r>
            <a:r>
              <a:rPr lang="en-US" dirty="0" smtClean="0"/>
              <a:t> Medical)</a:t>
            </a:r>
          </a:p>
          <a:p>
            <a:pPr lvl="2"/>
            <a:r>
              <a:rPr lang="en-US" dirty="0" err="1" smtClean="0"/>
              <a:t>Polink</a:t>
            </a:r>
            <a:r>
              <a:rPr lang="en-US" dirty="0" smtClean="0"/>
              <a:t> (IHC world)</a:t>
            </a:r>
          </a:p>
          <a:p>
            <a:pPr lvl="2"/>
            <a:r>
              <a:rPr lang="en-US" dirty="0" err="1" smtClean="0"/>
              <a:t>Novolink</a:t>
            </a:r>
            <a:r>
              <a:rPr lang="en-US" dirty="0" smtClean="0"/>
              <a:t> (</a:t>
            </a:r>
            <a:r>
              <a:rPr lang="en-US" dirty="0" err="1" smtClean="0"/>
              <a:t>Leica</a:t>
            </a:r>
            <a:r>
              <a:rPr lang="en-US" dirty="0" smtClean="0"/>
              <a:t> Microsystems)</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Refraction and the Refractive Index (RI)</a:t>
            </a:r>
            <a:endParaRPr lang="en-US" dirty="0"/>
          </a:p>
        </p:txBody>
      </p:sp>
      <p:sp>
        <p:nvSpPr>
          <p:cNvPr id="3" name="Content Placeholder 2"/>
          <p:cNvSpPr>
            <a:spLocks noGrp="1"/>
          </p:cNvSpPr>
          <p:nvPr>
            <p:ph idx="1"/>
          </p:nvPr>
        </p:nvSpPr>
        <p:spPr/>
        <p:txBody>
          <a:bodyPr/>
          <a:lstStyle/>
          <a:p>
            <a:r>
              <a:rPr lang="en-US" dirty="0" smtClean="0"/>
              <a:t>Changes in refractive index causes light to deviate from its expected path:</a:t>
            </a:r>
          </a:p>
          <a:p>
            <a:endParaRPr lang="en-US" dirty="0"/>
          </a:p>
        </p:txBody>
      </p:sp>
      <p:pic>
        <p:nvPicPr>
          <p:cNvPr id="2050" name="Picture 2"/>
          <p:cNvPicPr>
            <a:picLocks noChangeAspect="1" noChangeArrowheads="1"/>
          </p:cNvPicPr>
          <p:nvPr/>
        </p:nvPicPr>
        <p:blipFill>
          <a:blip r:embed="rId3" cstate="print"/>
          <a:srcRect/>
          <a:stretch>
            <a:fillRect/>
          </a:stretch>
        </p:blipFill>
        <p:spPr bwMode="auto">
          <a:xfrm>
            <a:off x="1066800" y="2895600"/>
            <a:ext cx="6985000" cy="11938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4" cstate="print"/>
          <a:srcRect/>
          <a:stretch>
            <a:fillRect/>
          </a:stretch>
        </p:blipFill>
        <p:spPr bwMode="auto">
          <a:xfrm>
            <a:off x="1066800" y="4038600"/>
            <a:ext cx="6985000" cy="11938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5" cstate="print"/>
          <a:srcRect/>
          <a:stretch>
            <a:fillRect/>
          </a:stretch>
        </p:blipFill>
        <p:spPr bwMode="auto">
          <a:xfrm>
            <a:off x="1066800" y="5181600"/>
            <a:ext cx="6985000" cy="1193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Mounting Media</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Using the correct mounting medium avoids signal loss and optical aberration and could preserve fluorescence signal with anti-fading properties.</a:t>
            </a:r>
          </a:p>
          <a:p>
            <a:r>
              <a:rPr lang="en-US" dirty="0" smtClean="0"/>
              <a:t>Refractive indexes of interest:</a:t>
            </a:r>
          </a:p>
          <a:p>
            <a:pPr lvl="1"/>
            <a:r>
              <a:rPr lang="en-US" dirty="0" smtClean="0"/>
              <a:t>Water = 1.33</a:t>
            </a:r>
          </a:p>
          <a:p>
            <a:pPr lvl="1"/>
            <a:r>
              <a:rPr lang="en-US" dirty="0" smtClean="0"/>
              <a:t>Immersion Oil = 1.513</a:t>
            </a:r>
          </a:p>
          <a:p>
            <a:pPr lvl="1"/>
            <a:r>
              <a:rPr lang="en-US" dirty="0" smtClean="0"/>
              <a:t>Air = 1</a:t>
            </a:r>
          </a:p>
          <a:p>
            <a:r>
              <a:rPr lang="en-US" dirty="0" smtClean="0"/>
              <a:t>Light is refracted when it crosses the interface between two media of differing refractive indices</a:t>
            </a:r>
          </a:p>
          <a:p>
            <a:pPr lvl="1"/>
            <a:r>
              <a:rPr lang="en-US" dirty="0" smtClean="0"/>
              <a:t>Mismatching refractive index between the sample’s mounting media and the immersion media is one of the largest components to image degradation in microscopy</a:t>
            </a:r>
          </a:p>
          <a:p>
            <a:pPr lvl="1"/>
            <a:r>
              <a:rPr lang="en-US" dirty="0" smtClean="0"/>
              <a:t>Mismatched refractive indices can also result in stretching/ compression of the z-axis.</a:t>
            </a:r>
          </a:p>
          <a:p>
            <a:pPr lvl="2"/>
            <a:r>
              <a:rPr lang="en-US" dirty="0" smtClean="0"/>
              <a:t>So what you think is a 1um step size for the objective does not necessarily correspond to a 1um change in the focal plane.</a:t>
            </a:r>
          </a:p>
          <a:p>
            <a:pPr lvl="1"/>
            <a:endParaRPr lang="en-US" dirty="0" smtClean="0"/>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Freeform 2"/>
          <p:cNvSpPr>
            <a:spLocks/>
          </p:cNvSpPr>
          <p:nvPr/>
        </p:nvSpPr>
        <p:spPr bwMode="auto">
          <a:xfrm>
            <a:off x="482600" y="3421063"/>
            <a:ext cx="2870200" cy="617537"/>
          </a:xfrm>
          <a:custGeom>
            <a:avLst/>
            <a:gdLst/>
            <a:ahLst/>
            <a:cxnLst>
              <a:cxn ang="0">
                <a:pos x="0" y="0"/>
              </a:cxn>
              <a:cxn ang="0">
                <a:pos x="2736" y="0"/>
              </a:cxn>
              <a:cxn ang="0">
                <a:pos x="2736" y="240"/>
              </a:cxn>
              <a:cxn ang="0">
                <a:pos x="0" y="240"/>
              </a:cxn>
              <a:cxn ang="0">
                <a:pos x="0" y="0"/>
              </a:cxn>
            </a:cxnLst>
            <a:rect l="0" t="0" r="r" b="b"/>
            <a:pathLst>
              <a:path w="2736" h="240">
                <a:moveTo>
                  <a:pt x="0" y="0"/>
                </a:moveTo>
                <a:cubicBezTo>
                  <a:pt x="1368" y="0"/>
                  <a:pt x="2736" y="0"/>
                  <a:pt x="2736" y="0"/>
                </a:cubicBezTo>
                <a:cubicBezTo>
                  <a:pt x="2656" y="117"/>
                  <a:pt x="2709" y="165"/>
                  <a:pt x="2736" y="240"/>
                </a:cubicBezTo>
                <a:cubicBezTo>
                  <a:pt x="2736" y="240"/>
                  <a:pt x="1368" y="240"/>
                  <a:pt x="0" y="240"/>
                </a:cubicBezTo>
                <a:cubicBezTo>
                  <a:pt x="43" y="133"/>
                  <a:pt x="37" y="69"/>
                  <a:pt x="0" y="0"/>
                </a:cubicBezTo>
                <a:close/>
              </a:path>
            </a:pathLst>
          </a:custGeom>
          <a:solidFill>
            <a:srgbClr val="C8FAFF"/>
          </a:solidFill>
          <a:ln w="9525">
            <a:solidFill>
              <a:schemeClr val="tx1"/>
            </a:solidFill>
            <a:round/>
            <a:headEnd/>
            <a:tailEnd/>
          </a:ln>
          <a:effectLst/>
        </p:spPr>
        <p:txBody>
          <a:bodyPr wrap="none" anchor="ctr"/>
          <a:lstStyle/>
          <a:p>
            <a:endParaRPr lang="en-US"/>
          </a:p>
        </p:txBody>
      </p:sp>
      <p:sp>
        <p:nvSpPr>
          <p:cNvPr id="522243" name="Freeform 3"/>
          <p:cNvSpPr>
            <a:spLocks/>
          </p:cNvSpPr>
          <p:nvPr/>
        </p:nvSpPr>
        <p:spPr bwMode="auto">
          <a:xfrm>
            <a:off x="152400" y="2481263"/>
            <a:ext cx="3675063" cy="947737"/>
          </a:xfrm>
          <a:custGeom>
            <a:avLst/>
            <a:gdLst/>
            <a:ahLst/>
            <a:cxnLst>
              <a:cxn ang="0">
                <a:pos x="2949" y="955"/>
              </a:cxn>
              <a:cxn ang="0">
                <a:pos x="0" y="955"/>
              </a:cxn>
              <a:cxn ang="0">
                <a:pos x="2949" y="955"/>
              </a:cxn>
            </a:cxnLst>
            <a:rect l="0" t="0" r="r" b="b"/>
            <a:pathLst>
              <a:path w="2949" h="955">
                <a:moveTo>
                  <a:pt x="2949" y="955"/>
                </a:moveTo>
                <a:cubicBezTo>
                  <a:pt x="1755" y="0"/>
                  <a:pt x="671" y="324"/>
                  <a:pt x="0" y="955"/>
                </a:cubicBezTo>
                <a:cubicBezTo>
                  <a:pt x="0" y="955"/>
                  <a:pt x="2949" y="955"/>
                  <a:pt x="2949" y="955"/>
                </a:cubicBezTo>
                <a:close/>
              </a:path>
            </a:pathLst>
          </a:custGeom>
          <a:solidFill>
            <a:schemeClr val="accent1"/>
          </a:solidFill>
          <a:ln w="19050" cmpd="sng">
            <a:solidFill>
              <a:schemeClr val="bg2"/>
            </a:solidFill>
            <a:round/>
            <a:headEnd/>
            <a:tailEnd/>
          </a:ln>
        </p:spPr>
        <p:txBody>
          <a:bodyPr wrap="none" anchor="ctr"/>
          <a:lstStyle/>
          <a:p>
            <a:endParaRPr lang="en-US"/>
          </a:p>
        </p:txBody>
      </p:sp>
      <p:sp>
        <p:nvSpPr>
          <p:cNvPr id="522244" name="Freeform 4"/>
          <p:cNvSpPr>
            <a:spLocks/>
          </p:cNvSpPr>
          <p:nvPr/>
        </p:nvSpPr>
        <p:spPr bwMode="auto">
          <a:xfrm>
            <a:off x="160338" y="4241800"/>
            <a:ext cx="3852862" cy="1111250"/>
          </a:xfrm>
          <a:custGeom>
            <a:avLst/>
            <a:gdLst/>
            <a:ahLst/>
            <a:cxnLst>
              <a:cxn ang="0">
                <a:pos x="40" y="59"/>
              </a:cxn>
              <a:cxn ang="0">
                <a:pos x="2270" y="59"/>
              </a:cxn>
              <a:cxn ang="0">
                <a:pos x="2251" y="416"/>
              </a:cxn>
              <a:cxn ang="0">
                <a:pos x="2299" y="700"/>
              </a:cxn>
              <a:cxn ang="0">
                <a:pos x="40" y="700"/>
              </a:cxn>
              <a:cxn ang="0">
                <a:pos x="70" y="444"/>
              </a:cxn>
              <a:cxn ang="0">
                <a:pos x="11" y="315"/>
              </a:cxn>
              <a:cxn ang="0">
                <a:pos x="70" y="187"/>
              </a:cxn>
              <a:cxn ang="0">
                <a:pos x="40" y="59"/>
              </a:cxn>
            </a:cxnLst>
            <a:rect l="0" t="0" r="r" b="b"/>
            <a:pathLst>
              <a:path w="2427" h="700">
                <a:moveTo>
                  <a:pt x="40" y="59"/>
                </a:moveTo>
                <a:cubicBezTo>
                  <a:pt x="40" y="59"/>
                  <a:pt x="1902" y="0"/>
                  <a:pt x="2270" y="59"/>
                </a:cubicBezTo>
                <a:cubicBezTo>
                  <a:pt x="2427" y="384"/>
                  <a:pt x="2256" y="262"/>
                  <a:pt x="2251" y="416"/>
                </a:cubicBezTo>
                <a:cubicBezTo>
                  <a:pt x="2246" y="570"/>
                  <a:pt x="2331" y="549"/>
                  <a:pt x="2299" y="700"/>
                </a:cubicBezTo>
                <a:cubicBezTo>
                  <a:pt x="2299" y="700"/>
                  <a:pt x="1169" y="700"/>
                  <a:pt x="40" y="700"/>
                </a:cubicBezTo>
                <a:cubicBezTo>
                  <a:pt x="0" y="539"/>
                  <a:pt x="75" y="508"/>
                  <a:pt x="70" y="444"/>
                </a:cubicBezTo>
                <a:cubicBezTo>
                  <a:pt x="65" y="380"/>
                  <a:pt x="11" y="358"/>
                  <a:pt x="11" y="315"/>
                </a:cubicBezTo>
                <a:cubicBezTo>
                  <a:pt x="11" y="272"/>
                  <a:pt x="65" y="230"/>
                  <a:pt x="70" y="187"/>
                </a:cubicBezTo>
                <a:cubicBezTo>
                  <a:pt x="75" y="144"/>
                  <a:pt x="46" y="86"/>
                  <a:pt x="40" y="59"/>
                </a:cubicBezTo>
                <a:close/>
              </a:path>
            </a:pathLst>
          </a:custGeom>
          <a:solidFill>
            <a:srgbClr val="E3CFB8"/>
          </a:solidFill>
          <a:ln w="9525">
            <a:solidFill>
              <a:schemeClr val="tx1"/>
            </a:solidFill>
            <a:round/>
            <a:headEnd/>
            <a:tailEnd/>
          </a:ln>
          <a:effectLst/>
        </p:spPr>
        <p:txBody>
          <a:bodyPr wrap="none" anchor="ctr"/>
          <a:lstStyle/>
          <a:p>
            <a:endParaRPr lang="en-US"/>
          </a:p>
        </p:txBody>
      </p:sp>
      <p:sp>
        <p:nvSpPr>
          <p:cNvPr id="522245" name="Rectangle 5"/>
          <p:cNvSpPr>
            <a:spLocks noChangeArrowheads="1"/>
          </p:cNvSpPr>
          <p:nvPr/>
        </p:nvSpPr>
        <p:spPr bwMode="auto">
          <a:xfrm>
            <a:off x="152400" y="4038600"/>
            <a:ext cx="3733800" cy="3048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6"/>
          <p:cNvGrpSpPr>
            <a:grpSpLocks/>
          </p:cNvGrpSpPr>
          <p:nvPr/>
        </p:nvGrpSpPr>
        <p:grpSpPr bwMode="auto">
          <a:xfrm>
            <a:off x="685800" y="1600200"/>
            <a:ext cx="1219200" cy="2743200"/>
            <a:chOff x="672" y="1008"/>
            <a:chExt cx="768" cy="1728"/>
          </a:xfrm>
        </p:grpSpPr>
        <p:sp>
          <p:nvSpPr>
            <p:cNvPr id="522247" name="Freeform 7"/>
            <p:cNvSpPr>
              <a:spLocks/>
            </p:cNvSpPr>
            <p:nvPr/>
          </p:nvSpPr>
          <p:spPr bwMode="auto">
            <a:xfrm>
              <a:off x="672" y="1008"/>
              <a:ext cx="768" cy="1728"/>
            </a:xfrm>
            <a:custGeom>
              <a:avLst/>
              <a:gdLst/>
              <a:ahLst/>
              <a:cxnLst>
                <a:cxn ang="0">
                  <a:pos x="768" y="1728"/>
                </a:cxn>
                <a:cxn ang="0">
                  <a:pos x="0" y="1056"/>
                </a:cxn>
                <a:cxn ang="0">
                  <a:pos x="0" y="0"/>
                </a:cxn>
              </a:cxnLst>
              <a:rect l="0" t="0" r="r" b="b"/>
              <a:pathLst>
                <a:path w="768" h="1728">
                  <a:moveTo>
                    <a:pt x="768" y="1728"/>
                  </a:moveTo>
                  <a:lnTo>
                    <a:pt x="0" y="1056"/>
                  </a:lnTo>
                  <a:lnTo>
                    <a:pt x="0" y="0"/>
                  </a:lnTo>
                </a:path>
              </a:pathLst>
            </a:custGeom>
            <a:noFill/>
            <a:ln w="9525">
              <a:solidFill>
                <a:srgbClr val="FF0000"/>
              </a:solidFill>
              <a:round/>
              <a:headEnd/>
              <a:tailEnd/>
            </a:ln>
            <a:effectLst/>
          </p:spPr>
          <p:txBody>
            <a:bodyPr wrap="none" anchor="ctr"/>
            <a:lstStyle/>
            <a:p>
              <a:endParaRPr lang="en-US"/>
            </a:p>
          </p:txBody>
        </p:sp>
        <p:sp>
          <p:nvSpPr>
            <p:cNvPr id="522248" name="Freeform 8"/>
            <p:cNvSpPr>
              <a:spLocks/>
            </p:cNvSpPr>
            <p:nvPr/>
          </p:nvSpPr>
          <p:spPr bwMode="auto">
            <a:xfrm>
              <a:off x="1248" y="1008"/>
              <a:ext cx="192" cy="1728"/>
            </a:xfrm>
            <a:custGeom>
              <a:avLst/>
              <a:gdLst/>
              <a:ahLst/>
              <a:cxnLst>
                <a:cxn ang="0">
                  <a:pos x="768" y="1728"/>
                </a:cxn>
                <a:cxn ang="0">
                  <a:pos x="0" y="1056"/>
                </a:cxn>
                <a:cxn ang="0">
                  <a:pos x="0" y="0"/>
                </a:cxn>
              </a:cxnLst>
              <a:rect l="0" t="0" r="r" b="b"/>
              <a:pathLst>
                <a:path w="768" h="1728">
                  <a:moveTo>
                    <a:pt x="768" y="1728"/>
                  </a:moveTo>
                  <a:lnTo>
                    <a:pt x="0" y="1056"/>
                  </a:lnTo>
                  <a:lnTo>
                    <a:pt x="0" y="0"/>
                  </a:lnTo>
                </a:path>
              </a:pathLst>
            </a:custGeom>
            <a:noFill/>
            <a:ln w="9525">
              <a:solidFill>
                <a:srgbClr val="FF0000"/>
              </a:solidFill>
              <a:round/>
              <a:headEnd/>
              <a:tailEnd/>
            </a:ln>
            <a:effectLst/>
          </p:spPr>
          <p:txBody>
            <a:bodyPr wrap="none" anchor="ctr"/>
            <a:lstStyle/>
            <a:p>
              <a:endParaRPr lang="en-US"/>
            </a:p>
          </p:txBody>
        </p:sp>
        <p:sp>
          <p:nvSpPr>
            <p:cNvPr id="522249" name="Freeform 9"/>
            <p:cNvSpPr>
              <a:spLocks/>
            </p:cNvSpPr>
            <p:nvPr/>
          </p:nvSpPr>
          <p:spPr bwMode="auto">
            <a:xfrm>
              <a:off x="1056" y="1008"/>
              <a:ext cx="384" cy="1728"/>
            </a:xfrm>
            <a:custGeom>
              <a:avLst/>
              <a:gdLst/>
              <a:ahLst/>
              <a:cxnLst>
                <a:cxn ang="0">
                  <a:pos x="768" y="1728"/>
                </a:cxn>
                <a:cxn ang="0">
                  <a:pos x="0" y="1056"/>
                </a:cxn>
                <a:cxn ang="0">
                  <a:pos x="0" y="0"/>
                </a:cxn>
              </a:cxnLst>
              <a:rect l="0" t="0" r="r" b="b"/>
              <a:pathLst>
                <a:path w="768" h="1728">
                  <a:moveTo>
                    <a:pt x="768" y="1728"/>
                  </a:moveTo>
                  <a:lnTo>
                    <a:pt x="0" y="1056"/>
                  </a:lnTo>
                  <a:lnTo>
                    <a:pt x="0" y="0"/>
                  </a:lnTo>
                </a:path>
              </a:pathLst>
            </a:custGeom>
            <a:noFill/>
            <a:ln w="9525">
              <a:solidFill>
                <a:srgbClr val="FF0000"/>
              </a:solidFill>
              <a:round/>
              <a:headEnd/>
              <a:tailEnd/>
            </a:ln>
            <a:effectLst/>
          </p:spPr>
          <p:txBody>
            <a:bodyPr wrap="none" anchor="ctr"/>
            <a:lstStyle/>
            <a:p>
              <a:endParaRPr lang="en-US"/>
            </a:p>
          </p:txBody>
        </p:sp>
        <p:sp>
          <p:nvSpPr>
            <p:cNvPr id="522250" name="Freeform 10"/>
            <p:cNvSpPr>
              <a:spLocks/>
            </p:cNvSpPr>
            <p:nvPr/>
          </p:nvSpPr>
          <p:spPr bwMode="auto">
            <a:xfrm>
              <a:off x="864" y="1008"/>
              <a:ext cx="576" cy="1728"/>
            </a:xfrm>
            <a:custGeom>
              <a:avLst/>
              <a:gdLst/>
              <a:ahLst/>
              <a:cxnLst>
                <a:cxn ang="0">
                  <a:pos x="768" y="1728"/>
                </a:cxn>
                <a:cxn ang="0">
                  <a:pos x="0" y="1056"/>
                </a:cxn>
                <a:cxn ang="0">
                  <a:pos x="0" y="0"/>
                </a:cxn>
              </a:cxnLst>
              <a:rect l="0" t="0" r="r" b="b"/>
              <a:pathLst>
                <a:path w="768" h="1728">
                  <a:moveTo>
                    <a:pt x="768" y="1728"/>
                  </a:moveTo>
                  <a:lnTo>
                    <a:pt x="0" y="1056"/>
                  </a:lnTo>
                  <a:lnTo>
                    <a:pt x="0" y="0"/>
                  </a:lnTo>
                </a:path>
              </a:pathLst>
            </a:custGeom>
            <a:noFill/>
            <a:ln w="9525">
              <a:solidFill>
                <a:srgbClr val="FF0000"/>
              </a:solidFill>
              <a:round/>
              <a:headEnd/>
              <a:tailEnd/>
            </a:ln>
            <a:effectLst/>
          </p:spPr>
          <p:txBody>
            <a:bodyPr wrap="none" anchor="ctr"/>
            <a:lstStyle/>
            <a:p>
              <a:endParaRPr lang="en-US"/>
            </a:p>
          </p:txBody>
        </p:sp>
      </p:grpSp>
      <p:sp>
        <p:nvSpPr>
          <p:cNvPr id="522251" name="Line 11"/>
          <p:cNvSpPr>
            <a:spLocks noChangeShapeType="1"/>
          </p:cNvSpPr>
          <p:nvPr/>
        </p:nvSpPr>
        <p:spPr bwMode="auto">
          <a:xfrm flipV="1">
            <a:off x="1905000" y="1600200"/>
            <a:ext cx="0" cy="2743200"/>
          </a:xfrm>
          <a:prstGeom prst="line">
            <a:avLst/>
          </a:prstGeom>
          <a:noFill/>
          <a:ln w="9525">
            <a:solidFill>
              <a:srgbClr val="FF0000"/>
            </a:solidFill>
            <a:round/>
            <a:headEnd/>
            <a:tailEnd/>
          </a:ln>
          <a:effectLst/>
        </p:spPr>
        <p:txBody>
          <a:bodyPr wrap="none" anchor="ctr"/>
          <a:lstStyle/>
          <a:p>
            <a:endParaRPr lang="en-US"/>
          </a:p>
        </p:txBody>
      </p:sp>
      <p:grpSp>
        <p:nvGrpSpPr>
          <p:cNvPr id="3" name="Group 12"/>
          <p:cNvGrpSpPr>
            <a:grpSpLocks/>
          </p:cNvGrpSpPr>
          <p:nvPr/>
        </p:nvGrpSpPr>
        <p:grpSpPr bwMode="auto">
          <a:xfrm flipH="1">
            <a:off x="1905000" y="1600200"/>
            <a:ext cx="1219200" cy="2743200"/>
            <a:chOff x="672" y="1008"/>
            <a:chExt cx="768" cy="1728"/>
          </a:xfrm>
        </p:grpSpPr>
        <p:sp>
          <p:nvSpPr>
            <p:cNvPr id="522253" name="Freeform 13"/>
            <p:cNvSpPr>
              <a:spLocks/>
            </p:cNvSpPr>
            <p:nvPr/>
          </p:nvSpPr>
          <p:spPr bwMode="auto">
            <a:xfrm>
              <a:off x="672" y="1008"/>
              <a:ext cx="768" cy="1728"/>
            </a:xfrm>
            <a:custGeom>
              <a:avLst/>
              <a:gdLst/>
              <a:ahLst/>
              <a:cxnLst>
                <a:cxn ang="0">
                  <a:pos x="768" y="1728"/>
                </a:cxn>
                <a:cxn ang="0">
                  <a:pos x="0" y="1056"/>
                </a:cxn>
                <a:cxn ang="0">
                  <a:pos x="0" y="0"/>
                </a:cxn>
              </a:cxnLst>
              <a:rect l="0" t="0" r="r" b="b"/>
              <a:pathLst>
                <a:path w="768" h="1728">
                  <a:moveTo>
                    <a:pt x="768" y="1728"/>
                  </a:moveTo>
                  <a:lnTo>
                    <a:pt x="0" y="1056"/>
                  </a:lnTo>
                  <a:lnTo>
                    <a:pt x="0" y="0"/>
                  </a:lnTo>
                </a:path>
              </a:pathLst>
            </a:custGeom>
            <a:noFill/>
            <a:ln w="9525">
              <a:solidFill>
                <a:srgbClr val="FF0000"/>
              </a:solidFill>
              <a:round/>
              <a:headEnd/>
              <a:tailEnd/>
            </a:ln>
            <a:effectLst/>
          </p:spPr>
          <p:txBody>
            <a:bodyPr wrap="none" anchor="ctr"/>
            <a:lstStyle/>
            <a:p>
              <a:endParaRPr lang="en-US"/>
            </a:p>
          </p:txBody>
        </p:sp>
        <p:sp>
          <p:nvSpPr>
            <p:cNvPr id="522254" name="Freeform 14"/>
            <p:cNvSpPr>
              <a:spLocks/>
            </p:cNvSpPr>
            <p:nvPr/>
          </p:nvSpPr>
          <p:spPr bwMode="auto">
            <a:xfrm>
              <a:off x="1248" y="1008"/>
              <a:ext cx="192" cy="1728"/>
            </a:xfrm>
            <a:custGeom>
              <a:avLst/>
              <a:gdLst/>
              <a:ahLst/>
              <a:cxnLst>
                <a:cxn ang="0">
                  <a:pos x="768" y="1728"/>
                </a:cxn>
                <a:cxn ang="0">
                  <a:pos x="0" y="1056"/>
                </a:cxn>
                <a:cxn ang="0">
                  <a:pos x="0" y="0"/>
                </a:cxn>
              </a:cxnLst>
              <a:rect l="0" t="0" r="r" b="b"/>
              <a:pathLst>
                <a:path w="768" h="1728">
                  <a:moveTo>
                    <a:pt x="768" y="1728"/>
                  </a:moveTo>
                  <a:lnTo>
                    <a:pt x="0" y="1056"/>
                  </a:lnTo>
                  <a:lnTo>
                    <a:pt x="0" y="0"/>
                  </a:lnTo>
                </a:path>
              </a:pathLst>
            </a:custGeom>
            <a:noFill/>
            <a:ln w="9525">
              <a:solidFill>
                <a:srgbClr val="FF0000"/>
              </a:solidFill>
              <a:round/>
              <a:headEnd/>
              <a:tailEnd/>
            </a:ln>
            <a:effectLst/>
          </p:spPr>
          <p:txBody>
            <a:bodyPr wrap="none" anchor="ctr"/>
            <a:lstStyle/>
            <a:p>
              <a:endParaRPr lang="en-US"/>
            </a:p>
          </p:txBody>
        </p:sp>
        <p:sp>
          <p:nvSpPr>
            <p:cNvPr id="522255" name="Freeform 15"/>
            <p:cNvSpPr>
              <a:spLocks/>
            </p:cNvSpPr>
            <p:nvPr/>
          </p:nvSpPr>
          <p:spPr bwMode="auto">
            <a:xfrm>
              <a:off x="1056" y="1008"/>
              <a:ext cx="384" cy="1728"/>
            </a:xfrm>
            <a:custGeom>
              <a:avLst/>
              <a:gdLst/>
              <a:ahLst/>
              <a:cxnLst>
                <a:cxn ang="0">
                  <a:pos x="768" y="1728"/>
                </a:cxn>
                <a:cxn ang="0">
                  <a:pos x="0" y="1056"/>
                </a:cxn>
                <a:cxn ang="0">
                  <a:pos x="0" y="0"/>
                </a:cxn>
              </a:cxnLst>
              <a:rect l="0" t="0" r="r" b="b"/>
              <a:pathLst>
                <a:path w="768" h="1728">
                  <a:moveTo>
                    <a:pt x="768" y="1728"/>
                  </a:moveTo>
                  <a:lnTo>
                    <a:pt x="0" y="1056"/>
                  </a:lnTo>
                  <a:lnTo>
                    <a:pt x="0" y="0"/>
                  </a:lnTo>
                </a:path>
              </a:pathLst>
            </a:custGeom>
            <a:noFill/>
            <a:ln w="9525">
              <a:solidFill>
                <a:srgbClr val="FF0000"/>
              </a:solidFill>
              <a:round/>
              <a:headEnd/>
              <a:tailEnd/>
            </a:ln>
            <a:effectLst/>
          </p:spPr>
          <p:txBody>
            <a:bodyPr wrap="none" anchor="ctr"/>
            <a:lstStyle/>
            <a:p>
              <a:endParaRPr lang="en-US"/>
            </a:p>
          </p:txBody>
        </p:sp>
        <p:sp>
          <p:nvSpPr>
            <p:cNvPr id="522256" name="Freeform 16"/>
            <p:cNvSpPr>
              <a:spLocks/>
            </p:cNvSpPr>
            <p:nvPr/>
          </p:nvSpPr>
          <p:spPr bwMode="auto">
            <a:xfrm>
              <a:off x="864" y="1008"/>
              <a:ext cx="576" cy="1728"/>
            </a:xfrm>
            <a:custGeom>
              <a:avLst/>
              <a:gdLst/>
              <a:ahLst/>
              <a:cxnLst>
                <a:cxn ang="0">
                  <a:pos x="768" y="1728"/>
                </a:cxn>
                <a:cxn ang="0">
                  <a:pos x="0" y="1056"/>
                </a:cxn>
                <a:cxn ang="0">
                  <a:pos x="0" y="0"/>
                </a:cxn>
              </a:cxnLst>
              <a:rect l="0" t="0" r="r" b="b"/>
              <a:pathLst>
                <a:path w="768" h="1728">
                  <a:moveTo>
                    <a:pt x="768" y="1728"/>
                  </a:moveTo>
                  <a:lnTo>
                    <a:pt x="0" y="1056"/>
                  </a:lnTo>
                  <a:lnTo>
                    <a:pt x="0" y="0"/>
                  </a:lnTo>
                </a:path>
              </a:pathLst>
            </a:custGeom>
            <a:noFill/>
            <a:ln w="9525">
              <a:solidFill>
                <a:srgbClr val="FF0000"/>
              </a:solidFill>
              <a:round/>
              <a:headEnd/>
              <a:tailEnd/>
            </a:ln>
            <a:effectLst/>
          </p:spPr>
          <p:txBody>
            <a:bodyPr wrap="none" anchor="ctr"/>
            <a:lstStyle/>
            <a:p>
              <a:endParaRPr lang="en-US"/>
            </a:p>
          </p:txBody>
        </p:sp>
      </p:grpSp>
      <p:sp>
        <p:nvSpPr>
          <p:cNvPr id="522257" name="Text Box 17"/>
          <p:cNvSpPr txBox="1">
            <a:spLocks noChangeArrowheads="1"/>
          </p:cNvSpPr>
          <p:nvPr/>
        </p:nvSpPr>
        <p:spPr bwMode="auto">
          <a:xfrm>
            <a:off x="2620963" y="152400"/>
            <a:ext cx="3948112" cy="990600"/>
          </a:xfrm>
          <a:prstGeom prst="rect">
            <a:avLst/>
          </a:prstGeom>
          <a:noFill/>
          <a:ln w="9525">
            <a:noFill/>
            <a:miter lim="800000"/>
            <a:headEnd/>
            <a:tailEnd/>
          </a:ln>
          <a:effectLst/>
        </p:spPr>
        <p:txBody>
          <a:bodyPr wrap="none" anchor="ctr">
            <a:spAutoFit/>
          </a:bodyPr>
          <a:lstStyle/>
          <a:p>
            <a:pPr algn="ctr" eaLnBrk="0" hangingPunct="0"/>
            <a:r>
              <a:rPr lang="en-US" altLang="en-US" sz="2800" b="0" dirty="0">
                <a:solidFill>
                  <a:schemeClr val="tx2"/>
                </a:solidFill>
                <a:latin typeface="Chalkboard" charset="0"/>
              </a:rPr>
              <a:t>Index Mismatch</a:t>
            </a:r>
          </a:p>
          <a:p>
            <a:pPr algn="ctr" eaLnBrk="0" hangingPunct="0"/>
            <a:r>
              <a:rPr lang="en-US" altLang="en-US" sz="2800" b="0" dirty="0">
                <a:solidFill>
                  <a:schemeClr val="tx2"/>
                </a:solidFill>
                <a:latin typeface="Chalkboard" charset="0"/>
              </a:rPr>
              <a:t>&amp; Spherical Aberration</a:t>
            </a:r>
          </a:p>
        </p:txBody>
      </p:sp>
      <p:sp>
        <p:nvSpPr>
          <p:cNvPr id="522258" name="Freeform 18"/>
          <p:cNvSpPr>
            <a:spLocks/>
          </p:cNvSpPr>
          <p:nvPr/>
        </p:nvSpPr>
        <p:spPr bwMode="auto">
          <a:xfrm>
            <a:off x="5308600" y="3421063"/>
            <a:ext cx="3716338" cy="312737"/>
          </a:xfrm>
          <a:custGeom>
            <a:avLst/>
            <a:gdLst/>
            <a:ahLst/>
            <a:cxnLst>
              <a:cxn ang="0">
                <a:pos x="37" y="0"/>
              </a:cxn>
              <a:cxn ang="0">
                <a:pos x="2293" y="0"/>
              </a:cxn>
              <a:cxn ang="0">
                <a:pos x="2293" y="197"/>
              </a:cxn>
              <a:cxn ang="0">
                <a:pos x="37" y="197"/>
              </a:cxn>
              <a:cxn ang="0">
                <a:pos x="37" y="0"/>
              </a:cxn>
            </a:cxnLst>
            <a:rect l="0" t="0" r="r" b="b"/>
            <a:pathLst>
              <a:path w="2341" h="197">
                <a:moveTo>
                  <a:pt x="37" y="0"/>
                </a:moveTo>
                <a:cubicBezTo>
                  <a:pt x="1165" y="0"/>
                  <a:pt x="2293" y="0"/>
                  <a:pt x="2293" y="0"/>
                </a:cubicBezTo>
                <a:cubicBezTo>
                  <a:pt x="2330" y="90"/>
                  <a:pt x="2341" y="117"/>
                  <a:pt x="2293" y="197"/>
                </a:cubicBezTo>
                <a:cubicBezTo>
                  <a:pt x="2293" y="197"/>
                  <a:pt x="1165" y="197"/>
                  <a:pt x="37" y="197"/>
                </a:cubicBezTo>
                <a:cubicBezTo>
                  <a:pt x="0" y="101"/>
                  <a:pt x="0" y="64"/>
                  <a:pt x="37" y="0"/>
                </a:cubicBezTo>
                <a:close/>
              </a:path>
            </a:pathLst>
          </a:custGeom>
          <a:solidFill>
            <a:srgbClr val="C8FAFF"/>
          </a:solidFill>
          <a:ln w="9525">
            <a:solidFill>
              <a:schemeClr val="tx1"/>
            </a:solidFill>
            <a:round/>
            <a:headEnd/>
            <a:tailEnd/>
          </a:ln>
          <a:effectLst/>
        </p:spPr>
        <p:txBody>
          <a:bodyPr wrap="none" anchor="ctr"/>
          <a:lstStyle/>
          <a:p>
            <a:endParaRPr lang="en-US"/>
          </a:p>
        </p:txBody>
      </p:sp>
      <p:sp>
        <p:nvSpPr>
          <p:cNvPr id="522259" name="Freeform 19"/>
          <p:cNvSpPr>
            <a:spLocks/>
          </p:cNvSpPr>
          <p:nvPr/>
        </p:nvSpPr>
        <p:spPr bwMode="auto">
          <a:xfrm>
            <a:off x="5291138" y="2481263"/>
            <a:ext cx="3675062" cy="947737"/>
          </a:xfrm>
          <a:custGeom>
            <a:avLst/>
            <a:gdLst/>
            <a:ahLst/>
            <a:cxnLst>
              <a:cxn ang="0">
                <a:pos x="2949" y="955"/>
              </a:cxn>
              <a:cxn ang="0">
                <a:pos x="0" y="955"/>
              </a:cxn>
              <a:cxn ang="0">
                <a:pos x="2949" y="955"/>
              </a:cxn>
            </a:cxnLst>
            <a:rect l="0" t="0" r="r" b="b"/>
            <a:pathLst>
              <a:path w="2949" h="955">
                <a:moveTo>
                  <a:pt x="2949" y="955"/>
                </a:moveTo>
                <a:cubicBezTo>
                  <a:pt x="1755" y="0"/>
                  <a:pt x="671" y="324"/>
                  <a:pt x="0" y="955"/>
                </a:cubicBezTo>
                <a:cubicBezTo>
                  <a:pt x="0" y="955"/>
                  <a:pt x="2949" y="955"/>
                  <a:pt x="2949" y="955"/>
                </a:cubicBezTo>
                <a:close/>
              </a:path>
            </a:pathLst>
          </a:custGeom>
          <a:solidFill>
            <a:schemeClr val="accent1"/>
          </a:solidFill>
          <a:ln w="19050" cmpd="sng">
            <a:solidFill>
              <a:schemeClr val="bg2"/>
            </a:solidFill>
            <a:round/>
            <a:headEnd/>
            <a:tailEnd/>
          </a:ln>
        </p:spPr>
        <p:txBody>
          <a:bodyPr wrap="none" anchor="ctr"/>
          <a:lstStyle/>
          <a:p>
            <a:endParaRPr lang="en-US"/>
          </a:p>
        </p:txBody>
      </p:sp>
      <p:sp>
        <p:nvSpPr>
          <p:cNvPr id="522260" name="Freeform 20"/>
          <p:cNvSpPr>
            <a:spLocks/>
          </p:cNvSpPr>
          <p:nvPr/>
        </p:nvSpPr>
        <p:spPr bwMode="auto">
          <a:xfrm>
            <a:off x="5291138" y="3886200"/>
            <a:ext cx="3852862" cy="1111250"/>
          </a:xfrm>
          <a:custGeom>
            <a:avLst/>
            <a:gdLst/>
            <a:ahLst/>
            <a:cxnLst>
              <a:cxn ang="0">
                <a:pos x="40" y="59"/>
              </a:cxn>
              <a:cxn ang="0">
                <a:pos x="2270" y="59"/>
              </a:cxn>
              <a:cxn ang="0">
                <a:pos x="2251" y="416"/>
              </a:cxn>
              <a:cxn ang="0">
                <a:pos x="2299" y="700"/>
              </a:cxn>
              <a:cxn ang="0">
                <a:pos x="40" y="700"/>
              </a:cxn>
              <a:cxn ang="0">
                <a:pos x="70" y="444"/>
              </a:cxn>
              <a:cxn ang="0">
                <a:pos x="11" y="315"/>
              </a:cxn>
              <a:cxn ang="0">
                <a:pos x="70" y="187"/>
              </a:cxn>
              <a:cxn ang="0">
                <a:pos x="40" y="59"/>
              </a:cxn>
            </a:cxnLst>
            <a:rect l="0" t="0" r="r" b="b"/>
            <a:pathLst>
              <a:path w="2427" h="700">
                <a:moveTo>
                  <a:pt x="40" y="59"/>
                </a:moveTo>
                <a:cubicBezTo>
                  <a:pt x="40" y="59"/>
                  <a:pt x="1902" y="0"/>
                  <a:pt x="2270" y="59"/>
                </a:cubicBezTo>
                <a:cubicBezTo>
                  <a:pt x="2427" y="384"/>
                  <a:pt x="2256" y="262"/>
                  <a:pt x="2251" y="416"/>
                </a:cubicBezTo>
                <a:cubicBezTo>
                  <a:pt x="2246" y="570"/>
                  <a:pt x="2331" y="549"/>
                  <a:pt x="2299" y="700"/>
                </a:cubicBezTo>
                <a:cubicBezTo>
                  <a:pt x="2299" y="700"/>
                  <a:pt x="1169" y="700"/>
                  <a:pt x="40" y="700"/>
                </a:cubicBezTo>
                <a:cubicBezTo>
                  <a:pt x="0" y="539"/>
                  <a:pt x="75" y="508"/>
                  <a:pt x="70" y="444"/>
                </a:cubicBezTo>
                <a:cubicBezTo>
                  <a:pt x="65" y="380"/>
                  <a:pt x="11" y="358"/>
                  <a:pt x="11" y="315"/>
                </a:cubicBezTo>
                <a:cubicBezTo>
                  <a:pt x="11" y="272"/>
                  <a:pt x="65" y="230"/>
                  <a:pt x="70" y="187"/>
                </a:cubicBezTo>
                <a:cubicBezTo>
                  <a:pt x="75" y="144"/>
                  <a:pt x="46" y="86"/>
                  <a:pt x="40" y="59"/>
                </a:cubicBezTo>
                <a:close/>
              </a:path>
            </a:pathLst>
          </a:custGeom>
          <a:solidFill>
            <a:srgbClr val="E3CFB8"/>
          </a:solidFill>
          <a:ln w="9525">
            <a:solidFill>
              <a:schemeClr val="tx1"/>
            </a:solidFill>
            <a:round/>
            <a:headEnd/>
            <a:tailEnd/>
          </a:ln>
          <a:effectLst/>
        </p:spPr>
        <p:txBody>
          <a:bodyPr wrap="none" anchor="ctr"/>
          <a:lstStyle/>
          <a:p>
            <a:endParaRPr lang="en-US"/>
          </a:p>
        </p:txBody>
      </p:sp>
      <p:sp>
        <p:nvSpPr>
          <p:cNvPr id="522261" name="Rectangle 21"/>
          <p:cNvSpPr>
            <a:spLocks noChangeArrowheads="1"/>
          </p:cNvSpPr>
          <p:nvPr/>
        </p:nvSpPr>
        <p:spPr bwMode="auto">
          <a:xfrm>
            <a:off x="5291138" y="3733800"/>
            <a:ext cx="3733800" cy="3048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522262" name="Freeform 22"/>
          <p:cNvSpPr>
            <a:spLocks/>
          </p:cNvSpPr>
          <p:nvPr/>
        </p:nvSpPr>
        <p:spPr bwMode="auto">
          <a:xfrm>
            <a:off x="5824538" y="1600200"/>
            <a:ext cx="1643062" cy="2649538"/>
          </a:xfrm>
          <a:custGeom>
            <a:avLst/>
            <a:gdLst/>
            <a:ahLst/>
            <a:cxnLst>
              <a:cxn ang="0">
                <a:pos x="1035" y="1669"/>
              </a:cxn>
              <a:cxn ang="0">
                <a:pos x="543" y="1531"/>
              </a:cxn>
              <a:cxn ang="0">
                <a:pos x="0" y="1056"/>
              </a:cxn>
              <a:cxn ang="0">
                <a:pos x="0" y="0"/>
              </a:cxn>
            </a:cxnLst>
            <a:rect l="0" t="0" r="r" b="b"/>
            <a:pathLst>
              <a:path w="1035" h="1669">
                <a:moveTo>
                  <a:pt x="1035" y="1669"/>
                </a:moveTo>
                <a:lnTo>
                  <a:pt x="543" y="1531"/>
                </a:lnTo>
                <a:lnTo>
                  <a:pt x="0" y="1056"/>
                </a:lnTo>
                <a:lnTo>
                  <a:pt x="0" y="0"/>
                </a:lnTo>
              </a:path>
            </a:pathLst>
          </a:custGeom>
          <a:noFill/>
          <a:ln w="9525">
            <a:solidFill>
              <a:srgbClr val="FF0000"/>
            </a:solidFill>
            <a:round/>
            <a:headEnd/>
            <a:tailEnd/>
          </a:ln>
          <a:effectLst/>
        </p:spPr>
        <p:txBody>
          <a:bodyPr wrap="none" anchor="ctr"/>
          <a:lstStyle/>
          <a:p>
            <a:endParaRPr lang="en-US"/>
          </a:p>
        </p:txBody>
      </p:sp>
      <p:sp>
        <p:nvSpPr>
          <p:cNvPr id="522263" name="Freeform 23"/>
          <p:cNvSpPr>
            <a:spLocks/>
          </p:cNvSpPr>
          <p:nvPr/>
        </p:nvSpPr>
        <p:spPr bwMode="auto">
          <a:xfrm>
            <a:off x="6738938" y="1600200"/>
            <a:ext cx="330200" cy="2743200"/>
          </a:xfrm>
          <a:custGeom>
            <a:avLst/>
            <a:gdLst/>
            <a:ahLst/>
            <a:cxnLst>
              <a:cxn ang="0">
                <a:pos x="208" y="1728"/>
              </a:cxn>
              <a:cxn ang="0">
                <a:pos x="135" y="1530"/>
              </a:cxn>
              <a:cxn ang="0">
                <a:pos x="0" y="1056"/>
              </a:cxn>
              <a:cxn ang="0">
                <a:pos x="0" y="0"/>
              </a:cxn>
            </a:cxnLst>
            <a:rect l="0" t="0" r="r" b="b"/>
            <a:pathLst>
              <a:path w="208" h="1728">
                <a:moveTo>
                  <a:pt x="208" y="1728"/>
                </a:moveTo>
                <a:lnTo>
                  <a:pt x="135" y="1530"/>
                </a:lnTo>
                <a:lnTo>
                  <a:pt x="0" y="1056"/>
                </a:lnTo>
                <a:lnTo>
                  <a:pt x="0" y="0"/>
                </a:lnTo>
              </a:path>
            </a:pathLst>
          </a:custGeom>
          <a:noFill/>
          <a:ln w="9525">
            <a:solidFill>
              <a:srgbClr val="FF0000"/>
            </a:solidFill>
            <a:round/>
            <a:headEnd/>
            <a:tailEnd/>
          </a:ln>
          <a:effectLst/>
        </p:spPr>
        <p:txBody>
          <a:bodyPr wrap="none" anchor="ctr"/>
          <a:lstStyle/>
          <a:p>
            <a:endParaRPr lang="en-US"/>
          </a:p>
        </p:txBody>
      </p:sp>
      <p:sp>
        <p:nvSpPr>
          <p:cNvPr id="522264" name="Freeform 24"/>
          <p:cNvSpPr>
            <a:spLocks/>
          </p:cNvSpPr>
          <p:nvPr/>
        </p:nvSpPr>
        <p:spPr bwMode="auto">
          <a:xfrm>
            <a:off x="6434138" y="1600200"/>
            <a:ext cx="693737" cy="2725738"/>
          </a:xfrm>
          <a:custGeom>
            <a:avLst/>
            <a:gdLst/>
            <a:ahLst/>
            <a:cxnLst>
              <a:cxn ang="0">
                <a:pos x="437" y="1717"/>
              </a:cxn>
              <a:cxn ang="0">
                <a:pos x="271" y="1531"/>
              </a:cxn>
              <a:cxn ang="0">
                <a:pos x="0" y="1056"/>
              </a:cxn>
              <a:cxn ang="0">
                <a:pos x="0" y="0"/>
              </a:cxn>
            </a:cxnLst>
            <a:rect l="0" t="0" r="r" b="b"/>
            <a:pathLst>
              <a:path w="437" h="1717">
                <a:moveTo>
                  <a:pt x="437" y="1717"/>
                </a:moveTo>
                <a:lnTo>
                  <a:pt x="271" y="1531"/>
                </a:lnTo>
                <a:lnTo>
                  <a:pt x="0" y="1056"/>
                </a:lnTo>
                <a:lnTo>
                  <a:pt x="0" y="0"/>
                </a:lnTo>
              </a:path>
            </a:pathLst>
          </a:custGeom>
          <a:noFill/>
          <a:ln w="9525">
            <a:solidFill>
              <a:srgbClr val="FF0000"/>
            </a:solidFill>
            <a:round/>
            <a:headEnd/>
            <a:tailEnd/>
          </a:ln>
          <a:effectLst/>
        </p:spPr>
        <p:txBody>
          <a:bodyPr wrap="none" anchor="ctr"/>
          <a:lstStyle/>
          <a:p>
            <a:endParaRPr lang="en-US"/>
          </a:p>
        </p:txBody>
      </p:sp>
      <p:sp>
        <p:nvSpPr>
          <p:cNvPr id="522265" name="Freeform 25"/>
          <p:cNvSpPr>
            <a:spLocks/>
          </p:cNvSpPr>
          <p:nvPr/>
        </p:nvSpPr>
        <p:spPr bwMode="auto">
          <a:xfrm>
            <a:off x="6129338" y="1600200"/>
            <a:ext cx="1125537" cy="2725738"/>
          </a:xfrm>
          <a:custGeom>
            <a:avLst/>
            <a:gdLst/>
            <a:ahLst/>
            <a:cxnLst>
              <a:cxn ang="0">
                <a:pos x="709" y="1717"/>
              </a:cxn>
              <a:cxn ang="0">
                <a:pos x="408" y="1532"/>
              </a:cxn>
              <a:cxn ang="0">
                <a:pos x="0" y="1056"/>
              </a:cxn>
              <a:cxn ang="0">
                <a:pos x="0" y="0"/>
              </a:cxn>
            </a:cxnLst>
            <a:rect l="0" t="0" r="r" b="b"/>
            <a:pathLst>
              <a:path w="709" h="1717">
                <a:moveTo>
                  <a:pt x="709" y="1717"/>
                </a:moveTo>
                <a:lnTo>
                  <a:pt x="408" y="1532"/>
                </a:lnTo>
                <a:lnTo>
                  <a:pt x="0" y="1056"/>
                </a:lnTo>
                <a:lnTo>
                  <a:pt x="0" y="0"/>
                </a:lnTo>
              </a:path>
            </a:pathLst>
          </a:custGeom>
          <a:noFill/>
          <a:ln w="9525">
            <a:solidFill>
              <a:srgbClr val="FF0000"/>
            </a:solidFill>
            <a:round/>
            <a:headEnd/>
            <a:tailEnd/>
          </a:ln>
          <a:effectLst/>
        </p:spPr>
        <p:txBody>
          <a:bodyPr wrap="none" anchor="ctr"/>
          <a:lstStyle/>
          <a:p>
            <a:endParaRPr lang="en-US"/>
          </a:p>
        </p:txBody>
      </p:sp>
      <p:sp>
        <p:nvSpPr>
          <p:cNvPr id="522266" name="Line 26"/>
          <p:cNvSpPr>
            <a:spLocks noChangeShapeType="1"/>
          </p:cNvSpPr>
          <p:nvPr/>
        </p:nvSpPr>
        <p:spPr bwMode="auto">
          <a:xfrm flipV="1">
            <a:off x="7043738" y="1600200"/>
            <a:ext cx="0" cy="2743200"/>
          </a:xfrm>
          <a:prstGeom prst="line">
            <a:avLst/>
          </a:prstGeom>
          <a:noFill/>
          <a:ln w="9525">
            <a:solidFill>
              <a:srgbClr val="FF0000"/>
            </a:solidFill>
            <a:round/>
            <a:headEnd/>
            <a:tailEnd/>
          </a:ln>
          <a:effectLst/>
        </p:spPr>
        <p:txBody>
          <a:bodyPr wrap="none" anchor="ctr"/>
          <a:lstStyle/>
          <a:p>
            <a:endParaRPr lang="en-US"/>
          </a:p>
        </p:txBody>
      </p:sp>
      <p:sp>
        <p:nvSpPr>
          <p:cNvPr id="522267" name="Freeform 27"/>
          <p:cNvSpPr>
            <a:spLocks/>
          </p:cNvSpPr>
          <p:nvPr/>
        </p:nvSpPr>
        <p:spPr bwMode="auto">
          <a:xfrm>
            <a:off x="6670675" y="1600200"/>
            <a:ext cx="1592263" cy="2633663"/>
          </a:xfrm>
          <a:custGeom>
            <a:avLst/>
            <a:gdLst/>
            <a:ahLst/>
            <a:cxnLst>
              <a:cxn ang="0">
                <a:pos x="0" y="1659"/>
              </a:cxn>
              <a:cxn ang="0">
                <a:pos x="456" y="1534"/>
              </a:cxn>
              <a:cxn ang="0">
                <a:pos x="1003" y="1056"/>
              </a:cxn>
              <a:cxn ang="0">
                <a:pos x="1003" y="0"/>
              </a:cxn>
            </a:cxnLst>
            <a:rect l="0" t="0" r="r" b="b"/>
            <a:pathLst>
              <a:path w="1003" h="1659">
                <a:moveTo>
                  <a:pt x="0" y="1659"/>
                </a:moveTo>
                <a:lnTo>
                  <a:pt x="456" y="1534"/>
                </a:lnTo>
                <a:lnTo>
                  <a:pt x="1003" y="1056"/>
                </a:lnTo>
                <a:lnTo>
                  <a:pt x="1003" y="0"/>
                </a:lnTo>
              </a:path>
            </a:pathLst>
          </a:custGeom>
          <a:noFill/>
          <a:ln w="9525">
            <a:solidFill>
              <a:srgbClr val="FF0000"/>
            </a:solidFill>
            <a:round/>
            <a:headEnd/>
            <a:tailEnd/>
          </a:ln>
          <a:effectLst/>
        </p:spPr>
        <p:txBody>
          <a:bodyPr wrap="none" anchor="ctr"/>
          <a:lstStyle/>
          <a:p>
            <a:endParaRPr lang="en-US"/>
          </a:p>
        </p:txBody>
      </p:sp>
      <p:sp>
        <p:nvSpPr>
          <p:cNvPr id="522268" name="Freeform 28"/>
          <p:cNvSpPr>
            <a:spLocks/>
          </p:cNvSpPr>
          <p:nvPr/>
        </p:nvSpPr>
        <p:spPr bwMode="auto">
          <a:xfrm>
            <a:off x="7018338" y="1600200"/>
            <a:ext cx="330200" cy="2760663"/>
          </a:xfrm>
          <a:custGeom>
            <a:avLst/>
            <a:gdLst/>
            <a:ahLst/>
            <a:cxnLst>
              <a:cxn ang="0">
                <a:pos x="0" y="1739"/>
              </a:cxn>
              <a:cxn ang="0">
                <a:pos x="72" y="1531"/>
              </a:cxn>
              <a:cxn ang="0">
                <a:pos x="208" y="1056"/>
              </a:cxn>
              <a:cxn ang="0">
                <a:pos x="208" y="0"/>
              </a:cxn>
            </a:cxnLst>
            <a:rect l="0" t="0" r="r" b="b"/>
            <a:pathLst>
              <a:path w="208" h="1739">
                <a:moveTo>
                  <a:pt x="0" y="1739"/>
                </a:moveTo>
                <a:lnTo>
                  <a:pt x="72" y="1531"/>
                </a:lnTo>
                <a:lnTo>
                  <a:pt x="208" y="1056"/>
                </a:lnTo>
                <a:lnTo>
                  <a:pt x="208" y="0"/>
                </a:lnTo>
              </a:path>
            </a:pathLst>
          </a:custGeom>
          <a:noFill/>
          <a:ln w="9525">
            <a:solidFill>
              <a:srgbClr val="FF0000"/>
            </a:solidFill>
            <a:round/>
            <a:headEnd/>
            <a:tailEnd/>
          </a:ln>
          <a:effectLst/>
        </p:spPr>
        <p:txBody>
          <a:bodyPr wrap="none" anchor="ctr"/>
          <a:lstStyle/>
          <a:p>
            <a:endParaRPr lang="en-US"/>
          </a:p>
        </p:txBody>
      </p:sp>
      <p:sp>
        <p:nvSpPr>
          <p:cNvPr id="522269" name="Freeform 29"/>
          <p:cNvSpPr>
            <a:spLocks/>
          </p:cNvSpPr>
          <p:nvPr/>
        </p:nvSpPr>
        <p:spPr bwMode="auto">
          <a:xfrm>
            <a:off x="6950075" y="1600200"/>
            <a:ext cx="703263" cy="2735263"/>
          </a:xfrm>
          <a:custGeom>
            <a:avLst/>
            <a:gdLst/>
            <a:ahLst/>
            <a:cxnLst>
              <a:cxn ang="0">
                <a:pos x="0" y="1723"/>
              </a:cxn>
              <a:cxn ang="0">
                <a:pos x="171" y="1531"/>
              </a:cxn>
              <a:cxn ang="0">
                <a:pos x="443" y="1056"/>
              </a:cxn>
              <a:cxn ang="0">
                <a:pos x="443" y="0"/>
              </a:cxn>
            </a:cxnLst>
            <a:rect l="0" t="0" r="r" b="b"/>
            <a:pathLst>
              <a:path w="443" h="1723">
                <a:moveTo>
                  <a:pt x="0" y="1723"/>
                </a:moveTo>
                <a:lnTo>
                  <a:pt x="171" y="1531"/>
                </a:lnTo>
                <a:lnTo>
                  <a:pt x="443" y="1056"/>
                </a:lnTo>
                <a:lnTo>
                  <a:pt x="443" y="0"/>
                </a:lnTo>
              </a:path>
            </a:pathLst>
          </a:custGeom>
          <a:noFill/>
          <a:ln w="9525">
            <a:solidFill>
              <a:srgbClr val="FF0000"/>
            </a:solidFill>
            <a:round/>
            <a:headEnd/>
            <a:tailEnd/>
          </a:ln>
          <a:effectLst/>
        </p:spPr>
        <p:txBody>
          <a:bodyPr wrap="none" anchor="ctr"/>
          <a:lstStyle/>
          <a:p>
            <a:endParaRPr lang="en-US"/>
          </a:p>
        </p:txBody>
      </p:sp>
      <p:sp>
        <p:nvSpPr>
          <p:cNvPr id="522270" name="Freeform 30"/>
          <p:cNvSpPr>
            <a:spLocks/>
          </p:cNvSpPr>
          <p:nvPr/>
        </p:nvSpPr>
        <p:spPr bwMode="auto">
          <a:xfrm>
            <a:off x="6865938" y="1600200"/>
            <a:ext cx="1092200" cy="2692400"/>
          </a:xfrm>
          <a:custGeom>
            <a:avLst/>
            <a:gdLst/>
            <a:ahLst/>
            <a:cxnLst>
              <a:cxn ang="0">
                <a:pos x="0" y="1696"/>
              </a:cxn>
              <a:cxn ang="0">
                <a:pos x="276" y="1535"/>
              </a:cxn>
              <a:cxn ang="0">
                <a:pos x="688" y="1056"/>
              </a:cxn>
              <a:cxn ang="0">
                <a:pos x="688" y="0"/>
              </a:cxn>
            </a:cxnLst>
            <a:rect l="0" t="0" r="r" b="b"/>
            <a:pathLst>
              <a:path w="688" h="1696">
                <a:moveTo>
                  <a:pt x="0" y="1696"/>
                </a:moveTo>
                <a:lnTo>
                  <a:pt x="276" y="1535"/>
                </a:lnTo>
                <a:lnTo>
                  <a:pt x="688" y="1056"/>
                </a:lnTo>
                <a:lnTo>
                  <a:pt x="688" y="0"/>
                </a:lnTo>
              </a:path>
            </a:pathLst>
          </a:custGeom>
          <a:noFill/>
          <a:ln w="9525">
            <a:solidFill>
              <a:srgbClr val="FF0000"/>
            </a:solidFill>
            <a:round/>
            <a:headEnd/>
            <a:tailEnd/>
          </a:ln>
          <a:effectLst/>
        </p:spPr>
        <p:txBody>
          <a:bodyPr wrap="none" anchor="ctr"/>
          <a:lstStyle/>
          <a:p>
            <a:endParaRPr lang="en-US"/>
          </a:p>
        </p:txBody>
      </p:sp>
      <p:sp>
        <p:nvSpPr>
          <p:cNvPr id="522271" name="Text Box 31"/>
          <p:cNvSpPr txBox="1">
            <a:spLocks noChangeArrowheads="1"/>
          </p:cNvSpPr>
          <p:nvPr/>
        </p:nvSpPr>
        <p:spPr bwMode="auto">
          <a:xfrm>
            <a:off x="3886200" y="2911475"/>
            <a:ext cx="1028700" cy="347663"/>
          </a:xfrm>
          <a:prstGeom prst="rect">
            <a:avLst/>
          </a:prstGeom>
          <a:noFill/>
          <a:ln w="9525">
            <a:noFill/>
            <a:miter lim="800000"/>
            <a:headEnd/>
            <a:tailEnd/>
          </a:ln>
          <a:effectLst/>
        </p:spPr>
        <p:txBody>
          <a:bodyPr wrap="none" anchor="ctr">
            <a:spAutoFit/>
          </a:bodyPr>
          <a:lstStyle/>
          <a:p>
            <a:pPr marL="169863" indent="-169863" eaLnBrk="0" hangingPunct="0"/>
            <a:r>
              <a:rPr lang="en-US" altLang="en-US" sz="1600" b="0">
                <a:solidFill>
                  <a:schemeClr val="accent2"/>
                </a:solidFill>
                <a:latin typeface="Chalkboard" charset="0"/>
              </a:rPr>
              <a:t>objective</a:t>
            </a:r>
          </a:p>
        </p:txBody>
      </p:sp>
      <p:sp>
        <p:nvSpPr>
          <p:cNvPr id="522272" name="Text Box 32"/>
          <p:cNvSpPr txBox="1">
            <a:spLocks noChangeArrowheads="1"/>
          </p:cNvSpPr>
          <p:nvPr/>
        </p:nvSpPr>
        <p:spPr bwMode="auto">
          <a:xfrm>
            <a:off x="3868738" y="3430588"/>
            <a:ext cx="1108075" cy="527050"/>
          </a:xfrm>
          <a:prstGeom prst="rect">
            <a:avLst/>
          </a:prstGeom>
          <a:noFill/>
          <a:ln w="9525">
            <a:noFill/>
            <a:miter lim="800000"/>
            <a:headEnd/>
            <a:tailEnd/>
          </a:ln>
          <a:effectLst/>
        </p:spPr>
        <p:txBody>
          <a:bodyPr wrap="none" anchor="ctr">
            <a:spAutoFit/>
          </a:bodyPr>
          <a:lstStyle/>
          <a:p>
            <a:pPr marL="169863" indent="-169863" algn="ctr" eaLnBrk="0" hangingPunct="0"/>
            <a:r>
              <a:rPr lang="en-US" altLang="en-US" sz="1600" b="0">
                <a:solidFill>
                  <a:schemeClr val="accent2"/>
                </a:solidFill>
                <a:latin typeface="Chalkboard" charset="0"/>
              </a:rPr>
              <a:t>Immersion</a:t>
            </a:r>
          </a:p>
          <a:p>
            <a:pPr marL="169863" indent="-169863" algn="ctr" eaLnBrk="0" hangingPunct="0">
              <a:lnSpc>
                <a:spcPct val="70000"/>
              </a:lnSpc>
            </a:pPr>
            <a:r>
              <a:rPr lang="en-US" altLang="en-US" sz="1600" b="0">
                <a:solidFill>
                  <a:schemeClr val="accent2"/>
                </a:solidFill>
                <a:latin typeface="Chalkboard" charset="0"/>
              </a:rPr>
              <a:t>fluid</a:t>
            </a:r>
          </a:p>
        </p:txBody>
      </p:sp>
      <p:sp>
        <p:nvSpPr>
          <p:cNvPr id="522273" name="Text Box 33"/>
          <p:cNvSpPr txBox="1">
            <a:spLocks noChangeArrowheads="1"/>
          </p:cNvSpPr>
          <p:nvPr/>
        </p:nvSpPr>
        <p:spPr bwMode="auto">
          <a:xfrm>
            <a:off x="592138" y="3549650"/>
            <a:ext cx="376237" cy="412750"/>
          </a:xfrm>
          <a:prstGeom prst="rect">
            <a:avLst/>
          </a:prstGeom>
          <a:noFill/>
          <a:ln w="9525">
            <a:noFill/>
            <a:miter lim="800000"/>
            <a:headEnd/>
            <a:tailEnd/>
          </a:ln>
          <a:effectLst/>
        </p:spPr>
        <p:txBody>
          <a:bodyPr wrap="none" anchor="ctr">
            <a:spAutoFit/>
          </a:bodyPr>
          <a:lstStyle/>
          <a:p>
            <a:pPr marL="169863" indent="-169863" algn="ctr" eaLnBrk="0" hangingPunct="0"/>
            <a:r>
              <a:rPr lang="en-US" altLang="en-US" sz="2000" b="0">
                <a:solidFill>
                  <a:schemeClr val="accent2"/>
                </a:solidFill>
                <a:latin typeface="Chalkboard" charset="0"/>
              </a:rPr>
              <a:t>n</a:t>
            </a:r>
            <a:r>
              <a:rPr lang="en-US" altLang="en-US" sz="2000" b="0" baseline="-25000">
                <a:solidFill>
                  <a:schemeClr val="accent2"/>
                </a:solidFill>
                <a:latin typeface="Chalkboard" charset="0"/>
              </a:rPr>
              <a:t>1</a:t>
            </a:r>
            <a:endParaRPr lang="en-US" altLang="en-US" sz="2000" b="0">
              <a:solidFill>
                <a:schemeClr val="accent2"/>
              </a:solidFill>
              <a:latin typeface="Chalkboard" charset="0"/>
            </a:endParaRPr>
          </a:p>
        </p:txBody>
      </p:sp>
      <p:sp>
        <p:nvSpPr>
          <p:cNvPr id="522274" name="Text Box 34"/>
          <p:cNvSpPr txBox="1">
            <a:spLocks noChangeArrowheads="1"/>
          </p:cNvSpPr>
          <p:nvPr/>
        </p:nvSpPr>
        <p:spPr bwMode="auto">
          <a:xfrm>
            <a:off x="3990975" y="3962400"/>
            <a:ext cx="1227138" cy="347663"/>
          </a:xfrm>
          <a:prstGeom prst="rect">
            <a:avLst/>
          </a:prstGeom>
          <a:noFill/>
          <a:ln w="9525">
            <a:noFill/>
            <a:miter lim="800000"/>
            <a:headEnd/>
            <a:tailEnd/>
          </a:ln>
          <a:effectLst/>
        </p:spPr>
        <p:txBody>
          <a:bodyPr wrap="none" anchor="ctr">
            <a:spAutoFit/>
          </a:bodyPr>
          <a:lstStyle/>
          <a:p>
            <a:pPr marL="169863" indent="-169863" algn="ctr" eaLnBrk="0" hangingPunct="0"/>
            <a:r>
              <a:rPr lang="en-US" altLang="en-US" sz="1600" b="0">
                <a:solidFill>
                  <a:schemeClr val="accent2"/>
                </a:solidFill>
                <a:latin typeface="Chalkboard" charset="0"/>
              </a:rPr>
              <a:t>Cover glass</a:t>
            </a:r>
          </a:p>
        </p:txBody>
      </p:sp>
      <p:sp>
        <p:nvSpPr>
          <p:cNvPr id="522275" name="Line 35"/>
          <p:cNvSpPr>
            <a:spLocks noChangeShapeType="1"/>
          </p:cNvSpPr>
          <p:nvPr/>
        </p:nvSpPr>
        <p:spPr bwMode="auto">
          <a:xfrm flipV="1">
            <a:off x="3200400" y="3657600"/>
            <a:ext cx="685800" cy="76200"/>
          </a:xfrm>
          <a:prstGeom prst="line">
            <a:avLst/>
          </a:prstGeom>
          <a:noFill/>
          <a:ln w="9525">
            <a:solidFill>
              <a:schemeClr val="accent2"/>
            </a:solidFill>
            <a:round/>
            <a:headEnd/>
            <a:tailEnd/>
          </a:ln>
          <a:effectLst/>
        </p:spPr>
        <p:txBody>
          <a:bodyPr wrap="none" anchor="ctr"/>
          <a:lstStyle/>
          <a:p>
            <a:endParaRPr lang="en-US"/>
          </a:p>
        </p:txBody>
      </p:sp>
      <p:sp>
        <p:nvSpPr>
          <p:cNvPr id="522276" name="Line 36"/>
          <p:cNvSpPr>
            <a:spLocks noChangeShapeType="1"/>
          </p:cNvSpPr>
          <p:nvPr/>
        </p:nvSpPr>
        <p:spPr bwMode="auto">
          <a:xfrm flipH="1" flipV="1">
            <a:off x="4953000" y="3581400"/>
            <a:ext cx="381000" cy="0"/>
          </a:xfrm>
          <a:prstGeom prst="line">
            <a:avLst/>
          </a:prstGeom>
          <a:noFill/>
          <a:ln w="9525">
            <a:solidFill>
              <a:schemeClr val="accent2"/>
            </a:solidFill>
            <a:round/>
            <a:headEnd/>
            <a:tailEnd/>
          </a:ln>
          <a:effectLst/>
        </p:spPr>
        <p:txBody>
          <a:bodyPr wrap="none" anchor="ctr"/>
          <a:lstStyle/>
          <a:p>
            <a:endParaRPr lang="en-US"/>
          </a:p>
        </p:txBody>
      </p:sp>
      <p:sp>
        <p:nvSpPr>
          <p:cNvPr id="522277" name="Line 37"/>
          <p:cNvSpPr>
            <a:spLocks noChangeShapeType="1"/>
          </p:cNvSpPr>
          <p:nvPr/>
        </p:nvSpPr>
        <p:spPr bwMode="auto">
          <a:xfrm flipV="1">
            <a:off x="3454400" y="3124200"/>
            <a:ext cx="381000" cy="76200"/>
          </a:xfrm>
          <a:prstGeom prst="line">
            <a:avLst/>
          </a:prstGeom>
          <a:noFill/>
          <a:ln w="9525">
            <a:solidFill>
              <a:schemeClr val="accent2"/>
            </a:solidFill>
            <a:round/>
            <a:headEnd/>
            <a:tailEnd/>
          </a:ln>
          <a:effectLst/>
        </p:spPr>
        <p:txBody>
          <a:bodyPr wrap="none" anchor="ctr"/>
          <a:lstStyle/>
          <a:p>
            <a:endParaRPr lang="en-US"/>
          </a:p>
        </p:txBody>
      </p:sp>
      <p:sp>
        <p:nvSpPr>
          <p:cNvPr id="522278" name="Line 38"/>
          <p:cNvSpPr>
            <a:spLocks noChangeShapeType="1"/>
          </p:cNvSpPr>
          <p:nvPr/>
        </p:nvSpPr>
        <p:spPr bwMode="auto">
          <a:xfrm flipH="1" flipV="1">
            <a:off x="5029200" y="3124200"/>
            <a:ext cx="381000" cy="76200"/>
          </a:xfrm>
          <a:prstGeom prst="line">
            <a:avLst/>
          </a:prstGeom>
          <a:noFill/>
          <a:ln w="9525">
            <a:solidFill>
              <a:schemeClr val="accent2"/>
            </a:solidFill>
            <a:round/>
            <a:headEnd/>
            <a:tailEnd/>
          </a:ln>
          <a:effectLst/>
        </p:spPr>
        <p:txBody>
          <a:bodyPr wrap="none" anchor="ctr"/>
          <a:lstStyle/>
          <a:p>
            <a:endParaRPr lang="en-US"/>
          </a:p>
        </p:txBody>
      </p:sp>
      <p:sp>
        <p:nvSpPr>
          <p:cNvPr id="522279" name="Line 39"/>
          <p:cNvSpPr>
            <a:spLocks noChangeShapeType="1"/>
          </p:cNvSpPr>
          <p:nvPr/>
        </p:nvSpPr>
        <p:spPr bwMode="auto">
          <a:xfrm flipH="1">
            <a:off x="5105400" y="3886200"/>
            <a:ext cx="228600" cy="152400"/>
          </a:xfrm>
          <a:prstGeom prst="line">
            <a:avLst/>
          </a:prstGeom>
          <a:noFill/>
          <a:ln w="9525">
            <a:solidFill>
              <a:schemeClr val="accent2"/>
            </a:solidFill>
            <a:round/>
            <a:headEnd/>
            <a:tailEnd/>
          </a:ln>
          <a:effectLst/>
        </p:spPr>
        <p:txBody>
          <a:bodyPr wrap="none" anchor="ctr"/>
          <a:lstStyle/>
          <a:p>
            <a:endParaRPr lang="en-US"/>
          </a:p>
        </p:txBody>
      </p:sp>
      <p:sp>
        <p:nvSpPr>
          <p:cNvPr id="522280" name="Line 40"/>
          <p:cNvSpPr>
            <a:spLocks noChangeShapeType="1"/>
          </p:cNvSpPr>
          <p:nvPr/>
        </p:nvSpPr>
        <p:spPr bwMode="auto">
          <a:xfrm flipH="1">
            <a:off x="3810000" y="4191000"/>
            <a:ext cx="228600" cy="76200"/>
          </a:xfrm>
          <a:prstGeom prst="line">
            <a:avLst/>
          </a:prstGeom>
          <a:noFill/>
          <a:ln w="9525">
            <a:solidFill>
              <a:schemeClr val="accent2"/>
            </a:solidFill>
            <a:round/>
            <a:headEnd/>
            <a:tailEnd/>
          </a:ln>
          <a:effectLst/>
        </p:spPr>
        <p:txBody>
          <a:bodyPr wrap="none" anchor="ctr"/>
          <a:lstStyle/>
          <a:p>
            <a:endParaRPr lang="en-US"/>
          </a:p>
        </p:txBody>
      </p:sp>
      <p:sp>
        <p:nvSpPr>
          <p:cNvPr id="522281" name="Line 41"/>
          <p:cNvSpPr>
            <a:spLocks noChangeShapeType="1"/>
          </p:cNvSpPr>
          <p:nvPr/>
        </p:nvSpPr>
        <p:spPr bwMode="auto">
          <a:xfrm flipV="1">
            <a:off x="3581400" y="4800600"/>
            <a:ext cx="609600" cy="76200"/>
          </a:xfrm>
          <a:prstGeom prst="line">
            <a:avLst/>
          </a:prstGeom>
          <a:noFill/>
          <a:ln w="9525">
            <a:solidFill>
              <a:schemeClr val="accent2"/>
            </a:solidFill>
            <a:round/>
            <a:headEnd/>
            <a:tailEnd/>
          </a:ln>
          <a:effectLst/>
        </p:spPr>
        <p:txBody>
          <a:bodyPr wrap="none" anchor="ctr"/>
          <a:lstStyle/>
          <a:p>
            <a:endParaRPr lang="en-US"/>
          </a:p>
        </p:txBody>
      </p:sp>
      <p:sp>
        <p:nvSpPr>
          <p:cNvPr id="522282" name="Line 42"/>
          <p:cNvSpPr>
            <a:spLocks noChangeShapeType="1"/>
          </p:cNvSpPr>
          <p:nvPr/>
        </p:nvSpPr>
        <p:spPr bwMode="auto">
          <a:xfrm flipV="1">
            <a:off x="4953000" y="4724400"/>
            <a:ext cx="609600" cy="76200"/>
          </a:xfrm>
          <a:prstGeom prst="line">
            <a:avLst/>
          </a:prstGeom>
          <a:noFill/>
          <a:ln w="9525">
            <a:solidFill>
              <a:schemeClr val="accent2"/>
            </a:solidFill>
            <a:round/>
            <a:headEnd/>
            <a:tailEnd/>
          </a:ln>
          <a:effectLst/>
        </p:spPr>
        <p:txBody>
          <a:bodyPr wrap="none" anchor="ctr"/>
          <a:lstStyle/>
          <a:p>
            <a:endParaRPr lang="en-US"/>
          </a:p>
        </p:txBody>
      </p:sp>
      <p:sp>
        <p:nvSpPr>
          <p:cNvPr id="522283" name="Text Box 43"/>
          <p:cNvSpPr txBox="1">
            <a:spLocks noChangeArrowheads="1"/>
          </p:cNvSpPr>
          <p:nvPr/>
        </p:nvSpPr>
        <p:spPr bwMode="auto">
          <a:xfrm>
            <a:off x="593725" y="4572000"/>
            <a:ext cx="407988" cy="412750"/>
          </a:xfrm>
          <a:prstGeom prst="rect">
            <a:avLst/>
          </a:prstGeom>
          <a:noFill/>
          <a:ln w="9525">
            <a:noFill/>
            <a:miter lim="800000"/>
            <a:headEnd/>
            <a:tailEnd/>
          </a:ln>
          <a:effectLst/>
        </p:spPr>
        <p:txBody>
          <a:bodyPr wrap="none" anchor="ctr">
            <a:spAutoFit/>
          </a:bodyPr>
          <a:lstStyle/>
          <a:p>
            <a:pPr marL="169863" indent="-169863" algn="ctr" eaLnBrk="0" hangingPunct="0"/>
            <a:r>
              <a:rPr lang="en-US" altLang="en-US" sz="2000" b="0">
                <a:solidFill>
                  <a:schemeClr val="accent2"/>
                </a:solidFill>
                <a:latin typeface="Chalkboard" charset="0"/>
              </a:rPr>
              <a:t>n</a:t>
            </a:r>
            <a:r>
              <a:rPr lang="en-US" altLang="en-US" sz="2000" b="0" baseline="-25000">
                <a:solidFill>
                  <a:schemeClr val="accent2"/>
                </a:solidFill>
                <a:latin typeface="Chalkboard" charset="0"/>
              </a:rPr>
              <a:t>2</a:t>
            </a:r>
            <a:endParaRPr lang="en-US" altLang="en-US" sz="2000" b="0">
              <a:solidFill>
                <a:schemeClr val="accent2"/>
              </a:solidFill>
              <a:latin typeface="Chalkboard" charset="0"/>
            </a:endParaRPr>
          </a:p>
        </p:txBody>
      </p:sp>
      <p:sp>
        <p:nvSpPr>
          <p:cNvPr id="522284" name="Text Box 44"/>
          <p:cNvSpPr txBox="1">
            <a:spLocks noChangeArrowheads="1"/>
          </p:cNvSpPr>
          <p:nvPr/>
        </p:nvSpPr>
        <p:spPr bwMode="auto">
          <a:xfrm>
            <a:off x="4159250" y="4611688"/>
            <a:ext cx="836613" cy="347662"/>
          </a:xfrm>
          <a:prstGeom prst="rect">
            <a:avLst/>
          </a:prstGeom>
          <a:noFill/>
          <a:ln w="9525">
            <a:noFill/>
            <a:miter lim="800000"/>
            <a:headEnd/>
            <a:tailEnd/>
          </a:ln>
          <a:effectLst/>
        </p:spPr>
        <p:txBody>
          <a:bodyPr wrap="none" anchor="ctr">
            <a:spAutoFit/>
          </a:bodyPr>
          <a:lstStyle/>
          <a:p>
            <a:pPr marL="169863" indent="-169863" algn="ctr" eaLnBrk="0" hangingPunct="0"/>
            <a:r>
              <a:rPr lang="en-US" altLang="en-US" sz="1600" b="0">
                <a:solidFill>
                  <a:schemeClr val="accent2"/>
                </a:solidFill>
                <a:latin typeface="Chalkboard" charset="0"/>
              </a:rPr>
              <a:t>Sample</a:t>
            </a:r>
          </a:p>
        </p:txBody>
      </p:sp>
      <p:grpSp>
        <p:nvGrpSpPr>
          <p:cNvPr id="4" name="Group 45"/>
          <p:cNvGrpSpPr>
            <a:grpSpLocks/>
          </p:cNvGrpSpPr>
          <p:nvPr/>
        </p:nvGrpSpPr>
        <p:grpSpPr bwMode="auto">
          <a:xfrm>
            <a:off x="6515100" y="3733800"/>
            <a:ext cx="2400300" cy="2687638"/>
            <a:chOff x="4104" y="2352"/>
            <a:chExt cx="1512" cy="1693"/>
          </a:xfrm>
        </p:grpSpPr>
        <p:sp>
          <p:nvSpPr>
            <p:cNvPr id="522286" name="Oval 46"/>
            <p:cNvSpPr>
              <a:spLocks noChangeArrowheads="1"/>
            </p:cNvSpPr>
            <p:nvPr/>
          </p:nvSpPr>
          <p:spPr bwMode="auto">
            <a:xfrm>
              <a:off x="4176" y="2352"/>
              <a:ext cx="576" cy="576"/>
            </a:xfrm>
            <a:prstGeom prst="ellipse">
              <a:avLst/>
            </a:prstGeom>
            <a:noFill/>
            <a:ln w="9525">
              <a:solidFill>
                <a:schemeClr val="tx1"/>
              </a:solidFill>
              <a:round/>
              <a:headEnd/>
              <a:tailEnd/>
            </a:ln>
            <a:effectLst/>
          </p:spPr>
          <p:txBody>
            <a:bodyPr wrap="none" anchor="ctr"/>
            <a:lstStyle/>
            <a:p>
              <a:endParaRPr lang="en-US"/>
            </a:p>
          </p:txBody>
        </p:sp>
        <p:sp>
          <p:nvSpPr>
            <p:cNvPr id="522287" name="AutoShape 47"/>
            <p:cNvSpPr>
              <a:spLocks noChangeArrowheads="1"/>
            </p:cNvSpPr>
            <p:nvPr/>
          </p:nvSpPr>
          <p:spPr bwMode="auto">
            <a:xfrm>
              <a:off x="4104" y="3577"/>
              <a:ext cx="1512" cy="468"/>
            </a:xfrm>
            <a:prstGeom prst="roundRect">
              <a:avLst>
                <a:gd name="adj" fmla="val 16667"/>
              </a:avLst>
            </a:prstGeom>
            <a:noFill/>
            <a:ln w="9525">
              <a:solidFill>
                <a:srgbClr val="000000"/>
              </a:solidFill>
              <a:round/>
              <a:headEnd/>
              <a:tailEnd/>
            </a:ln>
            <a:effectLst/>
          </p:spPr>
          <p:txBody>
            <a:bodyPr wrap="none" anchor="ctr">
              <a:spAutoFit/>
            </a:bodyPr>
            <a:lstStyle/>
            <a:p>
              <a:pPr marL="169863" indent="-169863" algn="ctr" eaLnBrk="0" hangingPunct="0"/>
              <a:r>
                <a:rPr lang="en-US" altLang="en-US" sz="1800" b="0">
                  <a:solidFill>
                    <a:srgbClr val="FF0000"/>
                  </a:solidFill>
                  <a:latin typeface="Chalkboard" charset="0"/>
                </a:rPr>
                <a:t>Spherical aberration</a:t>
              </a:r>
            </a:p>
            <a:p>
              <a:pPr marL="169863" indent="-169863" algn="ctr" eaLnBrk="0" hangingPunct="0"/>
              <a:r>
                <a:rPr lang="en-US" altLang="en-US" sz="1800" b="0">
                  <a:solidFill>
                    <a:srgbClr val="FF0000"/>
                  </a:solidFill>
                  <a:latin typeface="Chalkboard" charset="0"/>
                </a:rPr>
                <a:t>unless n</a:t>
              </a:r>
              <a:r>
                <a:rPr lang="en-US" altLang="en-US" sz="1800" b="0" baseline="-25000">
                  <a:solidFill>
                    <a:srgbClr val="FF0000"/>
                  </a:solidFill>
                  <a:latin typeface="Chalkboard" charset="0"/>
                </a:rPr>
                <a:t>2</a:t>
              </a:r>
              <a:r>
                <a:rPr lang="en-US" altLang="en-US" sz="1800" b="0">
                  <a:solidFill>
                    <a:srgbClr val="FF0000"/>
                  </a:solidFill>
                  <a:latin typeface="Chalkboard" charset="0"/>
                </a:rPr>
                <a:t> = n</a:t>
              </a:r>
              <a:r>
                <a:rPr lang="en-US" altLang="en-US" sz="1800" b="0" baseline="-25000">
                  <a:solidFill>
                    <a:srgbClr val="FF0000"/>
                  </a:solidFill>
                  <a:latin typeface="Chalkboard" charset="0"/>
                </a:rPr>
                <a:t>1</a:t>
              </a:r>
              <a:endParaRPr lang="en-US" altLang="en-US" sz="1800" b="0">
                <a:solidFill>
                  <a:srgbClr val="FF0000"/>
                </a:solidFill>
                <a:latin typeface="Chalkboard" charset="0"/>
              </a:endParaRPr>
            </a:p>
          </p:txBody>
        </p:sp>
        <p:sp>
          <p:nvSpPr>
            <p:cNvPr id="522288" name="Line 48"/>
            <p:cNvSpPr>
              <a:spLocks noChangeShapeType="1"/>
            </p:cNvSpPr>
            <p:nvPr/>
          </p:nvSpPr>
          <p:spPr bwMode="auto">
            <a:xfrm>
              <a:off x="4560" y="2905"/>
              <a:ext cx="144" cy="672"/>
            </a:xfrm>
            <a:prstGeom prst="line">
              <a:avLst/>
            </a:prstGeom>
            <a:noFill/>
            <a:ln w="9525">
              <a:solidFill>
                <a:schemeClr val="tx1"/>
              </a:solidFill>
              <a:round/>
              <a:headEnd/>
              <a:tailEnd/>
            </a:ln>
            <a:effectLst/>
          </p:spPr>
          <p:txBody>
            <a:bodyPr wrap="none" anchor="ctr"/>
            <a:lstStyle/>
            <a:p>
              <a:endParaRPr lang="en-US"/>
            </a:p>
          </p:txBody>
        </p:sp>
      </p:grpSp>
      <p:sp>
        <p:nvSpPr>
          <p:cNvPr id="522289" name="Text Box 49"/>
          <p:cNvSpPr txBox="1">
            <a:spLocks noChangeArrowheads="1"/>
          </p:cNvSpPr>
          <p:nvPr/>
        </p:nvSpPr>
        <p:spPr bwMode="auto">
          <a:xfrm>
            <a:off x="4819650" y="5405438"/>
            <a:ext cx="1368425" cy="438150"/>
          </a:xfrm>
          <a:prstGeom prst="rect">
            <a:avLst/>
          </a:prstGeom>
          <a:noFill/>
          <a:ln w="9525">
            <a:noFill/>
            <a:miter lim="800000"/>
            <a:headEnd/>
            <a:tailEnd/>
          </a:ln>
          <a:effectLst/>
        </p:spPr>
        <p:txBody>
          <a:bodyPr wrap="none" anchor="ctr">
            <a:spAutoFit/>
          </a:bodyPr>
          <a:lstStyle/>
          <a:p>
            <a:pPr marL="169863" indent="-169863" algn="ctr" eaLnBrk="0" hangingPunct="0">
              <a:lnSpc>
                <a:spcPct val="60000"/>
              </a:lnSpc>
            </a:pPr>
            <a:r>
              <a:rPr lang="en-US" altLang="en-US" sz="1800" b="0">
                <a:latin typeface="Chalkboard" charset="0"/>
              </a:rPr>
              <a:t>Focus</a:t>
            </a:r>
          </a:p>
          <a:p>
            <a:pPr marL="169863" indent="-169863" algn="ctr" eaLnBrk="0" hangingPunct="0">
              <a:lnSpc>
                <a:spcPct val="60000"/>
              </a:lnSpc>
            </a:pPr>
            <a:r>
              <a:rPr lang="en-US" altLang="en-US" sz="1800" b="0">
                <a:latin typeface="Chalkboard" charset="0"/>
              </a:rPr>
              <a:t>into sample</a:t>
            </a:r>
          </a:p>
        </p:txBody>
      </p:sp>
      <p:sp>
        <p:nvSpPr>
          <p:cNvPr id="522290" name="Text Box 50"/>
          <p:cNvSpPr txBox="1">
            <a:spLocks noChangeArrowheads="1"/>
          </p:cNvSpPr>
          <p:nvPr/>
        </p:nvSpPr>
        <p:spPr bwMode="auto">
          <a:xfrm>
            <a:off x="941388" y="5378450"/>
            <a:ext cx="2149475" cy="381000"/>
          </a:xfrm>
          <a:prstGeom prst="rect">
            <a:avLst/>
          </a:prstGeom>
          <a:noFill/>
          <a:ln w="9525">
            <a:noFill/>
            <a:miter lim="800000"/>
            <a:headEnd/>
            <a:tailEnd/>
          </a:ln>
          <a:effectLst/>
        </p:spPr>
        <p:txBody>
          <a:bodyPr wrap="none" anchor="ctr">
            <a:spAutoFit/>
          </a:bodyPr>
          <a:lstStyle/>
          <a:p>
            <a:pPr marL="169863" indent="-169863" algn="ctr" eaLnBrk="0" hangingPunct="0"/>
            <a:r>
              <a:rPr lang="en-US" altLang="en-US" sz="1800" b="0">
                <a:latin typeface="Chalkboard" charset="0"/>
              </a:rPr>
              <a:t>Focus at cover slip</a:t>
            </a:r>
          </a:p>
        </p:txBody>
      </p:sp>
      <p:sp>
        <p:nvSpPr>
          <p:cNvPr id="522291" name="Line 51"/>
          <p:cNvSpPr>
            <a:spLocks noChangeShapeType="1"/>
          </p:cNvSpPr>
          <p:nvPr/>
        </p:nvSpPr>
        <p:spPr bwMode="auto">
          <a:xfrm flipV="1">
            <a:off x="5486400" y="4997450"/>
            <a:ext cx="0" cy="336550"/>
          </a:xfrm>
          <a:prstGeom prst="line">
            <a:avLst/>
          </a:prstGeom>
          <a:noFill/>
          <a:ln w="38100">
            <a:solidFill>
              <a:schemeClr val="tx1"/>
            </a:solidFill>
            <a:round/>
            <a:headEnd/>
            <a:tailEnd type="triangle" w="med" len="med"/>
          </a:ln>
          <a:effectLst/>
        </p:spPr>
        <p:txBody>
          <a:bodyPr wrap="none" anchor="ctr"/>
          <a:lstStyle/>
          <a:p>
            <a:endParaRPr lang="en-US"/>
          </a:p>
        </p:txBody>
      </p:sp>
      <p:sp>
        <p:nvSpPr>
          <p:cNvPr id="522292" name="Line 52"/>
          <p:cNvSpPr>
            <a:spLocks noChangeShapeType="1"/>
          </p:cNvSpPr>
          <p:nvPr/>
        </p:nvSpPr>
        <p:spPr bwMode="auto">
          <a:xfrm>
            <a:off x="3810000" y="5341938"/>
            <a:ext cx="1828800" cy="0"/>
          </a:xfrm>
          <a:prstGeom prst="line">
            <a:avLst/>
          </a:prstGeom>
          <a:noFill/>
          <a:ln w="9525">
            <a:solidFill>
              <a:schemeClr val="tx1"/>
            </a:solidFill>
            <a:prstDash val="dash"/>
            <a:round/>
            <a:headEnd/>
            <a:tailEnd/>
          </a:ln>
          <a:effec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Freeform 2"/>
          <p:cNvSpPr>
            <a:spLocks/>
          </p:cNvSpPr>
          <p:nvPr/>
        </p:nvSpPr>
        <p:spPr bwMode="auto">
          <a:xfrm>
            <a:off x="415925" y="2371725"/>
            <a:ext cx="3335338" cy="617538"/>
          </a:xfrm>
          <a:custGeom>
            <a:avLst/>
            <a:gdLst/>
            <a:ahLst/>
            <a:cxnLst>
              <a:cxn ang="0">
                <a:pos x="0" y="0"/>
              </a:cxn>
              <a:cxn ang="0">
                <a:pos x="2736" y="0"/>
              </a:cxn>
              <a:cxn ang="0">
                <a:pos x="2736" y="240"/>
              </a:cxn>
              <a:cxn ang="0">
                <a:pos x="0" y="240"/>
              </a:cxn>
              <a:cxn ang="0">
                <a:pos x="0" y="0"/>
              </a:cxn>
            </a:cxnLst>
            <a:rect l="0" t="0" r="r" b="b"/>
            <a:pathLst>
              <a:path w="2736" h="240">
                <a:moveTo>
                  <a:pt x="0" y="0"/>
                </a:moveTo>
                <a:cubicBezTo>
                  <a:pt x="1368" y="0"/>
                  <a:pt x="2736" y="0"/>
                  <a:pt x="2736" y="0"/>
                </a:cubicBezTo>
                <a:cubicBezTo>
                  <a:pt x="2656" y="117"/>
                  <a:pt x="2709" y="165"/>
                  <a:pt x="2736" y="240"/>
                </a:cubicBezTo>
                <a:cubicBezTo>
                  <a:pt x="2736" y="240"/>
                  <a:pt x="1368" y="240"/>
                  <a:pt x="0" y="240"/>
                </a:cubicBezTo>
                <a:cubicBezTo>
                  <a:pt x="43" y="133"/>
                  <a:pt x="37" y="69"/>
                  <a:pt x="0" y="0"/>
                </a:cubicBezTo>
                <a:close/>
              </a:path>
            </a:pathLst>
          </a:custGeom>
          <a:solidFill>
            <a:srgbClr val="C8FAFF"/>
          </a:solidFill>
          <a:ln w="9525">
            <a:solidFill>
              <a:schemeClr val="tx1"/>
            </a:solidFill>
            <a:round/>
            <a:headEnd/>
            <a:tailEnd/>
          </a:ln>
          <a:effectLst/>
        </p:spPr>
        <p:txBody>
          <a:bodyPr wrap="none" anchor="ctr"/>
          <a:lstStyle/>
          <a:p>
            <a:endParaRPr lang="en-US"/>
          </a:p>
        </p:txBody>
      </p:sp>
      <p:sp>
        <p:nvSpPr>
          <p:cNvPr id="524291" name="Freeform 3"/>
          <p:cNvSpPr>
            <a:spLocks/>
          </p:cNvSpPr>
          <p:nvPr/>
        </p:nvSpPr>
        <p:spPr bwMode="auto">
          <a:xfrm>
            <a:off x="271463" y="1431925"/>
            <a:ext cx="3675062" cy="947738"/>
          </a:xfrm>
          <a:custGeom>
            <a:avLst/>
            <a:gdLst/>
            <a:ahLst/>
            <a:cxnLst>
              <a:cxn ang="0">
                <a:pos x="2949" y="955"/>
              </a:cxn>
              <a:cxn ang="0">
                <a:pos x="0" y="955"/>
              </a:cxn>
              <a:cxn ang="0">
                <a:pos x="2949" y="955"/>
              </a:cxn>
            </a:cxnLst>
            <a:rect l="0" t="0" r="r" b="b"/>
            <a:pathLst>
              <a:path w="2949" h="955">
                <a:moveTo>
                  <a:pt x="2949" y="955"/>
                </a:moveTo>
                <a:cubicBezTo>
                  <a:pt x="1755" y="0"/>
                  <a:pt x="671" y="324"/>
                  <a:pt x="0" y="955"/>
                </a:cubicBezTo>
                <a:cubicBezTo>
                  <a:pt x="0" y="955"/>
                  <a:pt x="2949" y="955"/>
                  <a:pt x="2949" y="955"/>
                </a:cubicBezTo>
                <a:close/>
              </a:path>
            </a:pathLst>
          </a:custGeom>
          <a:solidFill>
            <a:schemeClr val="accent1"/>
          </a:solidFill>
          <a:ln w="19050" cmpd="sng">
            <a:solidFill>
              <a:schemeClr val="bg2"/>
            </a:solidFill>
            <a:round/>
            <a:headEnd/>
            <a:tailEnd/>
          </a:ln>
        </p:spPr>
        <p:txBody>
          <a:bodyPr wrap="none" anchor="ctr"/>
          <a:lstStyle/>
          <a:p>
            <a:endParaRPr lang="en-US"/>
          </a:p>
        </p:txBody>
      </p:sp>
      <p:sp>
        <p:nvSpPr>
          <p:cNvPr id="524292" name="Freeform 4"/>
          <p:cNvSpPr>
            <a:spLocks/>
          </p:cNvSpPr>
          <p:nvPr/>
        </p:nvSpPr>
        <p:spPr bwMode="auto">
          <a:xfrm>
            <a:off x="279400" y="3089275"/>
            <a:ext cx="3852863" cy="2244725"/>
          </a:xfrm>
          <a:custGeom>
            <a:avLst/>
            <a:gdLst/>
            <a:ahLst/>
            <a:cxnLst>
              <a:cxn ang="0">
                <a:pos x="40" y="59"/>
              </a:cxn>
              <a:cxn ang="0">
                <a:pos x="2270" y="59"/>
              </a:cxn>
              <a:cxn ang="0">
                <a:pos x="2251" y="416"/>
              </a:cxn>
              <a:cxn ang="0">
                <a:pos x="2299" y="700"/>
              </a:cxn>
              <a:cxn ang="0">
                <a:pos x="40" y="700"/>
              </a:cxn>
              <a:cxn ang="0">
                <a:pos x="70" y="444"/>
              </a:cxn>
              <a:cxn ang="0">
                <a:pos x="11" y="315"/>
              </a:cxn>
              <a:cxn ang="0">
                <a:pos x="70" y="187"/>
              </a:cxn>
              <a:cxn ang="0">
                <a:pos x="40" y="59"/>
              </a:cxn>
            </a:cxnLst>
            <a:rect l="0" t="0" r="r" b="b"/>
            <a:pathLst>
              <a:path w="2427" h="700">
                <a:moveTo>
                  <a:pt x="40" y="59"/>
                </a:moveTo>
                <a:cubicBezTo>
                  <a:pt x="40" y="59"/>
                  <a:pt x="1902" y="0"/>
                  <a:pt x="2270" y="59"/>
                </a:cubicBezTo>
                <a:cubicBezTo>
                  <a:pt x="2427" y="384"/>
                  <a:pt x="2256" y="262"/>
                  <a:pt x="2251" y="416"/>
                </a:cubicBezTo>
                <a:cubicBezTo>
                  <a:pt x="2246" y="570"/>
                  <a:pt x="2331" y="549"/>
                  <a:pt x="2299" y="700"/>
                </a:cubicBezTo>
                <a:cubicBezTo>
                  <a:pt x="2299" y="700"/>
                  <a:pt x="1169" y="700"/>
                  <a:pt x="40" y="700"/>
                </a:cubicBezTo>
                <a:cubicBezTo>
                  <a:pt x="0" y="539"/>
                  <a:pt x="75" y="508"/>
                  <a:pt x="70" y="444"/>
                </a:cubicBezTo>
                <a:cubicBezTo>
                  <a:pt x="65" y="380"/>
                  <a:pt x="11" y="358"/>
                  <a:pt x="11" y="315"/>
                </a:cubicBezTo>
                <a:cubicBezTo>
                  <a:pt x="11" y="272"/>
                  <a:pt x="65" y="230"/>
                  <a:pt x="70" y="187"/>
                </a:cubicBezTo>
                <a:cubicBezTo>
                  <a:pt x="75" y="144"/>
                  <a:pt x="46" y="86"/>
                  <a:pt x="40" y="59"/>
                </a:cubicBezTo>
                <a:close/>
              </a:path>
            </a:pathLst>
          </a:custGeom>
          <a:solidFill>
            <a:srgbClr val="E3CFB8"/>
          </a:solidFill>
          <a:ln w="9525">
            <a:solidFill>
              <a:schemeClr val="tx1"/>
            </a:solidFill>
            <a:round/>
            <a:headEnd/>
            <a:tailEnd/>
          </a:ln>
          <a:effectLst/>
        </p:spPr>
        <p:txBody>
          <a:bodyPr wrap="none" anchor="ctr"/>
          <a:lstStyle/>
          <a:p>
            <a:endParaRPr lang="en-US"/>
          </a:p>
        </p:txBody>
      </p:sp>
      <p:sp>
        <p:nvSpPr>
          <p:cNvPr id="524293" name="Rectangle 5"/>
          <p:cNvSpPr>
            <a:spLocks noChangeArrowheads="1"/>
          </p:cNvSpPr>
          <p:nvPr/>
        </p:nvSpPr>
        <p:spPr bwMode="auto">
          <a:xfrm>
            <a:off x="271463" y="2989263"/>
            <a:ext cx="3733800" cy="3048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524294" name="Text Box 6"/>
          <p:cNvSpPr txBox="1">
            <a:spLocks noChangeArrowheads="1"/>
          </p:cNvSpPr>
          <p:nvPr/>
        </p:nvSpPr>
        <p:spPr bwMode="auto">
          <a:xfrm>
            <a:off x="2620963" y="152400"/>
            <a:ext cx="3948112" cy="990600"/>
          </a:xfrm>
          <a:prstGeom prst="rect">
            <a:avLst/>
          </a:prstGeom>
          <a:noFill/>
          <a:ln w="9525">
            <a:noFill/>
            <a:miter lim="800000"/>
            <a:headEnd/>
            <a:tailEnd/>
          </a:ln>
          <a:effectLst/>
        </p:spPr>
        <p:txBody>
          <a:bodyPr wrap="none" anchor="ctr">
            <a:spAutoFit/>
          </a:bodyPr>
          <a:lstStyle/>
          <a:p>
            <a:pPr algn="ctr" eaLnBrk="0" hangingPunct="0"/>
            <a:r>
              <a:rPr lang="en-US" altLang="en-US" sz="2800" b="0">
                <a:solidFill>
                  <a:schemeClr val="tx2"/>
                </a:solidFill>
                <a:latin typeface="Chalkboard" charset="0"/>
              </a:rPr>
              <a:t>Index Mismatch</a:t>
            </a:r>
          </a:p>
          <a:p>
            <a:pPr algn="ctr" eaLnBrk="0" hangingPunct="0"/>
            <a:r>
              <a:rPr lang="en-US" altLang="en-US" sz="2800" b="0">
                <a:solidFill>
                  <a:schemeClr val="tx2"/>
                </a:solidFill>
                <a:latin typeface="Chalkboard" charset="0"/>
              </a:rPr>
              <a:t>&amp; Spherical Aberration</a:t>
            </a:r>
          </a:p>
        </p:txBody>
      </p:sp>
      <p:sp>
        <p:nvSpPr>
          <p:cNvPr id="524295" name="Text Box 7"/>
          <p:cNvSpPr txBox="1">
            <a:spLocks noChangeArrowheads="1"/>
          </p:cNvSpPr>
          <p:nvPr/>
        </p:nvSpPr>
        <p:spPr bwMode="auto">
          <a:xfrm>
            <a:off x="606425" y="2474913"/>
            <a:ext cx="1577975" cy="412750"/>
          </a:xfrm>
          <a:prstGeom prst="rect">
            <a:avLst/>
          </a:prstGeom>
          <a:noFill/>
          <a:ln w="9525">
            <a:noFill/>
            <a:miter lim="800000"/>
            <a:headEnd/>
            <a:tailEnd/>
          </a:ln>
          <a:effectLst/>
        </p:spPr>
        <p:txBody>
          <a:bodyPr wrap="none" anchor="ctr">
            <a:spAutoFit/>
          </a:bodyPr>
          <a:lstStyle/>
          <a:p>
            <a:pPr marL="169863" indent="-169863" algn="ctr" eaLnBrk="0" hangingPunct="0"/>
            <a:r>
              <a:rPr lang="en-US" altLang="en-US" sz="2000" b="0">
                <a:solidFill>
                  <a:schemeClr val="accent2"/>
                </a:solidFill>
                <a:latin typeface="Chalkboard" charset="0"/>
              </a:rPr>
              <a:t>n</a:t>
            </a:r>
            <a:r>
              <a:rPr lang="en-US" altLang="en-US" sz="2000" b="0" baseline="-25000">
                <a:solidFill>
                  <a:schemeClr val="accent2"/>
                </a:solidFill>
                <a:latin typeface="Chalkboard" charset="0"/>
              </a:rPr>
              <a:t>1</a:t>
            </a:r>
            <a:r>
              <a:rPr lang="en-US" altLang="en-US" sz="2000" b="0">
                <a:solidFill>
                  <a:schemeClr val="accent2"/>
                </a:solidFill>
                <a:latin typeface="Chalkboard" charset="0"/>
              </a:rPr>
              <a:t>=1.515 (oil)</a:t>
            </a:r>
          </a:p>
        </p:txBody>
      </p:sp>
      <p:sp>
        <p:nvSpPr>
          <p:cNvPr id="524296" name="Text Box 8"/>
          <p:cNvSpPr txBox="1">
            <a:spLocks noChangeArrowheads="1"/>
          </p:cNvSpPr>
          <p:nvPr/>
        </p:nvSpPr>
        <p:spPr bwMode="auto">
          <a:xfrm>
            <a:off x="331788" y="4157663"/>
            <a:ext cx="1668462" cy="733425"/>
          </a:xfrm>
          <a:prstGeom prst="rect">
            <a:avLst/>
          </a:prstGeom>
          <a:noFill/>
          <a:ln w="9525">
            <a:noFill/>
            <a:miter lim="800000"/>
            <a:headEnd/>
            <a:tailEnd/>
          </a:ln>
          <a:effectLst/>
        </p:spPr>
        <p:txBody>
          <a:bodyPr wrap="none" anchor="ctr">
            <a:spAutoFit/>
          </a:bodyPr>
          <a:lstStyle/>
          <a:p>
            <a:pPr marL="169863" indent="-169863" algn="ctr" eaLnBrk="0" hangingPunct="0"/>
            <a:r>
              <a:rPr lang="en-US" altLang="en-US" sz="2000" b="0">
                <a:solidFill>
                  <a:schemeClr val="accent2"/>
                </a:solidFill>
                <a:latin typeface="Chalkboard" charset="0"/>
              </a:rPr>
              <a:t>n</a:t>
            </a:r>
            <a:r>
              <a:rPr lang="en-US" altLang="en-US" sz="2000" b="0" baseline="-25000">
                <a:solidFill>
                  <a:schemeClr val="accent2"/>
                </a:solidFill>
                <a:latin typeface="Chalkboard" charset="0"/>
              </a:rPr>
              <a:t>2</a:t>
            </a:r>
            <a:r>
              <a:rPr lang="en-US" altLang="en-US" sz="2000" b="0">
                <a:solidFill>
                  <a:schemeClr val="accent2"/>
                </a:solidFill>
                <a:latin typeface="Chalkboard" charset="0"/>
              </a:rPr>
              <a:t>=1.44</a:t>
            </a:r>
          </a:p>
          <a:p>
            <a:pPr marL="169863" indent="-169863" algn="ctr" eaLnBrk="0" hangingPunct="0"/>
            <a:r>
              <a:rPr lang="en-US" altLang="en-US" sz="2000" b="0">
                <a:solidFill>
                  <a:schemeClr val="accent2"/>
                </a:solidFill>
                <a:latin typeface="Chalkboard" charset="0"/>
              </a:rPr>
              <a:t>(Vectashield)</a:t>
            </a:r>
          </a:p>
        </p:txBody>
      </p:sp>
      <p:sp>
        <p:nvSpPr>
          <p:cNvPr id="524297" name="Oval 9"/>
          <p:cNvSpPr>
            <a:spLocks noChangeArrowheads="1"/>
          </p:cNvSpPr>
          <p:nvPr/>
        </p:nvSpPr>
        <p:spPr bwMode="auto">
          <a:xfrm>
            <a:off x="2090738" y="3302000"/>
            <a:ext cx="50800" cy="50800"/>
          </a:xfrm>
          <a:prstGeom prst="ellipse">
            <a:avLst/>
          </a:prstGeom>
          <a:solidFill>
            <a:srgbClr val="FF0000"/>
          </a:solidFill>
          <a:ln w="9525">
            <a:solidFill>
              <a:schemeClr val="tx1"/>
            </a:solidFill>
            <a:round/>
            <a:headEnd/>
            <a:tailEnd/>
          </a:ln>
          <a:effectLst/>
        </p:spPr>
        <p:txBody>
          <a:bodyPr wrap="none" anchor="ctr"/>
          <a:lstStyle/>
          <a:p>
            <a:endParaRPr lang="en-US"/>
          </a:p>
        </p:txBody>
      </p:sp>
      <p:sp>
        <p:nvSpPr>
          <p:cNvPr id="524298" name="Oval 10"/>
          <p:cNvSpPr>
            <a:spLocks noChangeArrowheads="1"/>
          </p:cNvSpPr>
          <p:nvPr/>
        </p:nvSpPr>
        <p:spPr bwMode="auto">
          <a:xfrm>
            <a:off x="2090738" y="4106863"/>
            <a:ext cx="50800" cy="50800"/>
          </a:xfrm>
          <a:prstGeom prst="ellipse">
            <a:avLst/>
          </a:prstGeom>
          <a:solidFill>
            <a:srgbClr val="FF0000"/>
          </a:solidFill>
          <a:ln w="9525">
            <a:solidFill>
              <a:schemeClr val="tx1"/>
            </a:solidFill>
            <a:round/>
            <a:headEnd/>
            <a:tailEnd/>
          </a:ln>
          <a:effectLst/>
        </p:spPr>
        <p:txBody>
          <a:bodyPr wrap="none" anchor="ctr"/>
          <a:lstStyle/>
          <a:p>
            <a:endParaRPr lang="en-US"/>
          </a:p>
        </p:txBody>
      </p:sp>
      <p:sp>
        <p:nvSpPr>
          <p:cNvPr id="524299" name="Oval 11"/>
          <p:cNvSpPr>
            <a:spLocks noChangeArrowheads="1"/>
          </p:cNvSpPr>
          <p:nvPr/>
        </p:nvSpPr>
        <p:spPr bwMode="auto">
          <a:xfrm>
            <a:off x="2090738" y="4911725"/>
            <a:ext cx="50800" cy="50800"/>
          </a:xfrm>
          <a:prstGeom prst="ellipse">
            <a:avLst/>
          </a:prstGeom>
          <a:solidFill>
            <a:srgbClr val="FF0000"/>
          </a:solidFill>
          <a:ln w="9525">
            <a:solidFill>
              <a:schemeClr val="tx1"/>
            </a:solidFill>
            <a:round/>
            <a:headEnd/>
            <a:tailEnd/>
          </a:ln>
          <a:effectLst/>
        </p:spPr>
        <p:txBody>
          <a:bodyPr wrap="none" anchor="ctr"/>
          <a:lstStyle/>
          <a:p>
            <a:endParaRPr lang="en-US"/>
          </a:p>
        </p:txBody>
      </p:sp>
      <p:sp>
        <p:nvSpPr>
          <p:cNvPr id="524300" name="Text Box 12"/>
          <p:cNvSpPr txBox="1">
            <a:spLocks noChangeArrowheads="1"/>
          </p:cNvSpPr>
          <p:nvPr/>
        </p:nvSpPr>
        <p:spPr bwMode="auto">
          <a:xfrm>
            <a:off x="7319963" y="1973263"/>
            <a:ext cx="1049337" cy="412750"/>
          </a:xfrm>
          <a:prstGeom prst="rect">
            <a:avLst/>
          </a:prstGeom>
          <a:noFill/>
          <a:ln w="9525">
            <a:noFill/>
            <a:miter lim="800000"/>
            <a:headEnd/>
            <a:tailEnd/>
          </a:ln>
          <a:effectLst/>
        </p:spPr>
        <p:txBody>
          <a:bodyPr wrap="none" anchor="ctr">
            <a:spAutoFit/>
          </a:bodyPr>
          <a:lstStyle/>
          <a:p>
            <a:pPr marL="169863" indent="-169863" algn="ctr" eaLnBrk="0" hangingPunct="0"/>
            <a:r>
              <a:rPr lang="en-US" altLang="en-US" sz="2000" b="0">
                <a:solidFill>
                  <a:schemeClr val="accent2"/>
                </a:solidFill>
                <a:latin typeface="Chalkboard" charset="0"/>
              </a:rPr>
              <a:t>z=0 µm</a:t>
            </a:r>
          </a:p>
        </p:txBody>
      </p:sp>
      <p:sp>
        <p:nvSpPr>
          <p:cNvPr id="524301" name="Text Box 13"/>
          <p:cNvSpPr txBox="1">
            <a:spLocks noChangeArrowheads="1"/>
          </p:cNvSpPr>
          <p:nvPr/>
        </p:nvSpPr>
        <p:spPr bwMode="auto">
          <a:xfrm>
            <a:off x="7319963" y="3806825"/>
            <a:ext cx="1193800" cy="412750"/>
          </a:xfrm>
          <a:prstGeom prst="rect">
            <a:avLst/>
          </a:prstGeom>
          <a:noFill/>
          <a:ln w="9525">
            <a:noFill/>
            <a:miter lim="800000"/>
            <a:headEnd/>
            <a:tailEnd/>
          </a:ln>
          <a:effectLst/>
        </p:spPr>
        <p:txBody>
          <a:bodyPr wrap="none" anchor="ctr">
            <a:spAutoFit/>
          </a:bodyPr>
          <a:lstStyle/>
          <a:p>
            <a:pPr marL="169863" indent="-169863" algn="ctr" eaLnBrk="0" hangingPunct="0"/>
            <a:r>
              <a:rPr lang="en-US" altLang="en-US" sz="2000" b="0">
                <a:solidFill>
                  <a:schemeClr val="accent2"/>
                </a:solidFill>
                <a:latin typeface="Chalkboard" charset="0"/>
              </a:rPr>
              <a:t>z=25 µm</a:t>
            </a:r>
          </a:p>
        </p:txBody>
      </p:sp>
      <p:sp>
        <p:nvSpPr>
          <p:cNvPr id="524302" name="Text Box 14"/>
          <p:cNvSpPr txBox="1">
            <a:spLocks noChangeArrowheads="1"/>
          </p:cNvSpPr>
          <p:nvPr/>
        </p:nvSpPr>
        <p:spPr bwMode="auto">
          <a:xfrm>
            <a:off x="7319963" y="5565775"/>
            <a:ext cx="1193800" cy="412750"/>
          </a:xfrm>
          <a:prstGeom prst="rect">
            <a:avLst/>
          </a:prstGeom>
          <a:noFill/>
          <a:ln w="9525">
            <a:noFill/>
            <a:miter lim="800000"/>
            <a:headEnd/>
            <a:tailEnd/>
          </a:ln>
          <a:effectLst/>
        </p:spPr>
        <p:txBody>
          <a:bodyPr wrap="none" anchor="ctr">
            <a:spAutoFit/>
          </a:bodyPr>
          <a:lstStyle/>
          <a:p>
            <a:pPr marL="169863" indent="-169863" algn="ctr" eaLnBrk="0" hangingPunct="0"/>
            <a:r>
              <a:rPr lang="en-US" altLang="en-US" sz="2000" b="0">
                <a:solidFill>
                  <a:schemeClr val="accent2"/>
                </a:solidFill>
                <a:latin typeface="Chalkboard" charset="0"/>
              </a:rPr>
              <a:t>z=50 µm</a:t>
            </a:r>
          </a:p>
        </p:txBody>
      </p:sp>
      <p:sp>
        <p:nvSpPr>
          <p:cNvPr id="524303" name="Freeform 15"/>
          <p:cNvSpPr>
            <a:spLocks/>
          </p:cNvSpPr>
          <p:nvPr/>
        </p:nvSpPr>
        <p:spPr bwMode="auto">
          <a:xfrm>
            <a:off x="2184400" y="2852738"/>
            <a:ext cx="3319463" cy="746125"/>
          </a:xfrm>
          <a:custGeom>
            <a:avLst/>
            <a:gdLst/>
            <a:ahLst/>
            <a:cxnLst>
              <a:cxn ang="0">
                <a:pos x="0" y="299"/>
              </a:cxn>
              <a:cxn ang="0">
                <a:pos x="2091" y="0"/>
              </a:cxn>
            </a:cxnLst>
            <a:rect l="0" t="0" r="r" b="b"/>
            <a:pathLst>
              <a:path w="2091" h="470">
                <a:moveTo>
                  <a:pt x="0" y="299"/>
                </a:moveTo>
                <a:cubicBezTo>
                  <a:pt x="1072" y="470"/>
                  <a:pt x="1456" y="262"/>
                  <a:pt x="2091" y="0"/>
                </a:cubicBezTo>
              </a:path>
            </a:pathLst>
          </a:custGeom>
          <a:noFill/>
          <a:ln w="9525">
            <a:solidFill>
              <a:srgbClr val="FF8000"/>
            </a:solidFill>
            <a:round/>
            <a:headEnd type="none" w="med" len="med"/>
            <a:tailEnd type="triangle" w="med" len="med"/>
          </a:ln>
          <a:effectLst/>
        </p:spPr>
        <p:txBody>
          <a:bodyPr wrap="none" anchor="ctr"/>
          <a:lstStyle/>
          <a:p>
            <a:endParaRPr lang="en-US"/>
          </a:p>
        </p:txBody>
      </p:sp>
      <p:sp>
        <p:nvSpPr>
          <p:cNvPr id="524304" name="Freeform 16"/>
          <p:cNvSpPr>
            <a:spLocks/>
          </p:cNvSpPr>
          <p:nvPr/>
        </p:nvSpPr>
        <p:spPr bwMode="auto">
          <a:xfrm>
            <a:off x="2201863" y="4030663"/>
            <a:ext cx="3284537" cy="177800"/>
          </a:xfrm>
          <a:custGeom>
            <a:avLst/>
            <a:gdLst/>
            <a:ahLst/>
            <a:cxnLst>
              <a:cxn ang="0">
                <a:pos x="0" y="69"/>
              </a:cxn>
              <a:cxn ang="0">
                <a:pos x="2069" y="0"/>
              </a:cxn>
            </a:cxnLst>
            <a:rect l="0" t="0" r="r" b="b"/>
            <a:pathLst>
              <a:path w="2069" h="112">
                <a:moveTo>
                  <a:pt x="0" y="69"/>
                </a:moveTo>
                <a:cubicBezTo>
                  <a:pt x="954" y="48"/>
                  <a:pt x="1381" y="112"/>
                  <a:pt x="2069" y="0"/>
                </a:cubicBezTo>
              </a:path>
            </a:pathLst>
          </a:custGeom>
          <a:noFill/>
          <a:ln w="9525">
            <a:solidFill>
              <a:srgbClr val="FF8000"/>
            </a:solidFill>
            <a:round/>
            <a:headEnd type="none" w="med" len="med"/>
            <a:tailEnd type="triangle" w="med" len="med"/>
          </a:ln>
          <a:effectLst/>
        </p:spPr>
        <p:txBody>
          <a:bodyPr wrap="none" anchor="ctr"/>
          <a:lstStyle/>
          <a:p>
            <a:endParaRPr lang="en-US"/>
          </a:p>
        </p:txBody>
      </p:sp>
      <p:sp>
        <p:nvSpPr>
          <p:cNvPr id="524305" name="Freeform 17"/>
          <p:cNvSpPr>
            <a:spLocks/>
          </p:cNvSpPr>
          <p:nvPr/>
        </p:nvSpPr>
        <p:spPr bwMode="auto">
          <a:xfrm>
            <a:off x="2219325" y="4876800"/>
            <a:ext cx="3267075" cy="322263"/>
          </a:xfrm>
          <a:custGeom>
            <a:avLst/>
            <a:gdLst/>
            <a:ahLst/>
            <a:cxnLst>
              <a:cxn ang="0">
                <a:pos x="0" y="48"/>
              </a:cxn>
              <a:cxn ang="0">
                <a:pos x="2058" y="203"/>
              </a:cxn>
            </a:cxnLst>
            <a:rect l="0" t="0" r="r" b="b"/>
            <a:pathLst>
              <a:path w="2058" h="203">
                <a:moveTo>
                  <a:pt x="0" y="48"/>
                </a:moveTo>
                <a:cubicBezTo>
                  <a:pt x="1162" y="128"/>
                  <a:pt x="1370" y="0"/>
                  <a:pt x="2058" y="203"/>
                </a:cubicBezTo>
              </a:path>
            </a:pathLst>
          </a:custGeom>
          <a:noFill/>
          <a:ln w="9525">
            <a:solidFill>
              <a:srgbClr val="FF8000"/>
            </a:solidFill>
            <a:round/>
            <a:headEnd type="none" w="med" len="med"/>
            <a:tailEnd type="triangle" w="med" len="med"/>
          </a:ln>
          <a:effectLst/>
        </p:spPr>
        <p:txBody>
          <a:bodyPr wrap="none" anchor="ctr"/>
          <a:lstStyle/>
          <a:p>
            <a:endParaRPr lang="en-US"/>
          </a:p>
        </p:txBody>
      </p:sp>
      <p:pic>
        <p:nvPicPr>
          <p:cNvPr id="524306" name="Picture 18"/>
          <p:cNvPicPr>
            <a:picLocks noChangeAspect="1" noChangeArrowheads="1"/>
          </p:cNvPicPr>
          <p:nvPr/>
        </p:nvPicPr>
        <p:blipFill>
          <a:blip r:embed="rId3" cstate="print"/>
          <a:srcRect/>
          <a:stretch>
            <a:fillRect/>
          </a:stretch>
        </p:blipFill>
        <p:spPr bwMode="auto">
          <a:xfrm>
            <a:off x="5567363" y="4884738"/>
            <a:ext cx="1785937" cy="1785937"/>
          </a:xfrm>
          <a:prstGeom prst="rect">
            <a:avLst/>
          </a:prstGeom>
          <a:noFill/>
        </p:spPr>
      </p:pic>
      <p:pic>
        <p:nvPicPr>
          <p:cNvPr id="524307" name="Picture 19"/>
          <p:cNvPicPr>
            <a:picLocks noChangeAspect="1" noChangeArrowheads="1"/>
          </p:cNvPicPr>
          <p:nvPr/>
        </p:nvPicPr>
        <p:blipFill>
          <a:blip r:embed="rId4" cstate="print"/>
          <a:srcRect/>
          <a:stretch>
            <a:fillRect/>
          </a:stretch>
        </p:blipFill>
        <p:spPr bwMode="auto">
          <a:xfrm>
            <a:off x="5567363" y="3101975"/>
            <a:ext cx="1785937" cy="1785938"/>
          </a:xfrm>
          <a:prstGeom prst="rect">
            <a:avLst/>
          </a:prstGeom>
          <a:noFill/>
        </p:spPr>
      </p:pic>
      <p:pic>
        <p:nvPicPr>
          <p:cNvPr id="524308" name="Picture 20"/>
          <p:cNvPicPr>
            <a:picLocks noChangeAspect="1" noChangeArrowheads="1"/>
          </p:cNvPicPr>
          <p:nvPr/>
        </p:nvPicPr>
        <p:blipFill>
          <a:blip r:embed="rId5" cstate="print"/>
          <a:srcRect/>
          <a:stretch>
            <a:fillRect/>
          </a:stretch>
        </p:blipFill>
        <p:spPr bwMode="auto">
          <a:xfrm>
            <a:off x="5568950" y="1320800"/>
            <a:ext cx="1785938" cy="1785938"/>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Constituents of Mounting Media</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A base component- a major factor in the refractive index of the medium</a:t>
            </a:r>
          </a:p>
          <a:p>
            <a:pPr lvl="1"/>
            <a:r>
              <a:rPr lang="en-US" dirty="0" smtClean="0"/>
              <a:t>Hydrophilic: (do not require dehydration)</a:t>
            </a:r>
          </a:p>
          <a:p>
            <a:pPr lvl="2"/>
            <a:r>
              <a:rPr lang="en-US" dirty="0" smtClean="0"/>
              <a:t>Aqueous -(RI ~ 1.33)</a:t>
            </a:r>
          </a:p>
          <a:p>
            <a:pPr lvl="2"/>
            <a:r>
              <a:rPr lang="en-US" dirty="0" err="1" smtClean="0"/>
              <a:t>Glyercol</a:t>
            </a:r>
            <a:r>
              <a:rPr lang="en-US" dirty="0" smtClean="0"/>
              <a:t> (1.47)</a:t>
            </a:r>
          </a:p>
          <a:p>
            <a:pPr lvl="1"/>
            <a:r>
              <a:rPr lang="en-US" dirty="0" smtClean="0"/>
              <a:t>Hydrophobic: (require dehydration)</a:t>
            </a:r>
          </a:p>
          <a:p>
            <a:pPr lvl="2"/>
            <a:r>
              <a:rPr lang="en-US" dirty="0" smtClean="0"/>
              <a:t>Natural Oil (1.53)</a:t>
            </a:r>
          </a:p>
          <a:p>
            <a:pPr lvl="2"/>
            <a:r>
              <a:rPr lang="en-US" dirty="0" smtClean="0"/>
              <a:t>Plastic (1.51)</a:t>
            </a:r>
          </a:p>
          <a:p>
            <a:r>
              <a:rPr lang="en-US" dirty="0" err="1" smtClean="0"/>
              <a:t>Antifade</a:t>
            </a:r>
            <a:r>
              <a:rPr lang="en-US" dirty="0" smtClean="0"/>
              <a:t> component - </a:t>
            </a:r>
            <a:r>
              <a:rPr lang="en-US" dirty="0" err="1" smtClean="0"/>
              <a:t>photobleaching</a:t>
            </a:r>
            <a:r>
              <a:rPr lang="en-US" dirty="0" smtClean="0"/>
              <a:t> is not fully understood – but it seems as though when the fluorescent dye is in its excited triplet state, the dyes react with molecular oxygen and lose the ability to become fluorescent </a:t>
            </a:r>
          </a:p>
          <a:p>
            <a:pPr lvl="1"/>
            <a:r>
              <a:rPr lang="en-US" dirty="0" smtClean="0"/>
              <a:t>most </a:t>
            </a:r>
            <a:r>
              <a:rPr lang="en-US" dirty="0" err="1" smtClean="0"/>
              <a:t>antifade</a:t>
            </a:r>
            <a:r>
              <a:rPr lang="en-US" dirty="0" smtClean="0"/>
              <a:t> reagents are reactive oxygen species scavengers</a:t>
            </a:r>
          </a:p>
          <a:p>
            <a:pPr lvl="1"/>
            <a:r>
              <a:rPr lang="en-US" dirty="0" smtClean="0"/>
              <a:t>P-</a:t>
            </a:r>
            <a:r>
              <a:rPr lang="en-US" dirty="0" err="1" smtClean="0"/>
              <a:t>Phenylenediamine</a:t>
            </a:r>
            <a:r>
              <a:rPr lang="en-US" dirty="0" smtClean="0"/>
              <a:t> (PPD) seems to be most effective – except cyanine dyes (Cy2 </a:t>
            </a:r>
            <a:r>
              <a:rPr lang="en-US" dirty="0" err="1" smtClean="0"/>
              <a:t>especiallly</a:t>
            </a:r>
            <a:r>
              <a:rPr lang="en-US" dirty="0" smtClean="0"/>
              <a:t>)- toxic.</a:t>
            </a:r>
          </a:p>
          <a:p>
            <a:pPr lvl="1"/>
            <a:r>
              <a:rPr lang="en-US" dirty="0" smtClean="0"/>
              <a:t>N-</a:t>
            </a:r>
            <a:r>
              <a:rPr lang="en-US" dirty="0" err="1" smtClean="0"/>
              <a:t>Propyl</a:t>
            </a:r>
            <a:r>
              <a:rPr lang="en-US" dirty="0" smtClean="0"/>
              <a:t> </a:t>
            </a:r>
            <a:r>
              <a:rPr lang="en-US" dirty="0" err="1" smtClean="0"/>
              <a:t>gallate</a:t>
            </a:r>
            <a:r>
              <a:rPr lang="en-US" dirty="0" smtClean="0"/>
              <a:t> (NPG)  - difficult to dissolve – is non-toxic and can be used with live cells – could even protect against apoptosis</a:t>
            </a:r>
          </a:p>
          <a:p>
            <a:pPr lvl="1"/>
            <a:r>
              <a:rPr lang="en-US" dirty="0" smtClean="0"/>
              <a:t>1,4-Diazadicyclo-octane (DABCO) aka – </a:t>
            </a:r>
            <a:r>
              <a:rPr lang="en-US" dirty="0" err="1" smtClean="0"/>
              <a:t>triethylenediamine</a:t>
            </a:r>
            <a:r>
              <a:rPr lang="en-US" dirty="0" smtClean="0"/>
              <a:t> – less effective then PPD, and also less toxic.</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Mounting Media </a:t>
            </a:r>
            <a:br>
              <a:rPr lang="en-US" dirty="0" smtClean="0"/>
            </a:br>
            <a:r>
              <a:rPr lang="en-US" sz="4200" dirty="0" smtClean="0"/>
              <a:t>commercially available</a:t>
            </a:r>
            <a:endParaRPr lang="en-US" dirty="0"/>
          </a:p>
        </p:txBody>
      </p:sp>
      <p:sp>
        <p:nvSpPr>
          <p:cNvPr id="3" name="Content Placeholder 2"/>
          <p:cNvSpPr>
            <a:spLocks noGrp="1"/>
          </p:cNvSpPr>
          <p:nvPr>
            <p:ph idx="1"/>
          </p:nvPr>
        </p:nvSpPr>
        <p:spPr>
          <a:xfrm>
            <a:off x="457200" y="1524000"/>
            <a:ext cx="8229600" cy="4930409"/>
          </a:xfrm>
        </p:spPr>
        <p:txBody>
          <a:bodyPr>
            <a:normAutofit fontScale="77500" lnSpcReduction="20000"/>
          </a:bodyPr>
          <a:lstStyle/>
          <a:p>
            <a:pPr marL="633222" indent="-514350">
              <a:buAutoNum type="alphaUcPeriod"/>
            </a:pPr>
            <a:r>
              <a:rPr lang="en-US" dirty="0" smtClean="0"/>
              <a:t>Aqueous:</a:t>
            </a:r>
          </a:p>
          <a:p>
            <a:pPr marL="925830" lvl="1" indent="-514350">
              <a:buAutoNum type="arabicPeriod"/>
            </a:pPr>
            <a:r>
              <a:rPr lang="en-US" dirty="0" smtClean="0"/>
              <a:t>Gel Mount (without glycerol) – 1.358</a:t>
            </a:r>
          </a:p>
          <a:p>
            <a:pPr marL="925830" lvl="1" indent="-514350">
              <a:buAutoNum type="arabicPeriod"/>
            </a:pPr>
            <a:r>
              <a:rPr lang="en-US" dirty="0" smtClean="0"/>
              <a:t> </a:t>
            </a:r>
            <a:r>
              <a:rPr lang="en-US" dirty="0" err="1" smtClean="0"/>
              <a:t>FluorSave</a:t>
            </a:r>
            <a:r>
              <a:rPr lang="en-US" dirty="0" smtClean="0"/>
              <a:t> (hardens within 1 hr, tissue shrinkage in 1 week) RI – unknown but close to 1.33</a:t>
            </a:r>
          </a:p>
          <a:p>
            <a:pPr marL="633222" indent="-514350">
              <a:buAutoNum type="alphaUcPeriod"/>
            </a:pPr>
            <a:r>
              <a:rPr lang="en-US" dirty="0" smtClean="0"/>
              <a:t>Glycerol based:</a:t>
            </a:r>
          </a:p>
          <a:p>
            <a:pPr marL="1191006" lvl="2" indent="-514350">
              <a:buAutoNum type="arabicPeriod"/>
            </a:pPr>
            <a:r>
              <a:rPr lang="en-US" dirty="0" smtClean="0"/>
              <a:t>Prolong (two component mounting medium – </a:t>
            </a:r>
            <a:r>
              <a:rPr lang="en-US" dirty="0" err="1" smtClean="0"/>
              <a:t>antifade</a:t>
            </a:r>
            <a:r>
              <a:rPr lang="en-US" dirty="0" smtClean="0"/>
              <a:t> powder + liquid base that one mixes prior to use) or Prolong Gold (premixed)</a:t>
            </a:r>
          </a:p>
          <a:p>
            <a:pPr marL="1410462" lvl="3" indent="-514350">
              <a:buFont typeface="Arial" charset="0"/>
              <a:buChar char="•"/>
            </a:pPr>
            <a:r>
              <a:rPr lang="en-US" dirty="0" smtClean="0"/>
              <a:t>RI ~ 1.455</a:t>
            </a:r>
          </a:p>
          <a:p>
            <a:pPr marL="1410462" lvl="3" indent="-514350">
              <a:buFont typeface="Arial" charset="0"/>
              <a:buChar char="•"/>
            </a:pPr>
            <a:r>
              <a:rPr lang="en-US" dirty="0" smtClean="0"/>
              <a:t>Great for </a:t>
            </a:r>
            <a:r>
              <a:rPr lang="en-US" dirty="0" err="1" smtClean="0"/>
              <a:t>AlexaFluor</a:t>
            </a:r>
            <a:r>
              <a:rPr lang="en-US" dirty="0" smtClean="0"/>
              <a:t> dyes</a:t>
            </a:r>
          </a:p>
          <a:p>
            <a:pPr marL="1410462" lvl="3" indent="-514350">
              <a:buFont typeface="Arial" charset="0"/>
              <a:buChar char="•"/>
            </a:pPr>
            <a:r>
              <a:rPr lang="en-US" dirty="0" smtClean="0"/>
              <a:t>Might not be so good for fluorescent proteins</a:t>
            </a:r>
          </a:p>
          <a:p>
            <a:pPr marL="1410462" lvl="3" indent="-514350">
              <a:buFont typeface="Arial" charset="0"/>
              <a:buChar char="•"/>
            </a:pPr>
            <a:r>
              <a:rPr lang="en-US" dirty="0" smtClean="0"/>
              <a:t>Molecular probes report that Prolong does not work well with BODIPY dyes.</a:t>
            </a:r>
          </a:p>
          <a:p>
            <a:pPr marL="1191006" lvl="2" indent="-514350">
              <a:buAutoNum type="arabicPeriod"/>
            </a:pPr>
            <a:r>
              <a:rPr lang="en-US" dirty="0" err="1" smtClean="0"/>
              <a:t>Vectashield</a:t>
            </a:r>
            <a:endParaRPr lang="en-US" dirty="0" smtClean="0"/>
          </a:p>
          <a:p>
            <a:pPr marL="1410462" lvl="3" indent="-514350">
              <a:buFont typeface="Arial" charset="0"/>
              <a:buChar char="•"/>
            </a:pPr>
            <a:r>
              <a:rPr lang="en-US" dirty="0" smtClean="0"/>
              <a:t>Regular (RI ~ 1.458) or hard-set (RI~1.440)</a:t>
            </a:r>
          </a:p>
          <a:p>
            <a:pPr marL="1410462" lvl="3" indent="-514350">
              <a:buFont typeface="Arial" charset="0"/>
              <a:buChar char="•"/>
            </a:pPr>
            <a:r>
              <a:rPr lang="en-US" dirty="0" smtClean="0"/>
              <a:t>Does not work well with Cyanine dyes</a:t>
            </a:r>
          </a:p>
          <a:p>
            <a:pPr marL="1191006" lvl="2" indent="-514350">
              <a:buAutoNum type="arabicPeriod"/>
            </a:pPr>
            <a:r>
              <a:rPr lang="en-US" dirty="0" err="1" smtClean="0"/>
              <a:t>Mowiol</a:t>
            </a:r>
            <a:r>
              <a:rPr lang="en-US" dirty="0" smtClean="0"/>
              <a:t> – </a:t>
            </a:r>
          </a:p>
          <a:p>
            <a:pPr marL="1410462" lvl="3" indent="-514350">
              <a:buFont typeface="Arial" charset="0"/>
              <a:buChar char="•"/>
            </a:pPr>
            <a:r>
              <a:rPr lang="en-US" dirty="0" smtClean="0"/>
              <a:t>a PVA- based media designed for EM </a:t>
            </a:r>
          </a:p>
          <a:p>
            <a:pPr marL="1410462" lvl="3" indent="-514350">
              <a:buFont typeface="Arial" charset="0"/>
              <a:buChar char="•"/>
            </a:pPr>
            <a:r>
              <a:rPr lang="en-US" dirty="0" smtClean="0"/>
              <a:t>one has to mix the powder in glycerol and buffer</a:t>
            </a:r>
          </a:p>
          <a:p>
            <a:pPr marL="1191006" lvl="2" indent="-514350">
              <a:buAutoNum type="arabicPeriod"/>
            </a:pPr>
            <a:endParaRPr lang="en-US" dirty="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Mounting Media </a:t>
            </a:r>
            <a:br>
              <a:rPr lang="en-US" dirty="0" smtClean="0"/>
            </a:br>
            <a:r>
              <a:rPr lang="en-US" sz="4800" dirty="0" smtClean="0"/>
              <a:t>commercially available</a:t>
            </a:r>
            <a:endParaRPr lang="en-US" dirty="0"/>
          </a:p>
        </p:txBody>
      </p:sp>
      <p:sp>
        <p:nvSpPr>
          <p:cNvPr id="3" name="Content Placeholder 2"/>
          <p:cNvSpPr>
            <a:spLocks noGrp="1"/>
          </p:cNvSpPr>
          <p:nvPr>
            <p:ph idx="1"/>
          </p:nvPr>
        </p:nvSpPr>
        <p:spPr/>
        <p:txBody>
          <a:bodyPr>
            <a:normAutofit fontScale="85000" lnSpcReduction="20000"/>
          </a:bodyPr>
          <a:lstStyle/>
          <a:p>
            <a:pPr marL="633222" indent="-514350">
              <a:buFont typeface="+mj-lt"/>
              <a:buAutoNum type="alphaUcPeriod" startAt="3"/>
            </a:pPr>
            <a:r>
              <a:rPr lang="en-US" dirty="0" smtClean="0"/>
              <a:t>Plastics </a:t>
            </a:r>
          </a:p>
          <a:p>
            <a:pPr marL="925830" lvl="1" indent="-514350">
              <a:buAutoNum type="arabicPeriod"/>
            </a:pPr>
            <a:r>
              <a:rPr lang="en-US" dirty="0" err="1" smtClean="0"/>
              <a:t>Entellan</a:t>
            </a:r>
            <a:r>
              <a:rPr lang="en-US" dirty="0" smtClean="0"/>
              <a:t> (RI ~1.500) no </a:t>
            </a:r>
            <a:r>
              <a:rPr lang="en-US" dirty="0" err="1" smtClean="0"/>
              <a:t>antifade</a:t>
            </a:r>
            <a:r>
              <a:rPr lang="en-US" dirty="0" smtClean="0"/>
              <a:t> reagents</a:t>
            </a:r>
          </a:p>
          <a:p>
            <a:pPr marL="1191006" lvl="2" indent="-514350">
              <a:buFont typeface="Arial" charset="0"/>
              <a:buChar char="•"/>
            </a:pPr>
            <a:r>
              <a:rPr lang="en-US" dirty="0" smtClean="0"/>
              <a:t>Base constituent is poly(</a:t>
            </a:r>
            <a:r>
              <a:rPr lang="en-US" dirty="0" err="1" smtClean="0"/>
              <a:t>methylmethacrylate</a:t>
            </a:r>
            <a:r>
              <a:rPr lang="en-US" dirty="0" smtClean="0"/>
              <a:t>)</a:t>
            </a:r>
          </a:p>
          <a:p>
            <a:pPr marL="925830" lvl="1" indent="-514350">
              <a:buAutoNum type="arabicPeriod"/>
            </a:pPr>
            <a:r>
              <a:rPr lang="en-US" dirty="0" err="1" smtClean="0"/>
              <a:t>Cytoseal</a:t>
            </a:r>
            <a:r>
              <a:rPr lang="en-US" dirty="0" smtClean="0"/>
              <a:t> 60 (RI ~1.5??)  no </a:t>
            </a:r>
            <a:r>
              <a:rPr lang="en-US" dirty="0" err="1" smtClean="0"/>
              <a:t>antifade</a:t>
            </a:r>
            <a:r>
              <a:rPr lang="en-US" dirty="0" smtClean="0"/>
              <a:t> reagents</a:t>
            </a:r>
          </a:p>
          <a:p>
            <a:pPr marL="1191006" lvl="2" indent="-514350">
              <a:buFont typeface="Arial" charset="0"/>
              <a:buChar char="•"/>
            </a:pPr>
            <a:r>
              <a:rPr lang="en-US" dirty="0" smtClean="0"/>
              <a:t>Base constituent is poly(</a:t>
            </a:r>
            <a:r>
              <a:rPr lang="en-US" dirty="0" err="1" smtClean="0"/>
              <a:t>methylmethacrylate</a:t>
            </a:r>
            <a:r>
              <a:rPr lang="en-US" dirty="0" smtClean="0"/>
              <a:t>)</a:t>
            </a:r>
          </a:p>
          <a:p>
            <a:pPr marL="1191006" lvl="2" indent="-514350">
              <a:buFont typeface="Arial" charset="0"/>
              <a:buChar char="•"/>
            </a:pPr>
            <a:r>
              <a:rPr lang="en-US" dirty="0" smtClean="0"/>
              <a:t>Cheaper but inferior to </a:t>
            </a:r>
            <a:r>
              <a:rPr lang="en-US" dirty="0" err="1" smtClean="0"/>
              <a:t>Entellan</a:t>
            </a:r>
            <a:endParaRPr lang="en-US" dirty="0" smtClean="0"/>
          </a:p>
          <a:p>
            <a:pPr marL="633222" indent="-514350">
              <a:buFont typeface="+mj-lt"/>
              <a:buAutoNum type="alphaUcPeriod" startAt="3"/>
            </a:pPr>
            <a:r>
              <a:rPr lang="en-US" dirty="0" smtClean="0"/>
              <a:t>Natural Oil</a:t>
            </a:r>
          </a:p>
          <a:p>
            <a:pPr marL="925830" lvl="1" indent="-514350">
              <a:buAutoNum type="arabicPeriod"/>
            </a:pPr>
            <a:r>
              <a:rPr lang="en-US" dirty="0" err="1" smtClean="0"/>
              <a:t>Permount</a:t>
            </a:r>
            <a:r>
              <a:rPr lang="en-US" dirty="0" smtClean="0"/>
              <a:t> (RI~1.515) – from </a:t>
            </a:r>
            <a:r>
              <a:rPr lang="en-US" dirty="0" err="1" smtClean="0"/>
              <a:t>Daigger</a:t>
            </a:r>
            <a:r>
              <a:rPr lang="en-US" dirty="0" smtClean="0"/>
              <a:t> -no </a:t>
            </a:r>
            <a:r>
              <a:rPr lang="en-US" dirty="0" err="1" smtClean="0"/>
              <a:t>antifade</a:t>
            </a:r>
            <a:r>
              <a:rPr lang="en-US" dirty="0" smtClean="0"/>
              <a:t> reagents</a:t>
            </a:r>
          </a:p>
          <a:p>
            <a:pPr marL="1191006" lvl="2" indent="-514350">
              <a:buFont typeface="Arial" charset="0"/>
              <a:buChar char="•"/>
            </a:pPr>
            <a:r>
              <a:rPr lang="en-US" dirty="0" smtClean="0"/>
              <a:t>Polymer dissolved in toluene.</a:t>
            </a:r>
          </a:p>
          <a:p>
            <a:pPr marL="1191006" lvl="2" indent="-514350">
              <a:buFont typeface="Arial" charset="0"/>
              <a:buChar char="•"/>
            </a:pPr>
            <a:r>
              <a:rPr lang="en-US" dirty="0" smtClean="0"/>
              <a:t>Highly toxic, flammable and reactive (comes with an 8 page MSDS!)</a:t>
            </a:r>
          </a:p>
          <a:p>
            <a:pPr marL="1191006" lvl="2" indent="-514350">
              <a:buFont typeface="Arial" charset="0"/>
              <a:buChar char="•"/>
            </a:pPr>
            <a:r>
              <a:rPr lang="en-US" dirty="0" smtClean="0"/>
              <a:t>Sets very quickly</a:t>
            </a:r>
          </a:p>
          <a:p>
            <a:pPr marL="438912" lvl="2" indent="-320040">
              <a:spcBef>
                <a:spcPts val="0"/>
              </a:spcBef>
              <a:buClr>
                <a:schemeClr val="accent1"/>
              </a:buClr>
              <a:buSzPct val="80000"/>
              <a:buNone/>
            </a:pPr>
            <a:r>
              <a:rPr lang="en-US" dirty="0" smtClean="0"/>
              <a:t>	</a:t>
            </a:r>
          </a:p>
          <a:p>
            <a:pPr marL="658368" lvl="3" indent="-320040">
              <a:spcBef>
                <a:spcPts val="0"/>
              </a:spcBef>
              <a:buClr>
                <a:schemeClr val="accent1"/>
              </a:buClr>
              <a:buSzPct val="80000"/>
              <a:buNone/>
            </a:pPr>
            <a:endParaRPr lang="en-US" dirty="0" smtClean="0"/>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number 1.5 </a:t>
            </a:r>
            <a:r>
              <a:rPr lang="en-US" dirty="0" err="1" smtClean="0"/>
              <a:t>coverslip</a:t>
            </a:r>
            <a:r>
              <a:rPr lang="en-US" dirty="0" smtClean="0"/>
              <a:t>!</a:t>
            </a:r>
            <a:endParaRPr lang="en-US" dirty="0"/>
          </a:p>
        </p:txBody>
      </p:sp>
      <p:sp>
        <p:nvSpPr>
          <p:cNvPr id="3" name="Content Placeholder 2"/>
          <p:cNvSpPr>
            <a:spLocks noGrp="1"/>
          </p:cNvSpPr>
          <p:nvPr>
            <p:ph idx="1"/>
          </p:nvPr>
        </p:nvSpPr>
        <p:spPr/>
        <p:txBody>
          <a:bodyPr>
            <a:normAutofit fontScale="92500"/>
          </a:bodyPr>
          <a:lstStyle/>
          <a:p>
            <a:r>
              <a:rPr lang="en-US" dirty="0" smtClean="0"/>
              <a:t>Yes- all </a:t>
            </a:r>
            <a:r>
              <a:rPr lang="en-US" dirty="0" err="1" smtClean="0"/>
              <a:t>microscopist</a:t>
            </a:r>
            <a:r>
              <a:rPr lang="en-US" dirty="0" smtClean="0"/>
              <a:t> tell you to use it, but why?</a:t>
            </a:r>
          </a:p>
          <a:p>
            <a:pPr>
              <a:buNone/>
            </a:pPr>
            <a:r>
              <a:rPr lang="en-US" dirty="0" smtClean="0"/>
              <a:t>*All objectives are designed for </a:t>
            </a:r>
            <a:r>
              <a:rPr lang="en-US" dirty="0" err="1" smtClean="0"/>
              <a:t>coverslips</a:t>
            </a:r>
            <a:r>
              <a:rPr lang="en-US" dirty="0" smtClean="0"/>
              <a:t> that are .17mm thick </a:t>
            </a:r>
          </a:p>
          <a:p>
            <a:pPr lvl="1"/>
            <a:r>
              <a:rPr lang="en-US" dirty="0" smtClean="0"/>
              <a:t>Most manufacturers of </a:t>
            </a:r>
            <a:r>
              <a:rPr lang="en-US" dirty="0" err="1" smtClean="0"/>
              <a:t>coverslips</a:t>
            </a:r>
            <a:r>
              <a:rPr lang="en-US" dirty="0" smtClean="0"/>
              <a:t> do a range</a:t>
            </a:r>
          </a:p>
          <a:p>
            <a:pPr lvl="2"/>
            <a:r>
              <a:rPr lang="en-US" dirty="0" smtClean="0"/>
              <a:t>#0, .08-.13mm</a:t>
            </a:r>
          </a:p>
          <a:p>
            <a:pPr lvl="2"/>
            <a:r>
              <a:rPr lang="en-US" dirty="0" smtClean="0"/>
              <a:t>#1, .13-.17mm</a:t>
            </a:r>
          </a:p>
          <a:p>
            <a:pPr lvl="2"/>
            <a:r>
              <a:rPr lang="en-US" dirty="0" smtClean="0"/>
              <a:t>#1.5, .16-.19mm</a:t>
            </a:r>
          </a:p>
          <a:p>
            <a:pPr lvl="1"/>
            <a:r>
              <a:rPr lang="en-US" dirty="0" smtClean="0"/>
              <a:t>What happens to your image quality?</a:t>
            </a:r>
          </a:p>
          <a:p>
            <a:pPr lvl="1"/>
            <a:r>
              <a:rPr lang="en-US" dirty="0" smtClean="0"/>
              <a:t>The image quality will vary – proportionally to the difference in </a:t>
            </a:r>
            <a:r>
              <a:rPr lang="en-US" dirty="0" err="1" smtClean="0"/>
              <a:t>coverslip</a:t>
            </a:r>
            <a:r>
              <a:rPr lang="en-US" dirty="0" smtClean="0"/>
              <a:t> thickness.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Use a number .17mm thick </a:t>
            </a:r>
            <a:r>
              <a:rPr lang="en-US" dirty="0" err="1" smtClean="0"/>
              <a:t>coverslip</a:t>
            </a:r>
            <a:endParaRPr lang="en-US" dirty="0"/>
          </a:p>
        </p:txBody>
      </p:sp>
      <p:graphicFrame>
        <p:nvGraphicFramePr>
          <p:cNvPr id="5" name="Content Placeholder 4"/>
          <p:cNvGraphicFramePr>
            <a:graphicFrameLocks noGrp="1"/>
          </p:cNvGraphicFramePr>
          <p:nvPr>
            <p:ph idx="1"/>
          </p:nvPr>
        </p:nvGraphicFramePr>
        <p:xfrm>
          <a:off x="381000" y="3505200"/>
          <a:ext cx="8305800" cy="2661921"/>
        </p:xfrm>
        <a:graphic>
          <a:graphicData uri="http://schemas.openxmlformats.org/drawingml/2006/table">
            <a:tbl>
              <a:tblPr firstRow="1" bandRow="1">
                <a:tableStyleId>{073A0DAA-6AF3-43AB-8588-CEC1D06C72B9}</a:tableStyleId>
              </a:tblPr>
              <a:tblGrid>
                <a:gridCol w="2768600"/>
                <a:gridCol w="2768600"/>
                <a:gridCol w="2768600"/>
              </a:tblGrid>
              <a:tr h="633526">
                <a:tc>
                  <a:txBody>
                    <a:bodyPr/>
                    <a:lstStyle/>
                    <a:p>
                      <a:pPr algn="ctr"/>
                      <a:r>
                        <a:rPr lang="en-US" dirty="0"/>
                        <a:t>Numerical</a:t>
                      </a:r>
                      <a:br>
                        <a:rPr lang="en-US" dirty="0"/>
                      </a:br>
                      <a:r>
                        <a:rPr lang="en-US" dirty="0"/>
                        <a:t>Aperture</a:t>
                      </a:r>
                    </a:p>
                  </a:txBody>
                  <a:tcPr marL="15240" marR="15240" marT="15240" marB="15240" anchor="ctr"/>
                </a:tc>
                <a:tc>
                  <a:txBody>
                    <a:bodyPr/>
                    <a:lstStyle/>
                    <a:p>
                      <a:pPr algn="ctr"/>
                      <a:r>
                        <a:rPr lang="en-US" dirty="0"/>
                        <a:t>0.01 mm Deviation</a:t>
                      </a:r>
                    </a:p>
                  </a:txBody>
                  <a:tcPr marL="15240" marR="15240" marT="15240" marB="15240" anchor="ctr"/>
                </a:tc>
                <a:tc>
                  <a:txBody>
                    <a:bodyPr/>
                    <a:lstStyle/>
                    <a:p>
                      <a:pPr algn="ctr"/>
                      <a:r>
                        <a:rPr lang="en-US"/>
                        <a:t>0.02 mm Deviation</a:t>
                      </a:r>
                    </a:p>
                  </a:txBody>
                  <a:tcPr marL="15240" marR="15240" marT="15240" marB="15240" anchor="ctr"/>
                </a:tc>
              </a:tr>
              <a:tr h="405679">
                <a:tc>
                  <a:txBody>
                    <a:bodyPr/>
                    <a:lstStyle/>
                    <a:p>
                      <a:pPr algn="ctr"/>
                      <a:r>
                        <a:rPr lang="en-US"/>
                        <a:t>0.30</a:t>
                      </a:r>
                    </a:p>
                  </a:txBody>
                  <a:tcPr marL="15240" marR="15240" marT="15240" marB="15240" anchor="ctr"/>
                </a:tc>
                <a:tc>
                  <a:txBody>
                    <a:bodyPr/>
                    <a:lstStyle/>
                    <a:p>
                      <a:pPr algn="ctr"/>
                      <a:r>
                        <a:rPr lang="en-US" dirty="0"/>
                        <a:t>none</a:t>
                      </a:r>
                    </a:p>
                  </a:txBody>
                  <a:tcPr marL="15240" marR="15240" marT="15240" marB="15240" anchor="ctr"/>
                </a:tc>
                <a:tc>
                  <a:txBody>
                    <a:bodyPr/>
                    <a:lstStyle/>
                    <a:p>
                      <a:pPr algn="ctr"/>
                      <a:r>
                        <a:rPr lang="en-US"/>
                        <a:t>none</a:t>
                      </a:r>
                    </a:p>
                  </a:txBody>
                  <a:tcPr marL="15240" marR="15240" marT="15240" marB="15240" anchor="ctr"/>
                </a:tc>
              </a:tr>
              <a:tr h="405679">
                <a:tc>
                  <a:txBody>
                    <a:bodyPr/>
                    <a:lstStyle/>
                    <a:p>
                      <a:pPr algn="ctr"/>
                      <a:r>
                        <a:rPr lang="en-US"/>
                        <a:t>0.45</a:t>
                      </a:r>
                    </a:p>
                  </a:txBody>
                  <a:tcPr marL="15240" marR="15240" marT="15240" marB="15240" anchor="ctr"/>
                </a:tc>
                <a:tc>
                  <a:txBody>
                    <a:bodyPr/>
                    <a:lstStyle/>
                    <a:p>
                      <a:pPr algn="ctr"/>
                      <a:r>
                        <a:rPr lang="en-US" dirty="0"/>
                        <a:t>none</a:t>
                      </a:r>
                    </a:p>
                  </a:txBody>
                  <a:tcPr marL="15240" marR="15240" marT="15240" marB="15240" anchor="ctr"/>
                </a:tc>
                <a:tc>
                  <a:txBody>
                    <a:bodyPr/>
                    <a:lstStyle/>
                    <a:p>
                      <a:pPr algn="ctr"/>
                      <a:r>
                        <a:rPr lang="en-US"/>
                        <a:t>none</a:t>
                      </a:r>
                    </a:p>
                  </a:txBody>
                  <a:tcPr marL="15240" marR="15240" marT="15240" marB="15240" anchor="ctr"/>
                </a:tc>
              </a:tr>
              <a:tr h="405679">
                <a:tc>
                  <a:txBody>
                    <a:bodyPr/>
                    <a:lstStyle/>
                    <a:p>
                      <a:pPr algn="ctr"/>
                      <a:r>
                        <a:rPr lang="en-US"/>
                        <a:t>0.70</a:t>
                      </a:r>
                    </a:p>
                  </a:txBody>
                  <a:tcPr marL="15240" marR="15240" marT="15240" marB="15240" anchor="ctr"/>
                </a:tc>
                <a:tc>
                  <a:txBody>
                    <a:bodyPr/>
                    <a:lstStyle/>
                    <a:p>
                      <a:pPr algn="ctr"/>
                      <a:r>
                        <a:rPr lang="en-US"/>
                        <a:t>2 percent</a:t>
                      </a:r>
                    </a:p>
                  </a:txBody>
                  <a:tcPr marL="15240" marR="15240" marT="15240" marB="15240" anchor="ctr"/>
                </a:tc>
                <a:tc>
                  <a:txBody>
                    <a:bodyPr/>
                    <a:lstStyle/>
                    <a:p>
                      <a:pPr algn="ctr"/>
                      <a:r>
                        <a:rPr lang="en-US"/>
                        <a:t>8 percent</a:t>
                      </a:r>
                    </a:p>
                  </a:txBody>
                  <a:tcPr marL="15240" marR="15240" marT="15240" marB="15240" anchor="ctr"/>
                </a:tc>
              </a:tr>
              <a:tr h="405679">
                <a:tc>
                  <a:txBody>
                    <a:bodyPr/>
                    <a:lstStyle/>
                    <a:p>
                      <a:pPr algn="ctr"/>
                      <a:r>
                        <a:rPr lang="en-US"/>
                        <a:t>0.85</a:t>
                      </a:r>
                    </a:p>
                  </a:txBody>
                  <a:tcPr marL="15240" marR="15240" marT="15240" marB="15240" anchor="ctr"/>
                </a:tc>
                <a:tc>
                  <a:txBody>
                    <a:bodyPr/>
                    <a:lstStyle/>
                    <a:p>
                      <a:pPr algn="ctr"/>
                      <a:r>
                        <a:rPr lang="en-US"/>
                        <a:t>19 percent</a:t>
                      </a:r>
                    </a:p>
                  </a:txBody>
                  <a:tcPr marL="15240" marR="15240" marT="15240" marB="15240" anchor="ctr"/>
                </a:tc>
                <a:tc>
                  <a:txBody>
                    <a:bodyPr/>
                    <a:lstStyle/>
                    <a:p>
                      <a:pPr algn="ctr"/>
                      <a:r>
                        <a:rPr lang="en-US" dirty="0"/>
                        <a:t>57 percent</a:t>
                      </a:r>
                    </a:p>
                  </a:txBody>
                  <a:tcPr marL="15240" marR="15240" marT="15240" marB="15240" anchor="ctr"/>
                </a:tc>
              </a:tr>
              <a:tr h="405679">
                <a:tc>
                  <a:txBody>
                    <a:bodyPr/>
                    <a:lstStyle/>
                    <a:p>
                      <a:pPr algn="ctr"/>
                      <a:r>
                        <a:rPr lang="en-US"/>
                        <a:t>0.95</a:t>
                      </a:r>
                    </a:p>
                  </a:txBody>
                  <a:tcPr marL="15240" marR="15240" marT="15240" marB="15240" anchor="ctr"/>
                </a:tc>
                <a:tc>
                  <a:txBody>
                    <a:bodyPr/>
                    <a:lstStyle/>
                    <a:p>
                      <a:pPr algn="ctr"/>
                      <a:r>
                        <a:rPr lang="en-US"/>
                        <a:t>55 percent</a:t>
                      </a:r>
                    </a:p>
                  </a:txBody>
                  <a:tcPr marL="15240" marR="15240" marT="15240" marB="15240" anchor="ctr"/>
                </a:tc>
                <a:tc>
                  <a:txBody>
                    <a:bodyPr/>
                    <a:lstStyle/>
                    <a:p>
                      <a:pPr algn="ctr"/>
                      <a:r>
                        <a:rPr lang="en-US" dirty="0"/>
                        <a:t>71 percent</a:t>
                      </a:r>
                    </a:p>
                  </a:txBody>
                  <a:tcPr marL="15240" marR="15240" marT="15240" marB="15240" anchor="ctr"/>
                </a:tc>
              </a:tr>
            </a:tbl>
          </a:graphicData>
        </a:graphic>
      </p:graphicFrame>
      <p:sp>
        <p:nvSpPr>
          <p:cNvPr id="6" name="Content Placeholder 2"/>
          <p:cNvSpPr txBox="1">
            <a:spLocks/>
          </p:cNvSpPr>
          <p:nvPr/>
        </p:nvSpPr>
        <p:spPr>
          <a:xfrm>
            <a:off x="457200" y="1775191"/>
            <a:ext cx="7620000" cy="1730009"/>
          </a:xfrm>
          <a:prstGeom prst="rect">
            <a:avLst/>
          </a:prstGeom>
        </p:spPr>
        <p:txBody>
          <a:bodyPr vert="horz" lIns="54864" tIns="91440" rtlCol="0">
            <a:normAutofit lnSpcReduction="10000"/>
          </a:bodyPr>
          <a:lstStyle/>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To</a:t>
            </a:r>
            <a:r>
              <a:rPr kumimoji="0" lang="en-US" sz="2800" b="0" i="0" u="none" strike="noStrike" kern="1200" cap="none" spc="0" normalizeH="0" noProof="0" dirty="0" smtClean="0">
                <a:ln>
                  <a:noFill/>
                </a:ln>
                <a:solidFill>
                  <a:schemeClr val="tx1"/>
                </a:solidFill>
                <a:effectLst/>
                <a:uLnTx/>
                <a:uFillTx/>
                <a:latin typeface="+mn-lt"/>
                <a:ea typeface="+mn-ea"/>
                <a:cs typeface="+mn-cs"/>
              </a:rPr>
              <a:t> reduce variability in performance get “high-performance” </a:t>
            </a:r>
            <a:r>
              <a:rPr kumimoji="0" lang="en-US" sz="2800" b="0" i="0" u="none" strike="noStrike" kern="1200" cap="none" spc="0" normalizeH="0" noProof="0" dirty="0" err="1" smtClean="0">
                <a:ln>
                  <a:noFill/>
                </a:ln>
                <a:solidFill>
                  <a:schemeClr val="tx1"/>
                </a:solidFill>
                <a:effectLst/>
                <a:uLnTx/>
                <a:uFillTx/>
                <a:latin typeface="+mn-lt"/>
                <a:ea typeface="+mn-ea"/>
                <a:cs typeface="+mn-cs"/>
              </a:rPr>
              <a:t>coverslips</a:t>
            </a:r>
            <a:r>
              <a:rPr kumimoji="0" lang="en-US" sz="2800" b="0" i="0" u="none" strike="noStrike" kern="1200" cap="none" spc="0" normalizeH="0" noProof="0" dirty="0" smtClean="0">
                <a:ln>
                  <a:noFill/>
                </a:ln>
                <a:solidFill>
                  <a:schemeClr val="tx1"/>
                </a:solidFill>
                <a:effectLst/>
                <a:uLnTx/>
                <a:uFillTx/>
                <a:latin typeface="+mn-lt"/>
                <a:ea typeface="+mn-ea"/>
                <a:cs typeface="+mn-cs"/>
              </a:rPr>
              <a:t> that are to be accurate to .001mm ( from </a:t>
            </a:r>
            <a:r>
              <a:rPr kumimoji="0" lang="en-US" sz="2800" b="0" i="0" u="none" strike="noStrike" kern="1200" cap="none" spc="0" normalizeH="0" noProof="0" dirty="0" err="1" smtClean="0">
                <a:ln>
                  <a:noFill/>
                </a:ln>
                <a:solidFill>
                  <a:schemeClr val="tx1"/>
                </a:solidFill>
                <a:effectLst/>
                <a:uLnTx/>
                <a:uFillTx/>
                <a:latin typeface="+mn-lt"/>
                <a:ea typeface="+mn-ea"/>
                <a:cs typeface="+mn-cs"/>
              </a:rPr>
              <a:t>Zeiss</a:t>
            </a:r>
            <a:r>
              <a:rPr kumimoji="0" lang="en-US" sz="2800" b="0" i="0" u="none" strike="noStrike" kern="1200" cap="none" spc="0" normalizeH="0" noProof="0" dirty="0" smtClean="0">
                <a:ln>
                  <a:noFill/>
                </a:ln>
                <a:solidFill>
                  <a:schemeClr val="tx1"/>
                </a:solidFill>
                <a:effectLst/>
                <a:uLnTx/>
                <a:uFillTx/>
                <a:latin typeface="+mn-lt"/>
                <a:ea typeface="+mn-ea"/>
                <a:cs typeface="+mn-cs"/>
              </a:rPr>
              <a:t> can order a .17mm thick </a:t>
            </a:r>
            <a:r>
              <a:rPr kumimoji="0" lang="en-US" sz="2800" b="0" i="0" u="none" strike="noStrike" kern="1200" cap="none" spc="0" normalizeH="0" noProof="0" dirty="0" err="1" smtClean="0">
                <a:ln>
                  <a:noFill/>
                </a:ln>
                <a:solidFill>
                  <a:schemeClr val="tx1"/>
                </a:solidFill>
                <a:effectLst/>
                <a:uLnTx/>
                <a:uFillTx/>
                <a:latin typeface="+mn-lt"/>
                <a:ea typeface="+mn-ea"/>
                <a:cs typeface="+mn-cs"/>
              </a:rPr>
              <a:t>coverslip</a:t>
            </a:r>
            <a:r>
              <a:rPr kumimoji="0" lang="en-US" sz="2800" b="0" i="0" u="none" strike="noStrike" kern="1200" cap="none" spc="0" normalizeH="0" noProof="0" dirty="0" smtClean="0">
                <a:ln>
                  <a:noFill/>
                </a:ln>
                <a:solidFill>
                  <a:schemeClr val="tx1"/>
                </a:solidFill>
                <a:effectLst/>
                <a:uLnTx/>
                <a:uFillTx/>
                <a:latin typeface="+mn-lt"/>
                <a:ea typeface="+mn-ea"/>
                <a:cs typeface="+mn-cs"/>
              </a:rPr>
              <a: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
          <p:cNvGrpSpPr>
            <a:grpSpLocks/>
          </p:cNvGrpSpPr>
          <p:nvPr/>
        </p:nvGrpSpPr>
        <p:grpSpPr bwMode="auto">
          <a:xfrm>
            <a:off x="2286000" y="1600200"/>
            <a:ext cx="4356100" cy="4267200"/>
            <a:chOff x="1490" y="575"/>
            <a:chExt cx="2744" cy="2688"/>
          </a:xfrm>
        </p:grpSpPr>
        <p:pic>
          <p:nvPicPr>
            <p:cNvPr id="32781" name="Picture 13"/>
            <p:cNvPicPr>
              <a:picLocks noChangeAspect="1" noChangeArrowheads="1"/>
            </p:cNvPicPr>
            <p:nvPr/>
          </p:nvPicPr>
          <p:blipFill>
            <a:blip r:embed="rId3" cstate="print"/>
            <a:srcRect/>
            <a:stretch>
              <a:fillRect/>
            </a:stretch>
          </p:blipFill>
          <p:spPr bwMode="auto">
            <a:xfrm>
              <a:off x="1490" y="642"/>
              <a:ext cx="2744" cy="2523"/>
            </a:xfrm>
            <a:prstGeom prst="rect">
              <a:avLst/>
            </a:prstGeom>
            <a:noFill/>
          </p:spPr>
        </p:pic>
        <p:sp>
          <p:nvSpPr>
            <p:cNvPr id="32782" name="Rectangle 14"/>
            <p:cNvSpPr>
              <a:spLocks noChangeArrowheads="1"/>
            </p:cNvSpPr>
            <p:nvPr/>
          </p:nvSpPr>
          <p:spPr bwMode="auto">
            <a:xfrm>
              <a:off x="2522" y="2991"/>
              <a:ext cx="741" cy="272"/>
            </a:xfrm>
            <a:prstGeom prst="rect">
              <a:avLst/>
            </a:prstGeom>
            <a:solidFill>
              <a:schemeClr val="bg1"/>
            </a:solidFill>
            <a:ln w="9525">
              <a:noFill/>
              <a:miter lim="800000"/>
              <a:headEnd/>
              <a:tailEnd/>
            </a:ln>
            <a:effectLst/>
          </p:spPr>
          <p:txBody>
            <a:bodyPr wrap="none" anchor="ctr"/>
            <a:lstStyle/>
            <a:p>
              <a:endParaRPr lang="en-US"/>
            </a:p>
          </p:txBody>
        </p:sp>
        <p:sp>
          <p:nvSpPr>
            <p:cNvPr id="32783" name="Rectangle 15"/>
            <p:cNvSpPr>
              <a:spLocks noChangeArrowheads="1"/>
            </p:cNvSpPr>
            <p:nvPr/>
          </p:nvSpPr>
          <p:spPr bwMode="auto">
            <a:xfrm>
              <a:off x="1770" y="575"/>
              <a:ext cx="2171" cy="272"/>
            </a:xfrm>
            <a:prstGeom prst="rect">
              <a:avLst/>
            </a:prstGeom>
            <a:solidFill>
              <a:schemeClr val="bg1"/>
            </a:solidFill>
            <a:ln w="9525">
              <a:noFill/>
              <a:miter lim="800000"/>
              <a:headEnd/>
              <a:tailEnd/>
            </a:ln>
            <a:effectLst/>
          </p:spPr>
          <p:txBody>
            <a:bodyPr wrap="none" anchor="ctr"/>
            <a:lstStyle/>
            <a:p>
              <a:endParaRPr lang="en-US"/>
            </a:p>
          </p:txBody>
        </p:sp>
      </p:grpSp>
      <p:sp>
        <p:nvSpPr>
          <p:cNvPr id="32770" name="Rectangle 2"/>
          <p:cNvSpPr>
            <a:spLocks noGrp="1" noChangeArrowheads="1"/>
          </p:cNvSpPr>
          <p:nvPr>
            <p:ph type="title"/>
          </p:nvPr>
        </p:nvSpPr>
        <p:spPr>
          <a:xfrm>
            <a:off x="0" y="152400"/>
            <a:ext cx="5899150" cy="1143000"/>
          </a:xfrm>
        </p:spPr>
        <p:txBody>
          <a:bodyPr>
            <a:normAutofit/>
          </a:bodyPr>
          <a:lstStyle/>
          <a:p>
            <a:r>
              <a:rPr lang="en-US" sz="3600" i="1" dirty="0" smtClean="0"/>
              <a:t>The </a:t>
            </a:r>
            <a:r>
              <a:rPr lang="en-US" sz="3600" i="1" dirty="0"/>
              <a:t>Objective Lens</a:t>
            </a:r>
            <a:endParaRPr lang="en-US" b="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a:xfrm>
            <a:off x="0" y="152400"/>
            <a:ext cx="8229600" cy="1252728"/>
          </a:xfrm>
        </p:spPr>
        <p:txBody>
          <a:bodyPr/>
          <a:lstStyle/>
          <a:p>
            <a:r>
              <a:rPr lang="en-US" dirty="0"/>
              <a:t>Working Distance</a:t>
            </a:r>
          </a:p>
        </p:txBody>
      </p:sp>
      <p:pic>
        <p:nvPicPr>
          <p:cNvPr id="172035" name="Picture 3"/>
          <p:cNvPicPr>
            <a:picLocks noChangeAspect="1" noChangeArrowheads="1"/>
          </p:cNvPicPr>
          <p:nvPr/>
        </p:nvPicPr>
        <p:blipFill>
          <a:blip r:embed="rId3" cstate="print"/>
          <a:srcRect/>
          <a:stretch>
            <a:fillRect/>
          </a:stretch>
        </p:blipFill>
        <p:spPr bwMode="auto">
          <a:xfrm>
            <a:off x="685800" y="2362200"/>
            <a:ext cx="3913188" cy="3727450"/>
          </a:xfrm>
          <a:prstGeom prst="rect">
            <a:avLst/>
          </a:prstGeom>
          <a:noFill/>
          <a:ln w="9525">
            <a:noFill/>
            <a:miter lim="800000"/>
            <a:headEnd/>
            <a:tailEnd/>
          </a:ln>
          <a:effectLst/>
        </p:spPr>
      </p:pic>
      <p:sp>
        <p:nvSpPr>
          <p:cNvPr id="172036" name="Text Box 4"/>
          <p:cNvSpPr txBox="1">
            <a:spLocks noChangeArrowheads="1"/>
          </p:cNvSpPr>
          <p:nvPr/>
        </p:nvSpPr>
        <p:spPr bwMode="auto">
          <a:xfrm>
            <a:off x="5105400" y="2133600"/>
            <a:ext cx="3810000" cy="2465388"/>
          </a:xfrm>
          <a:prstGeom prst="rect">
            <a:avLst/>
          </a:prstGeom>
          <a:noFill/>
          <a:ln w="9525">
            <a:noFill/>
            <a:miter lim="800000"/>
            <a:headEnd/>
            <a:tailEnd/>
          </a:ln>
          <a:effectLst/>
        </p:spPr>
        <p:txBody>
          <a:bodyPr>
            <a:spAutoFit/>
          </a:bodyPr>
          <a:lstStyle/>
          <a:p>
            <a:pPr eaLnBrk="1" hangingPunct="1">
              <a:spcBef>
                <a:spcPct val="50000"/>
              </a:spcBef>
            </a:pPr>
            <a:r>
              <a:rPr lang="en-US">
                <a:latin typeface="Arial" charset="0"/>
              </a:rPr>
              <a:t>In general, high NA lenses have short working distances</a:t>
            </a:r>
          </a:p>
          <a:p>
            <a:pPr eaLnBrk="1" hangingPunct="1">
              <a:spcBef>
                <a:spcPct val="50000"/>
              </a:spcBef>
            </a:pPr>
            <a:r>
              <a:rPr lang="en-US">
                <a:latin typeface="Arial" charset="0"/>
              </a:rPr>
              <a:t>However, extra-long working distance objectives do exist</a:t>
            </a:r>
          </a:p>
        </p:txBody>
      </p:sp>
      <p:sp>
        <p:nvSpPr>
          <p:cNvPr id="172037" name="Text Box 5"/>
          <p:cNvSpPr txBox="1">
            <a:spLocks noChangeArrowheads="1"/>
          </p:cNvSpPr>
          <p:nvPr/>
        </p:nvSpPr>
        <p:spPr bwMode="auto">
          <a:xfrm>
            <a:off x="5105400" y="5029200"/>
            <a:ext cx="3886200" cy="1357313"/>
          </a:xfrm>
          <a:prstGeom prst="rect">
            <a:avLst/>
          </a:prstGeom>
          <a:noFill/>
          <a:ln w="9525">
            <a:noFill/>
            <a:miter lim="800000"/>
            <a:headEnd/>
            <a:tailEnd/>
          </a:ln>
          <a:effectLst/>
        </p:spPr>
        <p:txBody>
          <a:bodyPr>
            <a:spAutoFit/>
          </a:bodyPr>
          <a:lstStyle/>
          <a:p>
            <a:pPr eaLnBrk="1" hangingPunct="1">
              <a:spcBef>
                <a:spcPct val="20000"/>
              </a:spcBef>
            </a:pPr>
            <a:r>
              <a:rPr lang="en-US" sz="1800">
                <a:latin typeface="Arial" charset="0"/>
              </a:rPr>
              <a:t>Some examples:</a:t>
            </a:r>
          </a:p>
          <a:p>
            <a:pPr eaLnBrk="1" hangingPunct="1">
              <a:spcBef>
                <a:spcPct val="20000"/>
              </a:spcBef>
            </a:pPr>
            <a:r>
              <a:rPr lang="en-US" sz="1800">
                <a:latin typeface="Arial" charset="0"/>
              </a:rPr>
              <a:t>10x/0.3	  WD = 15.2mm</a:t>
            </a:r>
          </a:p>
          <a:p>
            <a:pPr eaLnBrk="1" hangingPunct="1">
              <a:spcBef>
                <a:spcPct val="20000"/>
              </a:spcBef>
            </a:pPr>
            <a:r>
              <a:rPr lang="en-US" sz="1800">
                <a:latin typeface="Arial" charset="0"/>
              </a:rPr>
              <a:t>20x/0.75	  WD = 1.0mm</a:t>
            </a:r>
          </a:p>
          <a:p>
            <a:pPr eaLnBrk="1" hangingPunct="1">
              <a:spcBef>
                <a:spcPct val="20000"/>
              </a:spcBef>
            </a:pPr>
            <a:r>
              <a:rPr lang="en-US" sz="1800">
                <a:latin typeface="Arial" charset="0"/>
              </a:rPr>
              <a:t>100x/1.4	  WD = 0.13mm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0" y="457200"/>
            <a:ext cx="7772400" cy="584200"/>
          </a:xfrm>
        </p:spPr>
        <p:txBody>
          <a:bodyPr>
            <a:normAutofit fontScale="90000"/>
          </a:bodyPr>
          <a:lstStyle/>
          <a:p>
            <a:r>
              <a:rPr lang="en-US" dirty="0"/>
              <a:t>Numerical Aperture</a:t>
            </a:r>
          </a:p>
        </p:txBody>
      </p:sp>
      <p:grpSp>
        <p:nvGrpSpPr>
          <p:cNvPr id="2" name="Group 30"/>
          <p:cNvGrpSpPr>
            <a:grpSpLocks/>
          </p:cNvGrpSpPr>
          <p:nvPr/>
        </p:nvGrpSpPr>
        <p:grpSpPr bwMode="auto">
          <a:xfrm>
            <a:off x="5334000" y="1676400"/>
            <a:ext cx="1116013" cy="957263"/>
            <a:chOff x="1679" y="835"/>
            <a:chExt cx="650" cy="558"/>
          </a:xfrm>
        </p:grpSpPr>
        <p:grpSp>
          <p:nvGrpSpPr>
            <p:cNvPr id="3" name="Group 24"/>
            <p:cNvGrpSpPr>
              <a:grpSpLocks/>
            </p:cNvGrpSpPr>
            <p:nvPr/>
          </p:nvGrpSpPr>
          <p:grpSpPr bwMode="auto">
            <a:xfrm>
              <a:off x="1721" y="1239"/>
              <a:ext cx="569" cy="91"/>
              <a:chOff x="354" y="1649"/>
              <a:chExt cx="780" cy="1929"/>
            </a:xfrm>
          </p:grpSpPr>
          <p:sp>
            <p:nvSpPr>
              <p:cNvPr id="75796" name="Freeform 20"/>
              <p:cNvSpPr>
                <a:spLocks/>
              </p:cNvSpPr>
              <p:nvPr/>
            </p:nvSpPr>
            <p:spPr bwMode="auto">
              <a:xfrm>
                <a:off x="742" y="1649"/>
                <a:ext cx="392" cy="1929"/>
              </a:xfrm>
              <a:custGeom>
                <a:avLst/>
                <a:gdLst/>
                <a:ahLst/>
                <a:cxnLst>
                  <a:cxn ang="0">
                    <a:pos x="0" y="0"/>
                  </a:cxn>
                  <a:cxn ang="0">
                    <a:pos x="580" y="0"/>
                  </a:cxn>
                  <a:cxn ang="0">
                    <a:pos x="0" y="1856"/>
                  </a:cxn>
                  <a:cxn ang="0">
                    <a:pos x="0" y="0"/>
                  </a:cxn>
                </a:cxnLst>
                <a:rect l="0" t="0" r="r" b="b"/>
                <a:pathLst>
                  <a:path w="580" h="1856">
                    <a:moveTo>
                      <a:pt x="0" y="0"/>
                    </a:moveTo>
                    <a:lnTo>
                      <a:pt x="580" y="0"/>
                    </a:lnTo>
                    <a:lnTo>
                      <a:pt x="0" y="1856"/>
                    </a:lnTo>
                    <a:lnTo>
                      <a:pt x="0" y="0"/>
                    </a:lnTo>
                    <a:close/>
                  </a:path>
                </a:pathLst>
              </a:custGeom>
              <a:solidFill>
                <a:srgbClr val="FFF9CD"/>
              </a:solidFill>
              <a:ln w="9525">
                <a:solidFill>
                  <a:srgbClr val="FF0000"/>
                </a:solidFill>
                <a:round/>
                <a:headEnd/>
                <a:tailEnd/>
              </a:ln>
              <a:effectLst/>
            </p:spPr>
            <p:txBody>
              <a:bodyPr wrap="none" anchor="ctr"/>
              <a:lstStyle/>
              <a:p>
                <a:endParaRPr lang="en-US"/>
              </a:p>
            </p:txBody>
          </p:sp>
          <p:sp>
            <p:nvSpPr>
              <p:cNvPr id="75797" name="Freeform 21"/>
              <p:cNvSpPr>
                <a:spLocks/>
              </p:cNvSpPr>
              <p:nvPr/>
            </p:nvSpPr>
            <p:spPr bwMode="auto">
              <a:xfrm flipH="1">
                <a:off x="354" y="1649"/>
                <a:ext cx="392" cy="1929"/>
              </a:xfrm>
              <a:custGeom>
                <a:avLst/>
                <a:gdLst/>
                <a:ahLst/>
                <a:cxnLst>
                  <a:cxn ang="0">
                    <a:pos x="0" y="0"/>
                  </a:cxn>
                  <a:cxn ang="0">
                    <a:pos x="580" y="0"/>
                  </a:cxn>
                  <a:cxn ang="0">
                    <a:pos x="0" y="1856"/>
                  </a:cxn>
                  <a:cxn ang="0">
                    <a:pos x="0" y="0"/>
                  </a:cxn>
                </a:cxnLst>
                <a:rect l="0" t="0" r="r" b="b"/>
                <a:pathLst>
                  <a:path w="580" h="1856">
                    <a:moveTo>
                      <a:pt x="0" y="0"/>
                    </a:moveTo>
                    <a:lnTo>
                      <a:pt x="580" y="0"/>
                    </a:lnTo>
                    <a:lnTo>
                      <a:pt x="0" y="1856"/>
                    </a:lnTo>
                    <a:lnTo>
                      <a:pt x="0" y="0"/>
                    </a:lnTo>
                    <a:close/>
                  </a:path>
                </a:pathLst>
              </a:custGeom>
              <a:solidFill>
                <a:srgbClr val="FFF9CD"/>
              </a:solidFill>
              <a:ln w="9525">
                <a:solidFill>
                  <a:srgbClr val="FF0000"/>
                </a:solidFill>
                <a:round/>
                <a:headEnd/>
                <a:tailEnd/>
              </a:ln>
              <a:effectLst/>
            </p:spPr>
            <p:txBody>
              <a:bodyPr wrap="none" anchor="ctr"/>
              <a:lstStyle/>
              <a:p>
                <a:endParaRPr lang="en-US"/>
              </a:p>
            </p:txBody>
          </p:sp>
        </p:grpSp>
        <p:sp>
          <p:nvSpPr>
            <p:cNvPr id="75798" name="Arc 22"/>
            <p:cNvSpPr>
              <a:spLocks/>
            </p:cNvSpPr>
            <p:nvPr/>
          </p:nvSpPr>
          <p:spPr bwMode="auto">
            <a:xfrm>
              <a:off x="2011" y="1271"/>
              <a:ext cx="72" cy="90"/>
            </a:xfrm>
            <a:custGeom>
              <a:avLst/>
              <a:gdLst>
                <a:gd name="G0" fmla="+- 0 0 0"/>
                <a:gd name="G1" fmla="+- 21600 0 0"/>
                <a:gd name="G2" fmla="+- 21600 0 0"/>
                <a:gd name="T0" fmla="*/ 0 w 17226"/>
                <a:gd name="T1" fmla="*/ 0 h 21600"/>
                <a:gd name="T2" fmla="*/ 17226 w 17226"/>
                <a:gd name="T3" fmla="*/ 8570 h 21600"/>
                <a:gd name="T4" fmla="*/ 0 w 17226"/>
                <a:gd name="T5" fmla="*/ 21600 h 21600"/>
              </a:gdLst>
              <a:ahLst/>
              <a:cxnLst>
                <a:cxn ang="0">
                  <a:pos x="T0" y="T1"/>
                </a:cxn>
                <a:cxn ang="0">
                  <a:pos x="T2" y="T3"/>
                </a:cxn>
                <a:cxn ang="0">
                  <a:pos x="T4" y="T5"/>
                </a:cxn>
              </a:cxnLst>
              <a:rect l="0" t="0" r="r" b="b"/>
              <a:pathLst>
                <a:path w="17226" h="21600" fill="none" extrusionOk="0">
                  <a:moveTo>
                    <a:pt x="-1" y="0"/>
                  </a:moveTo>
                  <a:cubicBezTo>
                    <a:pt x="6767" y="0"/>
                    <a:pt x="13144" y="3171"/>
                    <a:pt x="17226" y="8569"/>
                  </a:cubicBezTo>
                </a:path>
                <a:path w="17226" h="21600" stroke="0" extrusionOk="0">
                  <a:moveTo>
                    <a:pt x="-1" y="0"/>
                  </a:moveTo>
                  <a:cubicBezTo>
                    <a:pt x="6767" y="0"/>
                    <a:pt x="13144" y="3171"/>
                    <a:pt x="17226" y="8569"/>
                  </a:cubicBezTo>
                  <a:lnTo>
                    <a:pt x="0" y="21600"/>
                  </a:lnTo>
                  <a:close/>
                </a:path>
              </a:pathLst>
            </a:custGeom>
            <a:noFill/>
            <a:ln w="9525">
              <a:solidFill>
                <a:schemeClr val="tx1"/>
              </a:solidFill>
              <a:round/>
              <a:headEnd/>
              <a:tailEnd/>
            </a:ln>
            <a:effectLst/>
          </p:spPr>
          <p:txBody>
            <a:bodyPr wrap="none" anchor="ctr"/>
            <a:lstStyle/>
            <a:p>
              <a:endParaRPr lang="en-US"/>
            </a:p>
          </p:txBody>
        </p:sp>
        <p:pic>
          <p:nvPicPr>
            <p:cNvPr id="75789" name="Picture 13"/>
            <p:cNvPicPr>
              <a:picLocks noChangeAspect="1" noChangeArrowheads="1"/>
            </p:cNvPicPr>
            <p:nvPr/>
          </p:nvPicPr>
          <p:blipFill>
            <a:blip r:embed="rId3" cstate="print"/>
            <a:srcRect/>
            <a:stretch>
              <a:fillRect/>
            </a:stretch>
          </p:blipFill>
          <p:spPr bwMode="auto">
            <a:xfrm>
              <a:off x="1679" y="878"/>
              <a:ext cx="650" cy="370"/>
            </a:xfrm>
            <a:prstGeom prst="rect">
              <a:avLst/>
            </a:prstGeom>
            <a:noFill/>
            <a:ln w="9525">
              <a:noFill/>
              <a:miter lim="800000"/>
              <a:headEnd/>
              <a:tailEnd/>
            </a:ln>
            <a:effectLst/>
          </p:spPr>
        </p:pic>
        <p:sp>
          <p:nvSpPr>
            <p:cNvPr id="75799" name="Line 23"/>
            <p:cNvSpPr>
              <a:spLocks noChangeShapeType="1"/>
            </p:cNvSpPr>
            <p:nvPr/>
          </p:nvSpPr>
          <p:spPr bwMode="auto">
            <a:xfrm>
              <a:off x="2005" y="835"/>
              <a:ext cx="0" cy="558"/>
            </a:xfrm>
            <a:prstGeom prst="line">
              <a:avLst/>
            </a:prstGeom>
            <a:noFill/>
            <a:ln w="38100">
              <a:solidFill>
                <a:schemeClr val="tx1"/>
              </a:solidFill>
              <a:round/>
              <a:headEnd/>
              <a:tailEnd/>
            </a:ln>
            <a:effectLst/>
          </p:spPr>
          <p:txBody>
            <a:bodyPr wrap="none" anchor="ctr"/>
            <a:lstStyle/>
            <a:p>
              <a:endParaRPr lang="en-US"/>
            </a:p>
          </p:txBody>
        </p:sp>
      </p:grpSp>
      <p:grpSp>
        <p:nvGrpSpPr>
          <p:cNvPr id="4" name="Group 29"/>
          <p:cNvGrpSpPr>
            <a:grpSpLocks/>
          </p:cNvGrpSpPr>
          <p:nvPr/>
        </p:nvGrpSpPr>
        <p:grpSpPr bwMode="auto">
          <a:xfrm>
            <a:off x="1752600" y="1341437"/>
            <a:ext cx="2025650" cy="5516563"/>
            <a:chOff x="177" y="845"/>
            <a:chExt cx="1180" cy="3214"/>
          </a:xfrm>
        </p:grpSpPr>
        <p:sp>
          <p:nvSpPr>
            <p:cNvPr id="75790" name="Freeform 14"/>
            <p:cNvSpPr>
              <a:spLocks/>
            </p:cNvSpPr>
            <p:nvPr/>
          </p:nvSpPr>
          <p:spPr bwMode="auto">
            <a:xfrm>
              <a:off x="761" y="1242"/>
              <a:ext cx="564" cy="2775"/>
            </a:xfrm>
            <a:custGeom>
              <a:avLst/>
              <a:gdLst/>
              <a:ahLst/>
              <a:cxnLst>
                <a:cxn ang="0">
                  <a:pos x="0" y="0"/>
                </a:cxn>
                <a:cxn ang="0">
                  <a:pos x="580" y="0"/>
                </a:cxn>
                <a:cxn ang="0">
                  <a:pos x="0" y="1856"/>
                </a:cxn>
                <a:cxn ang="0">
                  <a:pos x="0" y="0"/>
                </a:cxn>
              </a:cxnLst>
              <a:rect l="0" t="0" r="r" b="b"/>
              <a:pathLst>
                <a:path w="580" h="1856">
                  <a:moveTo>
                    <a:pt x="0" y="0"/>
                  </a:moveTo>
                  <a:lnTo>
                    <a:pt x="580" y="0"/>
                  </a:lnTo>
                  <a:lnTo>
                    <a:pt x="0" y="1856"/>
                  </a:lnTo>
                  <a:lnTo>
                    <a:pt x="0" y="0"/>
                  </a:lnTo>
                  <a:close/>
                </a:path>
              </a:pathLst>
            </a:custGeom>
            <a:solidFill>
              <a:srgbClr val="FFF9CD"/>
            </a:solidFill>
            <a:ln w="9525">
              <a:solidFill>
                <a:srgbClr val="FF0000"/>
              </a:solidFill>
              <a:round/>
              <a:headEnd/>
              <a:tailEnd/>
            </a:ln>
            <a:effectLst/>
          </p:spPr>
          <p:txBody>
            <a:bodyPr wrap="none" anchor="ctr"/>
            <a:lstStyle/>
            <a:p>
              <a:endParaRPr lang="en-US"/>
            </a:p>
          </p:txBody>
        </p:sp>
        <p:sp>
          <p:nvSpPr>
            <p:cNvPr id="75792" name="Freeform 16"/>
            <p:cNvSpPr>
              <a:spLocks/>
            </p:cNvSpPr>
            <p:nvPr/>
          </p:nvSpPr>
          <p:spPr bwMode="auto">
            <a:xfrm flipH="1">
              <a:off x="203" y="1242"/>
              <a:ext cx="564" cy="2775"/>
            </a:xfrm>
            <a:custGeom>
              <a:avLst/>
              <a:gdLst/>
              <a:ahLst/>
              <a:cxnLst>
                <a:cxn ang="0">
                  <a:pos x="0" y="0"/>
                </a:cxn>
                <a:cxn ang="0">
                  <a:pos x="580" y="0"/>
                </a:cxn>
                <a:cxn ang="0">
                  <a:pos x="0" y="1856"/>
                </a:cxn>
                <a:cxn ang="0">
                  <a:pos x="0" y="0"/>
                </a:cxn>
              </a:cxnLst>
              <a:rect l="0" t="0" r="r" b="b"/>
              <a:pathLst>
                <a:path w="580" h="1856">
                  <a:moveTo>
                    <a:pt x="0" y="0"/>
                  </a:moveTo>
                  <a:lnTo>
                    <a:pt x="580" y="0"/>
                  </a:lnTo>
                  <a:lnTo>
                    <a:pt x="0" y="1856"/>
                  </a:lnTo>
                  <a:lnTo>
                    <a:pt x="0" y="0"/>
                  </a:lnTo>
                  <a:close/>
                </a:path>
              </a:pathLst>
            </a:custGeom>
            <a:solidFill>
              <a:srgbClr val="FFF9CD"/>
            </a:solidFill>
            <a:ln w="9525">
              <a:solidFill>
                <a:srgbClr val="FF0000"/>
              </a:solidFill>
              <a:round/>
              <a:headEnd/>
              <a:tailEnd/>
            </a:ln>
            <a:effectLst/>
          </p:spPr>
          <p:txBody>
            <a:bodyPr wrap="none" anchor="ctr"/>
            <a:lstStyle/>
            <a:p>
              <a:endParaRPr lang="en-US"/>
            </a:p>
          </p:txBody>
        </p:sp>
        <p:sp>
          <p:nvSpPr>
            <p:cNvPr id="75793" name="Arc 17"/>
            <p:cNvSpPr>
              <a:spLocks/>
            </p:cNvSpPr>
            <p:nvPr/>
          </p:nvSpPr>
          <p:spPr bwMode="auto">
            <a:xfrm>
              <a:off x="758" y="3043"/>
              <a:ext cx="193" cy="961"/>
            </a:xfrm>
            <a:custGeom>
              <a:avLst/>
              <a:gdLst>
                <a:gd name="G0" fmla="+- 0 0 0"/>
                <a:gd name="G1" fmla="+- 21600 0 0"/>
                <a:gd name="G2" fmla="+- 21600 0 0"/>
                <a:gd name="T0" fmla="*/ 0 w 4334"/>
                <a:gd name="T1" fmla="*/ 0 h 21600"/>
                <a:gd name="T2" fmla="*/ 4334 w 4334"/>
                <a:gd name="T3" fmla="*/ 440 h 21600"/>
                <a:gd name="T4" fmla="*/ 0 w 4334"/>
                <a:gd name="T5" fmla="*/ 21600 h 21600"/>
              </a:gdLst>
              <a:ahLst/>
              <a:cxnLst>
                <a:cxn ang="0">
                  <a:pos x="T0" y="T1"/>
                </a:cxn>
                <a:cxn ang="0">
                  <a:pos x="T2" y="T3"/>
                </a:cxn>
                <a:cxn ang="0">
                  <a:pos x="T4" y="T5"/>
                </a:cxn>
              </a:cxnLst>
              <a:rect l="0" t="0" r="r" b="b"/>
              <a:pathLst>
                <a:path w="4334" h="21600" fill="none" extrusionOk="0">
                  <a:moveTo>
                    <a:pt x="-1" y="0"/>
                  </a:moveTo>
                  <a:cubicBezTo>
                    <a:pt x="1455" y="0"/>
                    <a:pt x="2907" y="147"/>
                    <a:pt x="4334" y="439"/>
                  </a:cubicBezTo>
                </a:path>
                <a:path w="4334" h="21600" stroke="0" extrusionOk="0">
                  <a:moveTo>
                    <a:pt x="-1" y="0"/>
                  </a:moveTo>
                  <a:cubicBezTo>
                    <a:pt x="1455" y="0"/>
                    <a:pt x="2907" y="147"/>
                    <a:pt x="4334" y="439"/>
                  </a:cubicBezTo>
                  <a:lnTo>
                    <a:pt x="0" y="21600"/>
                  </a:lnTo>
                  <a:close/>
                </a:path>
              </a:pathLst>
            </a:custGeom>
            <a:noFill/>
            <a:ln w="9525">
              <a:solidFill>
                <a:schemeClr val="tx1"/>
              </a:solidFill>
              <a:round/>
              <a:headEnd/>
              <a:tailEnd/>
            </a:ln>
            <a:effectLst/>
          </p:spPr>
          <p:txBody>
            <a:bodyPr wrap="none" anchor="ctr"/>
            <a:lstStyle/>
            <a:p>
              <a:endParaRPr lang="en-US"/>
            </a:p>
          </p:txBody>
        </p:sp>
        <p:pic>
          <p:nvPicPr>
            <p:cNvPr id="75788" name="Picture 12"/>
            <p:cNvPicPr>
              <a:picLocks noChangeAspect="1" noChangeArrowheads="1"/>
            </p:cNvPicPr>
            <p:nvPr/>
          </p:nvPicPr>
          <p:blipFill>
            <a:blip r:embed="rId4" cstate="print"/>
            <a:srcRect/>
            <a:stretch>
              <a:fillRect/>
            </a:stretch>
          </p:blipFill>
          <p:spPr bwMode="auto">
            <a:xfrm>
              <a:off x="177" y="887"/>
              <a:ext cx="1180" cy="363"/>
            </a:xfrm>
            <a:prstGeom prst="rect">
              <a:avLst/>
            </a:prstGeom>
            <a:noFill/>
            <a:ln w="9525">
              <a:noFill/>
              <a:miter lim="800000"/>
              <a:headEnd/>
              <a:tailEnd/>
            </a:ln>
            <a:effectLst/>
          </p:spPr>
        </p:pic>
        <p:sp>
          <p:nvSpPr>
            <p:cNvPr id="75794" name="Line 18"/>
            <p:cNvSpPr>
              <a:spLocks noChangeShapeType="1"/>
            </p:cNvSpPr>
            <p:nvPr/>
          </p:nvSpPr>
          <p:spPr bwMode="auto">
            <a:xfrm>
              <a:off x="764" y="845"/>
              <a:ext cx="0" cy="3214"/>
            </a:xfrm>
            <a:prstGeom prst="line">
              <a:avLst/>
            </a:prstGeom>
            <a:noFill/>
            <a:ln w="38100">
              <a:solidFill>
                <a:schemeClr val="tx1"/>
              </a:solidFill>
              <a:round/>
              <a:headEnd/>
              <a:tailEnd/>
            </a:ln>
            <a:effectLst/>
          </p:spPr>
          <p:txBody>
            <a:bodyPr wrap="none" anchor="ctr"/>
            <a:lstStyle/>
            <a:p>
              <a:endParaRPr lang="en-US"/>
            </a:p>
          </p:txBody>
        </p:sp>
      </p:grpSp>
      <p:sp>
        <p:nvSpPr>
          <p:cNvPr id="75803" name="Rectangle 27"/>
          <p:cNvSpPr>
            <a:spLocks noChangeArrowheads="1"/>
          </p:cNvSpPr>
          <p:nvPr/>
        </p:nvSpPr>
        <p:spPr bwMode="auto">
          <a:xfrm>
            <a:off x="3175000" y="4583113"/>
            <a:ext cx="1474788" cy="641350"/>
          </a:xfrm>
          <a:prstGeom prst="rect">
            <a:avLst/>
          </a:prstGeom>
          <a:noFill/>
          <a:ln w="9525">
            <a:noFill/>
            <a:miter lim="800000"/>
            <a:headEnd/>
            <a:tailEnd/>
          </a:ln>
          <a:effectLst/>
        </p:spPr>
        <p:txBody>
          <a:bodyPr wrap="none">
            <a:spAutoFit/>
          </a:bodyPr>
          <a:lstStyle/>
          <a:p>
            <a:r>
              <a:rPr lang="en-US" sz="1800">
                <a:solidFill>
                  <a:schemeClr val="tx2"/>
                </a:solidFill>
                <a:latin typeface="Helvetica Neue" charset="0"/>
                <a:sym typeface="Symbol" pitchFamily="18" charset="2"/>
              </a:rPr>
              <a:t>4X / 0.20 NA</a:t>
            </a:r>
          </a:p>
          <a:p>
            <a:r>
              <a:rPr lang="en-US" sz="1800">
                <a:solidFill>
                  <a:schemeClr val="tx2"/>
                </a:solidFill>
                <a:latin typeface="Helvetica Neue" charset="0"/>
                <a:sym typeface="Symbol" pitchFamily="18" charset="2"/>
              </a:rPr>
              <a:t> = 11.5°</a:t>
            </a:r>
          </a:p>
        </p:txBody>
      </p:sp>
      <p:sp>
        <p:nvSpPr>
          <p:cNvPr id="75804" name="Rectangle 28"/>
          <p:cNvSpPr>
            <a:spLocks noChangeArrowheads="1"/>
          </p:cNvSpPr>
          <p:nvPr/>
        </p:nvSpPr>
        <p:spPr bwMode="auto">
          <a:xfrm>
            <a:off x="6553200" y="2057400"/>
            <a:ext cx="1728787" cy="641350"/>
          </a:xfrm>
          <a:prstGeom prst="rect">
            <a:avLst/>
          </a:prstGeom>
          <a:noFill/>
          <a:ln w="9525">
            <a:noFill/>
            <a:miter lim="800000"/>
            <a:headEnd/>
            <a:tailEnd/>
          </a:ln>
          <a:effectLst/>
        </p:spPr>
        <p:txBody>
          <a:bodyPr wrap="none">
            <a:spAutoFit/>
          </a:bodyPr>
          <a:lstStyle/>
          <a:p>
            <a:r>
              <a:rPr lang="en-US" sz="1800" dirty="0">
                <a:solidFill>
                  <a:schemeClr val="tx2"/>
                </a:solidFill>
                <a:latin typeface="Helvetica Neue" charset="0"/>
                <a:sym typeface="Symbol" pitchFamily="18" charset="2"/>
              </a:rPr>
              <a:t>100X / 0.95 NA</a:t>
            </a:r>
          </a:p>
          <a:p>
            <a:r>
              <a:rPr lang="en-US" sz="1800" dirty="0">
                <a:solidFill>
                  <a:schemeClr val="tx2"/>
                </a:solidFill>
                <a:latin typeface="Helvetica Neue" charset="0"/>
                <a:sym typeface="Symbol" pitchFamily="18" charset="2"/>
              </a:rPr>
              <a:t> = 71.8°</a:t>
            </a:r>
          </a:p>
        </p:txBody>
      </p:sp>
      <p:sp>
        <p:nvSpPr>
          <p:cNvPr id="20" name="Rectangle 19"/>
          <p:cNvSpPr>
            <a:spLocks noChangeArrowheads="1"/>
          </p:cNvSpPr>
          <p:nvPr/>
        </p:nvSpPr>
        <p:spPr bwMode="auto">
          <a:xfrm>
            <a:off x="6299872" y="4462462"/>
            <a:ext cx="813043" cy="369332"/>
          </a:xfrm>
          <a:prstGeom prst="rect">
            <a:avLst/>
          </a:prstGeom>
          <a:noFill/>
          <a:ln w="9525">
            <a:noFill/>
            <a:miter lim="800000"/>
            <a:headEnd/>
            <a:tailEnd/>
          </a:ln>
          <a:effectLst/>
        </p:spPr>
        <p:txBody>
          <a:bodyPr wrap="none">
            <a:spAutoFit/>
          </a:bodyPr>
          <a:lstStyle/>
          <a:p>
            <a:pPr marL="169863" indent="-169863"/>
            <a:r>
              <a:rPr lang="en-US" sz="1800" dirty="0" smtClean="0">
                <a:latin typeface="Chalkboard" charset="0"/>
              </a:rPr>
              <a:t>where</a:t>
            </a:r>
            <a:endParaRPr lang="en-US" sz="1800" dirty="0">
              <a:solidFill>
                <a:schemeClr val="tx2"/>
              </a:solidFill>
              <a:latin typeface="Chalkboard" charset="0"/>
              <a:sym typeface="Symbol" pitchFamily="18" charset="2"/>
            </a:endParaRPr>
          </a:p>
        </p:txBody>
      </p:sp>
      <p:sp>
        <p:nvSpPr>
          <p:cNvPr id="21" name="AutoShape 41"/>
          <p:cNvSpPr>
            <a:spLocks noChangeArrowheads="1"/>
          </p:cNvSpPr>
          <p:nvPr/>
        </p:nvSpPr>
        <p:spPr bwMode="auto">
          <a:xfrm>
            <a:off x="5680868" y="3776662"/>
            <a:ext cx="2051050" cy="508000"/>
          </a:xfrm>
          <a:prstGeom prst="roundRect">
            <a:avLst>
              <a:gd name="adj" fmla="val 16667"/>
            </a:avLst>
          </a:prstGeom>
          <a:solidFill>
            <a:srgbClr val="E8FAFF"/>
          </a:solidFill>
          <a:ln w="9525">
            <a:solidFill>
              <a:schemeClr val="tx1"/>
            </a:solidFill>
            <a:round/>
            <a:headEnd/>
            <a:tailEnd/>
          </a:ln>
          <a:effectLst/>
        </p:spPr>
        <p:txBody>
          <a:bodyPr wrap="none">
            <a:spAutoFit/>
          </a:bodyPr>
          <a:lstStyle/>
          <a:p>
            <a:pPr marL="169863" indent="-169863"/>
            <a:r>
              <a:rPr lang="en-US" dirty="0">
                <a:latin typeface="Helvetica Neue" charset="0"/>
              </a:rPr>
              <a:t>NA = n sin(</a:t>
            </a:r>
            <a:r>
              <a:rPr lang="en-US" dirty="0">
                <a:solidFill>
                  <a:schemeClr val="tx2"/>
                </a:solidFill>
                <a:latin typeface="Helvetica Neue" charset="0"/>
                <a:sym typeface="Symbol" pitchFamily="18" charset="2"/>
              </a:rPr>
              <a:t></a:t>
            </a:r>
            <a:r>
              <a:rPr lang="en-US" dirty="0">
                <a:latin typeface="Helvetica Neue" charset="0"/>
              </a:rPr>
              <a:t>)</a:t>
            </a:r>
          </a:p>
        </p:txBody>
      </p:sp>
      <p:sp>
        <p:nvSpPr>
          <p:cNvPr id="23" name="Rectangle 44"/>
          <p:cNvSpPr>
            <a:spLocks noChangeArrowheads="1"/>
          </p:cNvSpPr>
          <p:nvPr/>
        </p:nvSpPr>
        <p:spPr bwMode="auto">
          <a:xfrm>
            <a:off x="4954587" y="4937125"/>
            <a:ext cx="3503613" cy="701675"/>
          </a:xfrm>
          <a:prstGeom prst="rect">
            <a:avLst/>
          </a:prstGeom>
          <a:noFill/>
          <a:ln w="9525">
            <a:noFill/>
            <a:miter lim="800000"/>
            <a:headEnd/>
            <a:tailEnd/>
          </a:ln>
          <a:effectLst/>
        </p:spPr>
        <p:txBody>
          <a:bodyPr wrap="none">
            <a:spAutoFit/>
          </a:bodyPr>
          <a:lstStyle/>
          <a:p>
            <a:pPr>
              <a:buFont typeface="Symbol" pitchFamily="18" charset="2"/>
              <a:buChar char="a"/>
            </a:pPr>
            <a:r>
              <a:rPr lang="en-US" sz="2000" dirty="0">
                <a:latin typeface="Chalkboard" charset="0"/>
              </a:rPr>
              <a:t> = light gathering angle</a:t>
            </a:r>
          </a:p>
          <a:p>
            <a:pPr>
              <a:buFont typeface="Symbol" pitchFamily="18" charset="2"/>
              <a:buNone/>
            </a:pPr>
            <a:r>
              <a:rPr lang="en-US" sz="2000" dirty="0">
                <a:latin typeface="Chalkboard" charset="0"/>
              </a:rPr>
              <a:t>n = refractive index of sample</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3" name="Rectangle 3"/>
          <p:cNvSpPr>
            <a:spLocks noGrp="1" noChangeArrowheads="1"/>
          </p:cNvSpPr>
          <p:nvPr>
            <p:ph type="title"/>
          </p:nvPr>
        </p:nvSpPr>
        <p:spPr>
          <a:xfrm>
            <a:off x="0" y="228600"/>
            <a:ext cx="7772400" cy="749085"/>
          </a:xfrm>
        </p:spPr>
        <p:txBody>
          <a:bodyPr>
            <a:normAutofit fontScale="90000"/>
          </a:bodyPr>
          <a:lstStyle/>
          <a:p>
            <a:r>
              <a:rPr lang="en-US" dirty="0" smtClean="0"/>
              <a:t>Resolution of the Microscope</a:t>
            </a:r>
            <a:endParaRPr lang="en-US" dirty="0"/>
          </a:p>
        </p:txBody>
      </p:sp>
      <p:sp>
        <p:nvSpPr>
          <p:cNvPr id="215069" name="Text Box 29"/>
          <p:cNvSpPr txBox="1">
            <a:spLocks noChangeArrowheads="1"/>
          </p:cNvSpPr>
          <p:nvPr/>
        </p:nvSpPr>
        <p:spPr bwMode="auto">
          <a:xfrm>
            <a:off x="1081088" y="890588"/>
            <a:ext cx="6829425" cy="400110"/>
          </a:xfrm>
          <a:prstGeom prst="rect">
            <a:avLst/>
          </a:prstGeom>
          <a:noFill/>
          <a:ln w="12700">
            <a:noFill/>
            <a:miter lim="800000"/>
            <a:headEnd/>
            <a:tailEnd/>
          </a:ln>
          <a:effectLst/>
        </p:spPr>
        <p:txBody>
          <a:bodyPr wrap="square">
            <a:spAutoFit/>
          </a:bodyPr>
          <a:lstStyle/>
          <a:p>
            <a:pPr algn="ctr">
              <a:spcBef>
                <a:spcPct val="50000"/>
              </a:spcBef>
            </a:pPr>
            <a:r>
              <a:rPr lang="en-US" sz="2000" dirty="0" smtClean="0"/>
              <a:t>limited </a:t>
            </a:r>
            <a:r>
              <a:rPr lang="en-US" sz="2000" dirty="0"/>
              <a:t>by the point-spread function</a:t>
            </a:r>
          </a:p>
        </p:txBody>
      </p:sp>
      <p:graphicFrame>
        <p:nvGraphicFramePr>
          <p:cNvPr id="10" name="Group 121"/>
          <p:cNvGraphicFramePr>
            <a:graphicFrameLocks noGrp="1"/>
          </p:cNvGraphicFramePr>
          <p:nvPr>
            <p:ph idx="1"/>
          </p:nvPr>
        </p:nvGraphicFramePr>
        <p:xfrm>
          <a:off x="609600" y="2971800"/>
          <a:ext cx="7924800" cy="3076222"/>
        </p:xfrm>
        <a:graphic>
          <a:graphicData uri="http://schemas.openxmlformats.org/drawingml/2006/table">
            <a:tbl>
              <a:tblPr/>
              <a:tblGrid>
                <a:gridCol w="2641600"/>
                <a:gridCol w="2641600"/>
                <a:gridCol w="2641600"/>
              </a:tblGrid>
              <a:tr h="790222">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cs typeface="Arial" charset="0"/>
                        </a:rPr>
                        <a:t>NA</a:t>
                      </a:r>
                      <a:endParaRPr kumimoji="0" lang="en-US" sz="2400" b="0" i="0" u="none" strike="noStrike" cap="none" normalizeH="0" baseline="0" dirty="0" smtClean="0">
                        <a:ln>
                          <a:noFill/>
                        </a:ln>
                        <a:solidFill>
                          <a:schemeClr val="tx1"/>
                        </a:solidFill>
                        <a:effectLst/>
                        <a:latin typeface="Arial" charset="0"/>
                      </a:endParaRPr>
                    </a:p>
                  </a:txBody>
                  <a:tcPr anchor="b" horzOverflow="overflow">
                    <a:lnL cap="flat">
                      <a:noFill/>
                    </a:lnL>
                    <a:lnR>
                      <a:noFill/>
                    </a:lnR>
                    <a:lnT cap="fla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X-Y</a:t>
                      </a:r>
                    </a:p>
                  </a:txBody>
                  <a:tcPr anchor="b" horzOverflow="overflow">
                    <a:lnL>
                      <a:noFill/>
                    </a:lnL>
                    <a:lnR>
                      <a:noFill/>
                    </a:lnR>
                    <a:lnT cap="fla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Z</a:t>
                      </a:r>
                    </a:p>
                  </a:txBody>
                  <a:tcPr anchor="b" horzOverflow="overflow">
                    <a:lnL>
                      <a:noFill/>
                    </a:lnL>
                    <a:lnR cap="flat">
                      <a:noFill/>
                    </a:lnR>
                    <a:lnT cap="flat">
                      <a:noFill/>
                    </a:lnT>
                    <a:lnB>
                      <a:noFill/>
                    </a:lnB>
                    <a:lnTlToBr>
                      <a:noFill/>
                    </a:lnTlToBr>
                    <a:lnBlToTr>
                      <a:noFill/>
                    </a:lnBlToTr>
                    <a:noFill/>
                  </a:tcPr>
                </a:tc>
              </a:tr>
              <a:tr h="45155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0.3</a:t>
                      </a:r>
                      <a:endParaRPr kumimoji="0" lang="en-US" sz="2400" b="0" i="0" u="none" strike="noStrike" cap="none" normalizeH="0" baseline="0" dirty="0" smtClean="0">
                        <a:ln>
                          <a:noFill/>
                        </a:ln>
                        <a:solidFill>
                          <a:schemeClr val="tx1"/>
                        </a:solidFill>
                        <a:effectLst/>
                        <a:latin typeface="Arial" charset="0"/>
                      </a:endParaRPr>
                    </a:p>
                  </a:txBody>
                  <a:tcPr anchor="b"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1017</a:t>
                      </a:r>
                    </a:p>
                  </a:txBody>
                  <a:tcPr anchor="b"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16830</a:t>
                      </a:r>
                      <a:endParaRPr kumimoji="0" lang="en-US" sz="2400" b="0" i="0" u="none" strike="noStrike" cap="none" normalizeH="0" baseline="0" dirty="0" smtClean="0">
                        <a:ln>
                          <a:noFill/>
                        </a:ln>
                        <a:solidFill>
                          <a:schemeClr val="tx1"/>
                        </a:solidFill>
                        <a:effectLst/>
                        <a:latin typeface="Arial" charset="0"/>
                      </a:endParaRPr>
                    </a:p>
                  </a:txBody>
                  <a:tcPr anchor="b" horzOverflow="overflow">
                    <a:lnL>
                      <a:noFill/>
                    </a:lnL>
                    <a:lnR cap="flat">
                      <a:noFill/>
                    </a:lnR>
                    <a:lnT>
                      <a:noFill/>
                    </a:lnT>
                    <a:lnB>
                      <a:noFill/>
                    </a:lnB>
                    <a:lnTlToBr>
                      <a:noFill/>
                    </a:lnTlToBr>
                    <a:lnBlToTr>
                      <a:noFill/>
                    </a:lnBlToTr>
                    <a:noFill/>
                  </a:tcPr>
                </a:tc>
              </a:tr>
              <a:tr h="45155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Arial" charset="0"/>
                        </a:rPr>
                        <a:t>0.75</a:t>
                      </a:r>
                      <a:endParaRPr kumimoji="0" lang="en-US" sz="2400" b="0" i="0" u="none" strike="noStrike" cap="none" normalizeH="0" baseline="0" smtClean="0">
                        <a:ln>
                          <a:noFill/>
                        </a:ln>
                        <a:solidFill>
                          <a:schemeClr val="tx1"/>
                        </a:solidFill>
                        <a:effectLst/>
                        <a:latin typeface="Arial" charset="0"/>
                      </a:endParaRPr>
                    </a:p>
                  </a:txBody>
                  <a:tcPr anchor="b"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rPr>
                        <a:t>407</a:t>
                      </a:r>
                    </a:p>
                  </a:txBody>
                  <a:tcPr anchor="b"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2690</a:t>
                      </a:r>
                      <a:endParaRPr kumimoji="0" lang="en-US" sz="2400" b="0" i="0" u="none" strike="noStrike" cap="none" normalizeH="0" baseline="0" dirty="0" smtClean="0">
                        <a:ln>
                          <a:noFill/>
                        </a:ln>
                        <a:solidFill>
                          <a:schemeClr val="tx1"/>
                        </a:solidFill>
                        <a:effectLst/>
                        <a:latin typeface="Arial" charset="0"/>
                      </a:endParaRPr>
                    </a:p>
                  </a:txBody>
                  <a:tcPr anchor="b" horzOverflow="overflow">
                    <a:lnL>
                      <a:noFill/>
                    </a:lnL>
                    <a:lnR cap="flat">
                      <a:noFill/>
                    </a:lnR>
                    <a:lnT>
                      <a:noFill/>
                    </a:lnT>
                    <a:lnB>
                      <a:noFill/>
                    </a:lnB>
                    <a:lnTlToBr>
                      <a:noFill/>
                    </a:lnTlToBr>
                    <a:lnBlToTr>
                      <a:noFill/>
                    </a:lnBlToTr>
                    <a:noFill/>
                  </a:tcPr>
                </a:tc>
              </a:tr>
              <a:tr h="45155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Arial" charset="0"/>
                        </a:rPr>
                        <a:t>0.95</a:t>
                      </a:r>
                      <a:endParaRPr kumimoji="0" lang="en-US" sz="2400" b="0" i="0" u="none" strike="noStrike" cap="none" normalizeH="0" baseline="0" smtClean="0">
                        <a:ln>
                          <a:noFill/>
                        </a:ln>
                        <a:solidFill>
                          <a:schemeClr val="tx1"/>
                        </a:solidFill>
                        <a:effectLst/>
                        <a:latin typeface="Arial" charset="0"/>
                      </a:endParaRPr>
                    </a:p>
                  </a:txBody>
                  <a:tcPr anchor="b"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rPr>
                        <a:t>321</a:t>
                      </a:r>
                    </a:p>
                  </a:txBody>
                  <a:tcPr anchor="b"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1680</a:t>
                      </a:r>
                      <a:endParaRPr kumimoji="0" lang="en-US" sz="2400" b="0" i="0" u="none" strike="noStrike" cap="none" normalizeH="0" baseline="0" dirty="0" smtClean="0">
                        <a:ln>
                          <a:noFill/>
                        </a:ln>
                        <a:solidFill>
                          <a:schemeClr val="tx1"/>
                        </a:solidFill>
                        <a:effectLst/>
                        <a:latin typeface="Arial" charset="0"/>
                      </a:endParaRPr>
                    </a:p>
                  </a:txBody>
                  <a:tcPr anchor="b" horzOverflow="overflow">
                    <a:lnL>
                      <a:noFill/>
                    </a:lnL>
                    <a:lnR cap="flat">
                      <a:noFill/>
                    </a:lnR>
                    <a:lnT>
                      <a:noFill/>
                    </a:lnT>
                    <a:lnB>
                      <a:noFill/>
                    </a:lnB>
                    <a:lnTlToBr>
                      <a:noFill/>
                    </a:lnTlToBr>
                    <a:lnBlToTr>
                      <a:noFill/>
                    </a:lnBlToTr>
                    <a:noFill/>
                  </a:tcPr>
                </a:tc>
              </a:tr>
              <a:tr h="45155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1.4</a:t>
                      </a:r>
                      <a:endParaRPr kumimoji="0" lang="en-US" sz="2400" b="0" i="0" u="none" strike="noStrike" cap="none" normalizeH="0" baseline="0" dirty="0" smtClean="0">
                        <a:ln>
                          <a:noFill/>
                        </a:ln>
                        <a:solidFill>
                          <a:schemeClr val="tx1"/>
                        </a:solidFill>
                        <a:effectLst/>
                        <a:latin typeface="Arial" charset="0"/>
                      </a:endParaRPr>
                    </a:p>
                  </a:txBody>
                  <a:tcPr anchor="b"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rPr>
                        <a:t>218</a:t>
                      </a:r>
                    </a:p>
                  </a:txBody>
                  <a:tcPr anchor="b"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770</a:t>
                      </a:r>
                      <a:endParaRPr kumimoji="0" lang="en-US" sz="2400" b="0" i="0" u="none" strike="noStrike" cap="none" normalizeH="0" baseline="0" dirty="0" smtClean="0">
                        <a:ln>
                          <a:noFill/>
                        </a:ln>
                        <a:solidFill>
                          <a:schemeClr val="tx1"/>
                        </a:solidFill>
                        <a:effectLst/>
                        <a:latin typeface="Arial" charset="0"/>
                      </a:endParaRPr>
                    </a:p>
                  </a:txBody>
                  <a:tcPr anchor="b" horzOverflow="overflow">
                    <a:lnL>
                      <a:noFill/>
                    </a:lnL>
                    <a:lnR cap="flat">
                      <a:noFill/>
                    </a:lnR>
                    <a:lnT>
                      <a:noFill/>
                    </a:lnT>
                    <a:lnB>
                      <a:noFill/>
                    </a:lnB>
                    <a:lnTlToBr>
                      <a:noFill/>
                    </a:lnTlToBr>
                    <a:lnBlToTr>
                      <a:noFill/>
                    </a:lnBlToTr>
                    <a:noFill/>
                  </a:tcPr>
                </a:tc>
              </a:tr>
              <a:tr h="45155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a:txBody>
                  <a:tcPr anchor="b" horzOverflow="overflow">
                    <a:lnL cap="flat">
                      <a:noFill/>
                    </a:lnL>
                    <a:lnR>
                      <a:noFill/>
                    </a:lnR>
                    <a:lnT>
                      <a:noFill/>
                    </a:lnT>
                    <a:lnB cap="flat">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ndParaRPr>
                    </a:p>
                  </a:txBody>
                  <a:tcPr anchor="b"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ndParaRPr>
                    </a:p>
                  </a:txBody>
                  <a:tcPr anchor="b" horzOverflow="overflow">
                    <a:lnL>
                      <a:noFill/>
                    </a:lnL>
                    <a:lnR cap="flat">
                      <a:noFill/>
                    </a:lnR>
                    <a:lnT>
                      <a:noFill/>
                    </a:lnT>
                    <a:lnB cap="flat">
                      <a:noFill/>
                    </a:lnB>
                    <a:lnTlToBr>
                      <a:noFill/>
                    </a:lnTlToBr>
                    <a:lnBlToTr>
                      <a:noFill/>
                    </a:lnBlToTr>
                    <a:noFill/>
                  </a:tcPr>
                </a:tc>
              </a:tr>
            </a:tbl>
          </a:graphicData>
        </a:graphic>
      </p:graphicFrame>
      <p:sp>
        <p:nvSpPr>
          <p:cNvPr id="11" name="TextBox 10"/>
          <p:cNvSpPr txBox="1"/>
          <p:nvPr/>
        </p:nvSpPr>
        <p:spPr>
          <a:xfrm>
            <a:off x="990600" y="1676400"/>
            <a:ext cx="7315200" cy="1323439"/>
          </a:xfrm>
          <a:prstGeom prst="rect">
            <a:avLst/>
          </a:prstGeom>
          <a:noFill/>
        </p:spPr>
        <p:txBody>
          <a:bodyPr wrap="square" rtlCol="0">
            <a:spAutoFit/>
          </a:bodyPr>
          <a:lstStyle/>
          <a:p>
            <a:r>
              <a:rPr lang="en-US" sz="2400" dirty="0" smtClean="0">
                <a:latin typeface="+mn-lt"/>
              </a:rPr>
              <a:t>Resolution: X-Y, 0.61</a:t>
            </a:r>
            <a:r>
              <a:rPr lang="en-US" sz="2400" dirty="0" smtClean="0">
                <a:latin typeface="Symbol" pitchFamily="18" charset="2"/>
              </a:rPr>
              <a:t>l</a:t>
            </a:r>
            <a:r>
              <a:rPr lang="en-US" sz="2400" dirty="0" smtClean="0">
                <a:latin typeface="+mn-lt"/>
              </a:rPr>
              <a:t> / NA; Z, </a:t>
            </a:r>
            <a:r>
              <a:rPr lang="en-US" sz="2400" dirty="0" err="1" smtClean="0">
                <a:latin typeface="Symbol" pitchFamily="18" charset="2"/>
              </a:rPr>
              <a:t>l</a:t>
            </a:r>
            <a:r>
              <a:rPr lang="en-US" sz="2400" dirty="0" err="1" smtClean="0">
                <a:latin typeface="+mn-lt"/>
              </a:rPr>
              <a:t>n</a:t>
            </a:r>
            <a:r>
              <a:rPr lang="en-US" sz="2400" dirty="0" smtClean="0">
                <a:latin typeface="+mn-lt"/>
              </a:rPr>
              <a:t> / NA</a:t>
            </a:r>
            <a:r>
              <a:rPr lang="en-US" sz="2400" baseline="30000" dirty="0" smtClean="0">
                <a:latin typeface="+mn-lt"/>
              </a:rPr>
              <a:t>2</a:t>
            </a:r>
          </a:p>
          <a:p>
            <a:endParaRPr lang="en-US" sz="2400" baseline="30000" dirty="0" smtClean="0">
              <a:latin typeface="+mn-lt"/>
            </a:endParaRPr>
          </a:p>
          <a:p>
            <a:endParaRPr lang="en-US" sz="2400" baseline="30000" dirty="0" smtClean="0">
              <a:latin typeface="+mn-lt"/>
            </a:endParaRPr>
          </a:p>
          <a:p>
            <a:r>
              <a:rPr lang="en-US" sz="2400" dirty="0" smtClean="0">
                <a:latin typeface="+mn-lt"/>
              </a:rPr>
              <a:t>Resolution for some common objectives, in nm:</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3" name="Rectangle 3"/>
          <p:cNvSpPr>
            <a:spLocks noGrp="1" noChangeArrowheads="1"/>
          </p:cNvSpPr>
          <p:nvPr>
            <p:ph type="title"/>
          </p:nvPr>
        </p:nvSpPr>
        <p:spPr>
          <a:xfrm>
            <a:off x="0" y="304800"/>
            <a:ext cx="7772400" cy="749085"/>
          </a:xfrm>
        </p:spPr>
        <p:txBody>
          <a:bodyPr>
            <a:normAutofit fontScale="90000"/>
          </a:bodyPr>
          <a:lstStyle/>
          <a:p>
            <a:r>
              <a:rPr lang="en-US" dirty="0" smtClean="0"/>
              <a:t>Light-gathering power</a:t>
            </a:r>
            <a:endParaRPr lang="en-US" dirty="0"/>
          </a:p>
        </p:txBody>
      </p:sp>
      <p:graphicFrame>
        <p:nvGraphicFramePr>
          <p:cNvPr id="10" name="Group 121"/>
          <p:cNvGraphicFramePr>
            <a:graphicFrameLocks noGrp="1"/>
          </p:cNvGraphicFramePr>
          <p:nvPr>
            <p:ph idx="1"/>
          </p:nvPr>
        </p:nvGraphicFramePr>
        <p:xfrm>
          <a:off x="1905000" y="3934178"/>
          <a:ext cx="5283200" cy="2619022"/>
        </p:xfrm>
        <a:graphic>
          <a:graphicData uri="http://schemas.openxmlformats.org/drawingml/2006/table">
            <a:tbl>
              <a:tblPr/>
              <a:tblGrid>
                <a:gridCol w="2641600"/>
                <a:gridCol w="2641600"/>
              </a:tblGrid>
              <a:tr h="790222">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cs typeface="Arial" charset="0"/>
                        </a:rPr>
                        <a:t>NA</a:t>
                      </a:r>
                      <a:endParaRPr kumimoji="0" lang="en-US" sz="2400" b="0" i="0" u="none" strike="noStrike" cap="none" normalizeH="0" baseline="0" dirty="0" smtClean="0">
                        <a:ln>
                          <a:noFill/>
                        </a:ln>
                        <a:solidFill>
                          <a:schemeClr val="tx1"/>
                        </a:solidFill>
                        <a:effectLst/>
                        <a:latin typeface="Arial" charset="0"/>
                      </a:endParaRPr>
                    </a:p>
                  </a:txBody>
                  <a:tcPr anchor="b" horzOverflow="overflow">
                    <a:lnL cap="flat">
                      <a:noFill/>
                    </a:lnL>
                    <a:lnR>
                      <a:noFill/>
                    </a:lnR>
                    <a:lnT cap="fla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Brightness</a:t>
                      </a:r>
                    </a:p>
                  </a:txBody>
                  <a:tcPr anchor="b" horzOverflow="overflow">
                    <a:lnL>
                      <a:noFill/>
                    </a:lnL>
                    <a:lnR>
                      <a:noFill/>
                    </a:lnR>
                    <a:lnT cap="flat">
                      <a:noFill/>
                    </a:lnT>
                    <a:lnB>
                      <a:noFill/>
                    </a:lnB>
                    <a:lnTlToBr>
                      <a:noFill/>
                    </a:lnTlToBr>
                    <a:lnBlToTr>
                      <a:noFill/>
                    </a:lnBlToTr>
                    <a:noFill/>
                  </a:tcPr>
                </a:tc>
              </a:tr>
              <a:tr h="45155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0.3</a:t>
                      </a:r>
                      <a:endParaRPr kumimoji="0" lang="en-US" sz="2400" b="0" i="0" u="none" strike="noStrike" cap="none" normalizeH="0" baseline="0" dirty="0" smtClean="0">
                        <a:ln>
                          <a:noFill/>
                        </a:ln>
                        <a:solidFill>
                          <a:schemeClr val="tx1"/>
                        </a:solidFill>
                        <a:effectLst/>
                        <a:latin typeface="Arial" charset="0"/>
                      </a:endParaRPr>
                    </a:p>
                  </a:txBody>
                  <a:tcPr anchor="b"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0.09</a:t>
                      </a:r>
                    </a:p>
                  </a:txBody>
                  <a:tcPr anchor="b" horzOverflow="overflow">
                    <a:lnL>
                      <a:noFill/>
                    </a:lnL>
                    <a:lnR>
                      <a:noFill/>
                    </a:lnR>
                    <a:lnT>
                      <a:noFill/>
                    </a:lnT>
                    <a:lnB>
                      <a:noFill/>
                    </a:lnB>
                    <a:lnTlToBr>
                      <a:noFill/>
                    </a:lnTlToBr>
                    <a:lnBlToTr>
                      <a:noFill/>
                    </a:lnBlToTr>
                    <a:noFill/>
                  </a:tcPr>
                </a:tc>
              </a:tr>
              <a:tr h="45155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Arial" charset="0"/>
                        </a:rPr>
                        <a:t>0.75</a:t>
                      </a:r>
                      <a:endParaRPr kumimoji="0" lang="en-US" sz="2400" b="0" i="0" u="none" strike="noStrike" cap="none" normalizeH="0" baseline="0" smtClean="0">
                        <a:ln>
                          <a:noFill/>
                        </a:ln>
                        <a:solidFill>
                          <a:schemeClr val="tx1"/>
                        </a:solidFill>
                        <a:effectLst/>
                        <a:latin typeface="Arial" charset="0"/>
                      </a:endParaRPr>
                    </a:p>
                  </a:txBody>
                  <a:tcPr anchor="b"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0.56</a:t>
                      </a:r>
                    </a:p>
                  </a:txBody>
                  <a:tcPr anchor="b" horzOverflow="overflow">
                    <a:lnL>
                      <a:noFill/>
                    </a:lnL>
                    <a:lnR>
                      <a:noFill/>
                    </a:lnR>
                    <a:lnT>
                      <a:noFill/>
                    </a:lnT>
                    <a:lnB>
                      <a:noFill/>
                    </a:lnB>
                    <a:lnTlToBr>
                      <a:noFill/>
                    </a:lnTlToBr>
                    <a:lnBlToTr>
                      <a:noFill/>
                    </a:lnBlToTr>
                    <a:noFill/>
                  </a:tcPr>
                </a:tc>
              </a:tr>
              <a:tr h="45155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Arial" charset="0"/>
                        </a:rPr>
                        <a:t>0.95</a:t>
                      </a:r>
                      <a:endParaRPr kumimoji="0" lang="en-US" sz="2400" b="0" i="0" u="none" strike="noStrike" cap="none" normalizeH="0" baseline="0" smtClean="0">
                        <a:ln>
                          <a:noFill/>
                        </a:ln>
                        <a:solidFill>
                          <a:schemeClr val="tx1"/>
                        </a:solidFill>
                        <a:effectLst/>
                        <a:latin typeface="Arial" charset="0"/>
                      </a:endParaRPr>
                    </a:p>
                  </a:txBody>
                  <a:tcPr anchor="b"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0.90</a:t>
                      </a:r>
                    </a:p>
                  </a:txBody>
                  <a:tcPr anchor="b" horzOverflow="overflow">
                    <a:lnL>
                      <a:noFill/>
                    </a:lnL>
                    <a:lnR>
                      <a:noFill/>
                    </a:lnR>
                    <a:lnT>
                      <a:noFill/>
                    </a:lnT>
                    <a:lnB>
                      <a:noFill/>
                    </a:lnB>
                    <a:lnTlToBr>
                      <a:noFill/>
                    </a:lnTlToBr>
                    <a:lnBlToTr>
                      <a:noFill/>
                    </a:lnBlToTr>
                    <a:noFill/>
                  </a:tcPr>
                </a:tc>
              </a:tr>
              <a:tr h="45155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1.4</a:t>
                      </a:r>
                      <a:endParaRPr kumimoji="0" lang="en-US" sz="2400" b="0" i="0" u="none" strike="noStrike" cap="none" normalizeH="0" baseline="0" dirty="0" smtClean="0">
                        <a:ln>
                          <a:noFill/>
                        </a:ln>
                        <a:solidFill>
                          <a:schemeClr val="tx1"/>
                        </a:solidFill>
                        <a:effectLst/>
                        <a:latin typeface="Arial" charset="0"/>
                      </a:endParaRPr>
                    </a:p>
                  </a:txBody>
                  <a:tcPr anchor="b"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1.96</a:t>
                      </a:r>
                    </a:p>
                  </a:txBody>
                  <a:tcPr anchor="b" horzOverflow="overflow">
                    <a:lnL>
                      <a:noFill/>
                    </a:lnL>
                    <a:lnR>
                      <a:noFill/>
                    </a:lnR>
                    <a:lnT>
                      <a:noFill/>
                    </a:lnT>
                    <a:lnB>
                      <a:noFill/>
                    </a:lnB>
                    <a:lnTlToBr>
                      <a:noFill/>
                    </a:lnTlToBr>
                    <a:lnBlToTr>
                      <a:noFill/>
                    </a:lnBlToTr>
                    <a:noFill/>
                  </a:tcPr>
                </a:tc>
              </a:tr>
            </a:tbl>
          </a:graphicData>
        </a:graphic>
      </p:graphicFrame>
      <p:sp>
        <p:nvSpPr>
          <p:cNvPr id="11" name="TextBox 10"/>
          <p:cNvSpPr txBox="1"/>
          <p:nvPr/>
        </p:nvSpPr>
        <p:spPr>
          <a:xfrm>
            <a:off x="762000" y="1447800"/>
            <a:ext cx="7315200" cy="2677656"/>
          </a:xfrm>
          <a:prstGeom prst="rect">
            <a:avLst/>
          </a:prstGeom>
          <a:noFill/>
        </p:spPr>
        <p:txBody>
          <a:bodyPr wrap="square" rtlCol="0">
            <a:spAutoFit/>
          </a:bodyPr>
          <a:lstStyle/>
          <a:p>
            <a:r>
              <a:rPr lang="en-US" sz="2400" dirty="0" smtClean="0">
                <a:latin typeface="+mn-lt"/>
              </a:rPr>
              <a:t>Light-gathering power goes as the square of NA</a:t>
            </a:r>
          </a:p>
          <a:p>
            <a:endParaRPr lang="en-US" sz="2400" dirty="0" smtClean="0">
              <a:latin typeface="+mn-lt"/>
            </a:endParaRPr>
          </a:p>
          <a:p>
            <a:r>
              <a:rPr lang="en-US" sz="2400" dirty="0" smtClean="0">
                <a:latin typeface="+mn-lt"/>
              </a:rPr>
              <a:t>All things being equal, a higher NA lens will give a brighter image</a:t>
            </a:r>
          </a:p>
          <a:p>
            <a:endParaRPr lang="en-US" sz="2400" dirty="0" smtClean="0">
              <a:latin typeface="+mn-lt"/>
            </a:endParaRPr>
          </a:p>
          <a:p>
            <a:r>
              <a:rPr lang="en-US" sz="2400" dirty="0" smtClean="0">
                <a:latin typeface="+mn-lt"/>
              </a:rPr>
              <a:t>Increasing magnification generally decreases brightness as light is spread out over more pixels</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8229600" cy="1252728"/>
          </a:xfrm>
        </p:spPr>
        <p:txBody>
          <a:bodyPr/>
          <a:lstStyle/>
          <a:p>
            <a:r>
              <a:rPr lang="en-US" dirty="0" smtClean="0"/>
              <a:t>Choosing an objective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Questions:</a:t>
            </a:r>
          </a:p>
          <a:p>
            <a:pPr lvl="1"/>
            <a:r>
              <a:rPr lang="en-US" dirty="0" smtClean="0"/>
              <a:t>What resolution do you need?</a:t>
            </a:r>
          </a:p>
          <a:p>
            <a:pPr lvl="1"/>
            <a:r>
              <a:rPr lang="en-US" dirty="0" smtClean="0"/>
              <a:t>How bright is your sample?</a:t>
            </a:r>
          </a:p>
          <a:p>
            <a:pPr lvl="1"/>
            <a:endParaRPr lang="en-US" dirty="0" smtClean="0"/>
          </a:p>
          <a:p>
            <a:r>
              <a:rPr lang="en-US" dirty="0" smtClean="0"/>
              <a:t>For high resolution, you’ll need high NA.</a:t>
            </a:r>
          </a:p>
          <a:p>
            <a:r>
              <a:rPr lang="en-US" dirty="0" smtClean="0"/>
              <a:t>For dim samples, you’ll want high NA, regardless of resolution, to maximize light-gathering.</a:t>
            </a:r>
          </a:p>
          <a:p>
            <a:pPr lvl="1"/>
            <a:r>
              <a:rPr lang="en-US" dirty="0" smtClean="0"/>
              <a:t>Dim, low-resolution samples (e.g. protein abundance in nucleus): bin camera to trade off resolution for brightness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8229600" cy="1252728"/>
          </a:xfrm>
        </p:spPr>
        <p:txBody>
          <a:bodyPr/>
          <a:lstStyle/>
          <a:p>
            <a:r>
              <a:rPr lang="en-US" dirty="0" smtClean="0"/>
              <a:t>Choosing an objective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Questions:</a:t>
            </a:r>
          </a:p>
          <a:p>
            <a:pPr lvl="1"/>
            <a:r>
              <a:rPr lang="en-US" dirty="0" smtClean="0"/>
              <a:t>What resolution do you need?</a:t>
            </a:r>
          </a:p>
          <a:p>
            <a:pPr lvl="1"/>
            <a:r>
              <a:rPr lang="en-US" dirty="0" smtClean="0"/>
              <a:t>How bright is your sample?</a:t>
            </a:r>
          </a:p>
          <a:p>
            <a:pPr lvl="1"/>
            <a:endParaRPr lang="en-US" dirty="0" smtClean="0"/>
          </a:p>
          <a:p>
            <a:r>
              <a:rPr lang="en-US" dirty="0" smtClean="0"/>
              <a:t>When to use low NA?</a:t>
            </a:r>
          </a:p>
          <a:p>
            <a:pPr lvl="1"/>
            <a:r>
              <a:rPr lang="en-US" dirty="0" smtClean="0"/>
              <a:t>Bright samples at low resolution / low magnification</a:t>
            </a:r>
          </a:p>
          <a:p>
            <a:pPr lvl="1"/>
            <a:r>
              <a:rPr lang="en-US" dirty="0" smtClean="0"/>
              <a:t>If you need long working distance</a:t>
            </a:r>
          </a:p>
          <a:p>
            <a:pPr lvl="1"/>
            <a:r>
              <a:rPr lang="en-US" dirty="0" smtClean="0"/>
              <a:t>If spherical aberration is a concern</a:t>
            </a:r>
          </a:p>
          <a:p>
            <a:pPr lvl="1"/>
            <a:r>
              <a:rPr lang="en-US" dirty="0" smtClean="0"/>
              <a:t>If you want large depth of field to get whole structures in focus at once (avoid Z-stacks)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0" y="152400"/>
            <a:ext cx="8229600" cy="1252728"/>
          </a:xfrm>
        </p:spPr>
        <p:txBody>
          <a:bodyPr>
            <a:normAutofit fontScale="90000"/>
          </a:bodyPr>
          <a:lstStyle/>
          <a:p>
            <a:pPr eaLnBrk="1" hangingPunct="1"/>
            <a:r>
              <a:rPr lang="en-US" dirty="0" smtClean="0"/>
              <a:t>Which imaging technique should I use?</a:t>
            </a:r>
          </a:p>
        </p:txBody>
      </p:sp>
      <p:sp>
        <p:nvSpPr>
          <p:cNvPr id="31747" name="Line 3"/>
          <p:cNvSpPr>
            <a:spLocks noChangeShapeType="1"/>
          </p:cNvSpPr>
          <p:nvPr/>
        </p:nvSpPr>
        <p:spPr bwMode="auto">
          <a:xfrm>
            <a:off x="914400" y="1782763"/>
            <a:ext cx="0" cy="4481512"/>
          </a:xfrm>
          <a:prstGeom prst="line">
            <a:avLst/>
          </a:prstGeom>
          <a:noFill/>
          <a:ln w="25400">
            <a:solidFill>
              <a:schemeClr val="tx1"/>
            </a:solidFill>
            <a:round/>
            <a:headEnd/>
            <a:tailEnd type="triangle" w="lg" len="lg"/>
          </a:ln>
        </p:spPr>
        <p:txBody>
          <a:bodyPr/>
          <a:lstStyle/>
          <a:p>
            <a:endParaRPr lang="en-US"/>
          </a:p>
        </p:txBody>
      </p:sp>
      <p:sp>
        <p:nvSpPr>
          <p:cNvPr id="31748" name="Text Box 4"/>
          <p:cNvSpPr txBox="1">
            <a:spLocks noChangeArrowheads="1"/>
          </p:cNvSpPr>
          <p:nvPr/>
        </p:nvSpPr>
        <p:spPr bwMode="auto">
          <a:xfrm rot="5400000">
            <a:off x="-474662" y="3903662"/>
            <a:ext cx="2260600" cy="396875"/>
          </a:xfrm>
          <a:prstGeom prst="rect">
            <a:avLst/>
          </a:prstGeom>
          <a:noFill/>
          <a:ln w="9525">
            <a:noFill/>
            <a:miter lim="800000"/>
            <a:headEnd/>
            <a:tailEnd/>
          </a:ln>
        </p:spPr>
        <p:txBody>
          <a:bodyPr wrap="none">
            <a:spAutoFit/>
          </a:bodyPr>
          <a:lstStyle/>
          <a:p>
            <a:r>
              <a:rPr lang="en-US" sz="2000"/>
              <a:t>Sample Thickness</a:t>
            </a:r>
          </a:p>
        </p:txBody>
      </p:sp>
      <p:sp>
        <p:nvSpPr>
          <p:cNvPr id="31749" name="Text Box 5"/>
          <p:cNvSpPr txBox="1">
            <a:spLocks noChangeArrowheads="1"/>
          </p:cNvSpPr>
          <p:nvPr/>
        </p:nvSpPr>
        <p:spPr bwMode="auto">
          <a:xfrm>
            <a:off x="2454275" y="2562225"/>
            <a:ext cx="3268663" cy="396875"/>
          </a:xfrm>
          <a:prstGeom prst="rect">
            <a:avLst/>
          </a:prstGeom>
          <a:noFill/>
          <a:ln w="9525">
            <a:noFill/>
            <a:miter lim="800000"/>
            <a:headEnd/>
            <a:tailEnd/>
          </a:ln>
        </p:spPr>
        <p:txBody>
          <a:bodyPr wrap="none">
            <a:spAutoFit/>
          </a:bodyPr>
          <a:lstStyle/>
          <a:p>
            <a:r>
              <a:rPr lang="en-US" sz="2000" dirty="0"/>
              <a:t>Wide-field (+</a:t>
            </a:r>
            <a:r>
              <a:rPr lang="en-US" sz="2000" dirty="0" err="1"/>
              <a:t>deconvolution</a:t>
            </a:r>
            <a:r>
              <a:rPr lang="en-US" sz="2000" dirty="0"/>
              <a:t>)</a:t>
            </a:r>
          </a:p>
        </p:txBody>
      </p:sp>
      <p:sp>
        <p:nvSpPr>
          <p:cNvPr id="31750" name="Text Box 6"/>
          <p:cNvSpPr txBox="1">
            <a:spLocks noChangeArrowheads="1"/>
          </p:cNvSpPr>
          <p:nvPr/>
        </p:nvSpPr>
        <p:spPr bwMode="auto">
          <a:xfrm>
            <a:off x="2454275" y="5030788"/>
            <a:ext cx="2924175" cy="396875"/>
          </a:xfrm>
          <a:prstGeom prst="rect">
            <a:avLst/>
          </a:prstGeom>
          <a:noFill/>
          <a:ln w="9525">
            <a:noFill/>
            <a:miter lim="800000"/>
            <a:headEnd/>
            <a:tailEnd/>
          </a:ln>
        </p:spPr>
        <p:txBody>
          <a:bodyPr wrap="none">
            <a:spAutoFit/>
          </a:bodyPr>
          <a:lstStyle/>
          <a:p>
            <a:r>
              <a:rPr lang="en-US" sz="2000"/>
              <a:t>Point scanning Confocal</a:t>
            </a:r>
          </a:p>
        </p:txBody>
      </p:sp>
      <p:sp>
        <p:nvSpPr>
          <p:cNvPr id="31751" name="Text Box 7"/>
          <p:cNvSpPr txBox="1">
            <a:spLocks noChangeArrowheads="1"/>
          </p:cNvSpPr>
          <p:nvPr/>
        </p:nvSpPr>
        <p:spPr bwMode="auto">
          <a:xfrm>
            <a:off x="2454275" y="5854700"/>
            <a:ext cx="2201863" cy="396875"/>
          </a:xfrm>
          <a:prstGeom prst="rect">
            <a:avLst/>
          </a:prstGeom>
          <a:noFill/>
          <a:ln w="9525">
            <a:noFill/>
            <a:miter lim="800000"/>
            <a:headEnd/>
            <a:tailEnd/>
          </a:ln>
        </p:spPr>
        <p:txBody>
          <a:bodyPr wrap="none">
            <a:spAutoFit/>
          </a:bodyPr>
          <a:lstStyle/>
          <a:p>
            <a:r>
              <a:rPr lang="en-US" sz="2000"/>
              <a:t>2-photon confocal</a:t>
            </a:r>
          </a:p>
        </p:txBody>
      </p:sp>
      <p:sp>
        <p:nvSpPr>
          <p:cNvPr id="31752" name="Text Box 8"/>
          <p:cNvSpPr txBox="1">
            <a:spLocks noChangeArrowheads="1"/>
          </p:cNvSpPr>
          <p:nvPr/>
        </p:nvSpPr>
        <p:spPr bwMode="auto">
          <a:xfrm>
            <a:off x="2454275" y="1739900"/>
            <a:ext cx="4075113" cy="396875"/>
          </a:xfrm>
          <a:prstGeom prst="rect">
            <a:avLst/>
          </a:prstGeom>
          <a:noFill/>
          <a:ln w="9525">
            <a:noFill/>
            <a:miter lim="800000"/>
            <a:headEnd/>
            <a:tailEnd/>
          </a:ln>
        </p:spPr>
        <p:txBody>
          <a:bodyPr wrap="none">
            <a:spAutoFit/>
          </a:bodyPr>
          <a:lstStyle/>
          <a:p>
            <a:r>
              <a:rPr lang="en-US" sz="2000" dirty="0"/>
              <a:t>TIRF (for samples at the </a:t>
            </a:r>
            <a:r>
              <a:rPr lang="en-US" sz="2000" dirty="0" err="1"/>
              <a:t>coverslip</a:t>
            </a:r>
            <a:r>
              <a:rPr lang="en-US" sz="2000" dirty="0"/>
              <a:t>)</a:t>
            </a:r>
          </a:p>
        </p:txBody>
      </p:sp>
      <p:sp>
        <p:nvSpPr>
          <p:cNvPr id="31753" name="Text Box 9"/>
          <p:cNvSpPr txBox="1">
            <a:spLocks noChangeArrowheads="1"/>
          </p:cNvSpPr>
          <p:nvPr/>
        </p:nvSpPr>
        <p:spPr bwMode="auto">
          <a:xfrm>
            <a:off x="2454275" y="3317875"/>
            <a:ext cx="2813050" cy="396875"/>
          </a:xfrm>
          <a:prstGeom prst="rect">
            <a:avLst/>
          </a:prstGeom>
          <a:noFill/>
          <a:ln w="9525">
            <a:noFill/>
            <a:miter lim="800000"/>
            <a:headEnd/>
            <a:tailEnd/>
          </a:ln>
        </p:spPr>
        <p:txBody>
          <a:bodyPr wrap="none">
            <a:spAutoFit/>
          </a:bodyPr>
          <a:lstStyle/>
          <a:p>
            <a:r>
              <a:rPr lang="en-US" sz="2000"/>
              <a:t>Spinning Disk Confocal</a:t>
            </a:r>
          </a:p>
        </p:txBody>
      </p:sp>
      <p:sp>
        <p:nvSpPr>
          <p:cNvPr id="31754" name="Text Box 10"/>
          <p:cNvSpPr txBox="1">
            <a:spLocks noChangeArrowheads="1"/>
          </p:cNvSpPr>
          <p:nvPr/>
        </p:nvSpPr>
        <p:spPr bwMode="auto">
          <a:xfrm>
            <a:off x="2454275" y="4141788"/>
            <a:ext cx="2782888" cy="396875"/>
          </a:xfrm>
          <a:prstGeom prst="rect">
            <a:avLst/>
          </a:prstGeom>
          <a:noFill/>
          <a:ln w="9525">
            <a:noFill/>
            <a:miter lim="800000"/>
            <a:headEnd/>
            <a:tailEnd/>
          </a:ln>
        </p:spPr>
        <p:txBody>
          <a:bodyPr wrap="none">
            <a:spAutoFit/>
          </a:bodyPr>
          <a:lstStyle/>
          <a:p>
            <a:r>
              <a:rPr lang="en-US" sz="2000"/>
              <a:t>Line-scanning confocal</a:t>
            </a:r>
          </a:p>
        </p:txBody>
      </p:sp>
      <p:sp>
        <p:nvSpPr>
          <p:cNvPr id="31755" name="Text Box 11"/>
          <p:cNvSpPr txBox="1">
            <a:spLocks noChangeArrowheads="1"/>
          </p:cNvSpPr>
          <p:nvPr/>
        </p:nvSpPr>
        <p:spPr bwMode="auto">
          <a:xfrm>
            <a:off x="1019175" y="1693863"/>
            <a:ext cx="900113" cy="366712"/>
          </a:xfrm>
          <a:prstGeom prst="rect">
            <a:avLst/>
          </a:prstGeom>
          <a:noFill/>
          <a:ln w="9525">
            <a:noFill/>
            <a:miter lim="800000"/>
            <a:headEnd/>
            <a:tailEnd/>
          </a:ln>
        </p:spPr>
        <p:txBody>
          <a:bodyPr wrap="none">
            <a:spAutoFit/>
          </a:bodyPr>
          <a:lstStyle/>
          <a:p>
            <a:r>
              <a:rPr lang="en-US"/>
              <a:t>1-5 </a:t>
            </a:r>
            <a:r>
              <a:rPr lang="en-US">
                <a:latin typeface="Symbol" pitchFamily="18" charset="2"/>
              </a:rPr>
              <a:t>m</a:t>
            </a:r>
            <a:r>
              <a:rPr lang="en-US"/>
              <a:t>m</a:t>
            </a:r>
          </a:p>
        </p:txBody>
      </p:sp>
      <p:sp>
        <p:nvSpPr>
          <p:cNvPr id="31756" name="Text Box 12"/>
          <p:cNvSpPr txBox="1">
            <a:spLocks noChangeArrowheads="1"/>
          </p:cNvSpPr>
          <p:nvPr/>
        </p:nvSpPr>
        <p:spPr bwMode="auto">
          <a:xfrm>
            <a:off x="1004888" y="2879725"/>
            <a:ext cx="1027112" cy="366713"/>
          </a:xfrm>
          <a:prstGeom prst="rect">
            <a:avLst/>
          </a:prstGeom>
          <a:noFill/>
          <a:ln w="9525">
            <a:noFill/>
            <a:miter lim="800000"/>
            <a:headEnd/>
            <a:tailEnd/>
          </a:ln>
        </p:spPr>
        <p:txBody>
          <a:bodyPr wrap="none">
            <a:spAutoFit/>
          </a:bodyPr>
          <a:lstStyle/>
          <a:p>
            <a:r>
              <a:rPr lang="en-US"/>
              <a:t>1-20 </a:t>
            </a:r>
            <a:r>
              <a:rPr lang="en-US">
                <a:latin typeface="Symbol" pitchFamily="18" charset="2"/>
              </a:rPr>
              <a:t>m</a:t>
            </a:r>
            <a:r>
              <a:rPr lang="en-US"/>
              <a:t>m</a:t>
            </a:r>
          </a:p>
        </p:txBody>
      </p:sp>
      <p:sp>
        <p:nvSpPr>
          <p:cNvPr id="31757" name="Text Box 13"/>
          <p:cNvSpPr txBox="1">
            <a:spLocks noChangeArrowheads="1"/>
          </p:cNvSpPr>
          <p:nvPr/>
        </p:nvSpPr>
        <p:spPr bwMode="auto">
          <a:xfrm>
            <a:off x="1004888" y="4160838"/>
            <a:ext cx="1281112" cy="366712"/>
          </a:xfrm>
          <a:prstGeom prst="rect">
            <a:avLst/>
          </a:prstGeom>
          <a:noFill/>
          <a:ln w="9525">
            <a:noFill/>
            <a:miter lim="800000"/>
            <a:headEnd/>
            <a:tailEnd/>
          </a:ln>
        </p:spPr>
        <p:txBody>
          <a:bodyPr wrap="none">
            <a:spAutoFit/>
          </a:bodyPr>
          <a:lstStyle/>
          <a:p>
            <a:r>
              <a:rPr lang="en-US"/>
              <a:t>10-100 </a:t>
            </a:r>
            <a:r>
              <a:rPr lang="en-US">
                <a:latin typeface="Symbol" pitchFamily="18" charset="2"/>
              </a:rPr>
              <a:t>m</a:t>
            </a:r>
            <a:r>
              <a:rPr lang="en-US"/>
              <a:t>m</a:t>
            </a:r>
          </a:p>
        </p:txBody>
      </p:sp>
      <p:sp>
        <p:nvSpPr>
          <p:cNvPr id="31758" name="Text Box 14"/>
          <p:cNvSpPr txBox="1">
            <a:spLocks noChangeArrowheads="1"/>
          </p:cNvSpPr>
          <p:nvPr/>
        </p:nvSpPr>
        <p:spPr bwMode="auto">
          <a:xfrm>
            <a:off x="1054100" y="5075238"/>
            <a:ext cx="957263" cy="366712"/>
          </a:xfrm>
          <a:prstGeom prst="rect">
            <a:avLst/>
          </a:prstGeom>
          <a:noFill/>
          <a:ln w="9525">
            <a:noFill/>
            <a:miter lim="800000"/>
            <a:headEnd/>
            <a:tailEnd/>
          </a:ln>
        </p:spPr>
        <p:txBody>
          <a:bodyPr wrap="none">
            <a:spAutoFit/>
          </a:bodyPr>
          <a:lstStyle/>
          <a:p>
            <a:r>
              <a:rPr lang="en-US"/>
              <a:t>&gt;20 </a:t>
            </a:r>
            <a:r>
              <a:rPr lang="en-US">
                <a:latin typeface="Symbol" pitchFamily="18" charset="2"/>
              </a:rPr>
              <a:t>m</a:t>
            </a:r>
            <a:r>
              <a:rPr lang="en-US"/>
              <a:t>m</a:t>
            </a:r>
          </a:p>
        </p:txBody>
      </p:sp>
      <p:sp>
        <p:nvSpPr>
          <p:cNvPr id="31759" name="Text Box 15"/>
          <p:cNvSpPr txBox="1">
            <a:spLocks noChangeArrowheads="1"/>
          </p:cNvSpPr>
          <p:nvPr/>
        </p:nvSpPr>
        <p:spPr bwMode="auto">
          <a:xfrm>
            <a:off x="1054100" y="5897563"/>
            <a:ext cx="957263" cy="366712"/>
          </a:xfrm>
          <a:prstGeom prst="rect">
            <a:avLst/>
          </a:prstGeom>
          <a:noFill/>
          <a:ln w="9525">
            <a:noFill/>
            <a:miter lim="800000"/>
            <a:headEnd/>
            <a:tailEnd/>
          </a:ln>
        </p:spPr>
        <p:txBody>
          <a:bodyPr wrap="none">
            <a:spAutoFit/>
          </a:bodyPr>
          <a:lstStyle/>
          <a:p>
            <a:r>
              <a:rPr lang="en-US"/>
              <a:t>&gt;50 </a:t>
            </a:r>
            <a:r>
              <a:rPr lang="en-US">
                <a:latin typeface="Symbol" pitchFamily="18" charset="2"/>
              </a:rPr>
              <a:t>m</a:t>
            </a:r>
            <a:r>
              <a:rPr lang="en-US"/>
              <a:t>m</a:t>
            </a:r>
          </a:p>
        </p:txBody>
      </p:sp>
      <p:sp>
        <p:nvSpPr>
          <p:cNvPr id="31760" name="Line 16"/>
          <p:cNvSpPr>
            <a:spLocks noChangeShapeType="1"/>
          </p:cNvSpPr>
          <p:nvPr/>
        </p:nvSpPr>
        <p:spPr bwMode="auto">
          <a:xfrm flipV="1">
            <a:off x="7589838" y="1782763"/>
            <a:ext cx="0" cy="4572000"/>
          </a:xfrm>
          <a:prstGeom prst="line">
            <a:avLst/>
          </a:prstGeom>
          <a:noFill/>
          <a:ln w="25400">
            <a:solidFill>
              <a:schemeClr val="tx1"/>
            </a:solidFill>
            <a:round/>
            <a:headEnd/>
            <a:tailEnd type="triangle" w="lg" len="lg"/>
          </a:ln>
        </p:spPr>
        <p:txBody>
          <a:bodyPr/>
          <a:lstStyle/>
          <a:p>
            <a:endParaRPr lang="en-US"/>
          </a:p>
        </p:txBody>
      </p:sp>
      <p:sp>
        <p:nvSpPr>
          <p:cNvPr id="31761" name="Text Box 17"/>
          <p:cNvSpPr txBox="1">
            <a:spLocks noChangeArrowheads="1"/>
          </p:cNvSpPr>
          <p:nvPr/>
        </p:nvSpPr>
        <p:spPr bwMode="auto">
          <a:xfrm rot="-5400000">
            <a:off x="7214394" y="3804444"/>
            <a:ext cx="1328737" cy="396875"/>
          </a:xfrm>
          <a:prstGeom prst="rect">
            <a:avLst/>
          </a:prstGeom>
          <a:noFill/>
          <a:ln w="9525">
            <a:noFill/>
            <a:miter lim="800000"/>
            <a:headEnd/>
            <a:tailEnd/>
          </a:ln>
        </p:spPr>
        <p:txBody>
          <a:bodyPr wrap="none">
            <a:spAutoFit/>
          </a:bodyPr>
          <a:lstStyle/>
          <a:p>
            <a:r>
              <a:rPr lang="en-US" sz="2000" smtClean="0"/>
              <a:t>Sensitivity</a:t>
            </a:r>
            <a:endParaRPr lang="en-US" sz="2000" dirty="0"/>
          </a:p>
        </p:txBody>
      </p:sp>
      <p:sp>
        <p:nvSpPr>
          <p:cNvPr id="31762" name="Line 18"/>
          <p:cNvSpPr>
            <a:spLocks noChangeShapeType="1"/>
          </p:cNvSpPr>
          <p:nvPr/>
        </p:nvSpPr>
        <p:spPr bwMode="auto">
          <a:xfrm>
            <a:off x="6765925" y="1782763"/>
            <a:ext cx="0" cy="2925762"/>
          </a:xfrm>
          <a:prstGeom prst="line">
            <a:avLst/>
          </a:prstGeom>
          <a:noFill/>
          <a:ln w="25400">
            <a:solidFill>
              <a:schemeClr val="tx1"/>
            </a:solidFill>
            <a:round/>
            <a:headEnd/>
            <a:tailEnd/>
          </a:ln>
        </p:spPr>
        <p:txBody>
          <a:bodyPr/>
          <a:lstStyle/>
          <a:p>
            <a:endParaRPr lang="en-US"/>
          </a:p>
        </p:txBody>
      </p:sp>
      <p:sp>
        <p:nvSpPr>
          <p:cNvPr id="31763" name="Line 19"/>
          <p:cNvSpPr>
            <a:spLocks noChangeShapeType="1"/>
          </p:cNvSpPr>
          <p:nvPr/>
        </p:nvSpPr>
        <p:spPr bwMode="auto">
          <a:xfrm>
            <a:off x="6765925" y="4983163"/>
            <a:ext cx="0" cy="1371600"/>
          </a:xfrm>
          <a:prstGeom prst="line">
            <a:avLst/>
          </a:prstGeom>
          <a:noFill/>
          <a:ln w="25400">
            <a:solidFill>
              <a:schemeClr val="tx1"/>
            </a:solidFill>
            <a:round/>
            <a:headEnd/>
            <a:tailEnd/>
          </a:ln>
        </p:spPr>
        <p:txBody>
          <a:bodyPr/>
          <a:lstStyle/>
          <a:p>
            <a:endParaRPr lang="en-US"/>
          </a:p>
        </p:txBody>
      </p:sp>
      <p:sp>
        <p:nvSpPr>
          <p:cNvPr id="31764" name="Text Box 20"/>
          <p:cNvSpPr txBox="1">
            <a:spLocks noChangeArrowheads="1"/>
          </p:cNvSpPr>
          <p:nvPr/>
        </p:nvSpPr>
        <p:spPr bwMode="auto">
          <a:xfrm rot="5400000">
            <a:off x="6625432" y="2929731"/>
            <a:ext cx="677862" cy="396875"/>
          </a:xfrm>
          <a:prstGeom prst="rect">
            <a:avLst/>
          </a:prstGeom>
          <a:noFill/>
          <a:ln w="9525">
            <a:noFill/>
            <a:miter lim="800000"/>
            <a:headEnd/>
            <a:tailEnd/>
          </a:ln>
        </p:spPr>
        <p:txBody>
          <a:bodyPr wrap="none">
            <a:spAutoFit/>
          </a:bodyPr>
          <a:lstStyle/>
          <a:p>
            <a:r>
              <a:rPr lang="en-US" sz="2000"/>
              <a:t>Fast</a:t>
            </a:r>
          </a:p>
        </p:txBody>
      </p:sp>
      <p:sp>
        <p:nvSpPr>
          <p:cNvPr id="31765" name="Text Box 21"/>
          <p:cNvSpPr txBox="1">
            <a:spLocks noChangeArrowheads="1"/>
          </p:cNvSpPr>
          <p:nvPr/>
        </p:nvSpPr>
        <p:spPr bwMode="auto">
          <a:xfrm rot="5400000">
            <a:off x="6596063" y="5427662"/>
            <a:ext cx="736600" cy="396875"/>
          </a:xfrm>
          <a:prstGeom prst="rect">
            <a:avLst/>
          </a:prstGeom>
          <a:noFill/>
          <a:ln w="9525">
            <a:noFill/>
            <a:miter lim="800000"/>
            <a:headEnd/>
            <a:tailEnd/>
          </a:ln>
        </p:spPr>
        <p:txBody>
          <a:bodyPr wrap="none">
            <a:spAutoFit/>
          </a:bodyPr>
          <a:lstStyle/>
          <a:p>
            <a:r>
              <a:rPr lang="en-US" sz="2000"/>
              <a:t>Slow</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Microscope choice</a:t>
            </a:r>
            <a:endParaRPr lang="en-US" dirty="0"/>
          </a:p>
        </p:txBody>
      </p:sp>
      <p:sp>
        <p:nvSpPr>
          <p:cNvPr id="3" name="Content Placeholder 2"/>
          <p:cNvSpPr>
            <a:spLocks noGrp="1"/>
          </p:cNvSpPr>
          <p:nvPr>
            <p:ph idx="1"/>
          </p:nvPr>
        </p:nvSpPr>
        <p:spPr>
          <a:xfrm>
            <a:off x="457200" y="1775191"/>
            <a:ext cx="8077200" cy="4397009"/>
          </a:xfrm>
        </p:spPr>
        <p:txBody>
          <a:bodyPr>
            <a:normAutofit fontScale="92500" lnSpcReduction="20000"/>
          </a:bodyPr>
          <a:lstStyle/>
          <a:p>
            <a:pPr>
              <a:spcAft>
                <a:spcPts val="600"/>
              </a:spcAft>
            </a:pPr>
            <a:r>
              <a:rPr lang="en-US" b="1" dirty="0" err="1" smtClean="0"/>
              <a:t>Epifluorescence</a:t>
            </a:r>
            <a:r>
              <a:rPr lang="en-US" dirty="0" smtClean="0"/>
              <a:t> – routine work, low magnification, or thin samples where you don’t need high-resolution 3D reconstruction</a:t>
            </a:r>
          </a:p>
          <a:p>
            <a:pPr>
              <a:spcAft>
                <a:spcPts val="600"/>
              </a:spcAft>
            </a:pPr>
            <a:r>
              <a:rPr lang="en-US" b="1" dirty="0" smtClean="0"/>
              <a:t>TIRF</a:t>
            </a:r>
            <a:r>
              <a:rPr lang="en-US" dirty="0" smtClean="0"/>
              <a:t> – samples at the membrane or otherwise at the </a:t>
            </a:r>
            <a:r>
              <a:rPr lang="en-US" dirty="0" err="1" smtClean="0"/>
              <a:t>coverslip</a:t>
            </a:r>
            <a:r>
              <a:rPr lang="en-US" dirty="0" smtClean="0"/>
              <a:t> surface; very high signal-to-noise; single molecule imaging</a:t>
            </a:r>
          </a:p>
          <a:p>
            <a:pPr>
              <a:spcAft>
                <a:spcPts val="600"/>
              </a:spcAft>
            </a:pPr>
            <a:r>
              <a:rPr lang="en-US" b="1" dirty="0" smtClean="0"/>
              <a:t>Spinning Disk </a:t>
            </a:r>
            <a:r>
              <a:rPr lang="en-US" b="1" dirty="0" err="1" smtClean="0"/>
              <a:t>Confocal</a:t>
            </a:r>
            <a:r>
              <a:rPr lang="en-US" b="1" dirty="0" smtClean="0"/>
              <a:t> </a:t>
            </a:r>
            <a:r>
              <a:rPr lang="en-US" dirty="0" smtClean="0"/>
              <a:t>– Live tissue culture cells, yeast, etc, or thin (&lt;30 </a:t>
            </a:r>
            <a:r>
              <a:rPr lang="en-US" dirty="0" smtClean="0">
                <a:latin typeface="Symbol" pitchFamily="18" charset="2"/>
              </a:rPr>
              <a:t>m</a:t>
            </a:r>
            <a:r>
              <a:rPr lang="en-US" dirty="0" smtClean="0"/>
              <a:t>m) tissue sections when you need 3D reconstructions</a:t>
            </a:r>
          </a:p>
          <a:p>
            <a:r>
              <a:rPr lang="en-US" b="1" dirty="0" smtClean="0"/>
              <a:t>Laser-Scanning </a:t>
            </a:r>
            <a:r>
              <a:rPr lang="en-US" b="1" dirty="0" err="1" smtClean="0"/>
              <a:t>Confocal</a:t>
            </a:r>
            <a:r>
              <a:rPr lang="en-US" b="1" dirty="0" smtClean="0"/>
              <a:t> </a:t>
            </a:r>
            <a:r>
              <a:rPr lang="en-US" dirty="0" smtClean="0"/>
              <a:t>– Thick tissues or specimens</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dirty="0" smtClean="0"/>
              <a:t>Acknowledgements:</a:t>
            </a:r>
            <a:endParaRPr lang="en-US" dirty="0"/>
          </a:p>
        </p:txBody>
      </p:sp>
      <p:sp>
        <p:nvSpPr>
          <p:cNvPr id="36867" name="Rectangle 3"/>
          <p:cNvSpPr>
            <a:spLocks noGrp="1" noChangeArrowheads="1"/>
          </p:cNvSpPr>
          <p:nvPr>
            <p:ph idx="1"/>
          </p:nvPr>
        </p:nvSpPr>
        <p:spPr/>
        <p:txBody>
          <a:bodyPr>
            <a:normAutofit lnSpcReduction="10000"/>
          </a:bodyPr>
          <a:lstStyle/>
          <a:p>
            <a:pPr>
              <a:buNone/>
            </a:pPr>
            <a:r>
              <a:rPr lang="en-US" dirty="0" err="1" smtClean="0"/>
              <a:t>Hassel,J</a:t>
            </a:r>
            <a:r>
              <a:rPr lang="en-US" dirty="0" smtClean="0"/>
              <a:t>. and Hand, A. R. (1973) J. </a:t>
            </a:r>
            <a:r>
              <a:rPr lang="en-US" dirty="0" err="1" smtClean="0"/>
              <a:t>Histochem</a:t>
            </a:r>
            <a:r>
              <a:rPr lang="en-US" dirty="0" smtClean="0"/>
              <a:t>. </a:t>
            </a:r>
            <a:r>
              <a:rPr lang="en-US" dirty="0" err="1" smtClean="0"/>
              <a:t>Cytochem</a:t>
            </a:r>
            <a:r>
              <a:rPr lang="en-US" dirty="0" smtClean="0"/>
              <a:t> 22 229-239</a:t>
            </a:r>
          </a:p>
          <a:p>
            <a:pPr>
              <a:buNone/>
            </a:pPr>
            <a:r>
              <a:rPr lang="en-US" dirty="0" smtClean="0"/>
              <a:t>Microscopyu.com</a:t>
            </a:r>
          </a:p>
          <a:p>
            <a:pPr>
              <a:buNone/>
            </a:pPr>
            <a:r>
              <a:rPr lang="en-US" dirty="0" smtClean="0"/>
              <a:t>IHC world.com</a:t>
            </a:r>
          </a:p>
          <a:p>
            <a:pPr>
              <a:buNone/>
            </a:pPr>
            <a:r>
              <a:rPr lang="en-US" dirty="0" err="1" smtClean="0"/>
              <a:t>Confocal</a:t>
            </a:r>
            <a:r>
              <a:rPr lang="en-US" dirty="0" smtClean="0"/>
              <a:t> listserv</a:t>
            </a:r>
          </a:p>
          <a:p>
            <a:pPr>
              <a:buNone/>
            </a:pPr>
            <a:r>
              <a:rPr lang="en-US" dirty="0" smtClean="0"/>
              <a:t>Wright Cell Imaging Facility, Toronto Western Research Institute</a:t>
            </a:r>
          </a:p>
          <a:p>
            <a:pPr>
              <a:buNone/>
            </a:pPr>
            <a:r>
              <a:rPr lang="en-US" dirty="0" smtClean="0"/>
              <a:t>Wikipedia</a:t>
            </a:r>
          </a:p>
          <a:p>
            <a:pPr>
              <a:buNone/>
            </a:pPr>
            <a:r>
              <a:rPr lang="en-US" dirty="0" smtClean="0"/>
              <a:t>Commercial websites – </a:t>
            </a:r>
            <a:r>
              <a:rPr lang="en-US" dirty="0" err="1" smtClean="0"/>
              <a:t>Cargille</a:t>
            </a:r>
            <a:r>
              <a:rPr lang="en-US" dirty="0" smtClean="0"/>
              <a:t>, </a:t>
            </a:r>
            <a:r>
              <a:rPr lang="en-US" dirty="0" err="1" smtClean="0"/>
              <a:t>invitrogen</a:t>
            </a:r>
            <a:r>
              <a:rPr lang="en-US" dirty="0" smtClean="0"/>
              <a:t>, </a:t>
            </a:r>
            <a:r>
              <a:rPr lang="en-US" dirty="0" err="1" smtClean="0"/>
              <a:t>diagger</a:t>
            </a:r>
            <a:r>
              <a:rPr lang="en-US" dirty="0" smtClean="0"/>
              <a:t>, </a:t>
            </a:r>
            <a:r>
              <a:rPr lang="en-US" dirty="0" err="1" smtClean="0"/>
              <a:t>jackson</a:t>
            </a:r>
            <a:r>
              <a:rPr lang="en-US" dirty="0" smtClean="0"/>
              <a:t> </a:t>
            </a:r>
            <a:r>
              <a:rPr lang="en-US" dirty="0" err="1" smtClean="0"/>
              <a:t>immuno</a:t>
            </a:r>
            <a:r>
              <a:rPr lang="en-US" dirty="0" smtClean="0"/>
              <a:t> labs.</a:t>
            </a:r>
          </a:p>
          <a:p>
            <a:pPr>
              <a:buNone/>
            </a:pP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Acknowledgements:</a:t>
            </a:r>
            <a:endParaRPr lang="en-US" dirty="0"/>
          </a:p>
        </p:txBody>
      </p:sp>
      <p:sp>
        <p:nvSpPr>
          <p:cNvPr id="3" name="Content Placeholder 2"/>
          <p:cNvSpPr>
            <a:spLocks noGrp="1"/>
          </p:cNvSpPr>
          <p:nvPr>
            <p:ph idx="1"/>
          </p:nvPr>
        </p:nvSpPr>
        <p:spPr>
          <a:xfrm>
            <a:off x="457200" y="1775191"/>
            <a:ext cx="8077200" cy="739409"/>
          </a:xfrm>
        </p:spPr>
        <p:txBody>
          <a:bodyPr/>
          <a:lstStyle/>
          <a:p>
            <a:r>
              <a:rPr lang="en-US" dirty="0" smtClean="0"/>
              <a:t>Kurt Thorn, Director of the NIC</a:t>
            </a:r>
            <a:endParaRPr lang="en-US" dirty="0"/>
          </a:p>
        </p:txBody>
      </p:sp>
      <p:pic>
        <p:nvPicPr>
          <p:cNvPr id="40962" name="Picture 2"/>
          <p:cNvPicPr>
            <a:picLocks noChangeAspect="1" noChangeArrowheads="1"/>
          </p:cNvPicPr>
          <p:nvPr/>
        </p:nvPicPr>
        <p:blipFill>
          <a:blip r:embed="rId2" cstate="print"/>
          <a:srcRect/>
          <a:stretch>
            <a:fillRect/>
          </a:stretch>
        </p:blipFill>
        <p:spPr bwMode="auto">
          <a:xfrm>
            <a:off x="3124200" y="3048000"/>
            <a:ext cx="2857500" cy="1905000"/>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Acknowledgements:</a:t>
            </a:r>
            <a:endParaRPr lang="en-US" dirty="0"/>
          </a:p>
        </p:txBody>
      </p:sp>
      <p:sp>
        <p:nvSpPr>
          <p:cNvPr id="3" name="Content Placeholder 2"/>
          <p:cNvSpPr>
            <a:spLocks noGrp="1"/>
          </p:cNvSpPr>
          <p:nvPr>
            <p:ph idx="1"/>
          </p:nvPr>
        </p:nvSpPr>
        <p:spPr>
          <a:xfrm>
            <a:off x="457200" y="1775191"/>
            <a:ext cx="8077200" cy="739409"/>
          </a:xfrm>
        </p:spPr>
        <p:txBody>
          <a:bodyPr/>
          <a:lstStyle/>
          <a:p>
            <a:r>
              <a:rPr lang="en-US" dirty="0" smtClean="0"/>
              <a:t>Kurt Thorn, Director of the NIC</a:t>
            </a:r>
            <a:endParaRPr lang="en-US" dirty="0"/>
          </a:p>
        </p:txBody>
      </p:sp>
      <p:pic>
        <p:nvPicPr>
          <p:cNvPr id="40962" name="Picture 2"/>
          <p:cNvPicPr>
            <a:picLocks noChangeAspect="1" noChangeArrowheads="1"/>
          </p:cNvPicPr>
          <p:nvPr/>
        </p:nvPicPr>
        <p:blipFill>
          <a:blip r:embed="rId2" cstate="print"/>
          <a:srcRect/>
          <a:stretch>
            <a:fillRect/>
          </a:stretch>
        </p:blipFill>
        <p:spPr bwMode="auto">
          <a:xfrm>
            <a:off x="3124200" y="3048000"/>
            <a:ext cx="2857500" cy="1905000"/>
          </a:xfrm>
          <a:prstGeom prst="rect">
            <a:avLst/>
          </a:prstGeom>
          <a:noFill/>
          <a:ln w="9525">
            <a:noFill/>
            <a:miter lim="800000"/>
            <a:headEnd/>
            <a:tailEnd/>
          </a:ln>
          <a:effectLst/>
        </p:spPr>
      </p:pic>
      <p:pic>
        <p:nvPicPr>
          <p:cNvPr id="5" name="Picture 2"/>
          <p:cNvPicPr>
            <a:picLocks noChangeAspect="1" noChangeArrowheads="1"/>
          </p:cNvPicPr>
          <p:nvPr/>
        </p:nvPicPr>
        <p:blipFill>
          <a:blip r:embed="rId3" cstate="print"/>
          <a:srcRect/>
          <a:stretch>
            <a:fillRect/>
          </a:stretch>
        </p:blipFill>
        <p:spPr bwMode="auto">
          <a:xfrm>
            <a:off x="3124200" y="3048000"/>
            <a:ext cx="3000375" cy="188595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Thanks!</a:t>
            </a:r>
            <a:endParaRPr lang="en-US" dirty="0"/>
          </a:p>
        </p:txBody>
      </p:sp>
      <p:sp>
        <p:nvSpPr>
          <p:cNvPr id="3" name="Content Placeholder 2"/>
          <p:cNvSpPr>
            <a:spLocks noGrp="1"/>
          </p:cNvSpPr>
          <p:nvPr>
            <p:ph idx="1"/>
          </p:nvPr>
        </p:nvSpPr>
        <p:spPr/>
        <p:txBody>
          <a:bodyPr/>
          <a:lstStyle/>
          <a:p>
            <a:r>
              <a:rPr lang="en-US" dirty="0" smtClean="0"/>
              <a:t>Go out there and do some sample prep so that I can see your samples under the scope – preferably at the NIC!</a:t>
            </a:r>
          </a:p>
          <a:p>
            <a:pPr>
              <a:buNone/>
            </a:pPr>
            <a:endParaRPr lang="en-US" dirty="0" smtClean="0"/>
          </a:p>
          <a:p>
            <a:r>
              <a:rPr lang="en-US" dirty="0" smtClean="0"/>
              <a:t>nic.ucsf.edu</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8038</TotalTime>
  <Words>2678</Words>
  <Application>Microsoft Office PowerPoint</Application>
  <PresentationFormat>On-screen Show (4:3)</PresentationFormat>
  <Paragraphs>390</Paragraphs>
  <Slides>48</Slides>
  <Notes>12</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Module</vt:lpstr>
      <vt:lpstr>Sample Prep and Best Practices for Imaging</vt:lpstr>
      <vt:lpstr>What is Sample Prep?</vt:lpstr>
      <vt:lpstr>What is Sample Prep?</vt:lpstr>
      <vt:lpstr>Order of events:</vt:lpstr>
      <vt:lpstr>Perfect Focus System</vt:lpstr>
      <vt:lpstr>Live Cell Microscopy</vt:lpstr>
      <vt:lpstr>Live cell Microscopy</vt:lpstr>
      <vt:lpstr>Live Cell Microscopy- dyes</vt:lpstr>
      <vt:lpstr>Fixatives</vt:lpstr>
      <vt:lpstr>Glutaraldehyde Fixation:</vt:lpstr>
      <vt:lpstr>Paraformaldehyde</vt:lpstr>
      <vt:lpstr>Foraldehyde fixation</vt:lpstr>
      <vt:lpstr>Fixation</vt:lpstr>
      <vt:lpstr>What is the IHC and ICC?</vt:lpstr>
      <vt:lpstr>IHC Process</vt:lpstr>
      <vt:lpstr>Monoclonal antibody</vt:lpstr>
      <vt:lpstr>Monoclonal Antibody production:</vt:lpstr>
      <vt:lpstr>Polyclonal Antibodies</vt:lpstr>
      <vt:lpstr>Polyclonal antibody production:</vt:lpstr>
      <vt:lpstr>Polyclonal Antibody Production</vt:lpstr>
      <vt:lpstr>Primary antibody-</vt:lpstr>
      <vt:lpstr>Primary Antibody</vt:lpstr>
      <vt:lpstr>Secondary antibodies</vt:lpstr>
      <vt:lpstr>Secondary antibodies- a bit more info</vt:lpstr>
      <vt:lpstr>Take away of an IHC or ICC</vt:lpstr>
      <vt:lpstr>Other- more sensitive detection systems – expensive!</vt:lpstr>
      <vt:lpstr>Refraction and the Refractive Index (RI)</vt:lpstr>
      <vt:lpstr>Mounting Media</vt:lpstr>
      <vt:lpstr>Slide 29</vt:lpstr>
      <vt:lpstr>Slide 30</vt:lpstr>
      <vt:lpstr>Constituents of Mounting Media</vt:lpstr>
      <vt:lpstr>Mounting Media  commercially available</vt:lpstr>
      <vt:lpstr>Mounting Media  commercially available</vt:lpstr>
      <vt:lpstr>A number 1.5 coverslip!</vt:lpstr>
      <vt:lpstr>Use a number .17mm thick coverslip</vt:lpstr>
      <vt:lpstr>The Objective Lens</vt:lpstr>
      <vt:lpstr>Working Distance</vt:lpstr>
      <vt:lpstr>Numerical Aperture</vt:lpstr>
      <vt:lpstr>Resolution of the Microscope</vt:lpstr>
      <vt:lpstr>Light-gathering power</vt:lpstr>
      <vt:lpstr>Choosing an objective</vt:lpstr>
      <vt:lpstr>Choosing an objective</vt:lpstr>
      <vt:lpstr>Which imaging technique should I use?</vt:lpstr>
      <vt:lpstr>Microscope choice</vt:lpstr>
      <vt:lpstr>Acknowledgements:</vt:lpstr>
      <vt:lpstr>Acknowledgements:</vt:lpstr>
      <vt:lpstr>Acknowledgements:</vt:lpstr>
      <vt:lpstr>Thanks!</vt:lpstr>
    </vt:vector>
  </TitlesOfParts>
  <Company>harvard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Neuroscience at the Nikon Imaging Center</dc:title>
  <dc:creator>Kurt Thorn</dc:creator>
  <cp:lastModifiedBy>Sebastian</cp:lastModifiedBy>
  <cp:revision>121</cp:revision>
  <dcterms:created xsi:type="dcterms:W3CDTF">2011-03-24T16:51:59Z</dcterms:created>
  <dcterms:modified xsi:type="dcterms:W3CDTF">2011-03-30T16:07:09Z</dcterms:modified>
</cp:coreProperties>
</file>