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Default Extension="tiff" ContentType="image/tif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8" r:id="rId7"/>
    <p:sldId id="269" r:id="rId8"/>
    <p:sldId id="262" r:id="rId9"/>
    <p:sldId id="263" r:id="rId10"/>
    <p:sldId id="266" r:id="rId11"/>
    <p:sldId id="267" r:id="rId12"/>
    <p:sldId id="271" r:id="rId13"/>
    <p:sldId id="272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F1C36-4701-44E2-A0B8-313AA1E8B8A9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47502-FAB8-430E-9FEA-F747EA7B28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CF1E9-F59B-46B3-BBA8-4B8BF965DEF0}" type="datetimeFigureOut">
              <a:rPr lang="en-US" smtClean="0"/>
              <a:pPr/>
              <a:t>9/19/2011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5E0A1-4113-4DA3-AD13-878FEB7EC7A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8.w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tiff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tiff"/><Relationship Id="rId4" Type="http://schemas.openxmlformats.org/officeDocument/2006/relationships/image" Target="../media/image2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tiff"/><Relationship Id="rId4" Type="http://schemas.openxmlformats.org/officeDocument/2006/relationships/image" Target="../media/image23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Frequency space, </a:t>
            </a:r>
            <a:r>
              <a:rPr lang="en-US" dirty="0" err="1" smtClean="0"/>
              <a:t>fourier</a:t>
            </a:r>
            <a:r>
              <a:rPr lang="en-US" dirty="0" smtClean="0"/>
              <a:t> transforms, and </a:t>
            </a:r>
            <a:r>
              <a:rPr lang="en-US" smtClean="0"/>
              <a:t>image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Kurt Thorn</a:t>
            </a:r>
          </a:p>
          <a:p>
            <a:r>
              <a:rPr lang="en-US" dirty="0" smtClean="0"/>
              <a:t>Nikon Imaging Center</a:t>
            </a:r>
          </a:p>
          <a:p>
            <a:r>
              <a:rPr lang="en-US" dirty="0" smtClean="0"/>
              <a:t>UCSF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6019800" y="3978275"/>
            <a:ext cx="2762250" cy="2719388"/>
            <a:chOff x="6019800" y="3978275"/>
            <a:chExt cx="2762250" cy="2719388"/>
          </a:xfrm>
        </p:grpSpPr>
        <p:sp>
          <p:nvSpPr>
            <p:cNvPr id="55345" name="Line 49"/>
            <p:cNvSpPr>
              <a:spLocks noChangeShapeType="1"/>
            </p:cNvSpPr>
            <p:nvPr/>
          </p:nvSpPr>
          <p:spPr bwMode="auto">
            <a:xfrm flipV="1">
              <a:off x="7348538" y="3978275"/>
              <a:ext cx="0" cy="27193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6" name="Line 50"/>
            <p:cNvSpPr>
              <a:spLocks noChangeShapeType="1"/>
            </p:cNvSpPr>
            <p:nvPr/>
          </p:nvSpPr>
          <p:spPr bwMode="auto">
            <a:xfrm>
              <a:off x="6019800" y="5465763"/>
              <a:ext cx="275907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7" name="Text Box 51"/>
            <p:cNvSpPr txBox="1">
              <a:spLocks noChangeArrowheads="1"/>
            </p:cNvSpPr>
            <p:nvPr/>
          </p:nvSpPr>
          <p:spPr bwMode="auto">
            <a:xfrm>
              <a:off x="6985000" y="4013200"/>
              <a:ext cx="3556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600" i="1" dirty="0" err="1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i="1" baseline="-25000" dirty="0" err="1">
                  <a:solidFill>
                    <a:srgbClr val="000000"/>
                  </a:solidFill>
                  <a:latin typeface="Helvetica" charset="0"/>
                </a:rPr>
                <a:t>y</a:t>
              </a:r>
              <a:endParaRPr lang="en-US" altLang="en-US" sz="1600" b="1" i="1" dirty="0">
                <a:solidFill>
                  <a:srgbClr val="000000"/>
                </a:solidFill>
                <a:latin typeface="Helvetica" charset="0"/>
              </a:endParaRPr>
            </a:p>
          </p:txBody>
        </p:sp>
        <p:sp>
          <p:nvSpPr>
            <p:cNvPr id="55348" name="Text Box 52"/>
            <p:cNvSpPr txBox="1">
              <a:spLocks noChangeArrowheads="1"/>
            </p:cNvSpPr>
            <p:nvPr/>
          </p:nvSpPr>
          <p:spPr bwMode="auto">
            <a:xfrm>
              <a:off x="8426450" y="5453063"/>
              <a:ext cx="3556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600" i="1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Helvetica" charset="0"/>
                </a:rPr>
                <a:t>x</a:t>
              </a:r>
              <a:endParaRPr lang="en-US" altLang="en-US" sz="1600" b="1" i="1">
                <a:solidFill>
                  <a:srgbClr val="000000"/>
                </a:solidFill>
                <a:latin typeface="Helvetica" charset="0"/>
              </a:endParaRPr>
            </a:p>
          </p:txBody>
        </p:sp>
      </p:grp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51" grpId="0"/>
      <p:bldP spid="55356" grpId="0" animBg="1"/>
      <p:bldP spid="553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373923" y="204321"/>
            <a:ext cx="57833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chemeClr val="tx2"/>
                </a:solidFill>
                <a:latin typeface="Chalkboard" charset="0"/>
              </a:rPr>
              <a:t>Properties of the Fourier Transform</a:t>
            </a: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p:oleObj spid="_x0000_s1026" name="Equation" r:id="rId5" imgW="1295400" imgH="254000" progId="Equation.3">
              <p:embed/>
            </p:oleObj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502" y="3252"/>
              <a:ext cx="835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 dirty="0" smtClean="0">
                  <a:solidFill>
                    <a:srgbClr val="660066"/>
                  </a:solidFill>
                  <a:latin typeface="Chalkboard" charset="0"/>
                </a:rPr>
                <a:t>Back Focal</a:t>
              </a:r>
            </a:p>
            <a:p>
              <a:pPr algn="ctr"/>
              <a:r>
                <a:rPr lang="en-US" altLang="en-US" dirty="0" smtClean="0">
                  <a:solidFill>
                    <a:srgbClr val="660066"/>
                  </a:solidFill>
                  <a:latin typeface="Chalkboard" charset="0"/>
                </a:rPr>
                <a:t>Plane</a:t>
              </a:r>
              <a:endParaRPr lang="en-US" altLang="en-US" sz="1800" dirty="0">
                <a:solidFill>
                  <a:srgbClr val="660066"/>
                </a:solidFill>
                <a:latin typeface="Chalkboard" charset="0"/>
              </a:endParaRP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2019543" y="118596"/>
            <a:ext cx="50064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Frequency space and imaging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Arc 19"/>
          <p:cNvSpPr>
            <a:spLocks/>
          </p:cNvSpPr>
          <p:nvPr/>
        </p:nvSpPr>
        <p:spPr bwMode="auto">
          <a:xfrm>
            <a:off x="2157413" y="4994275"/>
            <a:ext cx="360363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5" name="TextBox 44"/>
          <p:cNvSpPr txBox="1"/>
          <p:nvPr/>
        </p:nvSpPr>
        <p:spPr>
          <a:xfrm>
            <a:off x="609600" y="1066800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Imagine a sample composed of a single frequency sine wave</a:t>
            </a:r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609600" y="1905000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It gives rise to a diffraction pattern at a single angle, which maps to a single spot in the back focal plane</a:t>
            </a:r>
            <a:endParaRPr lang="en-US" sz="2000" dirty="0"/>
          </a:p>
        </p:txBody>
      </p:sp>
      <p:sp>
        <p:nvSpPr>
          <p:cNvPr id="47" name="TextBox 46"/>
          <p:cNvSpPr txBox="1"/>
          <p:nvPr/>
        </p:nvSpPr>
        <p:spPr>
          <a:xfrm>
            <a:off x="4800600" y="4495800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The back focal plane IS the </a:t>
            </a:r>
            <a:r>
              <a:rPr lang="en-US" sz="2400" dirty="0" smtClean="0">
                <a:solidFill>
                  <a:srgbClr val="FF0000"/>
                </a:solidFill>
              </a:rPr>
              <a:t>F</a:t>
            </a:r>
            <a:r>
              <a:rPr lang="en-US" sz="2400" dirty="0" smtClean="0">
                <a:solidFill>
                  <a:srgbClr val="FF0000"/>
                </a:solidFill>
              </a:rPr>
              <a:t>ourier transform of your sample!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  <p:bldP spid="52230" grpId="0" animBg="1"/>
      <p:bldP spid="52231" grpId="0" animBg="1"/>
      <p:bldP spid="52232" grpId="0" animBg="1"/>
      <p:bldP spid="52234" grpId="0"/>
      <p:bldP spid="52235" grpId="0"/>
      <p:bldP spid="52238" grpId="0" animBg="1"/>
      <p:bldP spid="52239" grpId="0" animBg="1"/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502" y="3252"/>
              <a:ext cx="835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 dirty="0" smtClean="0">
                  <a:solidFill>
                    <a:srgbClr val="660066"/>
                  </a:solidFill>
                  <a:latin typeface="Chalkboard" charset="0"/>
                </a:rPr>
                <a:t>Back Focal</a:t>
              </a:r>
            </a:p>
            <a:p>
              <a:pPr algn="ctr"/>
              <a:r>
                <a:rPr lang="en-US" altLang="en-US" dirty="0" smtClean="0">
                  <a:solidFill>
                    <a:srgbClr val="660066"/>
                  </a:solidFill>
                  <a:latin typeface="Chalkboard" charset="0"/>
                </a:rPr>
                <a:t>Plane</a:t>
              </a:r>
              <a:endParaRPr lang="en-US" altLang="en-US" sz="1800" dirty="0">
                <a:solidFill>
                  <a:srgbClr val="660066"/>
                </a:solidFill>
                <a:latin typeface="Chalkboard" charset="0"/>
              </a:endParaRP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1869665" y="118596"/>
            <a:ext cx="53062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Frequency space and resolution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Arc 19"/>
          <p:cNvSpPr>
            <a:spLocks/>
          </p:cNvSpPr>
          <p:nvPr/>
        </p:nvSpPr>
        <p:spPr bwMode="auto">
          <a:xfrm>
            <a:off x="2157413" y="4994275"/>
            <a:ext cx="360363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09600" y="10668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Some frequencies fall outside the back focal plane and are not observed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3" cstate="print"/>
          <a:srcRect l="19171" t="7792" r="20725" b="16883"/>
          <a:stretch>
            <a:fillRect/>
          </a:stretch>
        </p:blipFill>
        <p:spPr bwMode="auto">
          <a:xfrm>
            <a:off x="61722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338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400502" y="1143000"/>
            <a:ext cx="633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0A0666"/>
                </a:solidFill>
                <a:latin typeface="Chalkboard" charset="0"/>
              </a:rPr>
              <a:t>PSF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ow pass filter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86400" y="4114800"/>
            <a:ext cx="2438400" cy="2438400"/>
          </a:xfrm>
          <a:prstGeom prst="rect">
            <a:avLst/>
          </a:prstGeom>
        </p:spPr>
      </p:pic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1893776" y="118596"/>
            <a:ext cx="52437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Filtering with Fourier transforms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pic>
        <p:nvPicPr>
          <p:cNvPr id="8" name="Picture 7" descr="FITC-500m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" y="838200"/>
            <a:ext cx="2438400" cy="24384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3962400" y="838200"/>
            <a:ext cx="3962400" cy="2438400"/>
            <a:chOff x="3962400" y="838200"/>
            <a:chExt cx="3962400" cy="2438400"/>
          </a:xfrm>
        </p:grpSpPr>
        <p:pic>
          <p:nvPicPr>
            <p:cNvPr id="7" name="Picture 6" descr="FFT.t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838200"/>
              <a:ext cx="2438400" cy="2438400"/>
            </a:xfrm>
            <a:prstGeom prst="rect">
              <a:avLst/>
            </a:prstGeom>
          </p:spPr>
        </p:pic>
        <p:cxnSp>
          <p:nvCxnSpPr>
            <p:cNvPr id="13" name="Straight Arrow Connector 12"/>
            <p:cNvCxnSpPr/>
            <p:nvPr/>
          </p:nvCxnSpPr>
          <p:spPr>
            <a:xfrm>
              <a:off x="4038600" y="2133600"/>
              <a:ext cx="11430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3962400" y="1447800"/>
              <a:ext cx="1204912" cy="66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Fourier</a:t>
              </a:r>
            </a:p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transform</a:t>
              </a:r>
              <a:endParaRPr lang="en-US" sz="1800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486400" y="3429000"/>
            <a:ext cx="2543716" cy="3124200"/>
            <a:chOff x="5486400" y="3429000"/>
            <a:chExt cx="2543716" cy="3124200"/>
          </a:xfrm>
        </p:grpSpPr>
        <p:pic>
          <p:nvPicPr>
            <p:cNvPr id="10" name="Picture 9" descr="Low-pass FFT.t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4114800"/>
              <a:ext cx="2438400" cy="2438400"/>
            </a:xfrm>
            <a:prstGeom prst="rect">
              <a:avLst/>
            </a:prstGeom>
          </p:spPr>
        </p:pic>
        <p:sp>
          <p:nvSpPr>
            <p:cNvPr id="17" name="Rectangle 47"/>
            <p:cNvSpPr>
              <a:spLocks noChangeArrowheads="1"/>
            </p:cNvSpPr>
            <p:nvPr/>
          </p:nvSpPr>
          <p:spPr bwMode="auto">
            <a:xfrm>
              <a:off x="6858000" y="3429000"/>
              <a:ext cx="1172116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  <a:t>Low-pass</a:t>
              </a:r>
              <a:b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</a:br>
              <a: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  <a:t>filter</a:t>
              </a:r>
              <a:endParaRPr lang="en-US" sz="1800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705600" y="3429000"/>
              <a:ext cx="0" cy="53340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1295400" y="4114800"/>
            <a:ext cx="3948112" cy="2438400"/>
            <a:chOff x="1295400" y="4114800"/>
            <a:chExt cx="3948112" cy="2438400"/>
          </a:xfrm>
        </p:grpSpPr>
        <p:pic>
          <p:nvPicPr>
            <p:cNvPr id="11" name="Picture 10" descr="Low-pass Result.tif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400" y="4114800"/>
              <a:ext cx="2438400" cy="2438400"/>
            </a:xfrm>
            <a:prstGeom prst="rect">
              <a:avLst/>
            </a:prstGeom>
          </p:spPr>
        </p:pic>
        <p:cxnSp>
          <p:nvCxnSpPr>
            <p:cNvPr id="20" name="Straight Arrow Connector 19"/>
            <p:cNvCxnSpPr/>
            <p:nvPr/>
          </p:nvCxnSpPr>
          <p:spPr>
            <a:xfrm flipH="1">
              <a:off x="4038600" y="5410200"/>
              <a:ext cx="11430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4038600" y="4724400"/>
              <a:ext cx="1204912" cy="66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Fourier</a:t>
              </a:r>
            </a:p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transform</a:t>
              </a:r>
              <a:endParaRPr lang="en-US" sz="1800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1893776" y="118596"/>
            <a:ext cx="52437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Filtering with Fourier transforms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pic>
        <p:nvPicPr>
          <p:cNvPr id="8" name="Picture 7" descr="FITC-500ms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838200"/>
            <a:ext cx="2438400" cy="2438400"/>
          </a:xfrm>
          <a:prstGeom prst="rect">
            <a:avLst/>
          </a:prstGeom>
        </p:spPr>
      </p:pic>
      <p:pic>
        <p:nvPicPr>
          <p:cNvPr id="7" name="Picture 6" descr="FFT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86400" y="838200"/>
            <a:ext cx="2438400" cy="24384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4038600" y="2133600"/>
            <a:ext cx="11430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7"/>
          <p:cNvSpPr>
            <a:spLocks noChangeArrowheads="1"/>
          </p:cNvSpPr>
          <p:nvPr/>
        </p:nvSpPr>
        <p:spPr bwMode="auto">
          <a:xfrm>
            <a:off x="3962400" y="1447800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295400" y="4114800"/>
            <a:ext cx="3948112" cy="2438400"/>
            <a:chOff x="1295400" y="4191000"/>
            <a:chExt cx="3948112" cy="2438400"/>
          </a:xfrm>
        </p:grpSpPr>
        <p:cxnSp>
          <p:nvCxnSpPr>
            <p:cNvPr id="20" name="Straight Arrow Connector 19"/>
            <p:cNvCxnSpPr/>
            <p:nvPr/>
          </p:nvCxnSpPr>
          <p:spPr>
            <a:xfrm flipH="1">
              <a:off x="4038600" y="5410200"/>
              <a:ext cx="1143000" cy="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4038600" y="4724400"/>
              <a:ext cx="1204912" cy="66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Fourier</a:t>
              </a:r>
            </a:p>
            <a:p>
              <a:pPr algn="ctr"/>
              <a:r>
                <a:rPr lang="en-US" altLang="en-US" sz="1800" i="1" dirty="0">
                  <a:solidFill>
                    <a:schemeClr val="accent2"/>
                  </a:solidFill>
                  <a:latin typeface="Chalkboard" charset="0"/>
                </a:rPr>
                <a:t>transform</a:t>
              </a:r>
              <a:endParaRPr lang="en-US" sz="1800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  <p:pic>
          <p:nvPicPr>
            <p:cNvPr id="19" name="Picture 18" descr="High-pass Result.t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5400" y="4191000"/>
              <a:ext cx="2438400" cy="2438400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5486400" y="3352800"/>
            <a:ext cx="2569365" cy="3200400"/>
            <a:chOff x="5486400" y="3429000"/>
            <a:chExt cx="2569365" cy="3200400"/>
          </a:xfrm>
        </p:grpSpPr>
        <p:sp>
          <p:nvSpPr>
            <p:cNvPr id="17" name="Rectangle 47"/>
            <p:cNvSpPr>
              <a:spLocks noChangeArrowheads="1"/>
            </p:cNvSpPr>
            <p:nvPr/>
          </p:nvSpPr>
          <p:spPr bwMode="auto">
            <a:xfrm>
              <a:off x="6832352" y="3429000"/>
              <a:ext cx="1223413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  <a:t>High-pass</a:t>
              </a:r>
              <a:b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</a:br>
              <a:r>
                <a:rPr lang="en-US" altLang="en-US" sz="1800" i="1" dirty="0" smtClean="0">
                  <a:solidFill>
                    <a:schemeClr val="accent2"/>
                  </a:solidFill>
                  <a:latin typeface="Chalkboard" charset="0"/>
                </a:rPr>
                <a:t>filter</a:t>
              </a:r>
              <a:endParaRPr lang="en-US" sz="1800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705600" y="3429000"/>
              <a:ext cx="0" cy="533400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High-pass FFT.t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4191000"/>
              <a:ext cx="2438400" cy="2438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3253928" y="118596"/>
            <a:ext cx="25234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Stranger filters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pic>
        <p:nvPicPr>
          <p:cNvPr id="8" name="Picture 7" descr="FITC-500ms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838200"/>
            <a:ext cx="2438400" cy="2438400"/>
          </a:xfrm>
          <a:prstGeom prst="rect">
            <a:avLst/>
          </a:prstGeom>
        </p:spPr>
      </p:pic>
      <p:pic>
        <p:nvPicPr>
          <p:cNvPr id="7" name="Picture 6" descr="FFT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86400" y="838200"/>
            <a:ext cx="2438400" cy="24384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4038600" y="2133600"/>
            <a:ext cx="11430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7"/>
          <p:cNvSpPr>
            <a:spLocks noChangeArrowheads="1"/>
          </p:cNvSpPr>
          <p:nvPr/>
        </p:nvSpPr>
        <p:spPr bwMode="auto">
          <a:xfrm>
            <a:off x="3962400" y="1447800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038600" y="5181600"/>
            <a:ext cx="11430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47"/>
          <p:cNvSpPr>
            <a:spLocks noChangeArrowheads="1"/>
          </p:cNvSpPr>
          <p:nvPr/>
        </p:nvSpPr>
        <p:spPr bwMode="auto">
          <a:xfrm>
            <a:off x="4038600" y="4495800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705600" y="3352800"/>
            <a:ext cx="0" cy="3048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Low-pass FFT.t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86400" y="3733800"/>
            <a:ext cx="2438400" cy="2438400"/>
          </a:xfrm>
          <a:prstGeom prst="rect">
            <a:avLst/>
          </a:prstGeom>
        </p:spPr>
      </p:pic>
      <p:pic>
        <p:nvPicPr>
          <p:cNvPr id="26" name="Picture 25" descr="Low-pass Result.t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5400" y="3733800"/>
            <a:ext cx="2438400" cy="2438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62484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Blurs vertical objects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3253928" y="118596"/>
            <a:ext cx="25234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tx2"/>
                </a:solidFill>
                <a:latin typeface="Chalkboard" charset="0"/>
              </a:rPr>
              <a:t>Stranger filters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pic>
        <p:nvPicPr>
          <p:cNvPr id="8" name="Picture 7" descr="FITC-500ms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838200"/>
            <a:ext cx="2438400" cy="2438400"/>
          </a:xfrm>
          <a:prstGeom prst="rect">
            <a:avLst/>
          </a:prstGeom>
        </p:spPr>
      </p:pic>
      <p:pic>
        <p:nvPicPr>
          <p:cNvPr id="7" name="Picture 6" descr="FFT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86400" y="838200"/>
            <a:ext cx="2438400" cy="24384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4038600" y="2133600"/>
            <a:ext cx="11430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7"/>
          <p:cNvSpPr>
            <a:spLocks noChangeArrowheads="1"/>
          </p:cNvSpPr>
          <p:nvPr/>
        </p:nvSpPr>
        <p:spPr bwMode="auto">
          <a:xfrm>
            <a:off x="3962400" y="1447800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038600" y="5181600"/>
            <a:ext cx="1143000" cy="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47"/>
          <p:cNvSpPr>
            <a:spLocks noChangeArrowheads="1"/>
          </p:cNvSpPr>
          <p:nvPr/>
        </p:nvSpPr>
        <p:spPr bwMode="auto">
          <a:xfrm>
            <a:off x="4038600" y="4495800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705600" y="3352800"/>
            <a:ext cx="0" cy="304800"/>
          </a:xfrm>
          <a:prstGeom prst="straightConnector1">
            <a:avLst/>
          </a:prstGeom>
          <a:ln w="28575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w-pass FFT.t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86400" y="3733800"/>
            <a:ext cx="2438400" cy="2438400"/>
          </a:xfrm>
          <a:prstGeom prst="rect">
            <a:avLst/>
          </a:prstGeom>
        </p:spPr>
      </p:pic>
      <p:pic>
        <p:nvPicPr>
          <p:cNvPr id="14" name="Picture 13" descr="Low-pass Result.t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5400" y="3733800"/>
            <a:ext cx="2438400" cy="2438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2484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Blurs horizontal objects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Mats </a:t>
            </a:r>
            <a:r>
              <a:rPr lang="en-US" dirty="0" err="1" smtClean="0"/>
              <a:t>Gustafsson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410</Words>
  <Application>Microsoft Office PowerPoint</Application>
  <PresentationFormat>On-screen Show (4:3)</PresentationFormat>
  <Paragraphs>145</Paragraphs>
  <Slides>14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Equation</vt:lpstr>
      <vt:lpstr>Frequency space, fourier transforms, and image analysis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Kurt Thorn</dc:creator>
  <cp:lastModifiedBy>Kurt Thorn</cp:lastModifiedBy>
  <cp:revision>10</cp:revision>
  <dcterms:created xsi:type="dcterms:W3CDTF">2011-09-17T11:42:09Z</dcterms:created>
  <dcterms:modified xsi:type="dcterms:W3CDTF">2011-09-20T07:02:46Z</dcterms:modified>
</cp:coreProperties>
</file>