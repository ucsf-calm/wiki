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xls" ContentType="application/vnd.ms-exce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Default Extension="emf" ContentType="image/x-emf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Default Extension="tiff" ContentType="image/tiff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17" r:id="rId3"/>
    <p:sldId id="372" r:id="rId4"/>
    <p:sldId id="443" r:id="rId5"/>
    <p:sldId id="373" r:id="rId6"/>
    <p:sldId id="374" r:id="rId7"/>
    <p:sldId id="279" r:id="rId8"/>
    <p:sldId id="349" r:id="rId9"/>
    <p:sldId id="380" r:id="rId10"/>
    <p:sldId id="386" r:id="rId11"/>
    <p:sldId id="383" r:id="rId12"/>
    <p:sldId id="446" r:id="rId13"/>
    <p:sldId id="444" r:id="rId14"/>
    <p:sldId id="392" r:id="rId15"/>
    <p:sldId id="445" r:id="rId16"/>
    <p:sldId id="447" r:id="rId17"/>
    <p:sldId id="387" r:id="rId18"/>
    <p:sldId id="388" r:id="rId19"/>
    <p:sldId id="389" r:id="rId20"/>
    <p:sldId id="390" r:id="rId21"/>
    <p:sldId id="428" r:id="rId22"/>
    <p:sldId id="429" r:id="rId23"/>
    <p:sldId id="353" r:id="rId24"/>
    <p:sldId id="391" r:id="rId25"/>
    <p:sldId id="448" r:id="rId26"/>
    <p:sldId id="449" r:id="rId27"/>
    <p:sldId id="394" r:id="rId28"/>
    <p:sldId id="424" r:id="rId29"/>
    <p:sldId id="395" r:id="rId30"/>
    <p:sldId id="422" r:id="rId31"/>
    <p:sldId id="398" r:id="rId32"/>
    <p:sldId id="411" r:id="rId33"/>
    <p:sldId id="412" r:id="rId34"/>
    <p:sldId id="413" r:id="rId35"/>
    <p:sldId id="450" r:id="rId36"/>
    <p:sldId id="451" r:id="rId37"/>
    <p:sldId id="452" r:id="rId38"/>
    <p:sldId id="399" r:id="rId39"/>
    <p:sldId id="331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00"/>
    <a:srgbClr val="B400FF"/>
    <a:srgbClr val="FF0000"/>
    <a:srgbClr val="EDE7E7"/>
    <a:srgbClr val="FFFFFF"/>
    <a:srgbClr val="FFFF00"/>
    <a:srgbClr val="00FF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7" autoAdjust="0"/>
    <p:restoredTop sz="89338" autoAdjust="0"/>
  </p:normalViewPr>
  <p:slideViewPr>
    <p:cSldViewPr>
      <p:cViewPr>
        <p:scale>
          <a:sx n="60" d="100"/>
          <a:sy n="60" d="100"/>
        </p:scale>
        <p:origin x="-780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08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4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269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69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00FAE3-55FF-4B19-95D2-CDB6C9169B0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47553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D762A1E-8BE4-48EE-94B2-12782C3F4B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749396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8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7468E6-F944-461C-82F8-74E6BEE54903}" type="slidenum">
              <a:rPr lang="en-US"/>
              <a:pPr/>
              <a:t>1</a:t>
            </a:fld>
            <a:endParaRPr lang="en-US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C6027C-D4C9-42FD-B309-32E3D1F798C2}" type="slidenum">
              <a:rPr lang="en-US"/>
              <a:pPr/>
              <a:t>2</a:t>
            </a:fld>
            <a:endParaRPr lang="en-US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7CF3-C8F6-4EBE-8077-CCB02C3BF9C3}" type="slidenum">
              <a:rPr lang="en-US"/>
              <a:pPr/>
              <a:t>3</a:t>
            </a:fld>
            <a:endParaRPr lang="en-US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7CF3-C8F6-4EBE-8077-CCB02C3BF9C3}" type="slidenum">
              <a:rPr lang="en-US"/>
              <a:pPr/>
              <a:t>4</a:t>
            </a:fld>
            <a:endParaRPr lang="en-US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D63C89-0207-473E-A2D8-4FE7BBE2EC1D}" type="slidenum">
              <a:rPr lang="en-US"/>
              <a:pPr/>
              <a:t>5</a:t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D9058D-556F-490A-BB70-C375BE2E30C1}" type="slidenum">
              <a:rPr lang="en-US"/>
              <a:pPr/>
              <a:t>6</a:t>
            </a:fld>
            <a:endParaRPr lang="en-US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D0C4F9-5D53-4A61-9CBF-7A13B8C7DA0F}" type="slidenum">
              <a:rPr lang="en-US"/>
              <a:pPr/>
              <a:t>7</a:t>
            </a:fld>
            <a:endParaRPr 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546B38-F040-4747-AE38-787E411E88D1}" type="slidenum">
              <a:rPr lang="en-US"/>
              <a:pPr/>
              <a:t>8</a:t>
            </a:fld>
            <a:endParaRPr lang="en-US"/>
          </a:p>
        </p:txBody>
      </p:sp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8C3807-377F-4602-B98B-CE3376282E0C}" type="slidenum">
              <a:rPr lang="en-US"/>
              <a:pPr/>
              <a:t>9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D974CB-E944-47EB-98C0-4262A7EAC041}" type="slidenum">
              <a:rPr lang="en-US"/>
              <a:pPr/>
              <a:t>10</a:t>
            </a:fld>
            <a:endParaRPr lang="en-US"/>
          </a:p>
        </p:txBody>
      </p:sp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7846D-1AA9-432E-BFFC-2A60B868C369}" type="slidenum">
              <a:rPr lang="en-US"/>
              <a:pPr/>
              <a:t>11</a:t>
            </a:fld>
            <a:endParaRPr lang="en-US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5F66A6-9928-4261-9E2C-C3C869332774}" type="slidenum">
              <a:rPr lang="en-US"/>
              <a:pPr/>
              <a:t>14</a:t>
            </a:fld>
            <a:endParaRPr lang="en-US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BDD344-BACD-4C0D-962A-1FC5E08715D6}" type="slidenum">
              <a:rPr lang="en-US"/>
              <a:pPr/>
              <a:t>17</a:t>
            </a:fld>
            <a:endParaRPr lang="en-US"/>
          </a:p>
        </p:txBody>
      </p:sp>
      <p:sp>
        <p:nvSpPr>
          <p:cNvPr id="23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7A104F-88EA-47DB-9387-FFB95F6BC79D}" type="slidenum">
              <a:rPr lang="en-US"/>
              <a:pPr/>
              <a:t>18</a:t>
            </a:fld>
            <a:endParaRPr lang="en-U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F8EAC8-D42B-4F4F-B2DD-CAF1F149C436}" type="slidenum">
              <a:rPr lang="en-US"/>
              <a:pPr/>
              <a:t>19</a:t>
            </a:fld>
            <a:endParaRPr lang="en-US"/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10F9F1-AC83-4DA4-B855-5FAD5630350D}" type="slidenum">
              <a:rPr lang="en-US"/>
              <a:pPr/>
              <a:t>20</a:t>
            </a:fld>
            <a:endParaRPr lang="en-US"/>
          </a:p>
        </p:txBody>
      </p:sp>
      <p:sp>
        <p:nvSpPr>
          <p:cNvPr id="24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A105B3-7CB0-473D-8FE8-8A247F76200B}" type="slidenum">
              <a:rPr lang="en-US"/>
              <a:pPr/>
              <a:t>21</a:t>
            </a:fld>
            <a:endParaRPr lang="en-US"/>
          </a:p>
        </p:txBody>
      </p:sp>
      <p:sp>
        <p:nvSpPr>
          <p:cNvPr id="321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481A89-ECC3-4332-924D-587BFF64CC82}" type="slidenum">
              <a:rPr lang="en-US"/>
              <a:pPr/>
              <a:t>22</a:t>
            </a:fld>
            <a:endParaRPr lang="en-US"/>
          </a:p>
        </p:txBody>
      </p:sp>
      <p:sp>
        <p:nvSpPr>
          <p:cNvPr id="323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10D7FD-951F-420A-AB2C-FCB7C1C08E9C}" type="slidenum">
              <a:rPr lang="en-US"/>
              <a:pPr/>
              <a:t>23</a:t>
            </a:fld>
            <a:endParaRPr lang="en-US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348A95-B203-4937-9FF1-FEE08095BB02}" type="slidenum">
              <a:rPr lang="en-US"/>
              <a:pPr/>
              <a:t>24</a:t>
            </a:fld>
            <a:endParaRPr lang="en-US"/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762A1E-8BE4-48EE-94B2-12782C3F4B2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0B37DE-6E8D-44BA-8615-6D225581603E}" type="slidenum">
              <a:rPr lang="en-US"/>
              <a:pPr/>
              <a:t>27</a:t>
            </a:fld>
            <a:endParaRPr lang="en-US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structure of FITC, TRITC, Cy3, Cy5</a:t>
            </a:r>
          </a:p>
          <a:p>
            <a:r>
              <a:rPr lang="en-US"/>
              <a:t>Discuss labeling strategies for proteins (targetting primary amino groups or sulfhydryls (cystein)</a:t>
            </a:r>
          </a:p>
          <a:p>
            <a:r>
              <a:rPr lang="en-US"/>
              <a:t>Explain direct and indirect immuno-fluorescence.  </a:t>
            </a:r>
          </a:p>
          <a:p>
            <a:r>
              <a:rPr lang="en-US"/>
              <a:t>Show a number of images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24F1C7-FA2E-4743-B887-D683FB9DE34D}" type="slidenum">
              <a:rPr lang="en-US"/>
              <a:pPr/>
              <a:t>28</a:t>
            </a:fld>
            <a:endParaRPr lang="en-US"/>
          </a:p>
        </p:txBody>
      </p:sp>
      <p:sp>
        <p:nvSpPr>
          <p:cNvPr id="31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67231-AE6F-4B8B-BD03-FE941A485749}" type="slidenum">
              <a:rPr lang="en-US"/>
              <a:pPr/>
              <a:t>29</a:t>
            </a:fld>
            <a:endParaRPr lang="en-US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structure of Ethidium Bromide (intercalation), DAPI and Hoechst 33342 (minor groove binders).</a:t>
            </a:r>
          </a:p>
          <a:p>
            <a:r>
              <a:rPr lang="en-US"/>
              <a:t>Fluorescence emission is highly enhanced after DNA binding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E92ED9-6F78-4116-A239-B599ABE03AFA}" type="slidenum">
              <a:rPr lang="en-US"/>
              <a:pPr/>
              <a:t>30</a:t>
            </a:fld>
            <a:endParaRPr lang="en-US"/>
          </a:p>
        </p:txBody>
      </p:sp>
      <p:sp>
        <p:nvSpPr>
          <p:cNvPr id="309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6F82E5-C5DB-46E2-BCD0-174C142BED60}" type="slidenum">
              <a:rPr lang="en-US"/>
              <a:pPr/>
              <a:t>31</a:t>
            </a:fld>
            <a:endParaRPr lang="en-US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364606-6A75-4BE9-9DE5-F68179078099}" type="slidenum">
              <a:rPr lang="en-US"/>
              <a:pPr/>
              <a:t>32</a:t>
            </a:fld>
            <a:endParaRPr lang="en-US"/>
          </a:p>
        </p:txBody>
      </p:sp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89DFA0-9235-409F-BF58-8EFCE9ECED25}" type="slidenum">
              <a:rPr lang="en-US"/>
              <a:pPr/>
              <a:t>33</a:t>
            </a:fld>
            <a:endParaRPr lang="en-US"/>
          </a:p>
        </p:txBody>
      </p:sp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B02C8D-C75A-4C73-A284-C7F41BE26844}" type="slidenum">
              <a:rPr lang="en-US"/>
              <a:pPr/>
              <a:t>34</a:t>
            </a:fld>
            <a:endParaRPr lang="en-US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C4ECA6-054B-4C61-BEA8-C54DE8B48124}" type="slidenum">
              <a:rPr lang="en-US"/>
              <a:pPr/>
              <a:t>38</a:t>
            </a:fld>
            <a:endParaRPr lang="en-US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45E95-96B2-4C0E-B418-225AC7687BBB}" type="slidenum">
              <a:rPr lang="en-US"/>
              <a:pPr/>
              <a:t>39</a:t>
            </a:fld>
            <a:endParaRPr lang="en-US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4EED3C-C737-4038-A5C1-E428603D54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A6448-39B5-4052-9F62-2B57F41C6C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2A4686-C74F-4100-8CEA-A89DF3C056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AE7EEE-516F-47E5-A481-DD3C1DC2492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81BF89-042C-4AA1-87CA-56C8879EB9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BBF1F-F3D6-4354-9AEA-A4A4BD8F78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EDF36E-6424-435C-A3C8-D2755139F7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4D5586-57AD-4B52-949A-D750E6BBF0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37A55-926F-4304-92C8-B4F555D5AF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E40E6-6C83-4598-AD74-965EB064C59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AFC648-71DC-4A60-A10F-10B7755CD55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4827CAF-9131-41E8-86E1-33EE09A895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5353F05-A90A-4166-B292-FCEEDF9901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F4A0DB5-DFAB-4466-906D-7A82461405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7B70D01-F8FD-470D-96DD-ADA3BDA7153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ヒラギノ角ゴ Pro W3" pitchFamily="84" charset="-128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ヒラギノ角ゴ Pro W3" pitchFamily="84" charset="-128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ヒラギノ角ゴ Pro W3" pitchFamily="84" charset="-128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ヒラギノ角ゴ Pro W3" pitchFamily="8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ヒラギノ角ゴ Pro W3" pitchFamily="8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ヒラギノ角ゴ Pro W3" pitchFamily="8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ヒラギノ角ゴ Pro W3" pitchFamily="8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ヒラギノ角ゴ Pro W3" pitchFamily="84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Microsoft_Office_Excel_97-2003_Worksheet4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Microsoft_Office_Excel_97-2003_Worksheet3.xls"/><Relationship Id="rId5" Type="http://schemas.openxmlformats.org/officeDocument/2006/relationships/oleObject" Target="../embeddings/Microsoft_Office_Excel_97-2003_Worksheet2.xls"/><Relationship Id="rId4" Type="http://schemas.openxmlformats.org/officeDocument/2006/relationships/oleObject" Target="../embeddings/Microsoft_Office_Excel_97-2003_Worksheet1.xls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roma.com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 descr="mitosi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57200"/>
            <a:ext cx="8229600" cy="2895600"/>
          </a:xfrm>
          <a:solidFill>
            <a:schemeClr val="tx1">
              <a:alpha val="60001"/>
            </a:schemeClr>
          </a:solidFill>
          <a:ln/>
        </p:spPr>
        <p:txBody>
          <a:bodyPr/>
          <a:lstStyle/>
          <a:p>
            <a:r>
              <a:rPr lang="en-US" sz="3600" dirty="0">
                <a:solidFill>
                  <a:srgbClr val="FFFFFF"/>
                </a:solidFill>
              </a:rPr>
              <a:t>Fluorescence </a:t>
            </a:r>
            <a:r>
              <a:rPr lang="en-US" sz="3600" dirty="0" smtClean="0">
                <a:solidFill>
                  <a:srgbClr val="FFFFFF"/>
                </a:solidFill>
              </a:rPr>
              <a:t>Microscopy: Small Molecule Probes</a:t>
            </a:r>
            <a:r>
              <a:rPr lang="en-US" sz="3600" dirty="0">
                <a:solidFill>
                  <a:srgbClr val="FFFFFF"/>
                </a:solidFill>
              </a:rPr>
              <a:t/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/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Kurt Thorn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NIC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fluorescence?</a:t>
            </a:r>
          </a:p>
        </p:txBody>
      </p:sp>
      <p:pic>
        <p:nvPicPr>
          <p:cNvPr id="129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19300" y="2325688"/>
            <a:ext cx="5105400" cy="220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9030" name="Text Box 6"/>
          <p:cNvSpPr txBox="1">
            <a:spLocks noChangeArrowheads="1"/>
          </p:cNvSpPr>
          <p:nvPr/>
        </p:nvSpPr>
        <p:spPr bwMode="auto">
          <a:xfrm>
            <a:off x="1066800" y="5181600"/>
            <a:ext cx="7086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Emission light is longer wavelength (lower energy)</a:t>
            </a:r>
            <a:br>
              <a:rPr lang="en-US" sz="2400"/>
            </a:br>
            <a:r>
              <a:rPr lang="en-US" sz="2400"/>
              <a:t>than excitation light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ChangeArrowheads="1"/>
          </p:cNvSpPr>
          <p:nvPr/>
        </p:nvSpPr>
        <p:spPr bwMode="auto">
          <a:xfrm>
            <a:off x="838200" y="417513"/>
            <a:ext cx="7620000" cy="95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>
                <a:solidFill>
                  <a:schemeClr val="tx2"/>
                </a:solidFill>
                <a:latin typeface="Chalkboard" charset="0"/>
              </a:rPr>
              <a:t>Jablonski diagram</a:t>
            </a:r>
          </a:p>
          <a:p>
            <a:pPr algn="ctr">
              <a:lnSpc>
                <a:spcPct val="90000"/>
              </a:lnSpc>
            </a:pPr>
            <a:r>
              <a:rPr lang="en-US" sz="2400">
                <a:solidFill>
                  <a:schemeClr val="tx2"/>
                </a:solidFill>
                <a:latin typeface="Chalkboard" charset="0"/>
              </a:rPr>
              <a:t>(Molecular energy diagram)</a:t>
            </a:r>
          </a:p>
        </p:txBody>
      </p:sp>
      <p:sp>
        <p:nvSpPr>
          <p:cNvPr id="196611" name="Line 3"/>
          <p:cNvSpPr>
            <a:spLocks noChangeShapeType="1"/>
          </p:cNvSpPr>
          <p:nvPr/>
        </p:nvSpPr>
        <p:spPr bwMode="auto">
          <a:xfrm flipH="1">
            <a:off x="3536950" y="657225"/>
            <a:ext cx="134938" cy="93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6612" name="Group 4"/>
          <p:cNvGrpSpPr>
            <a:grpSpLocks/>
          </p:cNvGrpSpPr>
          <p:nvPr/>
        </p:nvGrpSpPr>
        <p:grpSpPr bwMode="auto">
          <a:xfrm>
            <a:off x="2514600" y="5867400"/>
            <a:ext cx="1371600" cy="457200"/>
            <a:chOff x="864" y="3168"/>
            <a:chExt cx="864" cy="288"/>
          </a:xfrm>
        </p:grpSpPr>
        <p:sp>
          <p:nvSpPr>
            <p:cNvPr id="196613" name="Line 5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4" name="Line 6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5" name="Line 7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6" name="Line 8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6617" name="Group 9"/>
          <p:cNvGrpSpPr>
            <a:grpSpLocks/>
          </p:cNvGrpSpPr>
          <p:nvPr/>
        </p:nvGrpSpPr>
        <p:grpSpPr bwMode="auto">
          <a:xfrm>
            <a:off x="2514600" y="3810000"/>
            <a:ext cx="1371600" cy="457200"/>
            <a:chOff x="864" y="3168"/>
            <a:chExt cx="864" cy="288"/>
          </a:xfrm>
        </p:grpSpPr>
        <p:sp>
          <p:nvSpPr>
            <p:cNvPr id="196618" name="Line 10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9" name="Line 11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0" name="Line 12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1" name="Line 13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6622" name="Group 14"/>
          <p:cNvGrpSpPr>
            <a:grpSpLocks/>
          </p:cNvGrpSpPr>
          <p:nvPr/>
        </p:nvGrpSpPr>
        <p:grpSpPr bwMode="auto">
          <a:xfrm>
            <a:off x="2514600" y="2514600"/>
            <a:ext cx="1371600" cy="457200"/>
            <a:chOff x="864" y="3168"/>
            <a:chExt cx="864" cy="288"/>
          </a:xfrm>
        </p:grpSpPr>
        <p:sp>
          <p:nvSpPr>
            <p:cNvPr id="196623" name="Line 15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4" name="Line 16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5" name="Line 17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6" name="Line 18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6637" name="Rectangle 29"/>
          <p:cNvSpPr>
            <a:spLocks noChangeArrowheads="1"/>
          </p:cNvSpPr>
          <p:nvPr/>
        </p:nvSpPr>
        <p:spPr bwMode="auto">
          <a:xfrm>
            <a:off x="1714500" y="58674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S</a:t>
            </a:r>
            <a:r>
              <a:rPr lang="en-US" sz="2400" baseline="-25000">
                <a:latin typeface="Helvetica" pitchFamily="34" charset="0"/>
              </a:rPr>
              <a:t>0</a:t>
            </a:r>
            <a:endParaRPr lang="en-US" sz="2400">
              <a:latin typeface="Chalkboard" charset="0"/>
            </a:endParaRPr>
          </a:p>
        </p:txBody>
      </p:sp>
      <p:sp>
        <p:nvSpPr>
          <p:cNvPr id="196638" name="Rectangle 30"/>
          <p:cNvSpPr>
            <a:spLocks noChangeArrowheads="1"/>
          </p:cNvSpPr>
          <p:nvPr/>
        </p:nvSpPr>
        <p:spPr bwMode="auto">
          <a:xfrm>
            <a:off x="1714500" y="38100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S</a:t>
            </a:r>
            <a:r>
              <a:rPr lang="en-US" sz="2400" baseline="-25000">
                <a:latin typeface="Helvetica" pitchFamily="34" charset="0"/>
              </a:rPr>
              <a:t>1</a:t>
            </a:r>
            <a:endParaRPr lang="en-US" sz="2400">
              <a:latin typeface="Chalkboard" charset="0"/>
            </a:endParaRPr>
          </a:p>
        </p:txBody>
      </p:sp>
      <p:sp>
        <p:nvSpPr>
          <p:cNvPr id="196639" name="Rectangle 31"/>
          <p:cNvSpPr>
            <a:spLocks noChangeArrowheads="1"/>
          </p:cNvSpPr>
          <p:nvPr/>
        </p:nvSpPr>
        <p:spPr bwMode="auto">
          <a:xfrm>
            <a:off x="1714500" y="25146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S</a:t>
            </a:r>
            <a:r>
              <a:rPr lang="en-US" sz="2400" baseline="-25000">
                <a:latin typeface="Helvetica" pitchFamily="34" charset="0"/>
              </a:rPr>
              <a:t>2</a:t>
            </a:r>
            <a:endParaRPr lang="en-US" sz="2400">
              <a:latin typeface="Chalkboard" charset="0"/>
            </a:endParaRPr>
          </a:p>
        </p:txBody>
      </p:sp>
      <p:sp>
        <p:nvSpPr>
          <p:cNvPr id="196640" name="Line 32"/>
          <p:cNvSpPr>
            <a:spLocks noChangeShapeType="1"/>
          </p:cNvSpPr>
          <p:nvPr/>
        </p:nvSpPr>
        <p:spPr bwMode="auto">
          <a:xfrm flipV="1">
            <a:off x="2743200" y="3962400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1" name="Freeform 33"/>
          <p:cNvSpPr>
            <a:spLocks/>
          </p:cNvSpPr>
          <p:nvPr/>
        </p:nvSpPr>
        <p:spPr bwMode="auto">
          <a:xfrm rot="1596976">
            <a:off x="2743200" y="3962400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2" name="Line 34"/>
          <p:cNvSpPr>
            <a:spLocks noChangeShapeType="1"/>
          </p:cNvSpPr>
          <p:nvPr/>
        </p:nvSpPr>
        <p:spPr bwMode="auto">
          <a:xfrm flipV="1">
            <a:off x="3429000" y="4267200"/>
            <a:ext cx="0" cy="1752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3" name="Freeform 35"/>
          <p:cNvSpPr>
            <a:spLocks/>
          </p:cNvSpPr>
          <p:nvPr/>
        </p:nvSpPr>
        <p:spPr bwMode="auto">
          <a:xfrm rot="20003024" flipH="1">
            <a:off x="2667000" y="6019800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4" name="Freeform 36"/>
          <p:cNvSpPr>
            <a:spLocks/>
          </p:cNvSpPr>
          <p:nvPr/>
        </p:nvSpPr>
        <p:spPr bwMode="auto">
          <a:xfrm>
            <a:off x="3505200" y="4953000"/>
            <a:ext cx="1066800" cy="152400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85" y="96"/>
              </a:cxn>
              <a:cxn ang="0">
                <a:pos x="181" y="0"/>
              </a:cxn>
              <a:cxn ang="0">
                <a:pos x="277" y="96"/>
              </a:cxn>
              <a:cxn ang="0">
                <a:pos x="373" y="0"/>
              </a:cxn>
              <a:cxn ang="0">
                <a:pos x="469" y="96"/>
              </a:cxn>
              <a:cxn ang="0">
                <a:pos x="565" y="0"/>
              </a:cxn>
              <a:cxn ang="0">
                <a:pos x="672" y="80"/>
              </a:cxn>
            </a:cxnLst>
            <a:rect l="0" t="0" r="r" b="b"/>
            <a:pathLst>
              <a:path w="672" h="96">
                <a:moveTo>
                  <a:pt x="0" y="21"/>
                </a:moveTo>
                <a:cubicBezTo>
                  <a:pt x="37" y="37"/>
                  <a:pt x="53" y="96"/>
                  <a:pt x="85" y="96"/>
                </a:cubicBezTo>
                <a:cubicBezTo>
                  <a:pt x="117" y="96"/>
                  <a:pt x="149" y="0"/>
                  <a:pt x="181" y="0"/>
                </a:cubicBezTo>
                <a:cubicBezTo>
                  <a:pt x="213" y="0"/>
                  <a:pt x="245" y="96"/>
                  <a:pt x="277" y="96"/>
                </a:cubicBezTo>
                <a:cubicBezTo>
                  <a:pt x="309" y="96"/>
                  <a:pt x="341" y="0"/>
                  <a:pt x="373" y="0"/>
                </a:cubicBezTo>
                <a:cubicBezTo>
                  <a:pt x="405" y="0"/>
                  <a:pt x="437" y="96"/>
                  <a:pt x="469" y="96"/>
                </a:cubicBezTo>
                <a:cubicBezTo>
                  <a:pt x="501" y="96"/>
                  <a:pt x="533" y="0"/>
                  <a:pt x="565" y="0"/>
                </a:cubicBezTo>
                <a:cubicBezTo>
                  <a:pt x="597" y="0"/>
                  <a:pt x="624" y="59"/>
                  <a:pt x="672" y="80"/>
                </a:cubicBezTo>
              </a:path>
            </a:pathLst>
          </a:custGeom>
          <a:noFill/>
          <a:ln w="28575" cmpd="sng">
            <a:solidFill>
              <a:srgbClr val="00BB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5" name="Rectangle 37"/>
          <p:cNvSpPr>
            <a:spLocks noChangeArrowheads="1"/>
          </p:cNvSpPr>
          <p:nvPr/>
        </p:nvSpPr>
        <p:spPr bwMode="auto">
          <a:xfrm>
            <a:off x="3733800" y="4343400"/>
            <a:ext cx="7159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BB00"/>
                </a:solidFill>
                <a:latin typeface="Helvetica" pitchFamily="34" charset="0"/>
                <a:sym typeface="Symbol" pitchFamily="18" charset="2"/>
              </a:rPr>
              <a:t></a:t>
            </a:r>
            <a:r>
              <a:rPr lang="en-US" sz="2800" baseline="-25000">
                <a:solidFill>
                  <a:srgbClr val="00BB00"/>
                </a:solidFill>
                <a:latin typeface="Helvetica" pitchFamily="34" charset="0"/>
              </a:rPr>
              <a:t>em</a:t>
            </a:r>
          </a:p>
        </p:txBody>
      </p:sp>
      <p:sp>
        <p:nvSpPr>
          <p:cNvPr id="196648" name="Oval 40"/>
          <p:cNvSpPr>
            <a:spLocks noChangeArrowheads="1"/>
          </p:cNvSpPr>
          <p:nvPr/>
        </p:nvSpPr>
        <p:spPr bwMode="auto">
          <a:xfrm>
            <a:off x="2706688" y="62849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9" name="Oval 41"/>
          <p:cNvSpPr>
            <a:spLocks noChangeArrowheads="1"/>
          </p:cNvSpPr>
          <p:nvPr/>
        </p:nvSpPr>
        <p:spPr bwMode="auto">
          <a:xfrm>
            <a:off x="2711450" y="39227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50" name="Oval 42"/>
          <p:cNvSpPr>
            <a:spLocks noChangeArrowheads="1"/>
          </p:cNvSpPr>
          <p:nvPr/>
        </p:nvSpPr>
        <p:spPr bwMode="auto">
          <a:xfrm>
            <a:off x="3397250" y="42354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51" name="Oval 43"/>
          <p:cNvSpPr>
            <a:spLocks noChangeArrowheads="1"/>
          </p:cNvSpPr>
          <p:nvPr/>
        </p:nvSpPr>
        <p:spPr bwMode="auto">
          <a:xfrm>
            <a:off x="3392488" y="59801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52" name="AutoShape 44"/>
          <p:cNvSpPr>
            <a:spLocks noChangeArrowheads="1"/>
          </p:cNvSpPr>
          <p:nvPr/>
        </p:nvSpPr>
        <p:spPr bwMode="auto">
          <a:xfrm>
            <a:off x="4394200" y="5462588"/>
            <a:ext cx="2265363" cy="573087"/>
          </a:xfrm>
          <a:prstGeom prst="roundRect">
            <a:avLst>
              <a:gd name="adj" fmla="val 16667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BB00"/>
                </a:solidFill>
                <a:latin typeface="Helvetica" pitchFamily="34" charset="0"/>
              </a:rPr>
              <a:t>fluorescence</a:t>
            </a:r>
          </a:p>
        </p:txBody>
      </p:sp>
      <p:sp>
        <p:nvSpPr>
          <p:cNvPr id="196653" name="Freeform 45"/>
          <p:cNvSpPr>
            <a:spLocks/>
          </p:cNvSpPr>
          <p:nvPr/>
        </p:nvSpPr>
        <p:spPr bwMode="auto">
          <a:xfrm flipV="1">
            <a:off x="1600200" y="4953000"/>
            <a:ext cx="1016000" cy="152400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85" y="96"/>
              </a:cxn>
              <a:cxn ang="0">
                <a:pos x="181" y="0"/>
              </a:cxn>
              <a:cxn ang="0">
                <a:pos x="277" y="96"/>
              </a:cxn>
              <a:cxn ang="0">
                <a:pos x="373" y="0"/>
              </a:cxn>
              <a:cxn ang="0">
                <a:pos x="469" y="96"/>
              </a:cxn>
              <a:cxn ang="0">
                <a:pos x="565" y="0"/>
              </a:cxn>
              <a:cxn ang="0">
                <a:pos x="640" y="85"/>
              </a:cxn>
            </a:cxnLst>
            <a:rect l="0" t="0" r="r" b="b"/>
            <a:pathLst>
              <a:path w="640" h="96">
                <a:moveTo>
                  <a:pt x="0" y="21"/>
                </a:moveTo>
                <a:cubicBezTo>
                  <a:pt x="37" y="37"/>
                  <a:pt x="53" y="96"/>
                  <a:pt x="85" y="96"/>
                </a:cubicBezTo>
                <a:cubicBezTo>
                  <a:pt x="117" y="96"/>
                  <a:pt x="149" y="0"/>
                  <a:pt x="181" y="0"/>
                </a:cubicBezTo>
                <a:cubicBezTo>
                  <a:pt x="213" y="0"/>
                  <a:pt x="245" y="96"/>
                  <a:pt x="277" y="96"/>
                </a:cubicBezTo>
                <a:cubicBezTo>
                  <a:pt x="309" y="96"/>
                  <a:pt x="341" y="0"/>
                  <a:pt x="373" y="0"/>
                </a:cubicBezTo>
                <a:cubicBezTo>
                  <a:pt x="405" y="0"/>
                  <a:pt x="437" y="96"/>
                  <a:pt x="469" y="96"/>
                </a:cubicBezTo>
                <a:cubicBezTo>
                  <a:pt x="501" y="96"/>
                  <a:pt x="533" y="0"/>
                  <a:pt x="565" y="0"/>
                </a:cubicBezTo>
                <a:cubicBezTo>
                  <a:pt x="597" y="0"/>
                  <a:pt x="597" y="59"/>
                  <a:pt x="640" y="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54" name="Rectangle 46"/>
          <p:cNvSpPr>
            <a:spLocks noChangeArrowheads="1"/>
          </p:cNvSpPr>
          <p:nvPr/>
        </p:nvSpPr>
        <p:spPr bwMode="auto">
          <a:xfrm>
            <a:off x="762000" y="4800600"/>
            <a:ext cx="755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FF"/>
                </a:solidFill>
                <a:latin typeface="Helvetica" pitchFamily="34" charset="0"/>
                <a:sym typeface="Symbol" pitchFamily="18" charset="2"/>
              </a:rPr>
              <a:t></a:t>
            </a:r>
            <a:r>
              <a:rPr lang="en-US" sz="2800" baseline="-25000">
                <a:solidFill>
                  <a:srgbClr val="0000FF"/>
                </a:solidFill>
                <a:latin typeface="Helvetica" pitchFamily="34" charset="0"/>
              </a:rPr>
              <a:t>exc</a:t>
            </a:r>
          </a:p>
        </p:txBody>
      </p:sp>
      <p:sp>
        <p:nvSpPr>
          <p:cNvPr id="196655" name="Oval 47"/>
          <p:cNvSpPr>
            <a:spLocks noChangeArrowheads="1"/>
          </p:cNvSpPr>
          <p:nvPr/>
        </p:nvSpPr>
        <p:spPr bwMode="auto">
          <a:xfrm>
            <a:off x="7086600" y="4883150"/>
            <a:ext cx="1997075" cy="960438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Lifetime</a:t>
            </a:r>
          </a:p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  <a:sym typeface="Symbol" pitchFamily="18" charset="2"/>
              </a:rPr>
              <a:t> </a:t>
            </a:r>
            <a:r>
              <a:rPr lang="en-US" sz="2000">
                <a:solidFill>
                  <a:schemeClr val="accent2"/>
                </a:solidFill>
                <a:latin typeface="Chalkboard" charset="0"/>
              </a:rPr>
              <a:t>~ 1–4 ns</a:t>
            </a:r>
            <a:endParaRPr lang="en-US" sz="2000">
              <a:latin typeface="Chalkboard" charset="0"/>
            </a:endParaRPr>
          </a:p>
        </p:txBody>
      </p:sp>
      <p:sp>
        <p:nvSpPr>
          <p:cNvPr id="196656" name="Rectangle 48"/>
          <p:cNvSpPr>
            <a:spLocks noChangeArrowheads="1"/>
          </p:cNvSpPr>
          <p:nvPr/>
        </p:nvSpPr>
        <p:spPr bwMode="auto">
          <a:xfrm>
            <a:off x="2286000" y="1638300"/>
            <a:ext cx="18113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Singlet states</a:t>
            </a:r>
          </a:p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Spin S=0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40" grpId="0" animBg="1"/>
      <p:bldP spid="196641" grpId="0" animBg="1"/>
      <p:bldP spid="196642" grpId="0" animBg="1"/>
      <p:bldP spid="196643" grpId="0" animBg="1"/>
      <p:bldP spid="196644" grpId="0" animBg="1"/>
      <p:bldP spid="196645" grpId="0"/>
      <p:bldP spid="196649" grpId="0" animBg="1"/>
      <p:bldP spid="196650" grpId="0" animBg="1"/>
      <p:bldP spid="196651" grpId="0" animBg="1"/>
      <p:bldP spid="196652" grpId="0" animBg="1"/>
      <p:bldP spid="196653" grpId="0" animBg="1"/>
      <p:bldP spid="196654" grpId="0"/>
      <p:bldP spid="19665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ChangeArrowheads="1"/>
          </p:cNvSpPr>
          <p:nvPr/>
        </p:nvSpPr>
        <p:spPr bwMode="auto">
          <a:xfrm>
            <a:off x="838200" y="417513"/>
            <a:ext cx="7620000" cy="95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>
                <a:solidFill>
                  <a:schemeClr val="tx2"/>
                </a:solidFill>
                <a:latin typeface="Chalkboard" charset="0"/>
              </a:rPr>
              <a:t>Jablonski diagram</a:t>
            </a:r>
          </a:p>
          <a:p>
            <a:pPr algn="ctr">
              <a:lnSpc>
                <a:spcPct val="90000"/>
              </a:lnSpc>
            </a:pPr>
            <a:r>
              <a:rPr lang="en-US" sz="2400">
                <a:solidFill>
                  <a:schemeClr val="tx2"/>
                </a:solidFill>
                <a:latin typeface="Chalkboard" charset="0"/>
              </a:rPr>
              <a:t>(Molecular energy diagram)</a:t>
            </a:r>
          </a:p>
        </p:txBody>
      </p:sp>
      <p:sp>
        <p:nvSpPr>
          <p:cNvPr id="196611" name="Line 3"/>
          <p:cNvSpPr>
            <a:spLocks noChangeShapeType="1"/>
          </p:cNvSpPr>
          <p:nvPr/>
        </p:nvSpPr>
        <p:spPr bwMode="auto">
          <a:xfrm flipH="1">
            <a:off x="3536950" y="657225"/>
            <a:ext cx="134938" cy="93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6612" name="Group 4"/>
          <p:cNvGrpSpPr>
            <a:grpSpLocks/>
          </p:cNvGrpSpPr>
          <p:nvPr/>
        </p:nvGrpSpPr>
        <p:grpSpPr bwMode="auto">
          <a:xfrm>
            <a:off x="2514600" y="5867400"/>
            <a:ext cx="1371600" cy="457200"/>
            <a:chOff x="864" y="3168"/>
            <a:chExt cx="864" cy="288"/>
          </a:xfrm>
        </p:grpSpPr>
        <p:sp>
          <p:nvSpPr>
            <p:cNvPr id="196613" name="Line 5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4" name="Line 6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5" name="Line 7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6" name="Line 8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6617" name="Group 9"/>
          <p:cNvGrpSpPr>
            <a:grpSpLocks/>
          </p:cNvGrpSpPr>
          <p:nvPr/>
        </p:nvGrpSpPr>
        <p:grpSpPr bwMode="auto">
          <a:xfrm>
            <a:off x="2514600" y="3810000"/>
            <a:ext cx="1371600" cy="457200"/>
            <a:chOff x="864" y="3168"/>
            <a:chExt cx="864" cy="288"/>
          </a:xfrm>
        </p:grpSpPr>
        <p:sp>
          <p:nvSpPr>
            <p:cNvPr id="196618" name="Line 10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19" name="Line 11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0" name="Line 12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1" name="Line 13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6622" name="Group 14"/>
          <p:cNvGrpSpPr>
            <a:grpSpLocks/>
          </p:cNvGrpSpPr>
          <p:nvPr/>
        </p:nvGrpSpPr>
        <p:grpSpPr bwMode="auto">
          <a:xfrm>
            <a:off x="2514600" y="2514600"/>
            <a:ext cx="1371600" cy="457200"/>
            <a:chOff x="864" y="3168"/>
            <a:chExt cx="864" cy="288"/>
          </a:xfrm>
        </p:grpSpPr>
        <p:sp>
          <p:nvSpPr>
            <p:cNvPr id="196623" name="Line 15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4" name="Line 16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5" name="Line 17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6" name="Line 18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6627" name="Group 19"/>
          <p:cNvGrpSpPr>
            <a:grpSpLocks/>
          </p:cNvGrpSpPr>
          <p:nvPr/>
        </p:nvGrpSpPr>
        <p:grpSpPr bwMode="auto">
          <a:xfrm>
            <a:off x="5562600" y="4343400"/>
            <a:ext cx="1371600" cy="457200"/>
            <a:chOff x="864" y="3168"/>
            <a:chExt cx="864" cy="288"/>
          </a:xfrm>
        </p:grpSpPr>
        <p:sp>
          <p:nvSpPr>
            <p:cNvPr id="196628" name="Line 20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29" name="Line 21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30" name="Line 22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31" name="Line 23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6632" name="Group 24"/>
          <p:cNvGrpSpPr>
            <a:grpSpLocks/>
          </p:cNvGrpSpPr>
          <p:nvPr/>
        </p:nvGrpSpPr>
        <p:grpSpPr bwMode="auto">
          <a:xfrm>
            <a:off x="5562600" y="2743200"/>
            <a:ext cx="1371600" cy="457200"/>
            <a:chOff x="864" y="3168"/>
            <a:chExt cx="864" cy="288"/>
          </a:xfrm>
        </p:grpSpPr>
        <p:sp>
          <p:nvSpPr>
            <p:cNvPr id="196633" name="Line 25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34" name="Line 26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35" name="Line 27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636" name="Line 28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6637" name="Rectangle 29"/>
          <p:cNvSpPr>
            <a:spLocks noChangeArrowheads="1"/>
          </p:cNvSpPr>
          <p:nvPr/>
        </p:nvSpPr>
        <p:spPr bwMode="auto">
          <a:xfrm>
            <a:off x="1714500" y="58674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S</a:t>
            </a:r>
            <a:r>
              <a:rPr lang="en-US" sz="2400" baseline="-25000">
                <a:latin typeface="Helvetica" pitchFamily="34" charset="0"/>
              </a:rPr>
              <a:t>0</a:t>
            </a:r>
            <a:endParaRPr lang="en-US" sz="2400">
              <a:latin typeface="Chalkboard" charset="0"/>
            </a:endParaRPr>
          </a:p>
        </p:txBody>
      </p:sp>
      <p:sp>
        <p:nvSpPr>
          <p:cNvPr id="196638" name="Rectangle 30"/>
          <p:cNvSpPr>
            <a:spLocks noChangeArrowheads="1"/>
          </p:cNvSpPr>
          <p:nvPr/>
        </p:nvSpPr>
        <p:spPr bwMode="auto">
          <a:xfrm>
            <a:off x="1714500" y="38100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S</a:t>
            </a:r>
            <a:r>
              <a:rPr lang="en-US" sz="2400" baseline="-25000">
                <a:latin typeface="Helvetica" pitchFamily="34" charset="0"/>
              </a:rPr>
              <a:t>1</a:t>
            </a:r>
            <a:endParaRPr lang="en-US" sz="2400">
              <a:latin typeface="Chalkboard" charset="0"/>
            </a:endParaRPr>
          </a:p>
        </p:txBody>
      </p:sp>
      <p:sp>
        <p:nvSpPr>
          <p:cNvPr id="196639" name="Rectangle 31"/>
          <p:cNvSpPr>
            <a:spLocks noChangeArrowheads="1"/>
          </p:cNvSpPr>
          <p:nvPr/>
        </p:nvSpPr>
        <p:spPr bwMode="auto">
          <a:xfrm>
            <a:off x="1714500" y="25146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S</a:t>
            </a:r>
            <a:r>
              <a:rPr lang="en-US" sz="2400" baseline="-25000">
                <a:latin typeface="Helvetica" pitchFamily="34" charset="0"/>
              </a:rPr>
              <a:t>2</a:t>
            </a:r>
            <a:endParaRPr lang="en-US" sz="2400">
              <a:latin typeface="Chalkboard" charset="0"/>
            </a:endParaRPr>
          </a:p>
        </p:txBody>
      </p:sp>
      <p:sp>
        <p:nvSpPr>
          <p:cNvPr id="196640" name="Line 32"/>
          <p:cNvSpPr>
            <a:spLocks noChangeShapeType="1"/>
          </p:cNvSpPr>
          <p:nvPr/>
        </p:nvSpPr>
        <p:spPr bwMode="auto">
          <a:xfrm flipV="1">
            <a:off x="2743200" y="3962400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1" name="Freeform 33"/>
          <p:cNvSpPr>
            <a:spLocks/>
          </p:cNvSpPr>
          <p:nvPr/>
        </p:nvSpPr>
        <p:spPr bwMode="auto">
          <a:xfrm rot="1596976">
            <a:off x="2743200" y="3962400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2" name="Line 34"/>
          <p:cNvSpPr>
            <a:spLocks noChangeShapeType="1"/>
          </p:cNvSpPr>
          <p:nvPr/>
        </p:nvSpPr>
        <p:spPr bwMode="auto">
          <a:xfrm flipV="1">
            <a:off x="3429000" y="4267200"/>
            <a:ext cx="0" cy="1752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3" name="Freeform 35"/>
          <p:cNvSpPr>
            <a:spLocks/>
          </p:cNvSpPr>
          <p:nvPr/>
        </p:nvSpPr>
        <p:spPr bwMode="auto">
          <a:xfrm rot="20003024" flipH="1">
            <a:off x="2667000" y="6019800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4" name="Freeform 36"/>
          <p:cNvSpPr>
            <a:spLocks/>
          </p:cNvSpPr>
          <p:nvPr/>
        </p:nvSpPr>
        <p:spPr bwMode="auto">
          <a:xfrm>
            <a:off x="3505200" y="4953000"/>
            <a:ext cx="1066800" cy="152400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85" y="96"/>
              </a:cxn>
              <a:cxn ang="0">
                <a:pos x="181" y="0"/>
              </a:cxn>
              <a:cxn ang="0">
                <a:pos x="277" y="96"/>
              </a:cxn>
              <a:cxn ang="0">
                <a:pos x="373" y="0"/>
              </a:cxn>
              <a:cxn ang="0">
                <a:pos x="469" y="96"/>
              </a:cxn>
              <a:cxn ang="0">
                <a:pos x="565" y="0"/>
              </a:cxn>
              <a:cxn ang="0">
                <a:pos x="672" y="80"/>
              </a:cxn>
            </a:cxnLst>
            <a:rect l="0" t="0" r="r" b="b"/>
            <a:pathLst>
              <a:path w="672" h="96">
                <a:moveTo>
                  <a:pt x="0" y="21"/>
                </a:moveTo>
                <a:cubicBezTo>
                  <a:pt x="37" y="37"/>
                  <a:pt x="53" y="96"/>
                  <a:pt x="85" y="96"/>
                </a:cubicBezTo>
                <a:cubicBezTo>
                  <a:pt x="117" y="96"/>
                  <a:pt x="149" y="0"/>
                  <a:pt x="181" y="0"/>
                </a:cubicBezTo>
                <a:cubicBezTo>
                  <a:pt x="213" y="0"/>
                  <a:pt x="245" y="96"/>
                  <a:pt x="277" y="96"/>
                </a:cubicBezTo>
                <a:cubicBezTo>
                  <a:pt x="309" y="96"/>
                  <a:pt x="341" y="0"/>
                  <a:pt x="373" y="0"/>
                </a:cubicBezTo>
                <a:cubicBezTo>
                  <a:pt x="405" y="0"/>
                  <a:pt x="437" y="96"/>
                  <a:pt x="469" y="96"/>
                </a:cubicBezTo>
                <a:cubicBezTo>
                  <a:pt x="501" y="96"/>
                  <a:pt x="533" y="0"/>
                  <a:pt x="565" y="0"/>
                </a:cubicBezTo>
                <a:cubicBezTo>
                  <a:pt x="597" y="0"/>
                  <a:pt x="624" y="59"/>
                  <a:pt x="672" y="80"/>
                </a:cubicBezTo>
              </a:path>
            </a:pathLst>
          </a:custGeom>
          <a:noFill/>
          <a:ln w="28575" cmpd="sng">
            <a:solidFill>
              <a:srgbClr val="00BB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5" name="Rectangle 37"/>
          <p:cNvSpPr>
            <a:spLocks noChangeArrowheads="1"/>
          </p:cNvSpPr>
          <p:nvPr/>
        </p:nvSpPr>
        <p:spPr bwMode="auto">
          <a:xfrm>
            <a:off x="3733800" y="4343400"/>
            <a:ext cx="7159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BB00"/>
                </a:solidFill>
                <a:latin typeface="Helvetica" pitchFamily="34" charset="0"/>
                <a:sym typeface="Symbol" pitchFamily="18" charset="2"/>
              </a:rPr>
              <a:t></a:t>
            </a:r>
            <a:r>
              <a:rPr lang="en-US" sz="2800" baseline="-25000">
                <a:solidFill>
                  <a:srgbClr val="00BB00"/>
                </a:solidFill>
                <a:latin typeface="Helvetica" pitchFamily="34" charset="0"/>
              </a:rPr>
              <a:t>em</a:t>
            </a:r>
          </a:p>
        </p:txBody>
      </p:sp>
      <p:sp>
        <p:nvSpPr>
          <p:cNvPr id="196646" name="Rectangle 38"/>
          <p:cNvSpPr>
            <a:spLocks noChangeArrowheads="1"/>
          </p:cNvSpPr>
          <p:nvPr/>
        </p:nvSpPr>
        <p:spPr bwMode="auto">
          <a:xfrm>
            <a:off x="7086600" y="4267200"/>
            <a:ext cx="48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T</a:t>
            </a:r>
            <a:r>
              <a:rPr lang="en-US" sz="2400" baseline="-25000">
                <a:latin typeface="Helvetica" pitchFamily="34" charset="0"/>
              </a:rPr>
              <a:t>1</a:t>
            </a:r>
            <a:endParaRPr lang="en-US" sz="2400">
              <a:latin typeface="Chalkboard" charset="0"/>
            </a:endParaRPr>
          </a:p>
        </p:txBody>
      </p:sp>
      <p:sp>
        <p:nvSpPr>
          <p:cNvPr id="196647" name="Rectangle 39"/>
          <p:cNvSpPr>
            <a:spLocks noChangeArrowheads="1"/>
          </p:cNvSpPr>
          <p:nvPr/>
        </p:nvSpPr>
        <p:spPr bwMode="auto">
          <a:xfrm>
            <a:off x="7086600" y="2743200"/>
            <a:ext cx="48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T</a:t>
            </a:r>
            <a:r>
              <a:rPr lang="en-US" sz="2400" baseline="-25000">
                <a:latin typeface="Helvetica" pitchFamily="34" charset="0"/>
              </a:rPr>
              <a:t>2</a:t>
            </a:r>
            <a:endParaRPr lang="en-US" sz="2400">
              <a:latin typeface="Chalkboard" charset="0"/>
            </a:endParaRPr>
          </a:p>
        </p:txBody>
      </p:sp>
      <p:sp>
        <p:nvSpPr>
          <p:cNvPr id="196648" name="Oval 40"/>
          <p:cNvSpPr>
            <a:spLocks noChangeArrowheads="1"/>
          </p:cNvSpPr>
          <p:nvPr/>
        </p:nvSpPr>
        <p:spPr bwMode="auto">
          <a:xfrm>
            <a:off x="2706688" y="62849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49" name="Oval 41"/>
          <p:cNvSpPr>
            <a:spLocks noChangeArrowheads="1"/>
          </p:cNvSpPr>
          <p:nvPr/>
        </p:nvSpPr>
        <p:spPr bwMode="auto">
          <a:xfrm>
            <a:off x="2711450" y="39227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50" name="Oval 42"/>
          <p:cNvSpPr>
            <a:spLocks noChangeArrowheads="1"/>
          </p:cNvSpPr>
          <p:nvPr/>
        </p:nvSpPr>
        <p:spPr bwMode="auto">
          <a:xfrm>
            <a:off x="3397250" y="42354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51" name="Oval 43"/>
          <p:cNvSpPr>
            <a:spLocks noChangeArrowheads="1"/>
          </p:cNvSpPr>
          <p:nvPr/>
        </p:nvSpPr>
        <p:spPr bwMode="auto">
          <a:xfrm>
            <a:off x="3392488" y="59801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52" name="AutoShape 44"/>
          <p:cNvSpPr>
            <a:spLocks noChangeArrowheads="1"/>
          </p:cNvSpPr>
          <p:nvPr/>
        </p:nvSpPr>
        <p:spPr bwMode="auto">
          <a:xfrm>
            <a:off x="4394200" y="5462588"/>
            <a:ext cx="2265363" cy="573087"/>
          </a:xfrm>
          <a:prstGeom prst="roundRect">
            <a:avLst>
              <a:gd name="adj" fmla="val 16667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BB00"/>
                </a:solidFill>
                <a:latin typeface="Helvetica" pitchFamily="34" charset="0"/>
              </a:rPr>
              <a:t>fluorescence</a:t>
            </a:r>
          </a:p>
        </p:txBody>
      </p:sp>
      <p:sp>
        <p:nvSpPr>
          <p:cNvPr id="196653" name="Freeform 45"/>
          <p:cNvSpPr>
            <a:spLocks/>
          </p:cNvSpPr>
          <p:nvPr/>
        </p:nvSpPr>
        <p:spPr bwMode="auto">
          <a:xfrm flipV="1">
            <a:off x="1600200" y="4953000"/>
            <a:ext cx="1016000" cy="152400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85" y="96"/>
              </a:cxn>
              <a:cxn ang="0">
                <a:pos x="181" y="0"/>
              </a:cxn>
              <a:cxn ang="0">
                <a:pos x="277" y="96"/>
              </a:cxn>
              <a:cxn ang="0">
                <a:pos x="373" y="0"/>
              </a:cxn>
              <a:cxn ang="0">
                <a:pos x="469" y="96"/>
              </a:cxn>
              <a:cxn ang="0">
                <a:pos x="565" y="0"/>
              </a:cxn>
              <a:cxn ang="0">
                <a:pos x="640" y="85"/>
              </a:cxn>
            </a:cxnLst>
            <a:rect l="0" t="0" r="r" b="b"/>
            <a:pathLst>
              <a:path w="640" h="96">
                <a:moveTo>
                  <a:pt x="0" y="21"/>
                </a:moveTo>
                <a:cubicBezTo>
                  <a:pt x="37" y="37"/>
                  <a:pt x="53" y="96"/>
                  <a:pt x="85" y="96"/>
                </a:cubicBezTo>
                <a:cubicBezTo>
                  <a:pt x="117" y="96"/>
                  <a:pt x="149" y="0"/>
                  <a:pt x="181" y="0"/>
                </a:cubicBezTo>
                <a:cubicBezTo>
                  <a:pt x="213" y="0"/>
                  <a:pt x="245" y="96"/>
                  <a:pt x="277" y="96"/>
                </a:cubicBezTo>
                <a:cubicBezTo>
                  <a:pt x="309" y="96"/>
                  <a:pt x="341" y="0"/>
                  <a:pt x="373" y="0"/>
                </a:cubicBezTo>
                <a:cubicBezTo>
                  <a:pt x="405" y="0"/>
                  <a:pt x="437" y="96"/>
                  <a:pt x="469" y="96"/>
                </a:cubicBezTo>
                <a:cubicBezTo>
                  <a:pt x="501" y="96"/>
                  <a:pt x="533" y="0"/>
                  <a:pt x="565" y="0"/>
                </a:cubicBezTo>
                <a:cubicBezTo>
                  <a:pt x="597" y="0"/>
                  <a:pt x="597" y="59"/>
                  <a:pt x="640" y="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6654" name="Rectangle 46"/>
          <p:cNvSpPr>
            <a:spLocks noChangeArrowheads="1"/>
          </p:cNvSpPr>
          <p:nvPr/>
        </p:nvSpPr>
        <p:spPr bwMode="auto">
          <a:xfrm>
            <a:off x="762000" y="4800600"/>
            <a:ext cx="755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FF"/>
                </a:solidFill>
                <a:latin typeface="Helvetica" pitchFamily="34" charset="0"/>
                <a:sym typeface="Symbol" pitchFamily="18" charset="2"/>
              </a:rPr>
              <a:t></a:t>
            </a:r>
            <a:r>
              <a:rPr lang="en-US" sz="2800" baseline="-25000">
                <a:solidFill>
                  <a:srgbClr val="0000FF"/>
                </a:solidFill>
                <a:latin typeface="Helvetica" pitchFamily="34" charset="0"/>
              </a:rPr>
              <a:t>exc</a:t>
            </a:r>
          </a:p>
        </p:txBody>
      </p:sp>
      <p:sp>
        <p:nvSpPr>
          <p:cNvPr id="196655" name="Oval 47"/>
          <p:cNvSpPr>
            <a:spLocks noChangeArrowheads="1"/>
          </p:cNvSpPr>
          <p:nvPr/>
        </p:nvSpPr>
        <p:spPr bwMode="auto">
          <a:xfrm>
            <a:off x="7086600" y="4883150"/>
            <a:ext cx="1997075" cy="960438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Lifetime</a:t>
            </a:r>
          </a:p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  <a:sym typeface="Symbol" pitchFamily="18" charset="2"/>
              </a:rPr>
              <a:t> </a:t>
            </a:r>
            <a:r>
              <a:rPr lang="en-US" sz="2000">
                <a:solidFill>
                  <a:schemeClr val="accent2"/>
                </a:solidFill>
                <a:latin typeface="Chalkboard" charset="0"/>
              </a:rPr>
              <a:t>~ 1–4 ns</a:t>
            </a:r>
            <a:endParaRPr lang="en-US" sz="2000">
              <a:latin typeface="Chalkboard" charset="0"/>
            </a:endParaRPr>
          </a:p>
        </p:txBody>
      </p:sp>
      <p:sp>
        <p:nvSpPr>
          <p:cNvPr id="196656" name="Rectangle 48"/>
          <p:cNvSpPr>
            <a:spLocks noChangeArrowheads="1"/>
          </p:cNvSpPr>
          <p:nvPr/>
        </p:nvSpPr>
        <p:spPr bwMode="auto">
          <a:xfrm>
            <a:off x="2286000" y="1638300"/>
            <a:ext cx="18113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Singlet states</a:t>
            </a:r>
          </a:p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Spin S=0</a:t>
            </a:r>
          </a:p>
        </p:txBody>
      </p:sp>
      <p:sp>
        <p:nvSpPr>
          <p:cNvPr id="196657" name="Rectangle 49"/>
          <p:cNvSpPr>
            <a:spLocks noChangeArrowheads="1"/>
          </p:cNvSpPr>
          <p:nvPr/>
        </p:nvSpPr>
        <p:spPr bwMode="auto">
          <a:xfrm>
            <a:off x="5257800" y="1638300"/>
            <a:ext cx="1789113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Triplet states</a:t>
            </a:r>
          </a:p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Spin S=1</a:t>
            </a:r>
          </a:p>
        </p:txBody>
      </p:sp>
    </p:spTree>
    <p:extLst>
      <p:ext uri="{BB962C8B-B14F-4D97-AF65-F5344CB8AC3E}">
        <p14:creationId xmlns="" xmlns:p14="http://schemas.microsoft.com/office/powerpoint/2010/main" val="191456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ChangeArrowheads="1"/>
          </p:cNvSpPr>
          <p:nvPr/>
        </p:nvSpPr>
        <p:spPr bwMode="auto">
          <a:xfrm>
            <a:off x="838200" y="417513"/>
            <a:ext cx="7620000" cy="95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>
                <a:solidFill>
                  <a:schemeClr val="tx2"/>
                </a:solidFill>
                <a:latin typeface="Chalkboard" charset="0"/>
              </a:rPr>
              <a:t>Jablonski diagram</a:t>
            </a:r>
          </a:p>
          <a:p>
            <a:pPr algn="ctr">
              <a:lnSpc>
                <a:spcPct val="90000"/>
              </a:lnSpc>
            </a:pPr>
            <a:r>
              <a:rPr lang="en-US" sz="2400">
                <a:solidFill>
                  <a:schemeClr val="tx2"/>
                </a:solidFill>
                <a:latin typeface="Chalkboard" charset="0"/>
              </a:rPr>
              <a:t>(Molecular energy diagram)</a:t>
            </a:r>
          </a:p>
        </p:txBody>
      </p:sp>
      <p:sp>
        <p:nvSpPr>
          <p:cNvPr id="197635" name="Line 3"/>
          <p:cNvSpPr>
            <a:spLocks noChangeShapeType="1"/>
          </p:cNvSpPr>
          <p:nvPr/>
        </p:nvSpPr>
        <p:spPr bwMode="auto">
          <a:xfrm flipH="1">
            <a:off x="3536950" y="657225"/>
            <a:ext cx="134938" cy="93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7636" name="Group 4"/>
          <p:cNvGrpSpPr>
            <a:grpSpLocks/>
          </p:cNvGrpSpPr>
          <p:nvPr/>
        </p:nvGrpSpPr>
        <p:grpSpPr bwMode="auto">
          <a:xfrm>
            <a:off x="2514600" y="5867400"/>
            <a:ext cx="1371600" cy="457200"/>
            <a:chOff x="864" y="3168"/>
            <a:chExt cx="864" cy="288"/>
          </a:xfrm>
        </p:grpSpPr>
        <p:sp>
          <p:nvSpPr>
            <p:cNvPr id="197637" name="Line 5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38" name="Line 6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39" name="Line 7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40" name="Line 8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7641" name="Group 9"/>
          <p:cNvGrpSpPr>
            <a:grpSpLocks/>
          </p:cNvGrpSpPr>
          <p:nvPr/>
        </p:nvGrpSpPr>
        <p:grpSpPr bwMode="auto">
          <a:xfrm>
            <a:off x="2514600" y="3810000"/>
            <a:ext cx="1371600" cy="457200"/>
            <a:chOff x="864" y="3168"/>
            <a:chExt cx="864" cy="288"/>
          </a:xfrm>
        </p:grpSpPr>
        <p:sp>
          <p:nvSpPr>
            <p:cNvPr id="197642" name="Line 10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43" name="Line 11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44" name="Line 12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45" name="Line 13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7646" name="Group 14"/>
          <p:cNvGrpSpPr>
            <a:grpSpLocks/>
          </p:cNvGrpSpPr>
          <p:nvPr/>
        </p:nvGrpSpPr>
        <p:grpSpPr bwMode="auto">
          <a:xfrm>
            <a:off x="2514600" y="2514600"/>
            <a:ext cx="1371600" cy="457200"/>
            <a:chOff x="864" y="3168"/>
            <a:chExt cx="864" cy="288"/>
          </a:xfrm>
        </p:grpSpPr>
        <p:sp>
          <p:nvSpPr>
            <p:cNvPr id="197647" name="Line 15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48" name="Line 16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49" name="Line 17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50" name="Line 18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7651" name="Group 19"/>
          <p:cNvGrpSpPr>
            <a:grpSpLocks/>
          </p:cNvGrpSpPr>
          <p:nvPr/>
        </p:nvGrpSpPr>
        <p:grpSpPr bwMode="auto">
          <a:xfrm>
            <a:off x="5562600" y="4343400"/>
            <a:ext cx="1371600" cy="457200"/>
            <a:chOff x="864" y="3168"/>
            <a:chExt cx="864" cy="288"/>
          </a:xfrm>
        </p:grpSpPr>
        <p:sp>
          <p:nvSpPr>
            <p:cNvPr id="197652" name="Line 20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53" name="Line 21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54" name="Line 22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55" name="Line 23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7656" name="Group 24"/>
          <p:cNvGrpSpPr>
            <a:grpSpLocks/>
          </p:cNvGrpSpPr>
          <p:nvPr/>
        </p:nvGrpSpPr>
        <p:grpSpPr bwMode="auto">
          <a:xfrm>
            <a:off x="5562600" y="2743200"/>
            <a:ext cx="1371600" cy="457200"/>
            <a:chOff x="864" y="3168"/>
            <a:chExt cx="864" cy="288"/>
          </a:xfrm>
        </p:grpSpPr>
        <p:sp>
          <p:nvSpPr>
            <p:cNvPr id="197657" name="Line 25"/>
            <p:cNvSpPr>
              <a:spLocks noChangeShapeType="1"/>
            </p:cNvSpPr>
            <p:nvPr/>
          </p:nvSpPr>
          <p:spPr bwMode="auto">
            <a:xfrm>
              <a:off x="864" y="3168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58" name="Line 26"/>
            <p:cNvSpPr>
              <a:spLocks noChangeShapeType="1"/>
            </p:cNvSpPr>
            <p:nvPr/>
          </p:nvSpPr>
          <p:spPr bwMode="auto">
            <a:xfrm>
              <a:off x="864" y="3264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59" name="Line 27"/>
            <p:cNvSpPr>
              <a:spLocks noChangeShapeType="1"/>
            </p:cNvSpPr>
            <p:nvPr/>
          </p:nvSpPr>
          <p:spPr bwMode="auto">
            <a:xfrm>
              <a:off x="864" y="3360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660" name="Line 28"/>
            <p:cNvSpPr>
              <a:spLocks noChangeShapeType="1"/>
            </p:cNvSpPr>
            <p:nvPr/>
          </p:nvSpPr>
          <p:spPr bwMode="auto">
            <a:xfrm>
              <a:off x="864" y="3456"/>
              <a:ext cx="86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661" name="Rectangle 29"/>
          <p:cNvSpPr>
            <a:spLocks noChangeArrowheads="1"/>
          </p:cNvSpPr>
          <p:nvPr/>
        </p:nvSpPr>
        <p:spPr bwMode="auto">
          <a:xfrm>
            <a:off x="2286000" y="1638300"/>
            <a:ext cx="18113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Singlet states</a:t>
            </a:r>
          </a:p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Spin S=0</a:t>
            </a:r>
          </a:p>
        </p:txBody>
      </p:sp>
      <p:sp>
        <p:nvSpPr>
          <p:cNvPr id="197662" name="Rectangle 30"/>
          <p:cNvSpPr>
            <a:spLocks noChangeArrowheads="1"/>
          </p:cNvSpPr>
          <p:nvPr/>
        </p:nvSpPr>
        <p:spPr bwMode="auto">
          <a:xfrm>
            <a:off x="5257800" y="1638300"/>
            <a:ext cx="1789113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Triplet states</a:t>
            </a:r>
          </a:p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Spin S=1</a:t>
            </a:r>
          </a:p>
        </p:txBody>
      </p:sp>
      <p:sp>
        <p:nvSpPr>
          <p:cNvPr id="197663" name="Rectangle 31"/>
          <p:cNvSpPr>
            <a:spLocks noChangeArrowheads="1"/>
          </p:cNvSpPr>
          <p:nvPr/>
        </p:nvSpPr>
        <p:spPr bwMode="auto">
          <a:xfrm>
            <a:off x="1714500" y="58674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S</a:t>
            </a:r>
            <a:r>
              <a:rPr lang="en-US" sz="2400" baseline="-25000">
                <a:latin typeface="Helvetica" pitchFamily="34" charset="0"/>
              </a:rPr>
              <a:t>0</a:t>
            </a:r>
            <a:endParaRPr lang="en-US" sz="2400">
              <a:latin typeface="Chalkboard" charset="0"/>
            </a:endParaRPr>
          </a:p>
        </p:txBody>
      </p:sp>
      <p:sp>
        <p:nvSpPr>
          <p:cNvPr id="197664" name="Rectangle 32"/>
          <p:cNvSpPr>
            <a:spLocks noChangeArrowheads="1"/>
          </p:cNvSpPr>
          <p:nvPr/>
        </p:nvSpPr>
        <p:spPr bwMode="auto">
          <a:xfrm>
            <a:off x="1714500" y="38100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S</a:t>
            </a:r>
            <a:r>
              <a:rPr lang="en-US" sz="2400" baseline="-25000">
                <a:latin typeface="Helvetica" pitchFamily="34" charset="0"/>
              </a:rPr>
              <a:t>1</a:t>
            </a:r>
            <a:endParaRPr lang="en-US" sz="2400">
              <a:latin typeface="Chalkboard" charset="0"/>
            </a:endParaRPr>
          </a:p>
        </p:txBody>
      </p:sp>
      <p:sp>
        <p:nvSpPr>
          <p:cNvPr id="197665" name="Rectangle 33"/>
          <p:cNvSpPr>
            <a:spLocks noChangeArrowheads="1"/>
          </p:cNvSpPr>
          <p:nvPr/>
        </p:nvSpPr>
        <p:spPr bwMode="auto">
          <a:xfrm>
            <a:off x="1714500" y="25146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S</a:t>
            </a:r>
            <a:r>
              <a:rPr lang="en-US" sz="2400" baseline="-25000">
                <a:latin typeface="Helvetica" pitchFamily="34" charset="0"/>
              </a:rPr>
              <a:t>2</a:t>
            </a:r>
            <a:endParaRPr lang="en-US" sz="2400">
              <a:latin typeface="Chalkboard" charset="0"/>
            </a:endParaRPr>
          </a:p>
        </p:txBody>
      </p:sp>
      <p:sp>
        <p:nvSpPr>
          <p:cNvPr id="197666" name="Line 34"/>
          <p:cNvSpPr>
            <a:spLocks noChangeShapeType="1"/>
          </p:cNvSpPr>
          <p:nvPr/>
        </p:nvSpPr>
        <p:spPr bwMode="auto">
          <a:xfrm flipV="1">
            <a:off x="2743200" y="3962400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67" name="Freeform 35"/>
          <p:cNvSpPr>
            <a:spLocks/>
          </p:cNvSpPr>
          <p:nvPr/>
        </p:nvSpPr>
        <p:spPr bwMode="auto">
          <a:xfrm rot="1596976">
            <a:off x="2743200" y="3962400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68" name="Line 36"/>
          <p:cNvSpPr>
            <a:spLocks noChangeShapeType="1"/>
          </p:cNvSpPr>
          <p:nvPr/>
        </p:nvSpPr>
        <p:spPr bwMode="auto">
          <a:xfrm flipH="1" flipV="1">
            <a:off x="3429000" y="4267200"/>
            <a:ext cx="22098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69" name="Freeform 37"/>
          <p:cNvSpPr>
            <a:spLocks/>
          </p:cNvSpPr>
          <p:nvPr/>
        </p:nvSpPr>
        <p:spPr bwMode="auto">
          <a:xfrm rot="20628683" flipH="1">
            <a:off x="2717800" y="6061075"/>
            <a:ext cx="914400" cy="920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70" name="Freeform 38"/>
          <p:cNvSpPr>
            <a:spLocks/>
          </p:cNvSpPr>
          <p:nvPr/>
        </p:nvSpPr>
        <p:spPr bwMode="auto">
          <a:xfrm>
            <a:off x="5181600" y="5334000"/>
            <a:ext cx="1033463" cy="152400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85" y="96"/>
              </a:cxn>
              <a:cxn ang="0">
                <a:pos x="181" y="0"/>
              </a:cxn>
              <a:cxn ang="0">
                <a:pos x="277" y="96"/>
              </a:cxn>
              <a:cxn ang="0">
                <a:pos x="373" y="0"/>
              </a:cxn>
              <a:cxn ang="0">
                <a:pos x="469" y="96"/>
              </a:cxn>
              <a:cxn ang="0">
                <a:pos x="565" y="0"/>
              </a:cxn>
              <a:cxn ang="0">
                <a:pos x="651" y="69"/>
              </a:cxn>
            </a:cxnLst>
            <a:rect l="0" t="0" r="r" b="b"/>
            <a:pathLst>
              <a:path w="651" h="96">
                <a:moveTo>
                  <a:pt x="0" y="21"/>
                </a:moveTo>
                <a:cubicBezTo>
                  <a:pt x="37" y="37"/>
                  <a:pt x="53" y="96"/>
                  <a:pt x="85" y="96"/>
                </a:cubicBezTo>
                <a:cubicBezTo>
                  <a:pt x="117" y="96"/>
                  <a:pt x="149" y="0"/>
                  <a:pt x="181" y="0"/>
                </a:cubicBezTo>
                <a:cubicBezTo>
                  <a:pt x="213" y="0"/>
                  <a:pt x="245" y="96"/>
                  <a:pt x="277" y="96"/>
                </a:cubicBezTo>
                <a:cubicBezTo>
                  <a:pt x="309" y="96"/>
                  <a:pt x="341" y="0"/>
                  <a:pt x="373" y="0"/>
                </a:cubicBezTo>
                <a:cubicBezTo>
                  <a:pt x="405" y="0"/>
                  <a:pt x="437" y="96"/>
                  <a:pt x="469" y="96"/>
                </a:cubicBezTo>
                <a:cubicBezTo>
                  <a:pt x="501" y="96"/>
                  <a:pt x="533" y="0"/>
                  <a:pt x="565" y="0"/>
                </a:cubicBezTo>
                <a:cubicBezTo>
                  <a:pt x="597" y="0"/>
                  <a:pt x="597" y="64"/>
                  <a:pt x="651" y="69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71" name="Freeform 39"/>
          <p:cNvSpPr>
            <a:spLocks/>
          </p:cNvSpPr>
          <p:nvPr/>
        </p:nvSpPr>
        <p:spPr bwMode="auto">
          <a:xfrm flipV="1">
            <a:off x="1600200" y="4953000"/>
            <a:ext cx="1016000" cy="152400"/>
          </a:xfrm>
          <a:custGeom>
            <a:avLst/>
            <a:gdLst/>
            <a:ahLst/>
            <a:cxnLst>
              <a:cxn ang="0">
                <a:pos x="0" y="21"/>
              </a:cxn>
              <a:cxn ang="0">
                <a:pos x="85" y="96"/>
              </a:cxn>
              <a:cxn ang="0">
                <a:pos x="181" y="0"/>
              </a:cxn>
              <a:cxn ang="0">
                <a:pos x="277" y="96"/>
              </a:cxn>
              <a:cxn ang="0">
                <a:pos x="373" y="0"/>
              </a:cxn>
              <a:cxn ang="0">
                <a:pos x="469" y="96"/>
              </a:cxn>
              <a:cxn ang="0">
                <a:pos x="565" y="0"/>
              </a:cxn>
              <a:cxn ang="0">
                <a:pos x="640" y="85"/>
              </a:cxn>
            </a:cxnLst>
            <a:rect l="0" t="0" r="r" b="b"/>
            <a:pathLst>
              <a:path w="640" h="96">
                <a:moveTo>
                  <a:pt x="0" y="21"/>
                </a:moveTo>
                <a:cubicBezTo>
                  <a:pt x="37" y="37"/>
                  <a:pt x="53" y="96"/>
                  <a:pt x="85" y="96"/>
                </a:cubicBezTo>
                <a:cubicBezTo>
                  <a:pt x="117" y="96"/>
                  <a:pt x="149" y="0"/>
                  <a:pt x="181" y="0"/>
                </a:cubicBezTo>
                <a:cubicBezTo>
                  <a:pt x="213" y="0"/>
                  <a:pt x="245" y="96"/>
                  <a:pt x="277" y="96"/>
                </a:cubicBezTo>
                <a:cubicBezTo>
                  <a:pt x="309" y="96"/>
                  <a:pt x="341" y="0"/>
                  <a:pt x="373" y="0"/>
                </a:cubicBezTo>
                <a:cubicBezTo>
                  <a:pt x="405" y="0"/>
                  <a:pt x="437" y="96"/>
                  <a:pt x="469" y="96"/>
                </a:cubicBezTo>
                <a:cubicBezTo>
                  <a:pt x="501" y="96"/>
                  <a:pt x="533" y="0"/>
                  <a:pt x="565" y="0"/>
                </a:cubicBezTo>
                <a:cubicBezTo>
                  <a:pt x="597" y="0"/>
                  <a:pt x="597" y="59"/>
                  <a:pt x="640" y="85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72" name="Rectangle 40"/>
          <p:cNvSpPr>
            <a:spLocks noChangeArrowheads="1"/>
          </p:cNvSpPr>
          <p:nvPr/>
        </p:nvSpPr>
        <p:spPr bwMode="auto">
          <a:xfrm>
            <a:off x="6248400" y="5105400"/>
            <a:ext cx="13096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Helvetica" pitchFamily="34" charset="0"/>
                <a:sym typeface="Symbol" pitchFamily="18" charset="2"/>
              </a:rPr>
              <a:t></a:t>
            </a:r>
            <a:r>
              <a:rPr lang="en-US" sz="2800" baseline="-25000">
                <a:solidFill>
                  <a:srgbClr val="FF0000"/>
                </a:solidFill>
                <a:latin typeface="Helvetica" pitchFamily="34" charset="0"/>
              </a:rPr>
              <a:t>phospho</a:t>
            </a:r>
          </a:p>
        </p:txBody>
      </p:sp>
      <p:sp>
        <p:nvSpPr>
          <p:cNvPr id="197673" name="Rectangle 41"/>
          <p:cNvSpPr>
            <a:spLocks noChangeArrowheads="1"/>
          </p:cNvSpPr>
          <p:nvPr/>
        </p:nvSpPr>
        <p:spPr bwMode="auto">
          <a:xfrm>
            <a:off x="762000" y="4800600"/>
            <a:ext cx="755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FF"/>
                </a:solidFill>
                <a:latin typeface="Helvetica" pitchFamily="34" charset="0"/>
                <a:sym typeface="Symbol" pitchFamily="18" charset="2"/>
              </a:rPr>
              <a:t></a:t>
            </a:r>
            <a:r>
              <a:rPr lang="en-US" sz="2800" baseline="-25000">
                <a:solidFill>
                  <a:srgbClr val="0000FF"/>
                </a:solidFill>
                <a:latin typeface="Helvetica" pitchFamily="34" charset="0"/>
              </a:rPr>
              <a:t>exc</a:t>
            </a:r>
          </a:p>
        </p:txBody>
      </p:sp>
      <p:sp>
        <p:nvSpPr>
          <p:cNvPr id="197674" name="Rectangle 42"/>
          <p:cNvSpPr>
            <a:spLocks noChangeArrowheads="1"/>
          </p:cNvSpPr>
          <p:nvPr/>
        </p:nvSpPr>
        <p:spPr bwMode="auto">
          <a:xfrm>
            <a:off x="7086600" y="4267200"/>
            <a:ext cx="48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T</a:t>
            </a:r>
            <a:r>
              <a:rPr lang="en-US" sz="2400" baseline="-25000">
                <a:latin typeface="Helvetica" pitchFamily="34" charset="0"/>
              </a:rPr>
              <a:t>1</a:t>
            </a:r>
            <a:endParaRPr lang="en-US" sz="2400">
              <a:latin typeface="Chalkboard" charset="0"/>
            </a:endParaRPr>
          </a:p>
        </p:txBody>
      </p:sp>
      <p:sp>
        <p:nvSpPr>
          <p:cNvPr id="197675" name="Rectangle 43"/>
          <p:cNvSpPr>
            <a:spLocks noChangeArrowheads="1"/>
          </p:cNvSpPr>
          <p:nvPr/>
        </p:nvSpPr>
        <p:spPr bwMode="auto">
          <a:xfrm>
            <a:off x="7086600" y="2743200"/>
            <a:ext cx="48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T</a:t>
            </a:r>
            <a:r>
              <a:rPr lang="en-US" sz="2400" baseline="-25000">
                <a:latin typeface="Helvetica" pitchFamily="34" charset="0"/>
              </a:rPr>
              <a:t>2</a:t>
            </a:r>
            <a:endParaRPr lang="en-US" sz="2400">
              <a:latin typeface="Chalkboard" charset="0"/>
            </a:endParaRPr>
          </a:p>
        </p:txBody>
      </p:sp>
      <p:sp>
        <p:nvSpPr>
          <p:cNvPr id="197676" name="Freeform 44"/>
          <p:cNvSpPr>
            <a:spLocks/>
          </p:cNvSpPr>
          <p:nvPr/>
        </p:nvSpPr>
        <p:spPr bwMode="auto">
          <a:xfrm rot="1596976">
            <a:off x="5638800" y="4495800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77" name="Line 45"/>
          <p:cNvSpPr>
            <a:spLocks noChangeShapeType="1"/>
          </p:cNvSpPr>
          <p:nvPr/>
        </p:nvSpPr>
        <p:spPr bwMode="auto">
          <a:xfrm flipV="1">
            <a:off x="3581400" y="4800600"/>
            <a:ext cx="274320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78" name="Oval 46"/>
          <p:cNvSpPr>
            <a:spLocks noChangeArrowheads="1"/>
          </p:cNvSpPr>
          <p:nvPr/>
        </p:nvSpPr>
        <p:spPr bwMode="auto">
          <a:xfrm>
            <a:off x="2706688" y="62849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79" name="Oval 47"/>
          <p:cNvSpPr>
            <a:spLocks noChangeArrowheads="1"/>
          </p:cNvSpPr>
          <p:nvPr/>
        </p:nvSpPr>
        <p:spPr bwMode="auto">
          <a:xfrm>
            <a:off x="2711450" y="39227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80" name="Oval 48"/>
          <p:cNvSpPr>
            <a:spLocks noChangeArrowheads="1"/>
          </p:cNvSpPr>
          <p:nvPr/>
        </p:nvSpPr>
        <p:spPr bwMode="auto">
          <a:xfrm>
            <a:off x="3397250" y="42354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81" name="Oval 49"/>
          <p:cNvSpPr>
            <a:spLocks noChangeArrowheads="1"/>
          </p:cNvSpPr>
          <p:nvPr/>
        </p:nvSpPr>
        <p:spPr bwMode="auto">
          <a:xfrm>
            <a:off x="6284913" y="47688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7682" name="Oval 50"/>
          <p:cNvSpPr>
            <a:spLocks noChangeArrowheads="1"/>
          </p:cNvSpPr>
          <p:nvPr/>
        </p:nvSpPr>
        <p:spPr bwMode="auto">
          <a:xfrm>
            <a:off x="3581400" y="59753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" pitchFamily="18" charset="0"/>
            </a:endParaRPr>
          </a:p>
        </p:txBody>
      </p:sp>
      <p:sp>
        <p:nvSpPr>
          <p:cNvPr id="197683" name="AutoShape 51"/>
          <p:cNvSpPr>
            <a:spLocks noChangeArrowheads="1"/>
          </p:cNvSpPr>
          <p:nvPr/>
        </p:nvSpPr>
        <p:spPr bwMode="auto">
          <a:xfrm>
            <a:off x="5537200" y="5843588"/>
            <a:ext cx="3059113" cy="573087"/>
          </a:xfrm>
          <a:prstGeom prst="roundRect">
            <a:avLst>
              <a:gd name="adj" fmla="val 16667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Helvetica" pitchFamily="34" charset="0"/>
              </a:rPr>
              <a:t>phosphorescence</a:t>
            </a:r>
          </a:p>
        </p:txBody>
      </p:sp>
      <p:sp>
        <p:nvSpPr>
          <p:cNvPr id="197684" name="Rectangle 52"/>
          <p:cNvSpPr>
            <a:spLocks noChangeArrowheads="1"/>
          </p:cNvSpPr>
          <p:nvPr/>
        </p:nvSpPr>
        <p:spPr bwMode="auto">
          <a:xfrm>
            <a:off x="4114800" y="3352800"/>
            <a:ext cx="11303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latin typeface="Helvetica" pitchFamily="34" charset="0"/>
              </a:rPr>
              <a:t>Inter-</a:t>
            </a:r>
          </a:p>
          <a:p>
            <a:pPr algn="ctr"/>
            <a:r>
              <a:rPr lang="en-US" sz="2000">
                <a:latin typeface="Helvetica" pitchFamily="34" charset="0"/>
              </a:rPr>
              <a:t>systems</a:t>
            </a:r>
          </a:p>
          <a:p>
            <a:pPr algn="ctr"/>
            <a:r>
              <a:rPr lang="en-US" sz="2000">
                <a:latin typeface="Helvetica" pitchFamily="34" charset="0"/>
              </a:rPr>
              <a:t>crossing</a:t>
            </a:r>
          </a:p>
        </p:txBody>
      </p:sp>
      <p:sp>
        <p:nvSpPr>
          <p:cNvPr id="197685" name="Oval 53"/>
          <p:cNvSpPr>
            <a:spLocks noChangeArrowheads="1"/>
          </p:cNvSpPr>
          <p:nvPr/>
        </p:nvSpPr>
        <p:spPr bwMode="auto">
          <a:xfrm>
            <a:off x="7620000" y="4343400"/>
            <a:ext cx="1519238" cy="1006475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Lifetime</a:t>
            </a:r>
          </a:p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µs–ms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ChangeArrowheads="1"/>
          </p:cNvSpPr>
          <p:nvPr/>
        </p:nvSpPr>
        <p:spPr bwMode="auto">
          <a:xfrm>
            <a:off x="4191000" y="4743450"/>
            <a:ext cx="1846263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Total spin S=0</a:t>
            </a:r>
          </a:p>
          <a:p>
            <a:pPr algn="ctr"/>
            <a:r>
              <a:rPr lang="en-US" sz="2000">
                <a:solidFill>
                  <a:schemeClr val="accent2"/>
                </a:solidFill>
                <a:latin typeface="Chalkboard" charset="0"/>
              </a:rPr>
              <a:t>Singlet state</a:t>
            </a:r>
          </a:p>
        </p:txBody>
      </p:sp>
      <p:sp>
        <p:nvSpPr>
          <p:cNvPr id="198659" name="Rectangle 3"/>
          <p:cNvSpPr>
            <a:spLocks noChangeArrowheads="1"/>
          </p:cNvSpPr>
          <p:nvPr/>
        </p:nvSpPr>
        <p:spPr bwMode="auto">
          <a:xfrm>
            <a:off x="838200" y="417513"/>
            <a:ext cx="76200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>
                <a:solidFill>
                  <a:schemeClr val="tx2"/>
                </a:solidFill>
                <a:latin typeface="Chalkboard" charset="0"/>
              </a:rPr>
              <a:t>Singlet and Triplet States</a:t>
            </a:r>
            <a:endParaRPr lang="en-US" sz="24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198660" name="Line 4"/>
          <p:cNvSpPr>
            <a:spLocks noChangeShapeType="1"/>
          </p:cNvSpPr>
          <p:nvPr/>
        </p:nvSpPr>
        <p:spPr bwMode="auto">
          <a:xfrm>
            <a:off x="4419600" y="4191000"/>
            <a:ext cx="13716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8661" name="Rectangle 5"/>
          <p:cNvSpPr>
            <a:spLocks noChangeArrowheads="1"/>
          </p:cNvSpPr>
          <p:nvPr/>
        </p:nvSpPr>
        <p:spPr bwMode="auto">
          <a:xfrm>
            <a:off x="1143000" y="3886200"/>
            <a:ext cx="2847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Highest filled orbital</a:t>
            </a:r>
            <a:endParaRPr lang="en-US" sz="2400">
              <a:latin typeface="Chalkboard" charset="0"/>
            </a:endParaRPr>
          </a:p>
        </p:txBody>
      </p:sp>
      <p:sp>
        <p:nvSpPr>
          <p:cNvPr id="198662" name="Line 6"/>
          <p:cNvSpPr>
            <a:spLocks noChangeShapeType="1"/>
          </p:cNvSpPr>
          <p:nvPr/>
        </p:nvSpPr>
        <p:spPr bwMode="auto">
          <a:xfrm>
            <a:off x="4419600" y="2667000"/>
            <a:ext cx="13716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8663" name="Rectangle 7"/>
          <p:cNvSpPr>
            <a:spLocks noChangeArrowheads="1"/>
          </p:cNvSpPr>
          <p:nvPr/>
        </p:nvSpPr>
        <p:spPr bwMode="auto">
          <a:xfrm>
            <a:off x="4495800" y="1295400"/>
            <a:ext cx="4233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800080"/>
                </a:solidFill>
                <a:latin typeface="Helvetica" pitchFamily="34" charset="0"/>
              </a:rPr>
              <a:t>Orbital states of </a:t>
            </a:r>
            <a:r>
              <a:rPr lang="en-US" sz="2400" i="1">
                <a:solidFill>
                  <a:srgbClr val="800080"/>
                </a:solidFill>
                <a:latin typeface="Helvetica" pitchFamily="34" charset="0"/>
              </a:rPr>
              <a:t>each electron</a:t>
            </a:r>
            <a:endParaRPr lang="en-US" sz="2400">
              <a:solidFill>
                <a:srgbClr val="800080"/>
              </a:solidFill>
              <a:latin typeface="Chalkboard" charset="0"/>
            </a:endParaRPr>
          </a:p>
        </p:txBody>
      </p:sp>
      <p:sp>
        <p:nvSpPr>
          <p:cNvPr id="198664" name="Rectangle 8"/>
          <p:cNvSpPr>
            <a:spLocks noChangeArrowheads="1"/>
          </p:cNvSpPr>
          <p:nvPr/>
        </p:nvSpPr>
        <p:spPr bwMode="auto">
          <a:xfrm>
            <a:off x="1066800" y="2438400"/>
            <a:ext cx="3119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Lowest unfilled orbital</a:t>
            </a:r>
            <a:endParaRPr lang="en-US" sz="2400">
              <a:latin typeface="Chalkboard" charset="0"/>
            </a:endParaRPr>
          </a:p>
        </p:txBody>
      </p:sp>
      <p:sp>
        <p:nvSpPr>
          <p:cNvPr id="198665" name="Line 9"/>
          <p:cNvSpPr>
            <a:spLocks noChangeShapeType="1"/>
          </p:cNvSpPr>
          <p:nvPr/>
        </p:nvSpPr>
        <p:spPr bwMode="auto">
          <a:xfrm flipV="1">
            <a:off x="4800600" y="39624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8666" name="Line 10"/>
          <p:cNvSpPr>
            <a:spLocks noChangeShapeType="1"/>
          </p:cNvSpPr>
          <p:nvPr/>
        </p:nvSpPr>
        <p:spPr bwMode="auto">
          <a:xfrm flipV="1">
            <a:off x="5105400" y="40386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8667" name="Group 11"/>
          <p:cNvGrpSpPr>
            <a:grpSpLocks/>
          </p:cNvGrpSpPr>
          <p:nvPr/>
        </p:nvGrpSpPr>
        <p:grpSpPr bwMode="auto">
          <a:xfrm>
            <a:off x="3124200" y="2514600"/>
            <a:ext cx="1981200" cy="1371600"/>
            <a:chOff x="1968" y="2016"/>
            <a:chExt cx="1248" cy="864"/>
          </a:xfrm>
        </p:grpSpPr>
        <p:sp>
          <p:nvSpPr>
            <p:cNvPr id="198668" name="Line 12"/>
            <p:cNvSpPr>
              <a:spLocks noChangeShapeType="1"/>
            </p:cNvSpPr>
            <p:nvPr/>
          </p:nvSpPr>
          <p:spPr bwMode="auto">
            <a:xfrm flipV="1">
              <a:off x="3216" y="201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8669" name="Group 13"/>
            <p:cNvGrpSpPr>
              <a:grpSpLocks/>
            </p:cNvGrpSpPr>
            <p:nvPr/>
          </p:nvGrpSpPr>
          <p:grpSpPr bwMode="auto">
            <a:xfrm>
              <a:off x="1968" y="2304"/>
              <a:ext cx="1248" cy="576"/>
              <a:chOff x="1968" y="2304"/>
              <a:chExt cx="1248" cy="576"/>
            </a:xfrm>
          </p:grpSpPr>
          <p:sp>
            <p:nvSpPr>
              <p:cNvPr id="198670" name="Line 14"/>
              <p:cNvSpPr>
                <a:spLocks noChangeShapeType="1"/>
              </p:cNvSpPr>
              <p:nvPr/>
            </p:nvSpPr>
            <p:spPr bwMode="auto">
              <a:xfrm flipV="1">
                <a:off x="3216" y="2304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prstDash val="dash"/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98671" name="Group 15"/>
              <p:cNvGrpSpPr>
                <a:grpSpLocks/>
              </p:cNvGrpSpPr>
              <p:nvPr/>
            </p:nvGrpSpPr>
            <p:grpSpPr bwMode="auto">
              <a:xfrm>
                <a:off x="1968" y="2448"/>
                <a:ext cx="1168" cy="327"/>
                <a:chOff x="1968" y="2448"/>
                <a:chExt cx="1168" cy="327"/>
              </a:xfrm>
            </p:grpSpPr>
            <p:sp>
              <p:nvSpPr>
                <p:cNvPr id="198672" name="Freeform 16"/>
                <p:cNvSpPr>
                  <a:spLocks/>
                </p:cNvSpPr>
                <p:nvPr/>
              </p:nvSpPr>
              <p:spPr bwMode="auto">
                <a:xfrm flipV="1">
                  <a:off x="2496" y="2544"/>
                  <a:ext cx="640" cy="96"/>
                </a:xfrm>
                <a:custGeom>
                  <a:avLst/>
                  <a:gdLst/>
                  <a:ahLst/>
                  <a:cxnLst>
                    <a:cxn ang="0">
                      <a:pos x="0" y="21"/>
                    </a:cxn>
                    <a:cxn ang="0">
                      <a:pos x="85" y="96"/>
                    </a:cxn>
                    <a:cxn ang="0">
                      <a:pos x="181" y="0"/>
                    </a:cxn>
                    <a:cxn ang="0">
                      <a:pos x="277" y="96"/>
                    </a:cxn>
                    <a:cxn ang="0">
                      <a:pos x="373" y="0"/>
                    </a:cxn>
                    <a:cxn ang="0">
                      <a:pos x="469" y="96"/>
                    </a:cxn>
                    <a:cxn ang="0">
                      <a:pos x="565" y="0"/>
                    </a:cxn>
                    <a:cxn ang="0">
                      <a:pos x="640" y="85"/>
                    </a:cxn>
                  </a:cxnLst>
                  <a:rect l="0" t="0" r="r" b="b"/>
                  <a:pathLst>
                    <a:path w="640" h="96">
                      <a:moveTo>
                        <a:pt x="0" y="21"/>
                      </a:moveTo>
                      <a:cubicBezTo>
                        <a:pt x="37" y="37"/>
                        <a:pt x="53" y="96"/>
                        <a:pt x="85" y="96"/>
                      </a:cubicBezTo>
                      <a:cubicBezTo>
                        <a:pt x="117" y="96"/>
                        <a:pt x="149" y="0"/>
                        <a:pt x="181" y="0"/>
                      </a:cubicBezTo>
                      <a:cubicBezTo>
                        <a:pt x="213" y="0"/>
                        <a:pt x="245" y="96"/>
                        <a:pt x="277" y="96"/>
                      </a:cubicBezTo>
                      <a:cubicBezTo>
                        <a:pt x="309" y="96"/>
                        <a:pt x="341" y="0"/>
                        <a:pt x="373" y="0"/>
                      </a:cubicBezTo>
                      <a:cubicBezTo>
                        <a:pt x="405" y="0"/>
                        <a:pt x="437" y="96"/>
                        <a:pt x="469" y="96"/>
                      </a:cubicBezTo>
                      <a:cubicBezTo>
                        <a:pt x="501" y="96"/>
                        <a:pt x="533" y="0"/>
                        <a:pt x="565" y="0"/>
                      </a:cubicBezTo>
                      <a:cubicBezTo>
                        <a:pt x="597" y="0"/>
                        <a:pt x="597" y="59"/>
                        <a:pt x="640" y="85"/>
                      </a:cubicBezTo>
                    </a:path>
                  </a:pathLst>
                </a:custGeom>
                <a:noFill/>
                <a:ln w="28575" cmpd="sng">
                  <a:solidFill>
                    <a:srgbClr val="0000FF"/>
                  </a:solidFill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8673" name="Rectangle 17"/>
                <p:cNvSpPr>
                  <a:spLocks noChangeArrowheads="1"/>
                </p:cNvSpPr>
                <p:nvPr/>
              </p:nvSpPr>
              <p:spPr bwMode="auto">
                <a:xfrm>
                  <a:off x="1968" y="2448"/>
                  <a:ext cx="476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800">
                      <a:solidFill>
                        <a:srgbClr val="0000FF"/>
                      </a:solidFill>
                      <a:latin typeface="Helvetica" pitchFamily="34" charset="0"/>
                      <a:sym typeface="Symbol" pitchFamily="18" charset="2"/>
                    </a:rPr>
                    <a:t></a:t>
                  </a:r>
                  <a:r>
                    <a:rPr lang="en-US" sz="2800" baseline="-25000">
                      <a:solidFill>
                        <a:srgbClr val="0000FF"/>
                      </a:solidFill>
                      <a:latin typeface="Helvetica" pitchFamily="34" charset="0"/>
                    </a:rPr>
                    <a:t>exc</a:t>
                  </a:r>
                </a:p>
              </p:txBody>
            </p:sp>
          </p:grpSp>
        </p:grpSp>
      </p:grpSp>
      <p:grpSp>
        <p:nvGrpSpPr>
          <p:cNvPr id="198674" name="Group 18"/>
          <p:cNvGrpSpPr>
            <a:grpSpLocks/>
          </p:cNvGrpSpPr>
          <p:nvPr/>
        </p:nvGrpSpPr>
        <p:grpSpPr bwMode="auto">
          <a:xfrm>
            <a:off x="5486400" y="1905000"/>
            <a:ext cx="3316288" cy="3571875"/>
            <a:chOff x="3456" y="1632"/>
            <a:chExt cx="2089" cy="2250"/>
          </a:xfrm>
        </p:grpSpPr>
        <p:grpSp>
          <p:nvGrpSpPr>
            <p:cNvPr id="198675" name="Group 19"/>
            <p:cNvGrpSpPr>
              <a:grpSpLocks/>
            </p:cNvGrpSpPr>
            <p:nvPr/>
          </p:nvGrpSpPr>
          <p:grpSpPr bwMode="auto">
            <a:xfrm>
              <a:off x="4414" y="1968"/>
              <a:ext cx="1131" cy="1914"/>
              <a:chOff x="4414" y="1968"/>
              <a:chExt cx="1131" cy="1914"/>
            </a:xfrm>
          </p:grpSpPr>
          <p:sp>
            <p:nvSpPr>
              <p:cNvPr id="198676" name="Line 20"/>
              <p:cNvSpPr>
                <a:spLocks noChangeShapeType="1"/>
              </p:cNvSpPr>
              <p:nvPr/>
            </p:nvSpPr>
            <p:spPr bwMode="auto">
              <a:xfrm>
                <a:off x="4584" y="3072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677" name="Line 21"/>
              <p:cNvSpPr>
                <a:spLocks noChangeShapeType="1"/>
              </p:cNvSpPr>
              <p:nvPr/>
            </p:nvSpPr>
            <p:spPr bwMode="auto">
              <a:xfrm>
                <a:off x="4584" y="2112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678" name="Line 22"/>
              <p:cNvSpPr>
                <a:spLocks noChangeShapeType="1"/>
              </p:cNvSpPr>
              <p:nvPr/>
            </p:nvSpPr>
            <p:spPr bwMode="auto">
              <a:xfrm flipV="1">
                <a:off x="4824" y="2928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679" name="Line 23"/>
              <p:cNvSpPr>
                <a:spLocks noChangeShapeType="1"/>
              </p:cNvSpPr>
              <p:nvPr/>
            </p:nvSpPr>
            <p:spPr bwMode="auto">
              <a:xfrm>
                <a:off x="5016" y="1968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680" name="Rectangle 24"/>
              <p:cNvSpPr>
                <a:spLocks noChangeArrowheads="1"/>
              </p:cNvSpPr>
              <p:nvPr/>
            </p:nvSpPr>
            <p:spPr bwMode="auto">
              <a:xfrm>
                <a:off x="4414" y="3420"/>
                <a:ext cx="1131" cy="4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accent2"/>
                    </a:solidFill>
                    <a:latin typeface="Chalkboard" charset="0"/>
                  </a:rPr>
                  <a:t>Total spin S=1</a:t>
                </a:r>
              </a:p>
              <a:p>
                <a:pPr algn="ctr"/>
                <a:r>
                  <a:rPr lang="en-US" sz="2000">
                    <a:solidFill>
                      <a:schemeClr val="accent2"/>
                    </a:solidFill>
                    <a:latin typeface="Chalkboard" charset="0"/>
                  </a:rPr>
                  <a:t>Triplet state</a:t>
                </a:r>
              </a:p>
            </p:txBody>
          </p:sp>
        </p:grpSp>
        <p:sp>
          <p:nvSpPr>
            <p:cNvPr id="198681" name="Rectangle 25"/>
            <p:cNvSpPr>
              <a:spLocks noChangeArrowheads="1"/>
            </p:cNvSpPr>
            <p:nvPr/>
          </p:nvSpPr>
          <p:spPr bwMode="auto">
            <a:xfrm>
              <a:off x="3744" y="1632"/>
              <a:ext cx="725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chemeClr val="accent2"/>
                  </a:solidFill>
                  <a:latin typeface="Chalkboard" charset="0"/>
                </a:rPr>
                <a:t>Spin flip</a:t>
              </a:r>
            </a:p>
          </p:txBody>
        </p:sp>
        <p:sp>
          <p:nvSpPr>
            <p:cNvPr id="198682" name="Freeform 26"/>
            <p:cNvSpPr>
              <a:spLocks/>
            </p:cNvSpPr>
            <p:nvPr/>
          </p:nvSpPr>
          <p:spPr bwMode="auto">
            <a:xfrm>
              <a:off x="3456" y="1856"/>
              <a:ext cx="1248" cy="113"/>
            </a:xfrm>
            <a:custGeom>
              <a:avLst/>
              <a:gdLst/>
              <a:ahLst/>
              <a:cxnLst>
                <a:cxn ang="0">
                  <a:pos x="0" y="112"/>
                </a:cxn>
                <a:cxn ang="0">
                  <a:pos x="1248" y="113"/>
                </a:cxn>
              </a:cxnLst>
              <a:rect l="0" t="0" r="r" b="b"/>
              <a:pathLst>
                <a:path w="1248" h="113">
                  <a:moveTo>
                    <a:pt x="0" y="112"/>
                  </a:moveTo>
                  <a:cubicBezTo>
                    <a:pt x="587" y="0"/>
                    <a:pt x="917" y="43"/>
                    <a:pt x="1248" y="113"/>
                  </a:cubicBezTo>
                </a:path>
              </a:pathLst>
            </a:custGeom>
            <a:noFill/>
            <a:ln w="1270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8683" name="Rectangle 27"/>
          <p:cNvSpPr>
            <a:spLocks noChangeArrowheads="1"/>
          </p:cNvSpPr>
          <p:nvPr/>
        </p:nvSpPr>
        <p:spPr bwMode="auto">
          <a:xfrm>
            <a:off x="838200" y="5943600"/>
            <a:ext cx="7375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800080"/>
                </a:solidFill>
                <a:latin typeface="Helvetica" pitchFamily="34" charset="0"/>
              </a:rPr>
              <a:t>Spin flips are “dipole forbidden” </a:t>
            </a:r>
            <a:r>
              <a:rPr lang="en-US" sz="2000">
                <a:solidFill>
                  <a:srgbClr val="800080"/>
                </a:solidFill>
                <a:latin typeface="Helvetica" pitchFamily="34" charset="0"/>
                <a:sym typeface="Symbol" pitchFamily="18" charset="2"/>
              </a:rPr>
              <a:t></a:t>
            </a:r>
            <a:r>
              <a:rPr lang="en-US" sz="2000">
                <a:solidFill>
                  <a:srgbClr val="800080"/>
                </a:solidFill>
                <a:latin typeface="Helvetica" pitchFamily="34" charset="0"/>
              </a:rPr>
              <a:t> unlikely </a:t>
            </a:r>
            <a:r>
              <a:rPr lang="en-US" sz="2000">
                <a:solidFill>
                  <a:srgbClr val="800080"/>
                </a:solidFill>
                <a:latin typeface="Helvetica" pitchFamily="34" charset="0"/>
                <a:sym typeface="Symbol" pitchFamily="18" charset="2"/>
              </a:rPr>
              <a:t></a:t>
            </a:r>
            <a:r>
              <a:rPr lang="en-US" sz="2000">
                <a:solidFill>
                  <a:srgbClr val="800080"/>
                </a:solidFill>
                <a:latin typeface="Helvetica" pitchFamily="34" charset="0"/>
              </a:rPr>
              <a:t> long triplet lifetime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38200"/>
          </a:xfrm>
        </p:spPr>
        <p:txBody>
          <a:bodyPr/>
          <a:lstStyle/>
          <a:p>
            <a:r>
              <a:rPr lang="en-US"/>
              <a:t>Fluorescence Spectra</a:t>
            </a:r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3810000" y="1981200"/>
            <a:ext cx="1365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Stokes shift</a:t>
            </a:r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5791200" y="4495800"/>
            <a:ext cx="11430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Line 11"/>
          <p:cNvSpPr>
            <a:spLocks noChangeShapeType="1"/>
          </p:cNvSpPr>
          <p:nvPr/>
        </p:nvSpPr>
        <p:spPr bwMode="auto">
          <a:xfrm>
            <a:off x="5791200" y="4648200"/>
            <a:ext cx="11430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>
            <a:off x="5791200" y="4800600"/>
            <a:ext cx="11430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02" name="Object 26"/>
          <p:cNvGraphicFramePr>
            <a:graphicFrameLocks noGrp="1" noChangeAspect="1"/>
          </p:cNvGraphicFramePr>
          <p:nvPr>
            <p:ph idx="1"/>
          </p:nvPr>
        </p:nvGraphicFramePr>
        <p:xfrm>
          <a:off x="762000" y="2362200"/>
          <a:ext cx="7477125" cy="2400300"/>
        </p:xfrm>
        <a:graphic>
          <a:graphicData uri="http://schemas.openxmlformats.org/presentationml/2006/ole">
            <p:oleObj spid="_x0000_s50206" name="Image" r:id="rId4" imgW="9968254" imgH="3200000" progId="">
              <p:embed/>
            </p:oleObj>
          </a:graphicData>
        </a:graphic>
      </p:graphicFrame>
      <p:sp>
        <p:nvSpPr>
          <p:cNvPr id="50204" name="Text Box 28"/>
          <p:cNvSpPr txBox="1">
            <a:spLocks noChangeArrowheads="1"/>
          </p:cNvSpPr>
          <p:nvPr/>
        </p:nvSpPr>
        <p:spPr bwMode="auto">
          <a:xfrm>
            <a:off x="3657600" y="4953000"/>
            <a:ext cx="1541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Alexa 488</a:t>
            </a:r>
          </a:p>
        </p:txBody>
      </p:sp>
      <p:sp>
        <p:nvSpPr>
          <p:cNvPr id="50181" name="Line 5"/>
          <p:cNvSpPr>
            <a:spLocks noChangeShapeType="1"/>
          </p:cNvSpPr>
          <p:nvPr/>
        </p:nvSpPr>
        <p:spPr bwMode="auto">
          <a:xfrm>
            <a:off x="4267200" y="25146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5" name="Line 29"/>
          <p:cNvSpPr>
            <a:spLocks noChangeShapeType="1"/>
          </p:cNvSpPr>
          <p:nvPr/>
        </p:nvSpPr>
        <p:spPr bwMode="auto">
          <a:xfrm>
            <a:off x="3505200" y="2286000"/>
            <a:ext cx="762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06" name="Line 30"/>
          <p:cNvSpPr>
            <a:spLocks noChangeShapeType="1"/>
          </p:cNvSpPr>
          <p:nvPr/>
        </p:nvSpPr>
        <p:spPr bwMode="auto">
          <a:xfrm flipH="1">
            <a:off x="4648200" y="2286000"/>
            <a:ext cx="1143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207" name="Text Box 31"/>
          <p:cNvSpPr txBox="1">
            <a:spLocks noChangeArrowheads="1"/>
          </p:cNvSpPr>
          <p:nvPr/>
        </p:nvSpPr>
        <p:spPr bwMode="auto">
          <a:xfrm>
            <a:off x="2362200" y="1905000"/>
            <a:ext cx="1174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/>
              <a:t>Excitation</a:t>
            </a:r>
          </a:p>
          <a:p>
            <a:pPr algn="ctr"/>
            <a:r>
              <a:rPr lang="en-US"/>
              <a:t>maximum</a:t>
            </a:r>
          </a:p>
        </p:txBody>
      </p:sp>
      <p:sp>
        <p:nvSpPr>
          <p:cNvPr id="50208" name="Text Box 32"/>
          <p:cNvSpPr txBox="1">
            <a:spLocks noChangeArrowheads="1"/>
          </p:cNvSpPr>
          <p:nvPr/>
        </p:nvSpPr>
        <p:spPr bwMode="auto">
          <a:xfrm>
            <a:off x="5715000" y="1905000"/>
            <a:ext cx="1174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/>
              <a:t>Emission</a:t>
            </a:r>
          </a:p>
          <a:p>
            <a:pPr algn="ctr"/>
            <a:r>
              <a:rPr lang="en-US"/>
              <a:t>maximum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/>
      <p:bldP spid="50181" grpId="0" animBg="1"/>
      <p:bldP spid="50205" grpId="0" animBg="1"/>
      <p:bldP spid="50205" grpId="1" animBg="1"/>
      <p:bldP spid="50206" grpId="0" animBg="1"/>
      <p:bldP spid="50206" grpId="1" animBg="1"/>
      <p:bldP spid="50207" grpId="0"/>
      <p:bldP spid="50207" grpId="1"/>
      <p:bldP spid="50208" grpId="0"/>
      <p:bldP spid="5020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963" name="Group 3"/>
          <p:cNvGrpSpPr>
            <a:grpSpLocks/>
          </p:cNvGrpSpPr>
          <p:nvPr/>
        </p:nvGrpSpPr>
        <p:grpSpPr bwMode="auto">
          <a:xfrm>
            <a:off x="1524000" y="2895600"/>
            <a:ext cx="1981200" cy="304800"/>
            <a:chOff x="1104" y="2208"/>
            <a:chExt cx="3600" cy="192"/>
          </a:xfrm>
        </p:grpSpPr>
        <p:sp>
          <p:nvSpPr>
            <p:cNvPr id="168964" name="Line 4"/>
            <p:cNvSpPr>
              <a:spLocks noChangeShapeType="1"/>
            </p:cNvSpPr>
            <p:nvPr/>
          </p:nvSpPr>
          <p:spPr bwMode="auto">
            <a:xfrm>
              <a:off x="1104" y="2400"/>
              <a:ext cx="3600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965" name="Line 5"/>
            <p:cNvSpPr>
              <a:spLocks noChangeShapeType="1"/>
            </p:cNvSpPr>
            <p:nvPr/>
          </p:nvSpPr>
          <p:spPr bwMode="auto">
            <a:xfrm>
              <a:off x="1104" y="2304"/>
              <a:ext cx="3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966" name="Line 6"/>
            <p:cNvSpPr>
              <a:spLocks noChangeShapeType="1"/>
            </p:cNvSpPr>
            <p:nvPr/>
          </p:nvSpPr>
          <p:spPr bwMode="auto">
            <a:xfrm>
              <a:off x="1104" y="2208"/>
              <a:ext cx="3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8967" name="Group 7"/>
          <p:cNvGrpSpPr>
            <a:grpSpLocks/>
          </p:cNvGrpSpPr>
          <p:nvPr/>
        </p:nvGrpSpPr>
        <p:grpSpPr bwMode="auto">
          <a:xfrm>
            <a:off x="1524000" y="2057400"/>
            <a:ext cx="1981200" cy="304800"/>
            <a:chOff x="1104" y="2208"/>
            <a:chExt cx="3600" cy="192"/>
          </a:xfrm>
        </p:grpSpPr>
        <p:sp>
          <p:nvSpPr>
            <p:cNvPr id="168968" name="Line 8"/>
            <p:cNvSpPr>
              <a:spLocks noChangeShapeType="1"/>
            </p:cNvSpPr>
            <p:nvPr/>
          </p:nvSpPr>
          <p:spPr bwMode="auto">
            <a:xfrm>
              <a:off x="1104" y="2400"/>
              <a:ext cx="3600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969" name="Line 9"/>
            <p:cNvSpPr>
              <a:spLocks noChangeShapeType="1"/>
            </p:cNvSpPr>
            <p:nvPr/>
          </p:nvSpPr>
          <p:spPr bwMode="auto">
            <a:xfrm>
              <a:off x="1104" y="2304"/>
              <a:ext cx="3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970" name="Line 10"/>
            <p:cNvSpPr>
              <a:spLocks noChangeShapeType="1"/>
            </p:cNvSpPr>
            <p:nvPr/>
          </p:nvSpPr>
          <p:spPr bwMode="auto">
            <a:xfrm>
              <a:off x="1104" y="2208"/>
              <a:ext cx="3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8971" name="Text Box 11"/>
          <p:cNvSpPr txBox="1">
            <a:spLocks noChangeArrowheads="1"/>
          </p:cNvSpPr>
          <p:nvPr/>
        </p:nvSpPr>
        <p:spPr bwMode="auto">
          <a:xfrm>
            <a:off x="1098550" y="4983163"/>
            <a:ext cx="2682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168972" name="Text Box 12"/>
          <p:cNvSpPr txBox="1">
            <a:spLocks noChangeArrowheads="1"/>
          </p:cNvSpPr>
          <p:nvPr/>
        </p:nvSpPr>
        <p:spPr bwMode="auto">
          <a:xfrm>
            <a:off x="1098550" y="48260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1</a:t>
            </a:r>
          </a:p>
        </p:txBody>
      </p:sp>
      <p:sp>
        <p:nvSpPr>
          <p:cNvPr id="168973" name="Text Box 13"/>
          <p:cNvSpPr txBox="1">
            <a:spLocks noChangeArrowheads="1"/>
          </p:cNvSpPr>
          <p:nvPr/>
        </p:nvSpPr>
        <p:spPr bwMode="auto">
          <a:xfrm>
            <a:off x="1104900" y="46355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2</a:t>
            </a:r>
          </a:p>
        </p:txBody>
      </p:sp>
      <p:sp>
        <p:nvSpPr>
          <p:cNvPr id="168974" name="Text Box 14"/>
          <p:cNvSpPr txBox="1">
            <a:spLocks noChangeArrowheads="1"/>
          </p:cNvSpPr>
          <p:nvPr/>
        </p:nvSpPr>
        <p:spPr bwMode="auto">
          <a:xfrm>
            <a:off x="609600" y="28194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S</a:t>
            </a:r>
            <a:r>
              <a:rPr lang="en-US" sz="2400" baseline="-25000"/>
              <a:t>1</a:t>
            </a:r>
            <a:endParaRPr lang="en-US" sz="2400"/>
          </a:p>
        </p:txBody>
      </p:sp>
      <p:sp>
        <p:nvSpPr>
          <p:cNvPr id="168975" name="Text Box 15"/>
          <p:cNvSpPr txBox="1">
            <a:spLocks noChangeArrowheads="1"/>
          </p:cNvSpPr>
          <p:nvPr/>
        </p:nvSpPr>
        <p:spPr bwMode="auto">
          <a:xfrm>
            <a:off x="609600" y="1905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S</a:t>
            </a:r>
            <a:r>
              <a:rPr lang="en-US" sz="2400" baseline="-25000"/>
              <a:t>2</a:t>
            </a:r>
            <a:endParaRPr lang="en-US" sz="2400"/>
          </a:p>
        </p:txBody>
      </p:sp>
      <p:grpSp>
        <p:nvGrpSpPr>
          <p:cNvPr id="168976" name="Group 16"/>
          <p:cNvGrpSpPr>
            <a:grpSpLocks/>
          </p:cNvGrpSpPr>
          <p:nvPr/>
        </p:nvGrpSpPr>
        <p:grpSpPr bwMode="auto">
          <a:xfrm>
            <a:off x="1595438" y="4800600"/>
            <a:ext cx="1981200" cy="304800"/>
            <a:chOff x="1104" y="2208"/>
            <a:chExt cx="3600" cy="192"/>
          </a:xfrm>
        </p:grpSpPr>
        <p:sp>
          <p:nvSpPr>
            <p:cNvPr id="168977" name="Line 17"/>
            <p:cNvSpPr>
              <a:spLocks noChangeShapeType="1"/>
            </p:cNvSpPr>
            <p:nvPr/>
          </p:nvSpPr>
          <p:spPr bwMode="auto">
            <a:xfrm>
              <a:off x="1104" y="2400"/>
              <a:ext cx="3600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978" name="Line 18"/>
            <p:cNvSpPr>
              <a:spLocks noChangeShapeType="1"/>
            </p:cNvSpPr>
            <p:nvPr/>
          </p:nvSpPr>
          <p:spPr bwMode="auto">
            <a:xfrm>
              <a:off x="1104" y="2304"/>
              <a:ext cx="3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979" name="Line 19"/>
            <p:cNvSpPr>
              <a:spLocks noChangeShapeType="1"/>
            </p:cNvSpPr>
            <p:nvPr/>
          </p:nvSpPr>
          <p:spPr bwMode="auto">
            <a:xfrm>
              <a:off x="1104" y="2208"/>
              <a:ext cx="3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8980" name="Text Box 20"/>
          <p:cNvSpPr txBox="1">
            <a:spLocks noChangeArrowheads="1"/>
          </p:cNvSpPr>
          <p:nvPr/>
        </p:nvSpPr>
        <p:spPr bwMode="auto">
          <a:xfrm>
            <a:off x="638175" y="4572000"/>
            <a:ext cx="500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S</a:t>
            </a:r>
            <a:r>
              <a:rPr lang="en-US" sz="2400" baseline="-25000"/>
              <a:t>0</a:t>
            </a:r>
            <a:endParaRPr lang="en-US" sz="2400"/>
          </a:p>
        </p:txBody>
      </p:sp>
      <p:grpSp>
        <p:nvGrpSpPr>
          <p:cNvPr id="168982" name="Group 22"/>
          <p:cNvGrpSpPr>
            <a:grpSpLocks/>
          </p:cNvGrpSpPr>
          <p:nvPr/>
        </p:nvGrpSpPr>
        <p:grpSpPr bwMode="auto">
          <a:xfrm>
            <a:off x="1371600" y="2209800"/>
            <a:ext cx="1143000" cy="2895600"/>
            <a:chOff x="1923" y="1872"/>
            <a:chExt cx="720" cy="1824"/>
          </a:xfrm>
        </p:grpSpPr>
        <p:sp>
          <p:nvSpPr>
            <p:cNvPr id="168983" name="Line 23"/>
            <p:cNvSpPr>
              <a:spLocks noChangeShapeType="1"/>
            </p:cNvSpPr>
            <p:nvPr/>
          </p:nvSpPr>
          <p:spPr bwMode="auto">
            <a:xfrm flipV="1">
              <a:off x="2259" y="1872"/>
              <a:ext cx="0" cy="182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984" name="Line 24"/>
            <p:cNvSpPr>
              <a:spLocks noChangeShapeType="1"/>
            </p:cNvSpPr>
            <p:nvPr/>
          </p:nvSpPr>
          <p:spPr bwMode="auto">
            <a:xfrm flipV="1">
              <a:off x="2643" y="2304"/>
              <a:ext cx="0" cy="13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68985" name="AutoShape 25"/>
            <p:cNvCxnSpPr>
              <a:cxnSpLocks noChangeShapeType="1"/>
            </p:cNvCxnSpPr>
            <p:nvPr/>
          </p:nvCxnSpPr>
          <p:spPr bwMode="auto">
            <a:xfrm rot="16200000">
              <a:off x="1947" y="2856"/>
              <a:ext cx="384" cy="240"/>
            </a:xfrm>
            <a:prstGeom prst="curvedConnector3">
              <a:avLst>
                <a:gd name="adj1" fmla="val 22912"/>
              </a:avLst>
            </a:prstGeom>
            <a:noFill/>
            <a:ln w="22225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cxnSp>
          <p:nvCxnSpPr>
            <p:cNvPr id="168986" name="AutoShape 26"/>
            <p:cNvCxnSpPr>
              <a:cxnSpLocks noChangeShapeType="1"/>
            </p:cNvCxnSpPr>
            <p:nvPr/>
          </p:nvCxnSpPr>
          <p:spPr bwMode="auto">
            <a:xfrm rot="16200000">
              <a:off x="2331" y="2856"/>
              <a:ext cx="384" cy="240"/>
            </a:xfrm>
            <a:prstGeom prst="curvedConnector3">
              <a:avLst>
                <a:gd name="adj1" fmla="val 22912"/>
              </a:avLst>
            </a:prstGeom>
            <a:noFill/>
            <a:ln w="22225">
              <a:solidFill>
                <a:srgbClr val="0000FF"/>
              </a:solidFill>
              <a:round/>
              <a:headEnd/>
              <a:tailEnd type="triangle" w="med" len="med"/>
            </a:ln>
          </p:spPr>
        </p:cxnSp>
        <p:sp>
          <p:nvSpPr>
            <p:cNvPr id="168987" name="Text Box 27"/>
            <p:cNvSpPr txBox="1">
              <a:spLocks noChangeArrowheads="1"/>
            </p:cNvSpPr>
            <p:nvPr/>
          </p:nvSpPr>
          <p:spPr bwMode="auto">
            <a:xfrm>
              <a:off x="1923" y="2832"/>
              <a:ext cx="28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h</a:t>
              </a:r>
              <a:r>
                <a:rPr lang="en-US" sz="1400">
                  <a:solidFill>
                    <a:schemeClr val="tx2"/>
                  </a:solidFill>
                  <a:sym typeface="Symbol" pitchFamily="18" charset="2"/>
                </a:rPr>
                <a:t></a:t>
              </a:r>
              <a:r>
                <a:rPr lang="en-US" sz="1400" baseline="-25000">
                  <a:solidFill>
                    <a:schemeClr val="tx2"/>
                  </a:solidFill>
                </a:rPr>
                <a:t>A</a:t>
              </a:r>
              <a:endParaRPr lang="en-US" sz="4400">
                <a:solidFill>
                  <a:schemeClr val="tx2"/>
                </a:solidFill>
              </a:endParaRPr>
            </a:p>
          </p:txBody>
        </p:sp>
        <p:sp>
          <p:nvSpPr>
            <p:cNvPr id="168988" name="Text Box 28"/>
            <p:cNvSpPr txBox="1">
              <a:spLocks noChangeArrowheads="1"/>
            </p:cNvSpPr>
            <p:nvPr/>
          </p:nvSpPr>
          <p:spPr bwMode="auto">
            <a:xfrm>
              <a:off x="2355" y="2832"/>
              <a:ext cx="28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h</a:t>
              </a:r>
              <a:r>
                <a:rPr lang="en-US" sz="1400">
                  <a:solidFill>
                    <a:schemeClr val="tx2"/>
                  </a:solidFill>
                  <a:sym typeface="Symbol" pitchFamily="18" charset="2"/>
                </a:rPr>
                <a:t></a:t>
              </a:r>
              <a:r>
                <a:rPr lang="en-US" sz="1400" baseline="-25000">
                  <a:solidFill>
                    <a:schemeClr val="tx2"/>
                  </a:solidFill>
                </a:rPr>
                <a:t>A</a:t>
              </a:r>
              <a:endParaRPr lang="en-US" sz="4400">
                <a:solidFill>
                  <a:schemeClr val="tx2"/>
                </a:solidFill>
              </a:endParaRPr>
            </a:p>
          </p:txBody>
        </p:sp>
      </p:grpSp>
      <p:grpSp>
        <p:nvGrpSpPr>
          <p:cNvPr id="168991" name="Group 31"/>
          <p:cNvGrpSpPr>
            <a:grpSpLocks/>
          </p:cNvGrpSpPr>
          <p:nvPr/>
        </p:nvGrpSpPr>
        <p:grpSpPr bwMode="auto">
          <a:xfrm>
            <a:off x="2057400" y="2209800"/>
            <a:ext cx="1303338" cy="990600"/>
            <a:chOff x="2355" y="1872"/>
            <a:chExt cx="821" cy="624"/>
          </a:xfrm>
        </p:grpSpPr>
        <p:sp>
          <p:nvSpPr>
            <p:cNvPr id="168992" name="Line 32"/>
            <p:cNvSpPr>
              <a:spLocks noChangeShapeType="1"/>
            </p:cNvSpPr>
            <p:nvPr/>
          </p:nvSpPr>
          <p:spPr bwMode="auto">
            <a:xfrm>
              <a:off x="2355" y="1872"/>
              <a:ext cx="0" cy="62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993" name="Line 33"/>
            <p:cNvSpPr>
              <a:spLocks noChangeShapeType="1"/>
            </p:cNvSpPr>
            <p:nvPr/>
          </p:nvSpPr>
          <p:spPr bwMode="auto">
            <a:xfrm>
              <a:off x="2787" y="2304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994" name="Text Box 34"/>
            <p:cNvSpPr txBox="1">
              <a:spLocks noChangeArrowheads="1"/>
            </p:cNvSpPr>
            <p:nvPr/>
          </p:nvSpPr>
          <p:spPr bwMode="auto">
            <a:xfrm>
              <a:off x="2441" y="1958"/>
              <a:ext cx="73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Internal</a:t>
              </a:r>
            </a:p>
            <a:p>
              <a:r>
                <a:rPr lang="en-US" sz="1600"/>
                <a:t>conversion</a:t>
              </a:r>
              <a:endParaRPr lang="en-US" sz="1400"/>
            </a:p>
          </p:txBody>
        </p:sp>
      </p:grpSp>
      <p:grpSp>
        <p:nvGrpSpPr>
          <p:cNvPr id="168998" name="Group 38"/>
          <p:cNvGrpSpPr>
            <a:grpSpLocks/>
          </p:cNvGrpSpPr>
          <p:nvPr/>
        </p:nvGrpSpPr>
        <p:grpSpPr bwMode="auto">
          <a:xfrm>
            <a:off x="3048000" y="3200400"/>
            <a:ext cx="757238" cy="1905000"/>
            <a:chOff x="2979" y="2496"/>
            <a:chExt cx="477" cy="1200"/>
          </a:xfrm>
        </p:grpSpPr>
        <p:sp>
          <p:nvSpPr>
            <p:cNvPr id="168999" name="Line 39"/>
            <p:cNvSpPr>
              <a:spLocks noChangeShapeType="1"/>
            </p:cNvSpPr>
            <p:nvPr/>
          </p:nvSpPr>
          <p:spPr bwMode="auto">
            <a:xfrm flipH="1">
              <a:off x="2979" y="2496"/>
              <a:ext cx="0" cy="100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000" name="Line 40"/>
            <p:cNvSpPr>
              <a:spLocks noChangeShapeType="1"/>
            </p:cNvSpPr>
            <p:nvPr/>
          </p:nvSpPr>
          <p:spPr bwMode="auto">
            <a:xfrm flipH="1">
              <a:off x="3123" y="2496"/>
              <a:ext cx="0" cy="12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69001" name="AutoShape 41"/>
            <p:cNvCxnSpPr>
              <a:cxnSpLocks noChangeShapeType="1"/>
            </p:cNvCxnSpPr>
            <p:nvPr/>
          </p:nvCxnSpPr>
          <p:spPr bwMode="auto">
            <a:xfrm rot="16200000" flipH="1">
              <a:off x="3075" y="2928"/>
              <a:ext cx="288" cy="192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</p:spPr>
        </p:cxnSp>
        <p:sp>
          <p:nvSpPr>
            <p:cNvPr id="169002" name="Text Box 42"/>
            <p:cNvSpPr txBox="1">
              <a:spLocks noChangeArrowheads="1"/>
            </p:cNvSpPr>
            <p:nvPr/>
          </p:nvSpPr>
          <p:spPr bwMode="auto">
            <a:xfrm>
              <a:off x="3171" y="2832"/>
              <a:ext cx="28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h</a:t>
              </a:r>
              <a:r>
                <a:rPr lang="en-US" sz="1400">
                  <a:solidFill>
                    <a:schemeClr val="tx2"/>
                  </a:solidFill>
                  <a:sym typeface="Symbol" pitchFamily="18" charset="2"/>
                </a:rPr>
                <a:t></a:t>
              </a:r>
              <a:r>
                <a:rPr lang="en-US" sz="1400" baseline="-25000">
                  <a:solidFill>
                    <a:schemeClr val="tx2"/>
                  </a:solidFill>
                </a:rPr>
                <a:t>E</a:t>
              </a:r>
              <a:endParaRPr lang="en-US" sz="4400">
                <a:solidFill>
                  <a:schemeClr val="tx2"/>
                </a:solidFill>
              </a:endParaRPr>
            </a:p>
          </p:txBody>
        </p:sp>
        <p:cxnSp>
          <p:nvCxnSpPr>
            <p:cNvPr id="169003" name="AutoShape 43"/>
            <p:cNvCxnSpPr>
              <a:cxnSpLocks noChangeShapeType="1"/>
            </p:cNvCxnSpPr>
            <p:nvPr/>
          </p:nvCxnSpPr>
          <p:spPr bwMode="auto">
            <a:xfrm rot="16200000" flipH="1">
              <a:off x="2955" y="3000"/>
              <a:ext cx="288" cy="240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</p:spPr>
        </p:cxnSp>
      </p:grpSp>
      <p:sp>
        <p:nvSpPr>
          <p:cNvPr id="169008" name="Rectangle 48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en-US"/>
              <a:t>Fluorophore saturation</a:t>
            </a:r>
          </a:p>
        </p:txBody>
      </p:sp>
      <p:sp>
        <p:nvSpPr>
          <p:cNvPr id="169009" name="Text Box 49"/>
          <p:cNvSpPr txBox="1">
            <a:spLocks noChangeArrowheads="1"/>
          </p:cNvSpPr>
          <p:nvPr/>
        </p:nvSpPr>
        <p:spPr bwMode="auto">
          <a:xfrm>
            <a:off x="4191000" y="2514600"/>
            <a:ext cx="4800600" cy="246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Fluorescence lifetime is ~1-5ns</a:t>
            </a:r>
          </a:p>
          <a:p>
            <a:pPr>
              <a:spcBef>
                <a:spcPct val="50000"/>
              </a:spcBef>
            </a:pPr>
            <a:r>
              <a:rPr lang="en-US" sz="2400"/>
              <a:t>Once illumination intensity is high enough to excite the fluorophore as soon as it deexcites, further intensity increases will not increase brightness</a:t>
            </a:r>
          </a:p>
        </p:txBody>
      </p:sp>
      <p:sp>
        <p:nvSpPr>
          <p:cNvPr id="169010" name="Text Box 50"/>
          <p:cNvSpPr txBox="1">
            <a:spLocks noChangeArrowheads="1"/>
          </p:cNvSpPr>
          <p:nvPr/>
        </p:nvSpPr>
        <p:spPr bwMode="auto">
          <a:xfrm>
            <a:off x="685800" y="5715000"/>
            <a:ext cx="800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Usually only a problem for confocal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ChangeArrowheads="1"/>
          </p:cNvSpPr>
          <p:nvPr/>
        </p:nvSpPr>
        <p:spPr bwMode="auto">
          <a:xfrm>
            <a:off x="838200" y="417513"/>
            <a:ext cx="76200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>
                <a:solidFill>
                  <a:schemeClr val="tx2"/>
                </a:solidFill>
                <a:latin typeface="Chalkboard" charset="0"/>
              </a:rPr>
              <a:t>Fluorescent molecules</a:t>
            </a:r>
            <a:endParaRPr lang="en-US" sz="2400">
              <a:solidFill>
                <a:schemeClr val="tx2"/>
              </a:solidFill>
              <a:latin typeface="Chalkboard" charset="0"/>
            </a:endParaRPr>
          </a:p>
        </p:txBody>
      </p:sp>
      <p:grpSp>
        <p:nvGrpSpPr>
          <p:cNvPr id="204803" name="Group 3"/>
          <p:cNvGrpSpPr>
            <a:grpSpLocks/>
          </p:cNvGrpSpPr>
          <p:nvPr/>
        </p:nvGrpSpPr>
        <p:grpSpPr bwMode="auto">
          <a:xfrm>
            <a:off x="1600200" y="1219200"/>
            <a:ext cx="5867400" cy="2362200"/>
            <a:chOff x="816" y="864"/>
            <a:chExt cx="2400" cy="977"/>
          </a:xfrm>
        </p:grpSpPr>
        <p:pic>
          <p:nvPicPr>
            <p:cNvPr id="204804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16" y="864"/>
              <a:ext cx="2400" cy="977"/>
            </a:xfrm>
            <a:prstGeom prst="rect">
              <a:avLst/>
            </a:prstGeom>
            <a:noFill/>
          </p:spPr>
        </p:pic>
        <p:sp>
          <p:nvSpPr>
            <p:cNvPr id="204805" name="Rectangle 5"/>
            <p:cNvSpPr>
              <a:spLocks noChangeArrowheads="1"/>
            </p:cNvSpPr>
            <p:nvPr/>
          </p:nvSpPr>
          <p:spPr bwMode="auto">
            <a:xfrm>
              <a:off x="816" y="864"/>
              <a:ext cx="2352" cy="9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06" name="Rectangle 6"/>
            <p:cNvSpPr>
              <a:spLocks noChangeArrowheads="1"/>
            </p:cNvSpPr>
            <p:nvPr/>
          </p:nvSpPr>
          <p:spPr bwMode="auto">
            <a:xfrm>
              <a:off x="864" y="1536"/>
              <a:ext cx="336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4807" name="Rectangle 7"/>
          <p:cNvSpPr>
            <a:spLocks noChangeArrowheads="1"/>
          </p:cNvSpPr>
          <p:nvPr/>
        </p:nvSpPr>
        <p:spPr bwMode="auto">
          <a:xfrm>
            <a:off x="803275" y="4335463"/>
            <a:ext cx="617220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solidFill>
                  <a:schemeClr val="accent2"/>
                </a:solidFill>
                <a:latin typeface="Chalkboard" charset="0"/>
              </a:rPr>
              <a:t>Systems of conjugated bonds</a:t>
            </a:r>
          </a:p>
          <a:p>
            <a:r>
              <a:rPr lang="en-US" sz="2400">
                <a:solidFill>
                  <a:schemeClr val="accent2"/>
                </a:solidFill>
                <a:latin typeface="Chalkboard" charset="0"/>
              </a:rPr>
              <a:t>that share electrons</a:t>
            </a:r>
          </a:p>
          <a:p>
            <a:endParaRPr lang="en-US" sz="2400">
              <a:solidFill>
                <a:schemeClr val="accent2"/>
              </a:solidFill>
              <a:latin typeface="Chalkboard" charset="0"/>
            </a:endParaRPr>
          </a:p>
          <a:p>
            <a:r>
              <a:rPr lang="en-US" sz="2400">
                <a:solidFill>
                  <a:schemeClr val="accent2"/>
                </a:solidFill>
                <a:latin typeface="Chalkboard" charset="0"/>
              </a:rPr>
              <a:t>Larger system </a:t>
            </a:r>
            <a:r>
              <a:rPr lang="en-US" sz="2400">
                <a:solidFill>
                  <a:schemeClr val="accent2"/>
                </a:solidFill>
                <a:latin typeface="Chalkboard" charset="0"/>
                <a:sym typeface="Symbol" pitchFamily="18" charset="2"/>
              </a:rPr>
              <a:t></a:t>
            </a:r>
            <a:r>
              <a:rPr lang="en-US" sz="2400">
                <a:solidFill>
                  <a:schemeClr val="accent2"/>
                </a:solidFill>
                <a:latin typeface="Chalkboard" charset="0"/>
              </a:rPr>
              <a:t> longer wavelength</a:t>
            </a:r>
          </a:p>
        </p:txBody>
      </p:sp>
      <p:sp>
        <p:nvSpPr>
          <p:cNvPr id="204808" name="Text Box 8"/>
          <p:cNvSpPr txBox="1">
            <a:spLocks noChangeArrowheads="1"/>
          </p:cNvSpPr>
          <p:nvPr/>
        </p:nvSpPr>
        <p:spPr bwMode="auto">
          <a:xfrm>
            <a:off x="6140450" y="4398963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C</a:t>
            </a:r>
          </a:p>
        </p:txBody>
      </p:sp>
      <p:sp>
        <p:nvSpPr>
          <p:cNvPr id="204809" name="Text Box 9"/>
          <p:cNvSpPr txBox="1">
            <a:spLocks noChangeArrowheads="1"/>
          </p:cNvSpPr>
          <p:nvPr/>
        </p:nvSpPr>
        <p:spPr bwMode="auto">
          <a:xfrm>
            <a:off x="6629400" y="4589463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C</a:t>
            </a:r>
          </a:p>
        </p:txBody>
      </p:sp>
      <p:sp>
        <p:nvSpPr>
          <p:cNvPr id="204810" name="Text Box 10"/>
          <p:cNvSpPr txBox="1">
            <a:spLocks noChangeArrowheads="1"/>
          </p:cNvSpPr>
          <p:nvPr/>
        </p:nvSpPr>
        <p:spPr bwMode="auto">
          <a:xfrm>
            <a:off x="7162800" y="4360863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C</a:t>
            </a:r>
          </a:p>
        </p:txBody>
      </p:sp>
      <p:sp>
        <p:nvSpPr>
          <p:cNvPr id="204811" name="Text Box 11"/>
          <p:cNvSpPr txBox="1">
            <a:spLocks noChangeArrowheads="1"/>
          </p:cNvSpPr>
          <p:nvPr/>
        </p:nvSpPr>
        <p:spPr bwMode="auto">
          <a:xfrm>
            <a:off x="7696200" y="4589463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Helvetica" pitchFamily="34" charset="0"/>
              </a:rPr>
              <a:t>C</a:t>
            </a:r>
          </a:p>
        </p:txBody>
      </p:sp>
      <p:sp>
        <p:nvSpPr>
          <p:cNvPr id="204812" name="Line 12"/>
          <p:cNvSpPr>
            <a:spLocks noChangeShapeType="1"/>
          </p:cNvSpPr>
          <p:nvPr/>
        </p:nvSpPr>
        <p:spPr bwMode="auto">
          <a:xfrm>
            <a:off x="6492875" y="4633913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3" name="Line 13"/>
          <p:cNvSpPr>
            <a:spLocks noChangeShapeType="1"/>
          </p:cNvSpPr>
          <p:nvPr/>
        </p:nvSpPr>
        <p:spPr bwMode="auto">
          <a:xfrm>
            <a:off x="6464300" y="4694238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4" name="Line 14"/>
          <p:cNvSpPr>
            <a:spLocks noChangeShapeType="1"/>
          </p:cNvSpPr>
          <p:nvPr/>
        </p:nvSpPr>
        <p:spPr bwMode="auto">
          <a:xfrm>
            <a:off x="7526338" y="4624388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5" name="Line 15"/>
          <p:cNvSpPr>
            <a:spLocks noChangeShapeType="1"/>
          </p:cNvSpPr>
          <p:nvPr/>
        </p:nvSpPr>
        <p:spPr bwMode="auto">
          <a:xfrm>
            <a:off x="7497763" y="4684713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6" name="Line 16"/>
          <p:cNvSpPr>
            <a:spLocks noChangeShapeType="1"/>
          </p:cNvSpPr>
          <p:nvPr/>
        </p:nvSpPr>
        <p:spPr bwMode="auto">
          <a:xfrm flipV="1">
            <a:off x="6985000" y="4657725"/>
            <a:ext cx="261938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7" name="Line 17"/>
          <p:cNvSpPr>
            <a:spLocks noChangeShapeType="1"/>
          </p:cNvSpPr>
          <p:nvPr/>
        </p:nvSpPr>
        <p:spPr bwMode="auto">
          <a:xfrm flipV="1">
            <a:off x="8026400" y="4640263"/>
            <a:ext cx="261938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8" name="Line 18"/>
          <p:cNvSpPr>
            <a:spLocks noChangeShapeType="1"/>
          </p:cNvSpPr>
          <p:nvPr/>
        </p:nvSpPr>
        <p:spPr bwMode="auto">
          <a:xfrm flipV="1">
            <a:off x="5935663" y="4632325"/>
            <a:ext cx="261937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ChangeArrowheads="1"/>
          </p:cNvSpPr>
          <p:nvPr/>
        </p:nvSpPr>
        <p:spPr bwMode="auto">
          <a:xfrm>
            <a:off x="244475" y="1100138"/>
            <a:ext cx="5829300" cy="518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228600" indent="-228600">
              <a:buFontTx/>
              <a:buChar char="•"/>
            </a:pPr>
            <a:r>
              <a:rPr lang="en-US" sz="2800">
                <a:solidFill>
                  <a:srgbClr val="800080"/>
                </a:solidFill>
              </a:rPr>
              <a:t>Excitation &amp; emission maxima</a:t>
            </a:r>
          </a:p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rgbClr val="800080"/>
                </a:solidFill>
              </a:rPr>
              <a:t>Extinction coefficient </a:t>
            </a:r>
            <a:r>
              <a:rPr lang="en-US" sz="2800" b="1" i="1">
                <a:solidFill>
                  <a:srgbClr val="800080"/>
                </a:solidFill>
                <a:sym typeface="Symbol" pitchFamily="18" charset="2"/>
              </a:rPr>
              <a:t></a:t>
            </a:r>
          </a:p>
          <a:p>
            <a:pPr marL="228600" indent="-228600"/>
            <a:r>
              <a:rPr lang="en-US" sz="2000" i="1">
                <a:solidFill>
                  <a:schemeClr val="accent2"/>
                </a:solidFill>
                <a:sym typeface="Symbol" pitchFamily="18" charset="2"/>
              </a:rPr>
              <a:t>	</a:t>
            </a:r>
            <a:r>
              <a:rPr lang="en-US" sz="2000" i="1">
                <a:solidFill>
                  <a:schemeClr val="accent2"/>
                </a:solidFill>
              </a:rPr>
              <a:t> absorption cross section</a:t>
            </a:r>
          </a:p>
          <a:p>
            <a:pPr marL="228600" indent="-228600"/>
            <a:r>
              <a:rPr lang="en-US" sz="2000" i="1">
                <a:solidFill>
                  <a:schemeClr val="accent2"/>
                </a:solidFill>
              </a:rPr>
              <a:t>	</a:t>
            </a:r>
            <a:r>
              <a:rPr lang="en-US" sz="2000" i="1">
                <a:solidFill>
                  <a:schemeClr val="accent2"/>
                </a:solidFill>
                <a:sym typeface="Symbol" pitchFamily="18" charset="2"/>
              </a:rPr>
              <a:t> ≈ 50,000–100,000 </a:t>
            </a:r>
            <a:r>
              <a:rPr lang="en-US" sz="2000">
                <a:solidFill>
                  <a:schemeClr val="accent2"/>
                </a:solidFill>
              </a:rPr>
              <a:t>M</a:t>
            </a:r>
            <a:r>
              <a:rPr lang="en-US" sz="2000" baseline="30000">
                <a:solidFill>
                  <a:schemeClr val="accent2"/>
                </a:solidFill>
              </a:rPr>
              <a:t>-1</a:t>
            </a:r>
            <a:r>
              <a:rPr lang="en-US" sz="2000">
                <a:solidFill>
                  <a:schemeClr val="accent2"/>
                </a:solidFill>
              </a:rPr>
              <a:t>cm</a:t>
            </a:r>
            <a:r>
              <a:rPr lang="en-US" sz="2000" baseline="30000">
                <a:solidFill>
                  <a:schemeClr val="accent2"/>
                </a:solidFill>
              </a:rPr>
              <a:t>-1</a:t>
            </a:r>
            <a:endParaRPr lang="en-US" sz="2400">
              <a:solidFill>
                <a:schemeClr val="accent2"/>
              </a:solidFill>
              <a:sym typeface="Symbol" pitchFamily="18" charset="2"/>
            </a:endParaRPr>
          </a:p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rgbClr val="800080"/>
                </a:solidFill>
              </a:rPr>
              <a:t>Fluorescence quantum yield </a:t>
            </a:r>
            <a:r>
              <a:rPr lang="en-US" sz="2800" b="1" i="1">
                <a:solidFill>
                  <a:srgbClr val="800080"/>
                </a:solidFill>
              </a:rPr>
              <a:t>Q</a:t>
            </a:r>
            <a:r>
              <a:rPr lang="en-US" sz="2800" b="1" i="1" baseline="-25000">
                <a:solidFill>
                  <a:srgbClr val="800080"/>
                </a:solidFill>
              </a:rPr>
              <a:t>f</a:t>
            </a:r>
            <a:endParaRPr lang="en-US" sz="2800" b="1" i="1">
              <a:solidFill>
                <a:srgbClr val="800080"/>
              </a:solidFill>
            </a:endParaRPr>
          </a:p>
          <a:p>
            <a:pPr marL="228600" indent="-228600"/>
            <a:r>
              <a:rPr lang="en-US" sz="2000" i="1">
                <a:solidFill>
                  <a:srgbClr val="800080"/>
                </a:solidFill>
              </a:rPr>
              <a:t>	</a:t>
            </a:r>
            <a:r>
              <a:rPr lang="en-US" sz="2000" i="1">
                <a:solidFill>
                  <a:schemeClr val="accent2"/>
                </a:solidFill>
              </a:rPr>
              <a:t>= # Photons emitted / # photons absorbed</a:t>
            </a:r>
          </a:p>
          <a:p>
            <a:pPr marL="228600" indent="-228600"/>
            <a:r>
              <a:rPr lang="en-US" sz="2000" i="1">
                <a:solidFill>
                  <a:schemeClr val="accent2"/>
                </a:solidFill>
              </a:rPr>
              <a:t>	Q</a:t>
            </a:r>
            <a:r>
              <a:rPr lang="en-US" sz="2000" i="1" baseline="-25000">
                <a:solidFill>
                  <a:schemeClr val="accent2"/>
                </a:solidFill>
              </a:rPr>
              <a:t>f</a:t>
            </a:r>
            <a:r>
              <a:rPr lang="en-US" sz="2000" i="1">
                <a:solidFill>
                  <a:schemeClr val="accent2"/>
                </a:solidFill>
                <a:sym typeface="Symbol" pitchFamily="18" charset="2"/>
              </a:rPr>
              <a:t> ≈ 25–90%</a:t>
            </a:r>
            <a:endParaRPr lang="en-US" sz="2000" i="1">
              <a:solidFill>
                <a:schemeClr val="accent2"/>
              </a:solidFill>
            </a:endParaRPr>
          </a:p>
          <a:p>
            <a:pPr marL="228600" indent="-228600"/>
            <a:r>
              <a:rPr lang="en-US" sz="2000" i="1">
                <a:solidFill>
                  <a:schemeClr val="accent2"/>
                </a:solidFill>
              </a:rPr>
              <a:t>	Brightness </a:t>
            </a:r>
            <a:r>
              <a:rPr lang="en-US" sz="2000" i="1">
                <a:solidFill>
                  <a:schemeClr val="accent2"/>
                </a:solidFill>
                <a:sym typeface="Symbol" pitchFamily="18" charset="2"/>
              </a:rPr>
              <a:t></a:t>
            </a:r>
            <a:r>
              <a:rPr lang="en-US" sz="2000" i="1">
                <a:solidFill>
                  <a:schemeClr val="accent2"/>
                </a:solidFill>
              </a:rPr>
              <a:t> </a:t>
            </a:r>
            <a:r>
              <a:rPr lang="en-US" sz="2000" b="1" i="1">
                <a:solidFill>
                  <a:schemeClr val="accent2"/>
                </a:solidFill>
                <a:sym typeface="Symbol" pitchFamily="18" charset="2"/>
              </a:rPr>
              <a:t></a:t>
            </a:r>
            <a:r>
              <a:rPr lang="en-US" sz="2000" b="1" i="1">
                <a:solidFill>
                  <a:schemeClr val="accent2"/>
                </a:solidFill>
              </a:rPr>
              <a:t> Q</a:t>
            </a:r>
            <a:r>
              <a:rPr lang="en-US" sz="2000" b="1" i="1" baseline="-25000">
                <a:solidFill>
                  <a:schemeClr val="accent2"/>
                </a:solidFill>
              </a:rPr>
              <a:t>f</a:t>
            </a:r>
            <a:endParaRPr lang="en-US" sz="2000" b="1" i="1">
              <a:solidFill>
                <a:schemeClr val="accent2"/>
              </a:solidFill>
            </a:endParaRPr>
          </a:p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rgbClr val="800080"/>
                </a:solidFill>
              </a:rPr>
              <a:t>Photo-bleaching quantum yield </a:t>
            </a:r>
            <a:r>
              <a:rPr lang="en-US" sz="2800" b="1" i="1">
                <a:solidFill>
                  <a:srgbClr val="800080"/>
                </a:solidFill>
              </a:rPr>
              <a:t>Q</a:t>
            </a:r>
            <a:r>
              <a:rPr lang="en-US" sz="2800" b="1" i="1" baseline="-25000">
                <a:solidFill>
                  <a:srgbClr val="800080"/>
                </a:solidFill>
              </a:rPr>
              <a:t>b</a:t>
            </a:r>
            <a:endParaRPr lang="en-US" sz="2800" b="1" i="1">
              <a:solidFill>
                <a:srgbClr val="800080"/>
              </a:solidFill>
            </a:endParaRPr>
          </a:p>
          <a:p>
            <a:pPr marL="228600" indent="-228600"/>
            <a:r>
              <a:rPr lang="en-US" sz="2000" b="1" i="1">
                <a:solidFill>
                  <a:schemeClr val="accent2"/>
                </a:solidFill>
              </a:rPr>
              <a:t>	= </a:t>
            </a:r>
            <a:r>
              <a:rPr lang="en-US" sz="2000" i="1">
                <a:solidFill>
                  <a:schemeClr val="accent2"/>
                </a:solidFill>
              </a:rPr>
              <a:t>average # of photons emitted</a:t>
            </a:r>
          </a:p>
          <a:p>
            <a:pPr marL="228600" indent="-228600"/>
            <a:r>
              <a:rPr lang="en-US" sz="2000" i="1">
                <a:solidFill>
                  <a:schemeClr val="accent2"/>
                </a:solidFill>
              </a:rPr>
              <a:t>	per molecule before bleaching.</a:t>
            </a:r>
          </a:p>
          <a:p>
            <a:pPr marL="228600" indent="-228600"/>
            <a:r>
              <a:rPr lang="en-US" sz="2000" i="1">
                <a:solidFill>
                  <a:schemeClr val="accent2"/>
                </a:solidFill>
              </a:rPr>
              <a:t>	Depends on environment.</a:t>
            </a:r>
          </a:p>
          <a:p>
            <a:pPr marL="228600" indent="-228600"/>
            <a:r>
              <a:rPr lang="en-US" sz="2000" i="1">
                <a:solidFill>
                  <a:schemeClr val="accent2"/>
                </a:solidFill>
              </a:rPr>
              <a:t>	</a:t>
            </a:r>
            <a:r>
              <a:rPr lang="en-US" sz="2000" i="1">
                <a:solidFill>
                  <a:schemeClr val="accent2"/>
                </a:solidFill>
                <a:sym typeface="Symbol" pitchFamily="18" charset="2"/>
              </a:rPr>
              <a:t></a:t>
            </a:r>
            <a:r>
              <a:rPr lang="en-US" sz="2000" i="1">
                <a:solidFill>
                  <a:schemeClr val="accent2"/>
                </a:solidFill>
              </a:rPr>
              <a:t> </a:t>
            </a:r>
            <a:r>
              <a:rPr lang="en-US" sz="2000" b="1" i="1">
                <a:solidFill>
                  <a:schemeClr val="accent2"/>
                </a:solidFill>
              </a:rPr>
              <a:t>Q</a:t>
            </a:r>
            <a:r>
              <a:rPr lang="en-US" sz="2000" b="1" i="1" baseline="-25000">
                <a:solidFill>
                  <a:schemeClr val="accent2"/>
                </a:solidFill>
              </a:rPr>
              <a:t>f </a:t>
            </a:r>
            <a:r>
              <a:rPr lang="en-US" sz="2000" b="1" i="1">
                <a:solidFill>
                  <a:schemeClr val="accent2"/>
                </a:solidFill>
              </a:rPr>
              <a:t> / Q</a:t>
            </a:r>
            <a:r>
              <a:rPr lang="en-US" sz="2000" b="1" i="1" baseline="-250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210947" name="Rectangle 3"/>
          <p:cNvSpPr>
            <a:spLocks noChangeArrowheads="1"/>
          </p:cNvSpPr>
          <p:nvPr/>
        </p:nvSpPr>
        <p:spPr bwMode="auto">
          <a:xfrm>
            <a:off x="1541463" y="339725"/>
            <a:ext cx="59658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tx2"/>
                </a:solidFill>
              </a:rPr>
              <a:t>Parameters of fluorescent molecules</a:t>
            </a:r>
          </a:p>
        </p:txBody>
      </p:sp>
      <p:grpSp>
        <p:nvGrpSpPr>
          <p:cNvPr id="210948" name="Group 4"/>
          <p:cNvGrpSpPr>
            <a:grpSpLocks/>
          </p:cNvGrpSpPr>
          <p:nvPr/>
        </p:nvGrpSpPr>
        <p:grpSpPr bwMode="auto">
          <a:xfrm>
            <a:off x="7612063" y="1489075"/>
            <a:ext cx="685800" cy="1295400"/>
            <a:chOff x="4800" y="816"/>
            <a:chExt cx="432" cy="816"/>
          </a:xfrm>
        </p:grpSpPr>
        <p:sp>
          <p:nvSpPr>
            <p:cNvPr id="210949" name="Freeform 5"/>
            <p:cNvSpPr>
              <a:spLocks/>
            </p:cNvSpPr>
            <p:nvPr/>
          </p:nvSpPr>
          <p:spPr bwMode="auto">
            <a:xfrm>
              <a:off x="4848" y="922"/>
              <a:ext cx="336" cy="6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7"/>
                </a:cxn>
                <a:cxn ang="0">
                  <a:pos x="336" y="672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672">
                  <a:moveTo>
                    <a:pt x="0" y="0"/>
                  </a:moveTo>
                  <a:cubicBezTo>
                    <a:pt x="0" y="222"/>
                    <a:pt x="0" y="444"/>
                    <a:pt x="0" y="667"/>
                  </a:cubicBezTo>
                  <a:lnTo>
                    <a:pt x="336" y="672"/>
                  </a:lnTo>
                  <a:cubicBezTo>
                    <a:pt x="336" y="672"/>
                    <a:pt x="336" y="336"/>
                    <a:pt x="336" y="0"/>
                  </a:cubicBezTo>
                  <a:cubicBezTo>
                    <a:pt x="203" y="4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6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0" name="Freeform 6"/>
            <p:cNvSpPr>
              <a:spLocks/>
            </p:cNvSpPr>
            <p:nvPr/>
          </p:nvSpPr>
          <p:spPr bwMode="auto">
            <a:xfrm>
              <a:off x="4800" y="816"/>
              <a:ext cx="432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16"/>
                </a:cxn>
                <a:cxn ang="0">
                  <a:pos x="432" y="816"/>
                </a:cxn>
                <a:cxn ang="0">
                  <a:pos x="432" y="0"/>
                </a:cxn>
                <a:cxn ang="0">
                  <a:pos x="384" y="0"/>
                </a:cxn>
                <a:cxn ang="0">
                  <a:pos x="384" y="768"/>
                </a:cxn>
                <a:cxn ang="0">
                  <a:pos x="48" y="768"/>
                </a:cxn>
                <a:cxn ang="0">
                  <a:pos x="48" y="0"/>
                </a:cxn>
                <a:cxn ang="0">
                  <a:pos x="0" y="0"/>
                </a:cxn>
              </a:cxnLst>
              <a:rect l="0" t="0" r="r" b="b"/>
              <a:pathLst>
                <a:path w="432" h="816">
                  <a:moveTo>
                    <a:pt x="0" y="0"/>
                  </a:moveTo>
                  <a:lnTo>
                    <a:pt x="0" y="816"/>
                  </a:lnTo>
                  <a:lnTo>
                    <a:pt x="432" y="816"/>
                  </a:lnTo>
                  <a:lnTo>
                    <a:pt x="432" y="0"/>
                  </a:lnTo>
                  <a:lnTo>
                    <a:pt x="384" y="0"/>
                  </a:lnTo>
                  <a:lnTo>
                    <a:pt x="384" y="768"/>
                  </a:lnTo>
                  <a:lnTo>
                    <a:pt x="48" y="768"/>
                  </a:lnTo>
                  <a:lnTo>
                    <a:pt x="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10951" name="Object 7"/>
          <p:cNvGraphicFramePr>
            <a:graphicFrameLocks noChangeAspect="1"/>
          </p:cNvGraphicFramePr>
          <p:nvPr/>
        </p:nvGraphicFramePr>
        <p:xfrm>
          <a:off x="6934200" y="3360738"/>
          <a:ext cx="2070100" cy="501650"/>
        </p:xfrm>
        <a:graphic>
          <a:graphicData uri="http://schemas.openxmlformats.org/presentationml/2006/ole">
            <p:oleObj spid="_x0000_s210955" name="Equation" r:id="rId4" imgW="838200" imgH="203200" progId="Equation.3">
              <p:embed/>
            </p:oleObj>
          </a:graphicData>
        </a:graphic>
      </p:graphicFrame>
      <p:sp>
        <p:nvSpPr>
          <p:cNvPr id="210952" name="Line 8"/>
          <p:cNvSpPr>
            <a:spLocks noChangeShapeType="1"/>
          </p:cNvSpPr>
          <p:nvPr/>
        </p:nvSpPr>
        <p:spPr bwMode="auto">
          <a:xfrm flipV="1">
            <a:off x="7078663" y="1641475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53" name="Line 9"/>
          <p:cNvSpPr>
            <a:spLocks noChangeShapeType="1"/>
          </p:cNvSpPr>
          <p:nvPr/>
        </p:nvSpPr>
        <p:spPr bwMode="auto">
          <a:xfrm>
            <a:off x="7002463" y="2555875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54" name="Freeform 10"/>
          <p:cNvSpPr>
            <a:spLocks/>
          </p:cNvSpPr>
          <p:nvPr/>
        </p:nvSpPr>
        <p:spPr bwMode="auto">
          <a:xfrm>
            <a:off x="7053263" y="1870075"/>
            <a:ext cx="1795462" cy="576263"/>
          </a:xfrm>
          <a:custGeom>
            <a:avLst/>
            <a:gdLst/>
            <a:ahLst/>
            <a:cxnLst>
              <a:cxn ang="0">
                <a:pos x="16" y="0"/>
              </a:cxn>
              <a:cxn ang="0">
                <a:pos x="400" y="0"/>
              </a:cxn>
              <a:cxn ang="0">
                <a:pos x="795" y="363"/>
              </a:cxn>
              <a:cxn ang="0">
                <a:pos x="1131" y="363"/>
              </a:cxn>
            </a:cxnLst>
            <a:rect l="0" t="0" r="r" b="b"/>
            <a:pathLst>
              <a:path w="1131" h="363">
                <a:moveTo>
                  <a:pt x="16" y="0"/>
                </a:moveTo>
                <a:cubicBezTo>
                  <a:pt x="16" y="0"/>
                  <a:pt x="0" y="0"/>
                  <a:pt x="400" y="0"/>
                </a:cubicBezTo>
                <a:cubicBezTo>
                  <a:pt x="496" y="288"/>
                  <a:pt x="675" y="315"/>
                  <a:pt x="795" y="363"/>
                </a:cubicBezTo>
                <a:lnTo>
                  <a:pt x="1131" y="363"/>
                </a:ln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55" name="Rectangle 11"/>
          <p:cNvSpPr>
            <a:spLocks noChangeArrowheads="1"/>
          </p:cNvSpPr>
          <p:nvPr/>
        </p:nvSpPr>
        <p:spPr bwMode="auto">
          <a:xfrm>
            <a:off x="6469063" y="1565275"/>
            <a:ext cx="6365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i="1">
                <a:latin typeface="Times New Roman" pitchFamily="18" charset="0"/>
              </a:rPr>
              <a:t>I</a:t>
            </a:r>
            <a:r>
              <a:rPr lang="en-US" sz="2800" baseline="-25000">
                <a:latin typeface="Times New Roman" pitchFamily="18" charset="0"/>
              </a:rPr>
              <a:t>exc</a:t>
            </a:r>
            <a:endParaRPr lang="en-US" sz="2800">
              <a:latin typeface="Times New Roman" pitchFamily="18" charset="0"/>
            </a:endParaRPr>
          </a:p>
        </p:txBody>
      </p:sp>
      <p:sp>
        <p:nvSpPr>
          <p:cNvPr id="210956" name="Line 12"/>
          <p:cNvSpPr>
            <a:spLocks noChangeShapeType="1"/>
          </p:cNvSpPr>
          <p:nvPr/>
        </p:nvSpPr>
        <p:spPr bwMode="auto">
          <a:xfrm>
            <a:off x="7688263" y="28606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57" name="Rectangle 13"/>
          <p:cNvSpPr>
            <a:spLocks noChangeArrowheads="1"/>
          </p:cNvSpPr>
          <p:nvPr/>
        </p:nvSpPr>
        <p:spPr bwMode="auto">
          <a:xfrm>
            <a:off x="7840663" y="2860675"/>
            <a:ext cx="25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l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210958" name="Rectangle 14"/>
          <p:cNvSpPr>
            <a:spLocks noChangeArrowheads="1"/>
          </p:cNvSpPr>
          <p:nvPr/>
        </p:nvSpPr>
        <p:spPr bwMode="auto">
          <a:xfrm>
            <a:off x="7764463" y="1741488"/>
            <a:ext cx="354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C</a:t>
            </a:r>
          </a:p>
        </p:txBody>
      </p:sp>
      <p:sp>
        <p:nvSpPr>
          <p:cNvPr id="210959" name="Freeform 15"/>
          <p:cNvSpPr>
            <a:spLocks/>
          </p:cNvSpPr>
          <p:nvPr/>
        </p:nvSpPr>
        <p:spPr bwMode="auto">
          <a:xfrm>
            <a:off x="8137525" y="3614738"/>
            <a:ext cx="523875" cy="660400"/>
          </a:xfrm>
          <a:custGeom>
            <a:avLst/>
            <a:gdLst/>
            <a:ahLst/>
            <a:cxnLst>
              <a:cxn ang="0">
                <a:pos x="0" y="416"/>
              </a:cxn>
              <a:cxn ang="0">
                <a:pos x="330" y="0"/>
              </a:cxn>
            </a:cxnLst>
            <a:rect l="0" t="0" r="r" b="b"/>
            <a:pathLst>
              <a:path w="330" h="416">
                <a:moveTo>
                  <a:pt x="0" y="416"/>
                </a:moveTo>
                <a:cubicBezTo>
                  <a:pt x="85" y="373"/>
                  <a:pt x="268" y="237"/>
                  <a:pt x="330" y="0"/>
                </a:cubicBezTo>
              </a:path>
            </a:pathLst>
          </a:custGeom>
          <a:noFill/>
          <a:ln w="9525">
            <a:solidFill>
              <a:srgbClr val="80008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60" name="Rectangle 16"/>
          <p:cNvSpPr>
            <a:spLocks noChangeArrowheads="1"/>
          </p:cNvSpPr>
          <p:nvPr/>
        </p:nvSpPr>
        <p:spPr bwMode="auto">
          <a:xfrm>
            <a:off x="6765925" y="4122738"/>
            <a:ext cx="1376363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800080"/>
                </a:solidFill>
                <a:latin typeface="Chalkboard" charset="0"/>
                <a:sym typeface="Symbol" pitchFamily="18" charset="2"/>
              </a:rPr>
              <a:t></a:t>
            </a:r>
            <a:r>
              <a:rPr lang="en-US" i="1">
                <a:solidFill>
                  <a:srgbClr val="800080"/>
                </a:solidFill>
                <a:latin typeface="Helvetica" pitchFamily="34" charset="0"/>
              </a:rPr>
              <a:t>: </a:t>
            </a:r>
            <a:r>
              <a:rPr lang="en-US">
                <a:solidFill>
                  <a:srgbClr val="800080"/>
                </a:solidFill>
                <a:latin typeface="Helvetica" pitchFamily="34" charset="0"/>
              </a:rPr>
              <a:t>extinction</a:t>
            </a:r>
          </a:p>
          <a:p>
            <a:r>
              <a:rPr lang="en-US">
                <a:solidFill>
                  <a:srgbClr val="800080"/>
                </a:solidFill>
                <a:latin typeface="Helvetica" pitchFamily="34" charset="0"/>
              </a:rPr>
              <a:t>coefficent</a:t>
            </a:r>
          </a:p>
          <a:p>
            <a:r>
              <a:rPr lang="en-US">
                <a:solidFill>
                  <a:srgbClr val="800080"/>
                </a:solidFill>
                <a:latin typeface="Helvetica" pitchFamily="34" charset="0"/>
              </a:rPr>
              <a:t>(M</a:t>
            </a:r>
            <a:r>
              <a:rPr lang="en-US" baseline="30000">
                <a:solidFill>
                  <a:srgbClr val="800080"/>
                </a:solidFill>
                <a:latin typeface="Helvetica" pitchFamily="34" charset="0"/>
              </a:rPr>
              <a:t>-1</a:t>
            </a:r>
            <a:r>
              <a:rPr lang="en-US">
                <a:solidFill>
                  <a:srgbClr val="800080"/>
                </a:solidFill>
                <a:latin typeface="Helvetica" pitchFamily="34" charset="0"/>
              </a:rPr>
              <a:t>cm</a:t>
            </a:r>
            <a:r>
              <a:rPr lang="en-US" baseline="30000">
                <a:solidFill>
                  <a:srgbClr val="800080"/>
                </a:solidFill>
                <a:latin typeface="Helvetica" pitchFamily="34" charset="0"/>
              </a:rPr>
              <a:t>-1</a:t>
            </a:r>
            <a:r>
              <a:rPr lang="en-US">
                <a:solidFill>
                  <a:srgbClr val="800080"/>
                </a:solidFill>
                <a:latin typeface="Helvetica" pitchFamily="34" charset="0"/>
              </a:rPr>
              <a:t>)</a:t>
            </a:r>
          </a:p>
        </p:txBody>
      </p:sp>
      <p:sp>
        <p:nvSpPr>
          <p:cNvPr id="210961" name="Freeform 17"/>
          <p:cNvSpPr>
            <a:spLocks/>
          </p:cNvSpPr>
          <p:nvPr/>
        </p:nvSpPr>
        <p:spPr bwMode="auto">
          <a:xfrm>
            <a:off x="8180388" y="3622675"/>
            <a:ext cx="557212" cy="1736725"/>
          </a:xfrm>
          <a:custGeom>
            <a:avLst/>
            <a:gdLst/>
            <a:ahLst/>
            <a:cxnLst>
              <a:cxn ang="0">
                <a:pos x="0" y="1056"/>
              </a:cxn>
              <a:cxn ang="0">
                <a:pos x="341" y="0"/>
              </a:cxn>
            </a:cxnLst>
            <a:rect l="0" t="0" r="r" b="b"/>
            <a:pathLst>
              <a:path w="341" h="1056">
                <a:moveTo>
                  <a:pt x="0" y="1056"/>
                </a:moveTo>
                <a:cubicBezTo>
                  <a:pt x="128" y="875"/>
                  <a:pt x="325" y="635"/>
                  <a:pt x="341" y="0"/>
                </a:cubicBezTo>
              </a:path>
            </a:pathLst>
          </a:custGeom>
          <a:noFill/>
          <a:ln w="9525">
            <a:solidFill>
              <a:srgbClr val="80008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62" name="Rectangle 18"/>
          <p:cNvSpPr>
            <a:spLocks noChangeArrowheads="1"/>
          </p:cNvSpPr>
          <p:nvPr/>
        </p:nvSpPr>
        <p:spPr bwMode="auto">
          <a:xfrm>
            <a:off x="6765925" y="5299075"/>
            <a:ext cx="151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800080"/>
                </a:solidFill>
                <a:latin typeface="Times" pitchFamily="18" charset="0"/>
                <a:sym typeface="Symbol" pitchFamily="18" charset="2"/>
              </a:rPr>
              <a:t>l</a:t>
            </a:r>
            <a:r>
              <a:rPr lang="en-US" i="1">
                <a:solidFill>
                  <a:srgbClr val="800080"/>
                </a:solidFill>
                <a:latin typeface="Helvetica" pitchFamily="34" charset="0"/>
              </a:rPr>
              <a:t>: </a:t>
            </a:r>
            <a:r>
              <a:rPr lang="en-US">
                <a:solidFill>
                  <a:srgbClr val="800080"/>
                </a:solidFill>
                <a:latin typeface="Helvetica" pitchFamily="34" charset="0"/>
              </a:rPr>
              <a:t>length (cm)</a:t>
            </a:r>
          </a:p>
        </p:txBody>
      </p:sp>
      <p:sp>
        <p:nvSpPr>
          <p:cNvPr id="210963" name="Freeform 19"/>
          <p:cNvSpPr>
            <a:spLocks/>
          </p:cNvSpPr>
          <p:nvPr/>
        </p:nvSpPr>
        <p:spPr bwMode="auto">
          <a:xfrm>
            <a:off x="8559800" y="3630613"/>
            <a:ext cx="304800" cy="2363787"/>
          </a:xfrm>
          <a:custGeom>
            <a:avLst/>
            <a:gdLst/>
            <a:ahLst/>
            <a:cxnLst>
              <a:cxn ang="0">
                <a:pos x="0" y="1563"/>
              </a:cxn>
              <a:cxn ang="0">
                <a:pos x="208" y="0"/>
              </a:cxn>
            </a:cxnLst>
            <a:rect l="0" t="0" r="r" b="b"/>
            <a:pathLst>
              <a:path w="208" h="1563">
                <a:moveTo>
                  <a:pt x="0" y="1563"/>
                </a:moveTo>
                <a:cubicBezTo>
                  <a:pt x="139" y="1019"/>
                  <a:pt x="208" y="502"/>
                  <a:pt x="208" y="0"/>
                </a:cubicBezTo>
              </a:path>
            </a:pathLst>
          </a:custGeom>
          <a:noFill/>
          <a:ln w="9525">
            <a:solidFill>
              <a:srgbClr val="80008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64" name="Rectangle 20"/>
          <p:cNvSpPr>
            <a:spLocks noChangeArrowheads="1"/>
          </p:cNvSpPr>
          <p:nvPr/>
        </p:nvSpPr>
        <p:spPr bwMode="auto">
          <a:xfrm>
            <a:off x="6757988" y="5926138"/>
            <a:ext cx="2241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800080"/>
                </a:solidFill>
                <a:latin typeface="Times" pitchFamily="18" charset="0"/>
                <a:sym typeface="Symbol" pitchFamily="18" charset="2"/>
              </a:rPr>
              <a:t>C</a:t>
            </a:r>
            <a:r>
              <a:rPr lang="en-US" i="1">
                <a:solidFill>
                  <a:srgbClr val="800080"/>
                </a:solidFill>
                <a:latin typeface="Helvetica" pitchFamily="34" charset="0"/>
              </a:rPr>
              <a:t>: </a:t>
            </a:r>
            <a:r>
              <a:rPr lang="en-US">
                <a:solidFill>
                  <a:srgbClr val="800080"/>
                </a:solidFill>
                <a:latin typeface="Helvetica" pitchFamily="34" charset="0"/>
              </a:rPr>
              <a:t>concentration (M)</a:t>
            </a:r>
          </a:p>
        </p:txBody>
      </p:sp>
      <p:sp>
        <p:nvSpPr>
          <p:cNvPr id="210965" name="Rectangle 21"/>
          <p:cNvSpPr>
            <a:spLocks noChangeArrowheads="1"/>
          </p:cNvSpPr>
          <p:nvPr/>
        </p:nvSpPr>
        <p:spPr bwMode="auto">
          <a:xfrm>
            <a:off x="6470650" y="1379538"/>
            <a:ext cx="2546350" cy="510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66" name="Rectangle 22"/>
          <p:cNvSpPr>
            <a:spLocks noChangeArrowheads="1"/>
          </p:cNvSpPr>
          <p:nvPr/>
        </p:nvSpPr>
        <p:spPr bwMode="auto">
          <a:xfrm>
            <a:off x="7112000" y="1474788"/>
            <a:ext cx="39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I</a:t>
            </a:r>
            <a:r>
              <a:rPr lang="en-US" sz="2000" baseline="-25000">
                <a:latin typeface="Times New Roman" pitchFamily="18" charset="0"/>
              </a:rPr>
              <a:t>in</a:t>
            </a:r>
          </a:p>
        </p:txBody>
      </p:sp>
      <p:sp>
        <p:nvSpPr>
          <p:cNvPr id="210967" name="Rectangle 23"/>
          <p:cNvSpPr>
            <a:spLocks noChangeArrowheads="1"/>
          </p:cNvSpPr>
          <p:nvPr/>
        </p:nvSpPr>
        <p:spPr bwMode="auto">
          <a:xfrm>
            <a:off x="8432800" y="1974850"/>
            <a:ext cx="479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I</a:t>
            </a:r>
            <a:r>
              <a:rPr lang="en-US" sz="2000" baseline="-25000">
                <a:latin typeface="Times New Roman" pitchFamily="18" charset="0"/>
              </a:rPr>
              <a:t>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Parameters for some common fluorophores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5181600"/>
          </a:xfrm>
        </p:spPr>
        <p:txBody>
          <a:bodyPr/>
          <a:lstStyle/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Dye</a:t>
            </a:r>
            <a:r>
              <a:rPr lang="en-US" sz="2000">
                <a:latin typeface="Symbol" pitchFamily="18" charset="2"/>
              </a:rPr>
              <a:t>		l</a:t>
            </a:r>
            <a:r>
              <a:rPr lang="en-US" sz="2000" baseline="-25000"/>
              <a:t>ex</a:t>
            </a:r>
            <a:r>
              <a:rPr lang="en-US" sz="2000"/>
              <a:t>	</a:t>
            </a:r>
            <a:r>
              <a:rPr lang="en-US" sz="2000">
                <a:latin typeface="Symbol" pitchFamily="18" charset="2"/>
              </a:rPr>
              <a:t>l</a:t>
            </a:r>
            <a:r>
              <a:rPr lang="en-US" sz="2000" baseline="-25000"/>
              <a:t>em</a:t>
            </a:r>
            <a:r>
              <a:rPr lang="en-US" sz="2000"/>
              <a:t>	</a:t>
            </a:r>
            <a:r>
              <a:rPr lang="en-US" sz="2000">
                <a:latin typeface="Symbol" pitchFamily="18" charset="2"/>
              </a:rPr>
              <a:t>e </a:t>
            </a:r>
            <a:r>
              <a:rPr lang="en-US" sz="2000"/>
              <a:t>		QY	brightness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DAPI		350	470	  27000		0.58	15.7	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Fluorescein	490	520	  67000		0.71	47.6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Alexa 488	494	517	  73000		0.6	43.8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Rhodamine	554	573	  85000		0.28	23.8	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Cy3		554	568	130000		0.14	18.2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Cy5		652	672	200000		0.18	36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GFP		488	507	  56000		0.6	33.6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mCherry	587	610	  72000		0.22	15.8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CFP		433	475	  32500		0.4	13	</a:t>
            </a:r>
          </a:p>
          <a:p>
            <a:pPr>
              <a:spcBef>
                <a:spcPct val="40000"/>
              </a:spcBef>
              <a:buFontTx/>
              <a:buNone/>
            </a:pPr>
            <a:r>
              <a:rPr lang="en-US" sz="2000"/>
              <a:t>YFP		516	529	  77000		0.76	58.5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8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25449" y="-1093105"/>
            <a:ext cx="6925446" cy="9111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953000" y="5486400"/>
            <a:ext cx="396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000000"/>
                </a:solidFill>
              </a:rPr>
              <a:t>Luke </a:t>
            </a:r>
            <a:r>
              <a:rPr lang="en-GB" dirty="0" smtClean="0">
                <a:solidFill>
                  <a:srgbClr val="000000"/>
                </a:solidFill>
              </a:rPr>
              <a:t>D. </a:t>
            </a:r>
            <a:r>
              <a:rPr lang="en-GB" dirty="0" err="1" smtClean="0">
                <a:solidFill>
                  <a:srgbClr val="000000"/>
                </a:solidFill>
              </a:rPr>
              <a:t>Lavis</a:t>
            </a:r>
            <a:r>
              <a:rPr lang="en-GB" dirty="0" smtClean="0">
                <a:solidFill>
                  <a:srgbClr val="000000"/>
                </a:solidFill>
              </a:rPr>
              <a:t>; Ronald T. Raines; </a:t>
            </a:r>
            <a:r>
              <a:rPr lang="en-GB" i="1" dirty="0" smtClean="0">
                <a:solidFill>
                  <a:srgbClr val="000000"/>
                </a:solidFill>
              </a:rPr>
              <a:t>ACS Chem. Biol.</a:t>
            </a:r>
            <a:r>
              <a:rPr lang="en-GB" dirty="0" smtClean="0">
                <a:solidFill>
                  <a:srgbClr val="000000"/>
                </a:solidFill>
              </a:rPr>
              <a:t> </a:t>
            </a:r>
            <a:r>
              <a:rPr lang="en-GB" b="1" dirty="0" smtClean="0">
                <a:solidFill>
                  <a:srgbClr val="000000"/>
                </a:solidFill>
              </a:rPr>
              <a:t> 2008, </a:t>
            </a:r>
            <a:r>
              <a:rPr lang="en-GB" dirty="0" smtClean="0">
                <a:solidFill>
                  <a:srgbClr val="000000"/>
                </a:solidFill>
              </a:rPr>
              <a:t>3, 142-155.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Commercial Dye 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Alexa</a:t>
            </a:r>
            <a:r>
              <a:rPr lang="en-US" dirty="0" smtClean="0"/>
              <a:t> Dyes – Molecular Probes / Life Technologies</a:t>
            </a:r>
          </a:p>
          <a:p>
            <a:r>
              <a:rPr lang="en-US" dirty="0" err="1" smtClean="0"/>
              <a:t>Atto</a:t>
            </a:r>
            <a:r>
              <a:rPr lang="en-US" dirty="0" smtClean="0"/>
              <a:t> Dyes – </a:t>
            </a:r>
            <a:r>
              <a:rPr lang="en-US" dirty="0" err="1" smtClean="0"/>
              <a:t>Atto</a:t>
            </a:r>
            <a:r>
              <a:rPr lang="en-US" dirty="0" smtClean="0"/>
              <a:t>-Tec GmbH</a:t>
            </a:r>
          </a:p>
          <a:p>
            <a:r>
              <a:rPr lang="en-US" dirty="0" smtClean="0"/>
              <a:t>Etc…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Not chemical families – marketing families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Alexa</a:t>
            </a:r>
            <a:r>
              <a:rPr lang="en-US" dirty="0" smtClean="0"/>
              <a:t> </a:t>
            </a:r>
            <a:r>
              <a:rPr lang="en-US" dirty="0" err="1" smtClean="0"/>
              <a:t>Fluors</a:t>
            </a:r>
            <a:endParaRPr lang="en-US" dirty="0"/>
          </a:p>
        </p:txBody>
      </p:sp>
      <p:pic>
        <p:nvPicPr>
          <p:cNvPr id="2457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362200"/>
            <a:ext cx="7642225" cy="330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898" name="Picture 2" descr="Structures of selected Alexa Fluor® dyes (structures of other Alexa Fluor dyes are not published)"/>
          <p:cNvPicPr>
            <a:picLocks noChangeAspect="1" noChangeArrowheads="1"/>
          </p:cNvPicPr>
          <p:nvPr/>
        </p:nvPicPr>
        <p:blipFill>
          <a:blip r:embed="rId2" cstate="print"/>
          <a:srcRect t="23185"/>
          <a:stretch>
            <a:fillRect/>
          </a:stretch>
        </p:blipFill>
        <p:spPr bwMode="auto">
          <a:xfrm>
            <a:off x="2209800" y="152400"/>
            <a:ext cx="6724650" cy="6248400"/>
          </a:xfrm>
          <a:prstGeom prst="rect">
            <a:avLst/>
          </a:prstGeom>
          <a:noFill/>
        </p:spPr>
      </p:pic>
      <p:pic>
        <p:nvPicPr>
          <p:cNvPr id="5" name="Picture 2" descr="Structures of selected Alexa Fluor® dyes (structures of other Alexa Fluor dyes are not published)"/>
          <p:cNvPicPr>
            <a:picLocks noChangeAspect="1" noChangeArrowheads="1"/>
          </p:cNvPicPr>
          <p:nvPr/>
        </p:nvPicPr>
        <p:blipFill>
          <a:blip r:embed="rId2" cstate="print"/>
          <a:srcRect r="72805" b="77518"/>
          <a:stretch>
            <a:fillRect/>
          </a:stretch>
        </p:blipFill>
        <p:spPr bwMode="auto">
          <a:xfrm>
            <a:off x="381000" y="304800"/>
            <a:ext cx="1828800" cy="1828800"/>
          </a:xfrm>
          <a:prstGeom prst="rect">
            <a:avLst/>
          </a:prstGeom>
          <a:noFill/>
        </p:spPr>
      </p:pic>
      <p:pic>
        <p:nvPicPr>
          <p:cNvPr id="6" name="Picture 2" descr="Structures of selected Alexa Fluor® dyes (structures of other Alexa Fluor dyes are not published)"/>
          <p:cNvPicPr>
            <a:picLocks noChangeAspect="1" noChangeArrowheads="1"/>
          </p:cNvPicPr>
          <p:nvPr/>
        </p:nvPicPr>
        <p:blipFill>
          <a:blip r:embed="rId2" cstate="print"/>
          <a:srcRect l="27195" r="37677" b="77518"/>
          <a:stretch>
            <a:fillRect/>
          </a:stretch>
        </p:blipFill>
        <p:spPr bwMode="auto">
          <a:xfrm>
            <a:off x="76200" y="2362200"/>
            <a:ext cx="2362200" cy="1828800"/>
          </a:xfrm>
          <a:prstGeom prst="rect">
            <a:avLst/>
          </a:prstGeom>
          <a:noFill/>
        </p:spPr>
      </p:pic>
      <p:pic>
        <p:nvPicPr>
          <p:cNvPr id="7" name="Picture 2" descr="Structures of selected Alexa Fluor® dyes (structures of other Alexa Fluor dyes are not published)"/>
          <p:cNvPicPr>
            <a:picLocks noChangeAspect="1" noChangeArrowheads="1"/>
          </p:cNvPicPr>
          <p:nvPr/>
        </p:nvPicPr>
        <p:blipFill>
          <a:blip r:embed="rId2" cstate="print"/>
          <a:srcRect l="58923" b="77518"/>
          <a:stretch>
            <a:fillRect/>
          </a:stretch>
        </p:blipFill>
        <p:spPr bwMode="auto">
          <a:xfrm>
            <a:off x="-152400" y="4572000"/>
            <a:ext cx="2762250" cy="18288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7696200" y="6477000"/>
            <a:ext cx="1462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ATDBio.com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834" name="Picture 2" descr="Structures of selected Atto dyes (structures of other Atto dyes are not published)"/>
          <p:cNvPicPr>
            <a:picLocks noChangeAspect="1" noChangeArrowheads="1"/>
          </p:cNvPicPr>
          <p:nvPr/>
        </p:nvPicPr>
        <p:blipFill>
          <a:blip r:embed="rId2" cstate="print"/>
          <a:srcRect t="21411"/>
          <a:stretch>
            <a:fillRect/>
          </a:stretch>
        </p:blipFill>
        <p:spPr bwMode="auto">
          <a:xfrm>
            <a:off x="2762250" y="457200"/>
            <a:ext cx="6381750" cy="5943600"/>
          </a:xfrm>
          <a:prstGeom prst="rect">
            <a:avLst/>
          </a:prstGeom>
          <a:noFill/>
        </p:spPr>
      </p:pic>
      <p:pic>
        <p:nvPicPr>
          <p:cNvPr id="5" name="Picture 2" descr="Structures of selected Atto dyes (structures of other Atto dyes are not published)"/>
          <p:cNvPicPr>
            <a:picLocks noChangeAspect="1" noChangeArrowheads="1"/>
          </p:cNvPicPr>
          <p:nvPr/>
        </p:nvPicPr>
        <p:blipFill>
          <a:blip r:embed="rId2" cstate="print"/>
          <a:srcRect r="71343" b="78841"/>
          <a:stretch>
            <a:fillRect/>
          </a:stretch>
        </p:blipFill>
        <p:spPr bwMode="auto">
          <a:xfrm>
            <a:off x="304800" y="685800"/>
            <a:ext cx="1828800" cy="1600200"/>
          </a:xfrm>
          <a:prstGeom prst="rect">
            <a:avLst/>
          </a:prstGeom>
          <a:noFill/>
        </p:spPr>
      </p:pic>
      <p:pic>
        <p:nvPicPr>
          <p:cNvPr id="6" name="Picture 2" descr="Structures of selected Atto dyes (structures of other Atto dyes are not published)"/>
          <p:cNvPicPr>
            <a:picLocks noChangeAspect="1" noChangeArrowheads="1"/>
          </p:cNvPicPr>
          <p:nvPr/>
        </p:nvPicPr>
        <p:blipFill>
          <a:blip r:embed="rId2" cstate="print"/>
          <a:srcRect l="32239" r="29552" b="78841"/>
          <a:stretch>
            <a:fillRect/>
          </a:stretch>
        </p:blipFill>
        <p:spPr bwMode="auto">
          <a:xfrm>
            <a:off x="304800" y="2667000"/>
            <a:ext cx="2438400" cy="1600200"/>
          </a:xfrm>
          <a:prstGeom prst="rect">
            <a:avLst/>
          </a:prstGeom>
          <a:noFill/>
        </p:spPr>
      </p:pic>
      <p:pic>
        <p:nvPicPr>
          <p:cNvPr id="7" name="Picture 2" descr="Structures of selected Atto dyes (structures of other Atto dyes are not published)"/>
          <p:cNvPicPr>
            <a:picLocks noChangeAspect="1" noChangeArrowheads="1"/>
          </p:cNvPicPr>
          <p:nvPr/>
        </p:nvPicPr>
        <p:blipFill>
          <a:blip r:embed="rId2" cstate="print"/>
          <a:srcRect l="60896" b="78841"/>
          <a:stretch>
            <a:fillRect/>
          </a:stretch>
        </p:blipFill>
        <p:spPr bwMode="auto">
          <a:xfrm>
            <a:off x="0" y="4876800"/>
            <a:ext cx="2495550" cy="16002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7696200" y="6477000"/>
            <a:ext cx="1462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ATDBio.com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838200" y="417513"/>
            <a:ext cx="7620000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>
                <a:solidFill>
                  <a:schemeClr val="tx2"/>
                </a:solidFill>
                <a:latin typeface="Chalkboard" charset="0"/>
              </a:rPr>
              <a:t>The Enemy:</a:t>
            </a:r>
          </a:p>
          <a:p>
            <a:pPr algn="ctr">
              <a:lnSpc>
                <a:spcPct val="90000"/>
              </a:lnSpc>
            </a:pPr>
            <a:r>
              <a:rPr lang="en-US" sz="3600" i="1">
                <a:solidFill>
                  <a:schemeClr val="tx2"/>
                </a:solidFill>
                <a:latin typeface="Chalkboard" charset="0"/>
              </a:rPr>
              <a:t>Photo-bleaching</a:t>
            </a:r>
          </a:p>
        </p:txBody>
      </p:sp>
      <p:grpSp>
        <p:nvGrpSpPr>
          <p:cNvPr id="211971" name="Group 3"/>
          <p:cNvGrpSpPr>
            <a:grpSpLocks/>
          </p:cNvGrpSpPr>
          <p:nvPr/>
        </p:nvGrpSpPr>
        <p:grpSpPr bwMode="auto">
          <a:xfrm>
            <a:off x="169863" y="1649413"/>
            <a:ext cx="8753475" cy="1682750"/>
            <a:chOff x="107" y="1039"/>
            <a:chExt cx="5514" cy="1060"/>
          </a:xfrm>
        </p:grpSpPr>
        <p:grpSp>
          <p:nvGrpSpPr>
            <p:cNvPr id="211972" name="Group 4"/>
            <p:cNvGrpSpPr>
              <a:grpSpLocks/>
            </p:cNvGrpSpPr>
            <p:nvPr/>
          </p:nvGrpSpPr>
          <p:grpSpPr bwMode="auto">
            <a:xfrm>
              <a:off x="107" y="1098"/>
              <a:ext cx="2769" cy="1001"/>
              <a:chOff x="1611" y="1127"/>
              <a:chExt cx="2393" cy="865"/>
            </a:xfrm>
          </p:grpSpPr>
          <p:pic>
            <p:nvPicPr>
              <p:cNvPr id="211973" name="Picture 5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t="4486" b="51588"/>
              <a:stretch>
                <a:fillRect/>
              </a:stretch>
            </p:blipFill>
            <p:spPr bwMode="auto">
              <a:xfrm>
                <a:off x="1672" y="1127"/>
                <a:ext cx="2332" cy="797"/>
              </a:xfrm>
              <a:prstGeom prst="rect">
                <a:avLst/>
              </a:prstGeom>
              <a:noFill/>
            </p:spPr>
          </p:pic>
          <p:sp>
            <p:nvSpPr>
              <p:cNvPr id="211974" name="Rectangle 6"/>
              <p:cNvSpPr>
                <a:spLocks noChangeArrowheads="1"/>
              </p:cNvSpPr>
              <p:nvPr/>
            </p:nvSpPr>
            <p:spPr bwMode="auto">
              <a:xfrm>
                <a:off x="1611" y="1901"/>
                <a:ext cx="2357" cy="9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1975" name="Group 7"/>
            <p:cNvGrpSpPr>
              <a:grpSpLocks/>
            </p:cNvGrpSpPr>
            <p:nvPr/>
          </p:nvGrpSpPr>
          <p:grpSpPr bwMode="auto">
            <a:xfrm>
              <a:off x="2852" y="1039"/>
              <a:ext cx="2769" cy="951"/>
              <a:chOff x="1611" y="1901"/>
              <a:chExt cx="2393" cy="822"/>
            </a:xfrm>
          </p:grpSpPr>
          <p:pic>
            <p:nvPicPr>
              <p:cNvPr id="211976" name="Picture 8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t="51588" b="7178"/>
              <a:stretch>
                <a:fillRect/>
              </a:stretch>
            </p:blipFill>
            <p:spPr bwMode="auto">
              <a:xfrm>
                <a:off x="1672" y="1981"/>
                <a:ext cx="2332" cy="742"/>
              </a:xfrm>
              <a:prstGeom prst="rect">
                <a:avLst/>
              </a:prstGeom>
              <a:noFill/>
            </p:spPr>
          </p:pic>
          <p:sp>
            <p:nvSpPr>
              <p:cNvPr id="211977" name="Rectangle 9"/>
              <p:cNvSpPr>
                <a:spLocks noChangeArrowheads="1"/>
              </p:cNvSpPr>
              <p:nvPr/>
            </p:nvSpPr>
            <p:spPr bwMode="auto">
              <a:xfrm>
                <a:off x="1611" y="1901"/>
                <a:ext cx="2357" cy="9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11978" name="Rectangle 10"/>
          <p:cNvSpPr>
            <a:spLocks noChangeArrowheads="1"/>
          </p:cNvSpPr>
          <p:nvPr/>
        </p:nvSpPr>
        <p:spPr bwMode="auto">
          <a:xfrm>
            <a:off x="441325" y="3767138"/>
            <a:ext cx="8293100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  <a:latin typeface="Chalkboard" charset="0"/>
              </a:rPr>
              <a:t>Decrease in emission intensity after exposure</a:t>
            </a:r>
          </a:p>
          <a:p>
            <a:endParaRPr lang="en-US" sz="2400">
              <a:solidFill>
                <a:schemeClr val="accent2"/>
              </a:solidFill>
              <a:latin typeface="Chalkboard" charset="0"/>
            </a:endParaRPr>
          </a:p>
          <a:p>
            <a:r>
              <a:rPr lang="en-US" sz="2400">
                <a:solidFill>
                  <a:schemeClr val="accent2"/>
                </a:solidFill>
                <a:latin typeface="Chalkboard" charset="0"/>
              </a:rPr>
              <a:t>Exciting a molecule once has a probability Q</a:t>
            </a:r>
            <a:r>
              <a:rPr lang="en-US" sz="2400" baseline="-25000">
                <a:solidFill>
                  <a:schemeClr val="accent2"/>
                </a:solidFill>
                <a:latin typeface="Chalkboard" charset="0"/>
              </a:rPr>
              <a:t>b</a:t>
            </a:r>
            <a:r>
              <a:rPr lang="en-US" sz="2400">
                <a:solidFill>
                  <a:schemeClr val="accent2"/>
                </a:solidFill>
                <a:latin typeface="Chalkboard" charset="0"/>
              </a:rPr>
              <a:t> of killing it</a:t>
            </a:r>
          </a:p>
          <a:p>
            <a:endParaRPr lang="en-US" sz="2400">
              <a:solidFill>
                <a:schemeClr val="accent2"/>
              </a:solidFill>
              <a:latin typeface="Chalkboard" charset="0"/>
            </a:endParaRPr>
          </a:p>
          <a:p>
            <a:r>
              <a:rPr lang="en-US" sz="2400">
                <a:solidFill>
                  <a:schemeClr val="accent2"/>
                </a:solidFill>
                <a:latin typeface="Chalkboard" charset="0"/>
              </a:rPr>
              <a:t>Each molecule will emit only a finite number of photons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4688" y="2225675"/>
            <a:ext cx="4948237" cy="421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2995" name="Rectangle 3"/>
          <p:cNvSpPr>
            <a:spLocks noChangeArrowheads="1"/>
          </p:cNvSpPr>
          <p:nvPr/>
        </p:nvSpPr>
        <p:spPr bwMode="auto">
          <a:xfrm>
            <a:off x="2663825" y="476250"/>
            <a:ext cx="3511550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Chalkboard" charset="0"/>
              </a:rPr>
              <a:t>Photo-bleaching</a:t>
            </a:r>
          </a:p>
        </p:txBody>
      </p:sp>
      <p:sp>
        <p:nvSpPr>
          <p:cNvPr id="212996" name="Rectangle 4"/>
          <p:cNvSpPr>
            <a:spLocks noChangeArrowheads="1"/>
          </p:cNvSpPr>
          <p:nvPr/>
        </p:nvSpPr>
        <p:spPr bwMode="auto">
          <a:xfrm>
            <a:off x="1987550" y="1404938"/>
            <a:ext cx="4864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chemeClr val="accent2"/>
                </a:solidFill>
                <a:latin typeface="Chalkboard" charset="0"/>
              </a:rPr>
              <a:t>Photostability varies between dyes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ChangeArrowheads="1"/>
          </p:cNvSpPr>
          <p:nvPr/>
        </p:nvSpPr>
        <p:spPr bwMode="auto">
          <a:xfrm>
            <a:off x="838200" y="417513"/>
            <a:ext cx="76200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tx2"/>
                </a:solidFill>
                <a:latin typeface="Chalkboard" charset="0"/>
              </a:rPr>
              <a:t>Photo-bleaching of fluorescent proteins</a:t>
            </a:r>
          </a:p>
        </p:txBody>
      </p:sp>
      <p:sp>
        <p:nvSpPr>
          <p:cNvPr id="214019" name="Rectangle 3"/>
          <p:cNvSpPr>
            <a:spLocks noChangeArrowheads="1"/>
          </p:cNvSpPr>
          <p:nvPr/>
        </p:nvSpPr>
        <p:spPr bwMode="auto">
          <a:xfrm>
            <a:off x="4749800" y="1676400"/>
            <a:ext cx="31670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accent2"/>
                </a:solidFill>
                <a:latin typeface="Chalkboard" charset="0"/>
              </a:rPr>
              <a:t>mCherry</a:t>
            </a:r>
          </a:p>
          <a:p>
            <a:r>
              <a:rPr lang="en-US">
                <a:solidFill>
                  <a:schemeClr val="accent2"/>
                </a:solidFill>
                <a:latin typeface="Chalkboard" charset="0"/>
              </a:rPr>
              <a:t>Single-exponential bleaching</a:t>
            </a:r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4757738" y="3937000"/>
            <a:ext cx="41560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accent2"/>
                </a:solidFill>
                <a:latin typeface="Chalkboard" charset="0"/>
              </a:rPr>
              <a:t>Emerald</a:t>
            </a:r>
          </a:p>
          <a:p>
            <a:r>
              <a:rPr lang="en-US">
                <a:solidFill>
                  <a:schemeClr val="accent2"/>
                </a:solidFill>
                <a:latin typeface="Chalkboard" charset="0"/>
              </a:rPr>
              <a:t>Double-exponential bleaching</a:t>
            </a:r>
          </a:p>
          <a:p>
            <a:r>
              <a:rPr lang="en-US">
                <a:solidFill>
                  <a:schemeClr val="accent2"/>
                </a:solidFill>
                <a:latin typeface="Chalkboard" charset="0"/>
              </a:rPr>
              <a:t>Fast- and slow-bleaching populations?</a:t>
            </a:r>
          </a:p>
        </p:txBody>
      </p:sp>
      <p:grpSp>
        <p:nvGrpSpPr>
          <p:cNvPr id="214021" name="Group 5"/>
          <p:cNvGrpSpPr>
            <a:grpSpLocks/>
          </p:cNvGrpSpPr>
          <p:nvPr/>
        </p:nvGrpSpPr>
        <p:grpSpPr bwMode="auto">
          <a:xfrm>
            <a:off x="622300" y="1263650"/>
            <a:ext cx="4192588" cy="4732338"/>
            <a:chOff x="744" y="795"/>
            <a:chExt cx="2289" cy="2728"/>
          </a:xfrm>
        </p:grpSpPr>
        <p:pic>
          <p:nvPicPr>
            <p:cNvPr id="214022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 b="7545"/>
            <a:stretch>
              <a:fillRect/>
            </a:stretch>
          </p:blipFill>
          <p:spPr bwMode="auto">
            <a:xfrm>
              <a:off x="807" y="795"/>
              <a:ext cx="2226" cy="2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14023" name="Rectangle 7"/>
            <p:cNvSpPr>
              <a:spLocks noChangeArrowheads="1"/>
            </p:cNvSpPr>
            <p:nvPr/>
          </p:nvSpPr>
          <p:spPr bwMode="auto">
            <a:xfrm rot="-5400000">
              <a:off x="285" y="1333"/>
              <a:ext cx="1102" cy="18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Helvetica" pitchFamily="34" charset="0"/>
                </a:rPr>
                <a:t>Photons/molecue/s</a:t>
              </a:r>
            </a:p>
          </p:txBody>
        </p:sp>
        <p:sp>
          <p:nvSpPr>
            <p:cNvPr id="214024" name="Rectangle 8"/>
            <p:cNvSpPr>
              <a:spLocks noChangeArrowheads="1"/>
            </p:cNvSpPr>
            <p:nvPr/>
          </p:nvSpPr>
          <p:spPr bwMode="auto">
            <a:xfrm>
              <a:off x="1616" y="1980"/>
              <a:ext cx="347" cy="1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Helvetica" pitchFamily="34" charset="0"/>
                </a:rPr>
                <a:t>Time</a:t>
              </a:r>
            </a:p>
          </p:txBody>
        </p:sp>
        <p:sp>
          <p:nvSpPr>
            <p:cNvPr id="214025" name="Rectangle 9"/>
            <p:cNvSpPr>
              <a:spLocks noChangeArrowheads="1"/>
            </p:cNvSpPr>
            <p:nvPr/>
          </p:nvSpPr>
          <p:spPr bwMode="auto">
            <a:xfrm rot="-5400000">
              <a:off x="288" y="2681"/>
              <a:ext cx="1102" cy="1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Helvetica" pitchFamily="34" charset="0"/>
                </a:rPr>
                <a:t>Photons/molecue/s</a:t>
              </a:r>
            </a:p>
          </p:txBody>
        </p:sp>
        <p:sp>
          <p:nvSpPr>
            <p:cNvPr id="214026" name="Rectangle 10"/>
            <p:cNvSpPr>
              <a:spLocks noChangeArrowheads="1"/>
            </p:cNvSpPr>
            <p:nvPr/>
          </p:nvSpPr>
          <p:spPr bwMode="auto">
            <a:xfrm>
              <a:off x="1616" y="3329"/>
              <a:ext cx="347" cy="1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Helvetica" pitchFamily="34" charset="0"/>
                </a:rPr>
                <a:t>Time</a:t>
              </a:r>
            </a:p>
          </p:txBody>
        </p:sp>
        <p:sp>
          <p:nvSpPr>
            <p:cNvPr id="214027" name="Line 11"/>
            <p:cNvSpPr>
              <a:spLocks noChangeShapeType="1"/>
            </p:cNvSpPr>
            <p:nvPr/>
          </p:nvSpPr>
          <p:spPr bwMode="auto">
            <a:xfrm flipH="1">
              <a:off x="1109" y="2309"/>
              <a:ext cx="161" cy="2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ChangeArrowheads="1"/>
          </p:cNvSpPr>
          <p:nvPr/>
        </p:nvSpPr>
        <p:spPr bwMode="auto">
          <a:xfrm>
            <a:off x="558800" y="315913"/>
            <a:ext cx="81597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>
                <a:solidFill>
                  <a:schemeClr val="tx2"/>
                </a:solidFill>
              </a:rPr>
              <a:t>What to do about photo-bleaching?</a:t>
            </a:r>
            <a:endParaRPr lang="en-US" sz="2800" i="1">
              <a:solidFill>
                <a:schemeClr val="tx2"/>
              </a:solidFill>
            </a:endParaRPr>
          </a:p>
        </p:txBody>
      </p:sp>
      <p:sp>
        <p:nvSpPr>
          <p:cNvPr id="215043" name="Rectangle 3"/>
          <p:cNvSpPr>
            <a:spLocks noChangeArrowheads="1"/>
          </p:cNvSpPr>
          <p:nvPr/>
        </p:nvSpPr>
        <p:spPr bwMode="auto">
          <a:xfrm>
            <a:off x="1457325" y="1095375"/>
            <a:ext cx="6083300" cy="538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2000">
                <a:latin typeface="Chalkboard" charset="0"/>
              </a:rPr>
              <a:t>Select fade-resistant dyes</a:t>
            </a:r>
          </a:p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2000">
                <a:latin typeface="Chalkboard" charset="0"/>
              </a:rPr>
              <a:t>Label densely </a:t>
            </a:r>
          </a:p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2000">
                <a:latin typeface="Chalkboard" charset="0"/>
              </a:rPr>
              <a:t>Decrease bleaching by </a:t>
            </a:r>
            <a:r>
              <a:rPr lang="en-US" sz="2000" i="1">
                <a:latin typeface="Chalkboard" charset="0"/>
              </a:rPr>
              <a:t>anti-fade mounting media</a:t>
            </a:r>
            <a:endParaRPr lang="en-US" sz="2000">
              <a:latin typeface="Chalkboard" charset="0"/>
            </a:endParaRPr>
          </a:p>
          <a:p>
            <a:pPr marL="576263" lvl="1" indent="-177800">
              <a:buFontTx/>
              <a:buChar char="•"/>
            </a:pPr>
            <a:r>
              <a:rPr lang="en-US" sz="2000">
                <a:solidFill>
                  <a:schemeClr val="accent2"/>
                </a:solidFill>
                <a:latin typeface="Chalkboard" charset="0"/>
              </a:rPr>
              <a:t>Glycerol</a:t>
            </a:r>
          </a:p>
          <a:p>
            <a:pPr marL="576263" lvl="1" indent="-177800">
              <a:buFontTx/>
              <a:buChar char="•"/>
            </a:pPr>
            <a:r>
              <a:rPr lang="en-US" sz="2000">
                <a:solidFill>
                  <a:schemeClr val="accent2"/>
                </a:solidFill>
                <a:latin typeface="Chalkboard" charset="0"/>
              </a:rPr>
              <a:t>Oxygen scavengers</a:t>
            </a:r>
          </a:p>
          <a:p>
            <a:pPr marL="576263" lvl="1" indent="-177800">
              <a:buFontTx/>
              <a:buChar char="•"/>
            </a:pPr>
            <a:r>
              <a:rPr lang="en-US" sz="2000">
                <a:solidFill>
                  <a:schemeClr val="accent2"/>
                </a:solidFill>
                <a:latin typeface="Chalkboard" charset="0"/>
              </a:rPr>
              <a:t>Free-radical scavengers</a:t>
            </a:r>
          </a:p>
          <a:p>
            <a:pPr marL="576263" lvl="1" indent="-177800">
              <a:buFontTx/>
              <a:buChar char="•"/>
            </a:pPr>
            <a:r>
              <a:rPr lang="en-US" sz="2000">
                <a:solidFill>
                  <a:schemeClr val="accent2"/>
                </a:solidFill>
                <a:latin typeface="Chalkboard" charset="0"/>
              </a:rPr>
              <a:t>Triplet state quenchers</a:t>
            </a:r>
          </a:p>
          <a:p>
            <a:pPr marL="228600" indent="-228600"/>
            <a:r>
              <a:rPr lang="en-US" sz="2000">
                <a:solidFill>
                  <a:schemeClr val="accent2"/>
                </a:solidFill>
                <a:latin typeface="Chalkboard" charset="0"/>
              </a:rPr>
              <a:t>Note: some anti-fade agents quench some dyes.</a:t>
            </a:r>
          </a:p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2000">
                <a:latin typeface="Chalkboard" charset="0"/>
              </a:rPr>
              <a:t>Budget the photons you have</a:t>
            </a:r>
          </a:p>
          <a:p>
            <a:pPr marL="576263" lvl="1" indent="-177800">
              <a:buFontTx/>
              <a:buChar char="•"/>
            </a:pPr>
            <a:r>
              <a:rPr lang="en-US" sz="2000">
                <a:solidFill>
                  <a:schemeClr val="accent2"/>
                </a:solidFill>
                <a:latin typeface="Chalkboard" charset="0"/>
              </a:rPr>
              <a:t>Only expose when observing</a:t>
            </a:r>
          </a:p>
          <a:p>
            <a:pPr marL="576263" lvl="1" indent="-177800">
              <a:buFontTx/>
              <a:buChar char="•"/>
            </a:pPr>
            <a:r>
              <a:rPr lang="en-US" sz="2000">
                <a:solidFill>
                  <a:schemeClr val="accent2"/>
                </a:solidFill>
                <a:latin typeface="Chalkboard" charset="0"/>
              </a:rPr>
              <a:t>Minimize exposure time &amp; excitation power</a:t>
            </a:r>
          </a:p>
          <a:p>
            <a:pPr marL="576263" lvl="1" indent="-177800">
              <a:buFontTx/>
              <a:buChar char="•"/>
            </a:pPr>
            <a:r>
              <a:rPr lang="en-US" sz="2000">
                <a:solidFill>
                  <a:schemeClr val="accent2"/>
                </a:solidFill>
                <a:latin typeface="Chalkboard" charset="0"/>
              </a:rPr>
              <a:t>Use efficient filter combinations</a:t>
            </a:r>
          </a:p>
          <a:p>
            <a:pPr marL="576263" lvl="1" indent="-177800">
              <a:buFontTx/>
              <a:buChar char="•"/>
            </a:pPr>
            <a:r>
              <a:rPr lang="en-US" sz="2000">
                <a:solidFill>
                  <a:schemeClr val="accent2"/>
                </a:solidFill>
                <a:latin typeface="Chalkboard" charset="0"/>
              </a:rPr>
              <a:t>Use highly QE, low noise camera</a:t>
            </a:r>
          </a:p>
          <a:p>
            <a:pPr marL="576263" lvl="1" indent="-177800">
              <a:buFontTx/>
              <a:buChar char="•"/>
            </a:pPr>
            <a:r>
              <a:rPr lang="en-US" sz="2000">
                <a:solidFill>
                  <a:schemeClr val="accent2"/>
                </a:solidFill>
                <a:latin typeface="Chalkboard" charset="0"/>
              </a:rPr>
              <a:t>Use simple light path</a:t>
            </a:r>
          </a:p>
          <a:p>
            <a:pPr marL="228600" indent="-228600"/>
            <a:endParaRPr lang="en-US" sz="20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15044" name="Rectangle 4"/>
          <p:cNvSpPr>
            <a:spLocks noChangeArrowheads="1"/>
          </p:cNvSpPr>
          <p:nvPr/>
        </p:nvSpPr>
        <p:spPr bwMode="auto">
          <a:xfrm>
            <a:off x="322263" y="1190625"/>
            <a:ext cx="18415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98463" indent="-398463"/>
            <a:endParaRPr lang="en-US" sz="2000">
              <a:latin typeface="Chalkboard" charset="0"/>
            </a:endParaRPr>
          </a:p>
          <a:p>
            <a:pPr marL="398463" indent="-398463"/>
            <a:endParaRPr lang="en-US" sz="2000">
              <a:latin typeface="Chalkboard" charset="0"/>
            </a:endParaRPr>
          </a:p>
          <a:p>
            <a:pPr marL="398463" indent="-398463"/>
            <a:endParaRPr lang="en-US" sz="2000"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Effect of mounting medium on FITC bleaching</a:t>
            </a:r>
          </a:p>
        </p:txBody>
      </p:sp>
      <p:pic>
        <p:nvPicPr>
          <p:cNvPr id="3205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19238"/>
            <a:ext cx="4479925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0517" name="Text Box 5"/>
          <p:cNvSpPr txBox="1">
            <a:spLocks noChangeArrowheads="1"/>
          </p:cNvSpPr>
          <p:nvPr/>
        </p:nvSpPr>
        <p:spPr bwMode="auto">
          <a:xfrm>
            <a:off x="685800" y="6096000"/>
            <a:ext cx="807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Ono et al. 2001, </a:t>
            </a:r>
            <a:r>
              <a:rPr lang="en-US" i="1"/>
              <a:t>J. Histochem Cytochem.</a:t>
            </a:r>
            <a:r>
              <a:rPr lang="en-US"/>
              <a:t> </a:t>
            </a:r>
            <a:r>
              <a:rPr lang="en-US" b="1"/>
              <a:t>49</a:t>
            </a:r>
            <a:r>
              <a:rPr lang="en-US"/>
              <a:t>: 305-311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5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Effect of mounting media on Alexa bleaching</a:t>
            </a:r>
          </a:p>
        </p:txBody>
      </p:sp>
      <p:graphicFrame>
        <p:nvGraphicFramePr>
          <p:cNvPr id="32256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33400" y="2743200"/>
          <a:ext cx="3581400" cy="3200400"/>
        </p:xfrm>
        <a:graphic>
          <a:graphicData uri="http://schemas.openxmlformats.org/presentationml/2006/ole">
            <p:oleObj spid="_x0000_s322585" name="Chart" r:id="rId4" imgW="4581591" imgH="3486262" progId="Excel.Sheet.8">
              <p:embed/>
            </p:oleObj>
          </a:graphicData>
        </a:graphic>
      </p:graphicFrame>
      <p:graphicFrame>
        <p:nvGraphicFramePr>
          <p:cNvPr id="322570" name="Object 10"/>
          <p:cNvGraphicFramePr>
            <a:graphicFrameLocks noChangeAspect="1"/>
          </p:cNvGraphicFramePr>
          <p:nvPr/>
        </p:nvGraphicFramePr>
        <p:xfrm>
          <a:off x="4800600" y="1143000"/>
          <a:ext cx="3505200" cy="2438400"/>
        </p:xfrm>
        <a:graphic>
          <a:graphicData uri="http://schemas.openxmlformats.org/presentationml/2006/ole">
            <p:oleObj spid="_x0000_s322586" name="Chart" r:id="rId5" imgW="4581591" imgH="3486262" progId="Excel.Sheet.8">
              <p:embed/>
            </p:oleObj>
          </a:graphicData>
        </a:graphic>
      </p:graphicFrame>
      <p:graphicFrame>
        <p:nvGraphicFramePr>
          <p:cNvPr id="322571" name="Object 11"/>
          <p:cNvGraphicFramePr>
            <a:graphicFrameLocks noChangeAspect="1"/>
          </p:cNvGraphicFramePr>
          <p:nvPr/>
        </p:nvGraphicFramePr>
        <p:xfrm>
          <a:off x="4800600" y="3581400"/>
          <a:ext cx="3505200" cy="3124200"/>
        </p:xfrm>
        <a:graphic>
          <a:graphicData uri="http://schemas.openxmlformats.org/presentationml/2006/ole">
            <p:oleObj spid="_x0000_s322587" name="Chart" r:id="rId6" imgW="4581591" imgH="3486262" progId="Excel.Sheet.8">
              <p:embed/>
            </p:oleObj>
          </a:graphicData>
        </a:graphic>
      </p:graphicFrame>
      <p:graphicFrame>
        <p:nvGraphicFramePr>
          <p:cNvPr id="322572" name="Object 12"/>
          <p:cNvGraphicFramePr>
            <a:graphicFrameLocks noChangeAspect="1"/>
          </p:cNvGraphicFramePr>
          <p:nvPr/>
        </p:nvGraphicFramePr>
        <p:xfrm>
          <a:off x="3200400" y="2057400"/>
          <a:ext cx="838200" cy="685800"/>
        </p:xfrm>
        <a:graphic>
          <a:graphicData uri="http://schemas.openxmlformats.org/presentationml/2006/ole">
            <p:oleObj spid="_x0000_s322588" name="Chart" r:id="rId7" imgW="4581591" imgH="3486262" progId="Excel.Shee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Factors affecting overall brightness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Intrinisic brightness</a:t>
            </a:r>
          </a:p>
          <a:p>
            <a:r>
              <a:rPr lang="en-US"/>
              <a:t>Spectrum of arc lamp/lasers</a:t>
            </a:r>
          </a:p>
          <a:p>
            <a:r>
              <a:rPr lang="en-US"/>
              <a:t>Lamp/laser power</a:t>
            </a:r>
          </a:p>
          <a:p>
            <a:r>
              <a:rPr lang="en-US"/>
              <a:t>Filter set transmission</a:t>
            </a:r>
          </a:p>
          <a:p>
            <a:r>
              <a:rPr lang="en-US"/>
              <a:t>Quantum efficiency of detector</a:t>
            </a:r>
          </a:p>
          <a:p>
            <a:r>
              <a:rPr lang="en-US"/>
              <a:t>Photobleaching</a:t>
            </a:r>
          </a:p>
          <a:p>
            <a:r>
              <a:rPr lang="en-US"/>
              <a:t>Quenching / maturation / other dye-specific effects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 dependence of dyes</a:t>
            </a:r>
          </a:p>
        </p:txBody>
      </p:sp>
      <p:pic>
        <p:nvPicPr>
          <p:cNvPr id="2437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867025"/>
            <a:ext cx="321945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3716" name="Text Box 4"/>
          <p:cNvSpPr txBox="1">
            <a:spLocks noChangeArrowheads="1"/>
          </p:cNvSpPr>
          <p:nvPr/>
        </p:nvSpPr>
        <p:spPr bwMode="auto">
          <a:xfrm>
            <a:off x="533400" y="2028825"/>
            <a:ext cx="3714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Mixed Fluorescein and Rhodamine</a:t>
            </a:r>
          </a:p>
        </p:txBody>
      </p:sp>
      <p:sp>
        <p:nvSpPr>
          <p:cNvPr id="243717" name="Text Box 5"/>
          <p:cNvSpPr txBox="1">
            <a:spLocks noChangeArrowheads="1"/>
          </p:cNvSpPr>
          <p:nvPr/>
        </p:nvSpPr>
        <p:spPr bwMode="auto">
          <a:xfrm rot="-2409392">
            <a:off x="2895600" y="3857625"/>
            <a:ext cx="10144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/>
              <a:t>Rhodamine</a:t>
            </a:r>
          </a:p>
        </p:txBody>
      </p:sp>
      <p:sp>
        <p:nvSpPr>
          <p:cNvPr id="243718" name="Text Box 6"/>
          <p:cNvSpPr txBox="1">
            <a:spLocks noChangeArrowheads="1"/>
          </p:cNvSpPr>
          <p:nvPr/>
        </p:nvSpPr>
        <p:spPr bwMode="auto">
          <a:xfrm rot="-2409392">
            <a:off x="1749425" y="2705100"/>
            <a:ext cx="10398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/>
              <a:t>Fluorescein</a:t>
            </a:r>
          </a:p>
        </p:txBody>
      </p:sp>
      <p:pic>
        <p:nvPicPr>
          <p:cNvPr id="243719" name="Picture 7"/>
          <p:cNvPicPr>
            <a:picLocks noChangeAspect="1" noChangeArrowheads="1"/>
          </p:cNvPicPr>
          <p:nvPr/>
        </p:nvPicPr>
        <p:blipFill>
          <a:blip r:embed="rId4" cstate="print"/>
          <a:srcRect l="1805" t="4967"/>
          <a:stretch>
            <a:fillRect/>
          </a:stretch>
        </p:blipFill>
        <p:spPr bwMode="auto">
          <a:xfrm>
            <a:off x="4572000" y="2722563"/>
            <a:ext cx="4146550" cy="291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3720" name="Text Box 8"/>
          <p:cNvSpPr txBox="1">
            <a:spLocks noChangeArrowheads="1"/>
          </p:cNvSpPr>
          <p:nvPr/>
        </p:nvSpPr>
        <p:spPr bwMode="auto">
          <a:xfrm>
            <a:off x="5638800" y="2057400"/>
            <a:ext cx="2743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43721" name="Text Box 9"/>
          <p:cNvSpPr txBox="1">
            <a:spLocks noChangeArrowheads="1"/>
          </p:cNvSpPr>
          <p:nvPr/>
        </p:nvSpPr>
        <p:spPr bwMode="auto">
          <a:xfrm>
            <a:off x="6324600" y="2071688"/>
            <a:ext cx="1828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YFP variants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 smtClean="0"/>
              <a:t>Environmental Dependence: Nile red</a:t>
            </a:r>
            <a:endParaRPr lang="en-US" dirty="0"/>
          </a:p>
        </p:txBody>
      </p:sp>
      <p:pic>
        <p:nvPicPr>
          <p:cNvPr id="377860" name="Picture 4" descr="File:Nile red 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371600"/>
            <a:ext cx="7620000" cy="502920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 rot="2802088">
            <a:off x="757800" y="557957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H2O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802088">
            <a:off x="1433859" y="5649575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MeOH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 rot="2802088">
            <a:off x="2053734" y="561224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EtOH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rot="2802088">
            <a:off x="2568325" y="569624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CH3CN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2802088">
            <a:off x="3325402" y="558890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DMF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 rot="2802088">
            <a:off x="3873329" y="5700907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Acetone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rot="2802088">
            <a:off x="4600831" y="558424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EtAc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 rot="2802088">
            <a:off x="5124957" y="570090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CH2Cl2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rot="2802088">
            <a:off x="5692527" y="569624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Hexane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 rot="2802088">
            <a:off x="6405455" y="5640241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MTBE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 rot="2802088">
            <a:off x="6971738" y="573357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cyclohex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 rot="2802088">
            <a:off x="7654895" y="568224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toluene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038600" y="6488668"/>
            <a:ext cx="518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http://en.wikipedia.org/wiki/File:Nile_red_01.jpg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600200"/>
          </a:xfrm>
        </p:spPr>
        <p:txBody>
          <a:bodyPr/>
          <a:lstStyle/>
          <a:p>
            <a:r>
              <a:rPr lang="en-US" dirty="0" smtClean="0"/>
              <a:t>Environmental Dependence: Nile Red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/>
              <a:t>C. </a:t>
            </a:r>
            <a:r>
              <a:rPr lang="en-US" sz="2000" dirty="0" err="1" smtClean="0"/>
              <a:t>elegans</a:t>
            </a:r>
            <a:r>
              <a:rPr lang="en-US" sz="2000" dirty="0" smtClean="0"/>
              <a:t> staining with Nile Red and BODIPY-fatty acid</a:t>
            </a:r>
            <a:br>
              <a:rPr lang="en-US" sz="2000" dirty="0" smtClean="0"/>
            </a:br>
            <a:r>
              <a:rPr lang="en-US" sz="2000" dirty="0" smtClean="0"/>
              <a:t>(Kevin Jones, </a:t>
            </a:r>
            <a:r>
              <a:rPr lang="en-US" sz="2000" dirty="0" err="1" smtClean="0"/>
              <a:t>Ashrafi</a:t>
            </a:r>
            <a:r>
              <a:rPr lang="en-US" sz="2000" dirty="0" smtClean="0"/>
              <a:t> lab)</a:t>
            </a:r>
            <a:endParaRPr lang="en-US" dirty="0"/>
          </a:p>
        </p:txBody>
      </p:sp>
      <p:pic>
        <p:nvPicPr>
          <p:cNvPr id="378882" name="Picture 2" descr="Lipids &amp; Fatty Acids in C. Elegans, 40x. Kevin Jon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292927"/>
            <a:ext cx="6276975" cy="456507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382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Fluorescent dyes in Biology</a:t>
            </a:r>
          </a:p>
        </p:txBody>
      </p:sp>
      <p:pic>
        <p:nvPicPr>
          <p:cNvPr id="249859" name="Picture 3" descr="fitc_2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676400"/>
            <a:ext cx="2366963" cy="27384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249860" name="Picture 4" descr="TexRed_2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1752600"/>
            <a:ext cx="2689225" cy="26622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1143000" y="4267200"/>
            <a:ext cx="7477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FITC</a:t>
            </a:r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6019800" y="4343400"/>
            <a:ext cx="1412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Texas Red</a:t>
            </a:r>
          </a:p>
        </p:txBody>
      </p:sp>
      <p:sp>
        <p:nvSpPr>
          <p:cNvPr id="249863" name="Rectangle 7"/>
          <p:cNvSpPr>
            <a:spLocks noChangeArrowheads="1"/>
          </p:cNvSpPr>
          <p:nvPr/>
        </p:nvSpPr>
        <p:spPr bwMode="auto">
          <a:xfrm>
            <a:off x="1219200" y="5334000"/>
            <a:ext cx="639603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000"/>
              <a:t> Protein labeling: couple to amino- or sulfhydryl groups</a:t>
            </a:r>
          </a:p>
          <a:p>
            <a:pPr>
              <a:buFontTx/>
              <a:buChar char="•"/>
            </a:pPr>
            <a:r>
              <a:rPr lang="en-US" sz="2000"/>
              <a:t> Direct and indirect (immuno-) fluorescence</a:t>
            </a:r>
          </a:p>
          <a:p>
            <a:pPr>
              <a:buFontTx/>
              <a:buChar char="•"/>
            </a:pP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ChangeArrowheads="1"/>
          </p:cNvSpPr>
          <p:nvPr/>
        </p:nvSpPr>
        <p:spPr bwMode="auto">
          <a:xfrm>
            <a:off x="838200" y="417513"/>
            <a:ext cx="76200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>
                <a:solidFill>
                  <a:schemeClr val="tx2"/>
                </a:solidFill>
                <a:latin typeface="Chalkboard" charset="0"/>
              </a:rPr>
              <a:t>Fluorescent labeling</a:t>
            </a:r>
            <a:endParaRPr lang="en-US" sz="24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312323" name="Rectangle 3"/>
          <p:cNvSpPr>
            <a:spLocks noChangeArrowheads="1"/>
          </p:cNvSpPr>
          <p:nvPr/>
        </p:nvSpPr>
        <p:spPr bwMode="auto">
          <a:xfrm>
            <a:off x="5372100" y="1149350"/>
            <a:ext cx="3656013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>
                <a:solidFill>
                  <a:schemeClr val="accent2"/>
                </a:solidFill>
                <a:latin typeface="Chalkboard" charset="0"/>
              </a:rPr>
              <a:t>Direct labeling (&amp; microinjection)</a:t>
            </a:r>
          </a:p>
          <a:p>
            <a:pPr algn="r"/>
            <a:r>
              <a:rPr lang="en-US">
                <a:solidFill>
                  <a:schemeClr val="accent2"/>
                </a:solidFill>
                <a:latin typeface="Chalkboard" charset="0"/>
              </a:rPr>
              <a:t>of target molecules</a:t>
            </a:r>
          </a:p>
        </p:txBody>
      </p:sp>
      <p:grpSp>
        <p:nvGrpSpPr>
          <p:cNvPr id="312324" name="Group 4"/>
          <p:cNvGrpSpPr>
            <a:grpSpLocks/>
          </p:cNvGrpSpPr>
          <p:nvPr/>
        </p:nvGrpSpPr>
        <p:grpSpPr bwMode="auto">
          <a:xfrm rot="17976599">
            <a:off x="8086725" y="5794376"/>
            <a:ext cx="701675" cy="984250"/>
            <a:chOff x="4006" y="3583"/>
            <a:chExt cx="442" cy="620"/>
          </a:xfrm>
        </p:grpSpPr>
        <p:sp>
          <p:nvSpPr>
            <p:cNvPr id="312325" name="Freeform 5"/>
            <p:cNvSpPr>
              <a:spLocks/>
            </p:cNvSpPr>
            <p:nvPr/>
          </p:nvSpPr>
          <p:spPr bwMode="auto">
            <a:xfrm>
              <a:off x="4006" y="3583"/>
              <a:ext cx="349" cy="583"/>
            </a:xfrm>
            <a:custGeom>
              <a:avLst/>
              <a:gdLst/>
              <a:ahLst/>
              <a:cxnLst>
                <a:cxn ang="0">
                  <a:pos x="25" y="74"/>
                </a:cxn>
                <a:cxn ang="0">
                  <a:pos x="204" y="250"/>
                </a:cxn>
                <a:cxn ang="0">
                  <a:pos x="233" y="551"/>
                </a:cxn>
                <a:cxn ang="0">
                  <a:pos x="310" y="548"/>
                </a:cxn>
                <a:cxn ang="0">
                  <a:pos x="324" y="274"/>
                </a:cxn>
                <a:cxn ang="0">
                  <a:pos x="478" y="82"/>
                </a:cxn>
                <a:cxn ang="0">
                  <a:pos x="425" y="23"/>
                </a:cxn>
                <a:cxn ang="0">
                  <a:pos x="276" y="175"/>
                </a:cxn>
                <a:cxn ang="0">
                  <a:pos x="84" y="23"/>
                </a:cxn>
                <a:cxn ang="0">
                  <a:pos x="25" y="74"/>
                </a:cxn>
              </a:cxnLst>
              <a:rect l="0" t="0" r="r" b="b"/>
              <a:pathLst>
                <a:path w="497" h="598">
                  <a:moveTo>
                    <a:pt x="25" y="74"/>
                  </a:moveTo>
                  <a:cubicBezTo>
                    <a:pt x="50" y="114"/>
                    <a:pt x="169" y="171"/>
                    <a:pt x="204" y="250"/>
                  </a:cubicBezTo>
                  <a:cubicBezTo>
                    <a:pt x="239" y="329"/>
                    <a:pt x="215" y="501"/>
                    <a:pt x="233" y="551"/>
                  </a:cubicBezTo>
                  <a:cubicBezTo>
                    <a:pt x="246" y="598"/>
                    <a:pt x="297" y="596"/>
                    <a:pt x="310" y="548"/>
                  </a:cubicBezTo>
                  <a:cubicBezTo>
                    <a:pt x="323" y="500"/>
                    <a:pt x="297" y="353"/>
                    <a:pt x="324" y="274"/>
                  </a:cubicBezTo>
                  <a:cubicBezTo>
                    <a:pt x="351" y="195"/>
                    <a:pt x="459" y="122"/>
                    <a:pt x="478" y="82"/>
                  </a:cubicBezTo>
                  <a:cubicBezTo>
                    <a:pt x="497" y="42"/>
                    <a:pt x="458" y="0"/>
                    <a:pt x="425" y="23"/>
                  </a:cubicBezTo>
                  <a:cubicBezTo>
                    <a:pt x="392" y="46"/>
                    <a:pt x="333" y="175"/>
                    <a:pt x="276" y="175"/>
                  </a:cubicBezTo>
                  <a:cubicBezTo>
                    <a:pt x="219" y="175"/>
                    <a:pt x="123" y="46"/>
                    <a:pt x="84" y="23"/>
                  </a:cubicBezTo>
                  <a:cubicBezTo>
                    <a:pt x="45" y="0"/>
                    <a:pt x="0" y="34"/>
                    <a:pt x="25" y="74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6" name="Oval 6"/>
            <p:cNvSpPr>
              <a:spLocks noChangeArrowheads="1"/>
            </p:cNvSpPr>
            <p:nvPr/>
          </p:nvSpPr>
          <p:spPr bwMode="auto">
            <a:xfrm>
              <a:off x="4014" y="4116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7" name="Line 7"/>
            <p:cNvSpPr>
              <a:spLocks noChangeShapeType="1"/>
            </p:cNvSpPr>
            <p:nvPr/>
          </p:nvSpPr>
          <p:spPr bwMode="auto">
            <a:xfrm flipV="1">
              <a:off x="4094" y="4119"/>
              <a:ext cx="73" cy="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8" name="Line 8"/>
            <p:cNvSpPr>
              <a:spLocks noChangeShapeType="1"/>
            </p:cNvSpPr>
            <p:nvPr/>
          </p:nvSpPr>
          <p:spPr bwMode="auto">
            <a:xfrm>
              <a:off x="4215" y="3931"/>
              <a:ext cx="76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29" name="Oval 9"/>
            <p:cNvSpPr>
              <a:spLocks noChangeArrowheads="1"/>
            </p:cNvSpPr>
            <p:nvPr/>
          </p:nvSpPr>
          <p:spPr bwMode="auto">
            <a:xfrm>
              <a:off x="4062" y="3826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30" name="Line 10"/>
            <p:cNvSpPr>
              <a:spLocks noChangeShapeType="1"/>
            </p:cNvSpPr>
            <p:nvPr/>
          </p:nvSpPr>
          <p:spPr bwMode="auto">
            <a:xfrm flipV="1">
              <a:off x="4143" y="3793"/>
              <a:ext cx="44" cy="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31" name="Line 11"/>
            <p:cNvSpPr>
              <a:spLocks noChangeShapeType="1"/>
            </p:cNvSpPr>
            <p:nvPr/>
          </p:nvSpPr>
          <p:spPr bwMode="auto">
            <a:xfrm>
              <a:off x="4207" y="4123"/>
              <a:ext cx="64" cy="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32" name="Oval 12"/>
            <p:cNvSpPr>
              <a:spLocks noChangeArrowheads="1"/>
            </p:cNvSpPr>
            <p:nvPr/>
          </p:nvSpPr>
          <p:spPr bwMode="auto">
            <a:xfrm>
              <a:off x="4259" y="4112"/>
              <a:ext cx="86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33" name="Oval 13"/>
            <p:cNvSpPr>
              <a:spLocks noChangeArrowheads="1"/>
            </p:cNvSpPr>
            <p:nvPr/>
          </p:nvSpPr>
          <p:spPr bwMode="auto">
            <a:xfrm>
              <a:off x="4275" y="3912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34" name="Line 14"/>
            <p:cNvSpPr>
              <a:spLocks noChangeShapeType="1"/>
            </p:cNvSpPr>
            <p:nvPr/>
          </p:nvSpPr>
          <p:spPr bwMode="auto">
            <a:xfrm>
              <a:off x="4303" y="3701"/>
              <a:ext cx="76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35" name="Oval 15"/>
            <p:cNvSpPr>
              <a:spLocks noChangeArrowheads="1"/>
            </p:cNvSpPr>
            <p:nvPr/>
          </p:nvSpPr>
          <p:spPr bwMode="auto">
            <a:xfrm>
              <a:off x="4363" y="3683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2336" name="Group 16"/>
          <p:cNvGrpSpPr>
            <a:grpSpLocks/>
          </p:cNvGrpSpPr>
          <p:nvPr/>
        </p:nvGrpSpPr>
        <p:grpSpPr bwMode="auto">
          <a:xfrm>
            <a:off x="5337175" y="1581150"/>
            <a:ext cx="1362075" cy="1239838"/>
            <a:chOff x="3051" y="1423"/>
            <a:chExt cx="858" cy="781"/>
          </a:xfrm>
        </p:grpSpPr>
        <p:grpSp>
          <p:nvGrpSpPr>
            <p:cNvPr id="312337" name="Group 17"/>
            <p:cNvGrpSpPr>
              <a:grpSpLocks/>
            </p:cNvGrpSpPr>
            <p:nvPr/>
          </p:nvGrpSpPr>
          <p:grpSpPr bwMode="auto">
            <a:xfrm>
              <a:off x="3051" y="1423"/>
              <a:ext cx="858" cy="669"/>
              <a:chOff x="4294" y="1592"/>
              <a:chExt cx="858" cy="669"/>
            </a:xfrm>
          </p:grpSpPr>
          <p:sp>
            <p:nvSpPr>
              <p:cNvPr id="312338" name="Oval 18"/>
              <p:cNvSpPr>
                <a:spLocks noChangeArrowheads="1"/>
              </p:cNvSpPr>
              <p:nvPr/>
            </p:nvSpPr>
            <p:spPr bwMode="auto">
              <a:xfrm>
                <a:off x="4294" y="1936"/>
                <a:ext cx="282" cy="325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39" name="Oval 19"/>
              <p:cNvSpPr>
                <a:spLocks noChangeArrowheads="1"/>
              </p:cNvSpPr>
              <p:nvPr/>
            </p:nvSpPr>
            <p:spPr bwMode="auto">
              <a:xfrm>
                <a:off x="4438" y="1850"/>
                <a:ext cx="282" cy="325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40" name="Oval 20"/>
              <p:cNvSpPr>
                <a:spLocks noChangeArrowheads="1"/>
              </p:cNvSpPr>
              <p:nvPr/>
            </p:nvSpPr>
            <p:spPr bwMode="auto">
              <a:xfrm>
                <a:off x="4582" y="1764"/>
                <a:ext cx="282" cy="325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41" name="Oval 21"/>
              <p:cNvSpPr>
                <a:spLocks noChangeArrowheads="1"/>
              </p:cNvSpPr>
              <p:nvPr/>
            </p:nvSpPr>
            <p:spPr bwMode="auto">
              <a:xfrm>
                <a:off x="4726" y="1678"/>
                <a:ext cx="282" cy="325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42" name="Oval 22"/>
              <p:cNvSpPr>
                <a:spLocks noChangeArrowheads="1"/>
              </p:cNvSpPr>
              <p:nvPr/>
            </p:nvSpPr>
            <p:spPr bwMode="auto">
              <a:xfrm>
                <a:off x="4870" y="1592"/>
                <a:ext cx="282" cy="325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2343" name="Oval 23"/>
            <p:cNvSpPr>
              <a:spLocks noChangeArrowheads="1"/>
            </p:cNvSpPr>
            <p:nvPr/>
          </p:nvSpPr>
          <p:spPr bwMode="auto">
            <a:xfrm>
              <a:off x="3272" y="2117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44" name="Line 24"/>
            <p:cNvSpPr>
              <a:spLocks noChangeShapeType="1"/>
            </p:cNvSpPr>
            <p:nvPr/>
          </p:nvSpPr>
          <p:spPr bwMode="auto">
            <a:xfrm flipH="1" flipV="1">
              <a:off x="3238" y="2072"/>
              <a:ext cx="5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45" name="Oval 25"/>
            <p:cNvSpPr>
              <a:spLocks noChangeArrowheads="1"/>
            </p:cNvSpPr>
            <p:nvPr/>
          </p:nvSpPr>
          <p:spPr bwMode="auto">
            <a:xfrm>
              <a:off x="3490" y="1973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46" name="Line 26"/>
            <p:cNvSpPr>
              <a:spLocks noChangeShapeType="1"/>
            </p:cNvSpPr>
            <p:nvPr/>
          </p:nvSpPr>
          <p:spPr bwMode="auto">
            <a:xfrm flipV="1">
              <a:off x="3517" y="1896"/>
              <a:ext cx="14" cy="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47" name="Oval 27"/>
            <p:cNvSpPr>
              <a:spLocks noChangeArrowheads="1"/>
            </p:cNvSpPr>
            <p:nvPr/>
          </p:nvSpPr>
          <p:spPr bwMode="auto">
            <a:xfrm>
              <a:off x="3420" y="1429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48" name="Line 28"/>
            <p:cNvSpPr>
              <a:spLocks noChangeShapeType="1"/>
            </p:cNvSpPr>
            <p:nvPr/>
          </p:nvSpPr>
          <p:spPr bwMode="auto">
            <a:xfrm flipH="1" flipV="1">
              <a:off x="3478" y="1512"/>
              <a:ext cx="5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2349" name="Rectangle 29"/>
          <p:cNvSpPr>
            <a:spLocks noChangeArrowheads="1"/>
          </p:cNvSpPr>
          <p:nvPr/>
        </p:nvSpPr>
        <p:spPr bwMode="auto">
          <a:xfrm>
            <a:off x="134938" y="2149475"/>
            <a:ext cx="36671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  <a:latin typeface="Chalkboard" charset="0"/>
              </a:rPr>
              <a:t>Direct immunofluorescence:</a:t>
            </a:r>
          </a:p>
          <a:p>
            <a:pPr algn="ctr"/>
            <a:r>
              <a:rPr lang="en-US">
                <a:solidFill>
                  <a:schemeClr val="accent2"/>
                </a:solidFill>
                <a:latin typeface="Chalkboard" charset="0"/>
              </a:rPr>
              <a:t>labeled antibodies against target</a:t>
            </a:r>
          </a:p>
        </p:txBody>
      </p:sp>
      <p:grpSp>
        <p:nvGrpSpPr>
          <p:cNvPr id="312350" name="Group 30"/>
          <p:cNvGrpSpPr>
            <a:grpSpLocks/>
          </p:cNvGrpSpPr>
          <p:nvPr/>
        </p:nvGrpSpPr>
        <p:grpSpPr bwMode="auto">
          <a:xfrm>
            <a:off x="1185863" y="2900363"/>
            <a:ext cx="1362075" cy="2101850"/>
            <a:chOff x="662" y="2217"/>
            <a:chExt cx="858" cy="1324"/>
          </a:xfrm>
        </p:grpSpPr>
        <p:sp>
          <p:nvSpPr>
            <p:cNvPr id="312351" name="Oval 31"/>
            <p:cNvSpPr>
              <a:spLocks noChangeArrowheads="1"/>
            </p:cNvSpPr>
            <p:nvPr/>
          </p:nvSpPr>
          <p:spPr bwMode="auto">
            <a:xfrm>
              <a:off x="662" y="2843"/>
              <a:ext cx="282" cy="325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52" name="Oval 32"/>
            <p:cNvSpPr>
              <a:spLocks noChangeArrowheads="1"/>
            </p:cNvSpPr>
            <p:nvPr/>
          </p:nvSpPr>
          <p:spPr bwMode="auto">
            <a:xfrm>
              <a:off x="806" y="2757"/>
              <a:ext cx="282" cy="325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2353" name="Group 33"/>
            <p:cNvGrpSpPr>
              <a:grpSpLocks/>
            </p:cNvGrpSpPr>
            <p:nvPr/>
          </p:nvGrpSpPr>
          <p:grpSpPr bwMode="auto">
            <a:xfrm>
              <a:off x="784" y="2921"/>
              <a:ext cx="442" cy="620"/>
              <a:chOff x="2944" y="1737"/>
              <a:chExt cx="586" cy="822"/>
            </a:xfrm>
          </p:grpSpPr>
          <p:sp>
            <p:nvSpPr>
              <p:cNvPr id="312354" name="Freeform 34"/>
              <p:cNvSpPr>
                <a:spLocks/>
              </p:cNvSpPr>
              <p:nvPr/>
            </p:nvSpPr>
            <p:spPr bwMode="auto">
              <a:xfrm>
                <a:off x="2944" y="1737"/>
                <a:ext cx="463" cy="773"/>
              </a:xfrm>
              <a:custGeom>
                <a:avLst/>
                <a:gdLst/>
                <a:ahLst/>
                <a:cxnLst>
                  <a:cxn ang="0">
                    <a:pos x="25" y="74"/>
                  </a:cxn>
                  <a:cxn ang="0">
                    <a:pos x="204" y="250"/>
                  </a:cxn>
                  <a:cxn ang="0">
                    <a:pos x="233" y="551"/>
                  </a:cxn>
                  <a:cxn ang="0">
                    <a:pos x="310" y="548"/>
                  </a:cxn>
                  <a:cxn ang="0">
                    <a:pos x="324" y="274"/>
                  </a:cxn>
                  <a:cxn ang="0">
                    <a:pos x="478" y="82"/>
                  </a:cxn>
                  <a:cxn ang="0">
                    <a:pos x="425" y="23"/>
                  </a:cxn>
                  <a:cxn ang="0">
                    <a:pos x="276" y="175"/>
                  </a:cxn>
                  <a:cxn ang="0">
                    <a:pos x="84" y="23"/>
                  </a:cxn>
                  <a:cxn ang="0">
                    <a:pos x="25" y="74"/>
                  </a:cxn>
                </a:cxnLst>
                <a:rect l="0" t="0" r="r" b="b"/>
                <a:pathLst>
                  <a:path w="497" h="598">
                    <a:moveTo>
                      <a:pt x="25" y="74"/>
                    </a:moveTo>
                    <a:cubicBezTo>
                      <a:pt x="50" y="114"/>
                      <a:pt x="169" y="171"/>
                      <a:pt x="204" y="250"/>
                    </a:cubicBezTo>
                    <a:cubicBezTo>
                      <a:pt x="239" y="329"/>
                      <a:pt x="215" y="501"/>
                      <a:pt x="233" y="551"/>
                    </a:cubicBezTo>
                    <a:cubicBezTo>
                      <a:pt x="246" y="598"/>
                      <a:pt x="297" y="596"/>
                      <a:pt x="310" y="548"/>
                    </a:cubicBezTo>
                    <a:cubicBezTo>
                      <a:pt x="323" y="500"/>
                      <a:pt x="297" y="353"/>
                      <a:pt x="324" y="274"/>
                    </a:cubicBezTo>
                    <a:cubicBezTo>
                      <a:pt x="351" y="195"/>
                      <a:pt x="459" y="122"/>
                      <a:pt x="478" y="82"/>
                    </a:cubicBezTo>
                    <a:cubicBezTo>
                      <a:pt x="497" y="42"/>
                      <a:pt x="458" y="0"/>
                      <a:pt x="425" y="23"/>
                    </a:cubicBezTo>
                    <a:cubicBezTo>
                      <a:pt x="392" y="46"/>
                      <a:pt x="333" y="175"/>
                      <a:pt x="276" y="175"/>
                    </a:cubicBezTo>
                    <a:cubicBezTo>
                      <a:pt x="219" y="175"/>
                      <a:pt x="123" y="46"/>
                      <a:pt x="84" y="23"/>
                    </a:cubicBezTo>
                    <a:cubicBezTo>
                      <a:pt x="45" y="0"/>
                      <a:pt x="0" y="34"/>
                      <a:pt x="25" y="7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55" name="Oval 35"/>
              <p:cNvSpPr>
                <a:spLocks noChangeArrowheads="1"/>
              </p:cNvSpPr>
              <p:nvPr/>
            </p:nvSpPr>
            <p:spPr bwMode="auto">
              <a:xfrm>
                <a:off x="2954" y="2443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56" name="Line 36"/>
              <p:cNvSpPr>
                <a:spLocks noChangeShapeType="1"/>
              </p:cNvSpPr>
              <p:nvPr/>
            </p:nvSpPr>
            <p:spPr bwMode="auto">
              <a:xfrm flipV="1">
                <a:off x="3061" y="2448"/>
                <a:ext cx="96" cy="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57" name="Line 37"/>
              <p:cNvSpPr>
                <a:spLocks noChangeShapeType="1"/>
              </p:cNvSpPr>
              <p:nvPr/>
            </p:nvSpPr>
            <p:spPr bwMode="auto">
              <a:xfrm>
                <a:off x="3221" y="2198"/>
                <a:ext cx="101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58" name="Oval 38"/>
              <p:cNvSpPr>
                <a:spLocks noChangeArrowheads="1"/>
              </p:cNvSpPr>
              <p:nvPr/>
            </p:nvSpPr>
            <p:spPr bwMode="auto">
              <a:xfrm>
                <a:off x="3018" y="2059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59" name="Line 39"/>
              <p:cNvSpPr>
                <a:spLocks noChangeShapeType="1"/>
              </p:cNvSpPr>
              <p:nvPr/>
            </p:nvSpPr>
            <p:spPr bwMode="auto">
              <a:xfrm flipV="1">
                <a:off x="3125" y="2016"/>
                <a:ext cx="59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60" name="Line 40"/>
              <p:cNvSpPr>
                <a:spLocks noChangeShapeType="1"/>
              </p:cNvSpPr>
              <p:nvPr/>
            </p:nvSpPr>
            <p:spPr bwMode="auto">
              <a:xfrm>
                <a:off x="3210" y="2453"/>
                <a:ext cx="85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61" name="Oval 41"/>
              <p:cNvSpPr>
                <a:spLocks noChangeArrowheads="1"/>
              </p:cNvSpPr>
              <p:nvPr/>
            </p:nvSpPr>
            <p:spPr bwMode="auto">
              <a:xfrm>
                <a:off x="3280" y="2438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62" name="Oval 42"/>
              <p:cNvSpPr>
                <a:spLocks noChangeArrowheads="1"/>
              </p:cNvSpPr>
              <p:nvPr/>
            </p:nvSpPr>
            <p:spPr bwMode="auto">
              <a:xfrm>
                <a:off x="3300" y="2173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63" name="Line 43"/>
              <p:cNvSpPr>
                <a:spLocks noChangeShapeType="1"/>
              </p:cNvSpPr>
              <p:nvPr/>
            </p:nvSpPr>
            <p:spPr bwMode="auto">
              <a:xfrm>
                <a:off x="3338" y="1894"/>
                <a:ext cx="101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64" name="Oval 44"/>
              <p:cNvSpPr>
                <a:spLocks noChangeArrowheads="1"/>
              </p:cNvSpPr>
              <p:nvPr/>
            </p:nvSpPr>
            <p:spPr bwMode="auto">
              <a:xfrm>
                <a:off x="3417" y="1869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2365" name="Oval 45"/>
            <p:cNvSpPr>
              <a:spLocks noChangeArrowheads="1"/>
            </p:cNvSpPr>
            <p:nvPr/>
          </p:nvSpPr>
          <p:spPr bwMode="auto">
            <a:xfrm>
              <a:off x="950" y="2671"/>
              <a:ext cx="282" cy="325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66" name="Oval 46"/>
            <p:cNvSpPr>
              <a:spLocks noChangeArrowheads="1"/>
            </p:cNvSpPr>
            <p:nvPr/>
          </p:nvSpPr>
          <p:spPr bwMode="auto">
            <a:xfrm>
              <a:off x="1094" y="2585"/>
              <a:ext cx="282" cy="325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2367" name="Group 47"/>
            <p:cNvGrpSpPr>
              <a:grpSpLocks/>
            </p:cNvGrpSpPr>
            <p:nvPr/>
          </p:nvGrpSpPr>
          <p:grpSpPr bwMode="auto">
            <a:xfrm rot="-13418776">
              <a:off x="763" y="2217"/>
              <a:ext cx="442" cy="620"/>
              <a:chOff x="2944" y="1737"/>
              <a:chExt cx="586" cy="822"/>
            </a:xfrm>
          </p:grpSpPr>
          <p:sp>
            <p:nvSpPr>
              <p:cNvPr id="312368" name="Freeform 48"/>
              <p:cNvSpPr>
                <a:spLocks/>
              </p:cNvSpPr>
              <p:nvPr/>
            </p:nvSpPr>
            <p:spPr bwMode="auto">
              <a:xfrm>
                <a:off x="2944" y="1737"/>
                <a:ext cx="463" cy="773"/>
              </a:xfrm>
              <a:custGeom>
                <a:avLst/>
                <a:gdLst/>
                <a:ahLst/>
                <a:cxnLst>
                  <a:cxn ang="0">
                    <a:pos x="25" y="74"/>
                  </a:cxn>
                  <a:cxn ang="0">
                    <a:pos x="204" y="250"/>
                  </a:cxn>
                  <a:cxn ang="0">
                    <a:pos x="233" y="551"/>
                  </a:cxn>
                  <a:cxn ang="0">
                    <a:pos x="310" y="548"/>
                  </a:cxn>
                  <a:cxn ang="0">
                    <a:pos x="324" y="274"/>
                  </a:cxn>
                  <a:cxn ang="0">
                    <a:pos x="478" y="82"/>
                  </a:cxn>
                  <a:cxn ang="0">
                    <a:pos x="425" y="23"/>
                  </a:cxn>
                  <a:cxn ang="0">
                    <a:pos x="276" y="175"/>
                  </a:cxn>
                  <a:cxn ang="0">
                    <a:pos x="84" y="23"/>
                  </a:cxn>
                  <a:cxn ang="0">
                    <a:pos x="25" y="74"/>
                  </a:cxn>
                </a:cxnLst>
                <a:rect l="0" t="0" r="r" b="b"/>
                <a:pathLst>
                  <a:path w="497" h="598">
                    <a:moveTo>
                      <a:pt x="25" y="74"/>
                    </a:moveTo>
                    <a:cubicBezTo>
                      <a:pt x="50" y="114"/>
                      <a:pt x="169" y="171"/>
                      <a:pt x="204" y="250"/>
                    </a:cubicBezTo>
                    <a:cubicBezTo>
                      <a:pt x="239" y="329"/>
                      <a:pt x="215" y="501"/>
                      <a:pt x="233" y="551"/>
                    </a:cubicBezTo>
                    <a:cubicBezTo>
                      <a:pt x="246" y="598"/>
                      <a:pt x="297" y="596"/>
                      <a:pt x="310" y="548"/>
                    </a:cubicBezTo>
                    <a:cubicBezTo>
                      <a:pt x="323" y="500"/>
                      <a:pt x="297" y="353"/>
                      <a:pt x="324" y="274"/>
                    </a:cubicBezTo>
                    <a:cubicBezTo>
                      <a:pt x="351" y="195"/>
                      <a:pt x="459" y="122"/>
                      <a:pt x="478" y="82"/>
                    </a:cubicBezTo>
                    <a:cubicBezTo>
                      <a:pt x="497" y="42"/>
                      <a:pt x="458" y="0"/>
                      <a:pt x="425" y="23"/>
                    </a:cubicBezTo>
                    <a:cubicBezTo>
                      <a:pt x="392" y="46"/>
                      <a:pt x="333" y="175"/>
                      <a:pt x="276" y="175"/>
                    </a:cubicBezTo>
                    <a:cubicBezTo>
                      <a:pt x="219" y="175"/>
                      <a:pt x="123" y="46"/>
                      <a:pt x="84" y="23"/>
                    </a:cubicBezTo>
                    <a:cubicBezTo>
                      <a:pt x="45" y="0"/>
                      <a:pt x="0" y="34"/>
                      <a:pt x="25" y="7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69" name="Oval 49"/>
              <p:cNvSpPr>
                <a:spLocks noChangeArrowheads="1"/>
              </p:cNvSpPr>
              <p:nvPr/>
            </p:nvSpPr>
            <p:spPr bwMode="auto">
              <a:xfrm>
                <a:off x="2954" y="2443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70" name="Line 50"/>
              <p:cNvSpPr>
                <a:spLocks noChangeShapeType="1"/>
              </p:cNvSpPr>
              <p:nvPr/>
            </p:nvSpPr>
            <p:spPr bwMode="auto">
              <a:xfrm flipV="1">
                <a:off x="3061" y="2448"/>
                <a:ext cx="96" cy="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71" name="Line 51"/>
              <p:cNvSpPr>
                <a:spLocks noChangeShapeType="1"/>
              </p:cNvSpPr>
              <p:nvPr/>
            </p:nvSpPr>
            <p:spPr bwMode="auto">
              <a:xfrm>
                <a:off x="3221" y="2198"/>
                <a:ext cx="101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72" name="Oval 52"/>
              <p:cNvSpPr>
                <a:spLocks noChangeArrowheads="1"/>
              </p:cNvSpPr>
              <p:nvPr/>
            </p:nvSpPr>
            <p:spPr bwMode="auto">
              <a:xfrm>
                <a:off x="3018" y="2059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73" name="Line 53"/>
              <p:cNvSpPr>
                <a:spLocks noChangeShapeType="1"/>
              </p:cNvSpPr>
              <p:nvPr/>
            </p:nvSpPr>
            <p:spPr bwMode="auto">
              <a:xfrm flipV="1">
                <a:off x="3125" y="2016"/>
                <a:ext cx="59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74" name="Line 54"/>
              <p:cNvSpPr>
                <a:spLocks noChangeShapeType="1"/>
              </p:cNvSpPr>
              <p:nvPr/>
            </p:nvSpPr>
            <p:spPr bwMode="auto">
              <a:xfrm>
                <a:off x="3210" y="2453"/>
                <a:ext cx="85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75" name="Oval 55"/>
              <p:cNvSpPr>
                <a:spLocks noChangeArrowheads="1"/>
              </p:cNvSpPr>
              <p:nvPr/>
            </p:nvSpPr>
            <p:spPr bwMode="auto">
              <a:xfrm>
                <a:off x="3280" y="2438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76" name="Oval 56"/>
              <p:cNvSpPr>
                <a:spLocks noChangeArrowheads="1"/>
              </p:cNvSpPr>
              <p:nvPr/>
            </p:nvSpPr>
            <p:spPr bwMode="auto">
              <a:xfrm>
                <a:off x="3300" y="2173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77" name="Line 57"/>
              <p:cNvSpPr>
                <a:spLocks noChangeShapeType="1"/>
              </p:cNvSpPr>
              <p:nvPr/>
            </p:nvSpPr>
            <p:spPr bwMode="auto">
              <a:xfrm>
                <a:off x="3338" y="1894"/>
                <a:ext cx="101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2378" name="Oval 58"/>
              <p:cNvSpPr>
                <a:spLocks noChangeArrowheads="1"/>
              </p:cNvSpPr>
              <p:nvPr/>
            </p:nvSpPr>
            <p:spPr bwMode="auto">
              <a:xfrm>
                <a:off x="3417" y="1869"/>
                <a:ext cx="113" cy="11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2379" name="Oval 59"/>
            <p:cNvSpPr>
              <a:spLocks noChangeArrowheads="1"/>
            </p:cNvSpPr>
            <p:nvPr/>
          </p:nvSpPr>
          <p:spPr bwMode="auto">
            <a:xfrm>
              <a:off x="1238" y="2499"/>
              <a:ext cx="282" cy="325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2380" name="Rectangle 60"/>
          <p:cNvSpPr>
            <a:spLocks noChangeArrowheads="1"/>
          </p:cNvSpPr>
          <p:nvPr/>
        </p:nvSpPr>
        <p:spPr bwMode="auto">
          <a:xfrm>
            <a:off x="2032000" y="5586413"/>
            <a:ext cx="473392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b="1">
                <a:solidFill>
                  <a:schemeClr val="accent2"/>
                </a:solidFill>
                <a:latin typeface="Chalkboard" charset="0"/>
              </a:rPr>
              <a:t>Indirect immunofluorescence:</a:t>
            </a:r>
          </a:p>
          <a:p>
            <a:pPr algn="r"/>
            <a:r>
              <a:rPr lang="en-US" i="1">
                <a:solidFill>
                  <a:schemeClr val="accent2"/>
                </a:solidFill>
                <a:latin typeface="Chalkboard" charset="0"/>
              </a:rPr>
              <a:t>Unlabeled</a:t>
            </a:r>
            <a:r>
              <a:rPr lang="en-US">
                <a:solidFill>
                  <a:schemeClr val="accent2"/>
                </a:solidFill>
                <a:latin typeface="Chalkboard" charset="0"/>
              </a:rPr>
              <a:t> antibodies against target</a:t>
            </a:r>
          </a:p>
          <a:p>
            <a:pPr algn="r"/>
            <a:r>
              <a:rPr lang="en-US">
                <a:solidFill>
                  <a:schemeClr val="accent2"/>
                </a:solidFill>
                <a:latin typeface="Chalkboard" charset="0"/>
              </a:rPr>
              <a:t>Labeled antibodies </a:t>
            </a:r>
            <a:r>
              <a:rPr lang="en-US" i="1">
                <a:solidFill>
                  <a:schemeClr val="accent2"/>
                </a:solidFill>
                <a:latin typeface="Chalkboard" charset="0"/>
              </a:rPr>
              <a:t>against those antibodies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312381" name="Oval 61"/>
          <p:cNvSpPr>
            <a:spLocks noChangeArrowheads="1"/>
          </p:cNvSpPr>
          <p:nvPr/>
        </p:nvSpPr>
        <p:spPr bwMode="auto">
          <a:xfrm>
            <a:off x="7366000" y="5538788"/>
            <a:ext cx="447675" cy="515937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2382" name="Oval 62"/>
          <p:cNvSpPr>
            <a:spLocks noChangeArrowheads="1"/>
          </p:cNvSpPr>
          <p:nvPr/>
        </p:nvSpPr>
        <p:spPr bwMode="auto">
          <a:xfrm>
            <a:off x="7594600" y="5402263"/>
            <a:ext cx="447675" cy="515937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2383" name="Freeform 63"/>
          <p:cNvSpPr>
            <a:spLocks/>
          </p:cNvSpPr>
          <p:nvPr/>
        </p:nvSpPr>
        <p:spPr bwMode="auto">
          <a:xfrm>
            <a:off x="7559675" y="5662613"/>
            <a:ext cx="554038" cy="925512"/>
          </a:xfrm>
          <a:custGeom>
            <a:avLst/>
            <a:gdLst/>
            <a:ahLst/>
            <a:cxnLst>
              <a:cxn ang="0">
                <a:pos x="25" y="74"/>
              </a:cxn>
              <a:cxn ang="0">
                <a:pos x="204" y="250"/>
              </a:cxn>
              <a:cxn ang="0">
                <a:pos x="233" y="551"/>
              </a:cxn>
              <a:cxn ang="0">
                <a:pos x="310" y="548"/>
              </a:cxn>
              <a:cxn ang="0">
                <a:pos x="324" y="274"/>
              </a:cxn>
              <a:cxn ang="0">
                <a:pos x="478" y="82"/>
              </a:cxn>
              <a:cxn ang="0">
                <a:pos x="425" y="23"/>
              </a:cxn>
              <a:cxn ang="0">
                <a:pos x="276" y="175"/>
              </a:cxn>
              <a:cxn ang="0">
                <a:pos x="84" y="23"/>
              </a:cxn>
              <a:cxn ang="0">
                <a:pos x="25" y="74"/>
              </a:cxn>
            </a:cxnLst>
            <a:rect l="0" t="0" r="r" b="b"/>
            <a:pathLst>
              <a:path w="497" h="598">
                <a:moveTo>
                  <a:pt x="25" y="74"/>
                </a:moveTo>
                <a:cubicBezTo>
                  <a:pt x="50" y="114"/>
                  <a:pt x="169" y="171"/>
                  <a:pt x="204" y="250"/>
                </a:cubicBezTo>
                <a:cubicBezTo>
                  <a:pt x="239" y="329"/>
                  <a:pt x="215" y="501"/>
                  <a:pt x="233" y="551"/>
                </a:cubicBezTo>
                <a:cubicBezTo>
                  <a:pt x="246" y="598"/>
                  <a:pt x="297" y="596"/>
                  <a:pt x="310" y="548"/>
                </a:cubicBezTo>
                <a:cubicBezTo>
                  <a:pt x="323" y="500"/>
                  <a:pt x="297" y="353"/>
                  <a:pt x="324" y="274"/>
                </a:cubicBezTo>
                <a:cubicBezTo>
                  <a:pt x="351" y="195"/>
                  <a:pt x="459" y="122"/>
                  <a:pt x="478" y="82"/>
                </a:cubicBezTo>
                <a:cubicBezTo>
                  <a:pt x="497" y="42"/>
                  <a:pt x="458" y="0"/>
                  <a:pt x="425" y="23"/>
                </a:cubicBezTo>
                <a:cubicBezTo>
                  <a:pt x="392" y="46"/>
                  <a:pt x="333" y="175"/>
                  <a:pt x="276" y="175"/>
                </a:cubicBezTo>
                <a:cubicBezTo>
                  <a:pt x="219" y="175"/>
                  <a:pt x="123" y="46"/>
                  <a:pt x="84" y="23"/>
                </a:cubicBezTo>
                <a:cubicBezTo>
                  <a:pt x="45" y="0"/>
                  <a:pt x="0" y="34"/>
                  <a:pt x="25" y="74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2384" name="Oval 64"/>
          <p:cNvSpPr>
            <a:spLocks noChangeArrowheads="1"/>
          </p:cNvSpPr>
          <p:nvPr/>
        </p:nvSpPr>
        <p:spPr bwMode="auto">
          <a:xfrm>
            <a:off x="7823200" y="5265738"/>
            <a:ext cx="447675" cy="515937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2385" name="Oval 65"/>
          <p:cNvSpPr>
            <a:spLocks noChangeArrowheads="1"/>
          </p:cNvSpPr>
          <p:nvPr/>
        </p:nvSpPr>
        <p:spPr bwMode="auto">
          <a:xfrm>
            <a:off x="8051800" y="5129213"/>
            <a:ext cx="447675" cy="515937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2386" name="Freeform 66"/>
          <p:cNvSpPr>
            <a:spLocks/>
          </p:cNvSpPr>
          <p:nvPr/>
        </p:nvSpPr>
        <p:spPr bwMode="auto">
          <a:xfrm rot="-13418776">
            <a:off x="7670800" y="4543425"/>
            <a:ext cx="554038" cy="925513"/>
          </a:xfrm>
          <a:custGeom>
            <a:avLst/>
            <a:gdLst/>
            <a:ahLst/>
            <a:cxnLst>
              <a:cxn ang="0">
                <a:pos x="25" y="74"/>
              </a:cxn>
              <a:cxn ang="0">
                <a:pos x="204" y="250"/>
              </a:cxn>
              <a:cxn ang="0">
                <a:pos x="233" y="551"/>
              </a:cxn>
              <a:cxn ang="0">
                <a:pos x="310" y="548"/>
              </a:cxn>
              <a:cxn ang="0">
                <a:pos x="324" y="274"/>
              </a:cxn>
              <a:cxn ang="0">
                <a:pos x="478" y="82"/>
              </a:cxn>
              <a:cxn ang="0">
                <a:pos x="425" y="23"/>
              </a:cxn>
              <a:cxn ang="0">
                <a:pos x="276" y="175"/>
              </a:cxn>
              <a:cxn ang="0">
                <a:pos x="84" y="23"/>
              </a:cxn>
              <a:cxn ang="0">
                <a:pos x="25" y="74"/>
              </a:cxn>
            </a:cxnLst>
            <a:rect l="0" t="0" r="r" b="b"/>
            <a:pathLst>
              <a:path w="497" h="598">
                <a:moveTo>
                  <a:pt x="25" y="74"/>
                </a:moveTo>
                <a:cubicBezTo>
                  <a:pt x="50" y="114"/>
                  <a:pt x="169" y="171"/>
                  <a:pt x="204" y="250"/>
                </a:cubicBezTo>
                <a:cubicBezTo>
                  <a:pt x="239" y="329"/>
                  <a:pt x="215" y="501"/>
                  <a:pt x="233" y="551"/>
                </a:cubicBezTo>
                <a:cubicBezTo>
                  <a:pt x="246" y="598"/>
                  <a:pt x="297" y="596"/>
                  <a:pt x="310" y="548"/>
                </a:cubicBezTo>
                <a:cubicBezTo>
                  <a:pt x="323" y="500"/>
                  <a:pt x="297" y="353"/>
                  <a:pt x="324" y="274"/>
                </a:cubicBezTo>
                <a:cubicBezTo>
                  <a:pt x="351" y="195"/>
                  <a:pt x="459" y="122"/>
                  <a:pt x="478" y="82"/>
                </a:cubicBezTo>
                <a:cubicBezTo>
                  <a:pt x="497" y="42"/>
                  <a:pt x="458" y="0"/>
                  <a:pt x="425" y="23"/>
                </a:cubicBezTo>
                <a:cubicBezTo>
                  <a:pt x="392" y="46"/>
                  <a:pt x="333" y="175"/>
                  <a:pt x="276" y="175"/>
                </a:cubicBezTo>
                <a:cubicBezTo>
                  <a:pt x="219" y="175"/>
                  <a:pt x="123" y="46"/>
                  <a:pt x="84" y="23"/>
                </a:cubicBezTo>
                <a:cubicBezTo>
                  <a:pt x="45" y="0"/>
                  <a:pt x="0" y="34"/>
                  <a:pt x="25" y="74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2387" name="Oval 67"/>
          <p:cNvSpPr>
            <a:spLocks noChangeArrowheads="1"/>
          </p:cNvSpPr>
          <p:nvPr/>
        </p:nvSpPr>
        <p:spPr bwMode="auto">
          <a:xfrm>
            <a:off x="8280400" y="4992688"/>
            <a:ext cx="447675" cy="515937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2388" name="Group 68"/>
          <p:cNvGrpSpPr>
            <a:grpSpLocks/>
          </p:cNvGrpSpPr>
          <p:nvPr/>
        </p:nvGrpSpPr>
        <p:grpSpPr bwMode="auto">
          <a:xfrm rot="-9063139">
            <a:off x="7832725" y="4070350"/>
            <a:ext cx="701675" cy="984250"/>
            <a:chOff x="4006" y="3583"/>
            <a:chExt cx="442" cy="620"/>
          </a:xfrm>
        </p:grpSpPr>
        <p:sp>
          <p:nvSpPr>
            <p:cNvPr id="312389" name="Freeform 69"/>
            <p:cNvSpPr>
              <a:spLocks/>
            </p:cNvSpPr>
            <p:nvPr/>
          </p:nvSpPr>
          <p:spPr bwMode="auto">
            <a:xfrm>
              <a:off x="4006" y="3583"/>
              <a:ext cx="349" cy="583"/>
            </a:xfrm>
            <a:custGeom>
              <a:avLst/>
              <a:gdLst/>
              <a:ahLst/>
              <a:cxnLst>
                <a:cxn ang="0">
                  <a:pos x="25" y="74"/>
                </a:cxn>
                <a:cxn ang="0">
                  <a:pos x="204" y="250"/>
                </a:cxn>
                <a:cxn ang="0">
                  <a:pos x="233" y="551"/>
                </a:cxn>
                <a:cxn ang="0">
                  <a:pos x="310" y="548"/>
                </a:cxn>
                <a:cxn ang="0">
                  <a:pos x="324" y="274"/>
                </a:cxn>
                <a:cxn ang="0">
                  <a:pos x="478" y="82"/>
                </a:cxn>
                <a:cxn ang="0">
                  <a:pos x="425" y="23"/>
                </a:cxn>
                <a:cxn ang="0">
                  <a:pos x="276" y="175"/>
                </a:cxn>
                <a:cxn ang="0">
                  <a:pos x="84" y="23"/>
                </a:cxn>
                <a:cxn ang="0">
                  <a:pos x="25" y="74"/>
                </a:cxn>
              </a:cxnLst>
              <a:rect l="0" t="0" r="r" b="b"/>
              <a:pathLst>
                <a:path w="497" h="598">
                  <a:moveTo>
                    <a:pt x="25" y="74"/>
                  </a:moveTo>
                  <a:cubicBezTo>
                    <a:pt x="50" y="114"/>
                    <a:pt x="169" y="171"/>
                    <a:pt x="204" y="250"/>
                  </a:cubicBezTo>
                  <a:cubicBezTo>
                    <a:pt x="239" y="329"/>
                    <a:pt x="215" y="501"/>
                    <a:pt x="233" y="551"/>
                  </a:cubicBezTo>
                  <a:cubicBezTo>
                    <a:pt x="246" y="598"/>
                    <a:pt x="297" y="596"/>
                    <a:pt x="310" y="548"/>
                  </a:cubicBezTo>
                  <a:cubicBezTo>
                    <a:pt x="323" y="500"/>
                    <a:pt x="297" y="353"/>
                    <a:pt x="324" y="274"/>
                  </a:cubicBezTo>
                  <a:cubicBezTo>
                    <a:pt x="351" y="195"/>
                    <a:pt x="459" y="122"/>
                    <a:pt x="478" y="82"/>
                  </a:cubicBezTo>
                  <a:cubicBezTo>
                    <a:pt x="497" y="42"/>
                    <a:pt x="458" y="0"/>
                    <a:pt x="425" y="23"/>
                  </a:cubicBezTo>
                  <a:cubicBezTo>
                    <a:pt x="392" y="46"/>
                    <a:pt x="333" y="175"/>
                    <a:pt x="276" y="175"/>
                  </a:cubicBezTo>
                  <a:cubicBezTo>
                    <a:pt x="219" y="175"/>
                    <a:pt x="123" y="46"/>
                    <a:pt x="84" y="23"/>
                  </a:cubicBezTo>
                  <a:cubicBezTo>
                    <a:pt x="45" y="0"/>
                    <a:pt x="0" y="34"/>
                    <a:pt x="25" y="74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0" name="Oval 70"/>
            <p:cNvSpPr>
              <a:spLocks noChangeArrowheads="1"/>
            </p:cNvSpPr>
            <p:nvPr/>
          </p:nvSpPr>
          <p:spPr bwMode="auto">
            <a:xfrm>
              <a:off x="4014" y="4116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1" name="Line 71"/>
            <p:cNvSpPr>
              <a:spLocks noChangeShapeType="1"/>
            </p:cNvSpPr>
            <p:nvPr/>
          </p:nvSpPr>
          <p:spPr bwMode="auto">
            <a:xfrm flipV="1">
              <a:off x="4094" y="4119"/>
              <a:ext cx="73" cy="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2" name="Line 72"/>
            <p:cNvSpPr>
              <a:spLocks noChangeShapeType="1"/>
            </p:cNvSpPr>
            <p:nvPr/>
          </p:nvSpPr>
          <p:spPr bwMode="auto">
            <a:xfrm>
              <a:off x="4215" y="3931"/>
              <a:ext cx="76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3" name="Oval 73"/>
            <p:cNvSpPr>
              <a:spLocks noChangeArrowheads="1"/>
            </p:cNvSpPr>
            <p:nvPr/>
          </p:nvSpPr>
          <p:spPr bwMode="auto">
            <a:xfrm>
              <a:off x="4062" y="3826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4" name="Line 74"/>
            <p:cNvSpPr>
              <a:spLocks noChangeShapeType="1"/>
            </p:cNvSpPr>
            <p:nvPr/>
          </p:nvSpPr>
          <p:spPr bwMode="auto">
            <a:xfrm flipV="1">
              <a:off x="4143" y="3793"/>
              <a:ext cx="44" cy="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5" name="Line 75"/>
            <p:cNvSpPr>
              <a:spLocks noChangeShapeType="1"/>
            </p:cNvSpPr>
            <p:nvPr/>
          </p:nvSpPr>
          <p:spPr bwMode="auto">
            <a:xfrm>
              <a:off x="4207" y="4123"/>
              <a:ext cx="64" cy="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6" name="Oval 76"/>
            <p:cNvSpPr>
              <a:spLocks noChangeArrowheads="1"/>
            </p:cNvSpPr>
            <p:nvPr/>
          </p:nvSpPr>
          <p:spPr bwMode="auto">
            <a:xfrm>
              <a:off x="4259" y="4112"/>
              <a:ext cx="86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7" name="Oval 77"/>
            <p:cNvSpPr>
              <a:spLocks noChangeArrowheads="1"/>
            </p:cNvSpPr>
            <p:nvPr/>
          </p:nvSpPr>
          <p:spPr bwMode="auto">
            <a:xfrm>
              <a:off x="4275" y="3912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8" name="Line 78"/>
            <p:cNvSpPr>
              <a:spLocks noChangeShapeType="1"/>
            </p:cNvSpPr>
            <p:nvPr/>
          </p:nvSpPr>
          <p:spPr bwMode="auto">
            <a:xfrm>
              <a:off x="4303" y="3701"/>
              <a:ext cx="76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99" name="Oval 79"/>
            <p:cNvSpPr>
              <a:spLocks noChangeArrowheads="1"/>
            </p:cNvSpPr>
            <p:nvPr/>
          </p:nvSpPr>
          <p:spPr bwMode="auto">
            <a:xfrm>
              <a:off x="4363" y="3683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2400" name="Group 80"/>
          <p:cNvGrpSpPr>
            <a:grpSpLocks/>
          </p:cNvGrpSpPr>
          <p:nvPr/>
        </p:nvGrpSpPr>
        <p:grpSpPr bwMode="auto">
          <a:xfrm rot="-14757624">
            <a:off x="6819900" y="4384676"/>
            <a:ext cx="701675" cy="984250"/>
            <a:chOff x="4006" y="3583"/>
            <a:chExt cx="442" cy="620"/>
          </a:xfrm>
        </p:grpSpPr>
        <p:sp>
          <p:nvSpPr>
            <p:cNvPr id="312401" name="Freeform 81"/>
            <p:cNvSpPr>
              <a:spLocks/>
            </p:cNvSpPr>
            <p:nvPr/>
          </p:nvSpPr>
          <p:spPr bwMode="auto">
            <a:xfrm>
              <a:off x="4006" y="3583"/>
              <a:ext cx="349" cy="583"/>
            </a:xfrm>
            <a:custGeom>
              <a:avLst/>
              <a:gdLst/>
              <a:ahLst/>
              <a:cxnLst>
                <a:cxn ang="0">
                  <a:pos x="25" y="74"/>
                </a:cxn>
                <a:cxn ang="0">
                  <a:pos x="204" y="250"/>
                </a:cxn>
                <a:cxn ang="0">
                  <a:pos x="233" y="551"/>
                </a:cxn>
                <a:cxn ang="0">
                  <a:pos x="310" y="548"/>
                </a:cxn>
                <a:cxn ang="0">
                  <a:pos x="324" y="274"/>
                </a:cxn>
                <a:cxn ang="0">
                  <a:pos x="478" y="82"/>
                </a:cxn>
                <a:cxn ang="0">
                  <a:pos x="425" y="23"/>
                </a:cxn>
                <a:cxn ang="0">
                  <a:pos x="276" y="175"/>
                </a:cxn>
                <a:cxn ang="0">
                  <a:pos x="84" y="23"/>
                </a:cxn>
                <a:cxn ang="0">
                  <a:pos x="25" y="74"/>
                </a:cxn>
              </a:cxnLst>
              <a:rect l="0" t="0" r="r" b="b"/>
              <a:pathLst>
                <a:path w="497" h="598">
                  <a:moveTo>
                    <a:pt x="25" y="74"/>
                  </a:moveTo>
                  <a:cubicBezTo>
                    <a:pt x="50" y="114"/>
                    <a:pt x="169" y="171"/>
                    <a:pt x="204" y="250"/>
                  </a:cubicBezTo>
                  <a:cubicBezTo>
                    <a:pt x="239" y="329"/>
                    <a:pt x="215" y="501"/>
                    <a:pt x="233" y="551"/>
                  </a:cubicBezTo>
                  <a:cubicBezTo>
                    <a:pt x="246" y="598"/>
                    <a:pt x="297" y="596"/>
                    <a:pt x="310" y="548"/>
                  </a:cubicBezTo>
                  <a:cubicBezTo>
                    <a:pt x="323" y="500"/>
                    <a:pt x="297" y="353"/>
                    <a:pt x="324" y="274"/>
                  </a:cubicBezTo>
                  <a:cubicBezTo>
                    <a:pt x="351" y="195"/>
                    <a:pt x="459" y="122"/>
                    <a:pt x="478" y="82"/>
                  </a:cubicBezTo>
                  <a:cubicBezTo>
                    <a:pt x="497" y="42"/>
                    <a:pt x="458" y="0"/>
                    <a:pt x="425" y="23"/>
                  </a:cubicBezTo>
                  <a:cubicBezTo>
                    <a:pt x="392" y="46"/>
                    <a:pt x="333" y="175"/>
                    <a:pt x="276" y="175"/>
                  </a:cubicBezTo>
                  <a:cubicBezTo>
                    <a:pt x="219" y="175"/>
                    <a:pt x="123" y="46"/>
                    <a:pt x="84" y="23"/>
                  </a:cubicBezTo>
                  <a:cubicBezTo>
                    <a:pt x="45" y="0"/>
                    <a:pt x="0" y="34"/>
                    <a:pt x="25" y="74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02" name="Oval 82"/>
            <p:cNvSpPr>
              <a:spLocks noChangeArrowheads="1"/>
            </p:cNvSpPr>
            <p:nvPr/>
          </p:nvSpPr>
          <p:spPr bwMode="auto">
            <a:xfrm>
              <a:off x="4014" y="4116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03" name="Line 83"/>
            <p:cNvSpPr>
              <a:spLocks noChangeShapeType="1"/>
            </p:cNvSpPr>
            <p:nvPr/>
          </p:nvSpPr>
          <p:spPr bwMode="auto">
            <a:xfrm flipV="1">
              <a:off x="4094" y="4119"/>
              <a:ext cx="73" cy="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04" name="Line 84"/>
            <p:cNvSpPr>
              <a:spLocks noChangeShapeType="1"/>
            </p:cNvSpPr>
            <p:nvPr/>
          </p:nvSpPr>
          <p:spPr bwMode="auto">
            <a:xfrm>
              <a:off x="4215" y="3931"/>
              <a:ext cx="76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05" name="Oval 85"/>
            <p:cNvSpPr>
              <a:spLocks noChangeArrowheads="1"/>
            </p:cNvSpPr>
            <p:nvPr/>
          </p:nvSpPr>
          <p:spPr bwMode="auto">
            <a:xfrm>
              <a:off x="4062" y="3826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06" name="Line 86"/>
            <p:cNvSpPr>
              <a:spLocks noChangeShapeType="1"/>
            </p:cNvSpPr>
            <p:nvPr/>
          </p:nvSpPr>
          <p:spPr bwMode="auto">
            <a:xfrm flipV="1">
              <a:off x="4143" y="3793"/>
              <a:ext cx="44" cy="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07" name="Line 87"/>
            <p:cNvSpPr>
              <a:spLocks noChangeShapeType="1"/>
            </p:cNvSpPr>
            <p:nvPr/>
          </p:nvSpPr>
          <p:spPr bwMode="auto">
            <a:xfrm>
              <a:off x="4207" y="4123"/>
              <a:ext cx="64" cy="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08" name="Oval 88"/>
            <p:cNvSpPr>
              <a:spLocks noChangeArrowheads="1"/>
            </p:cNvSpPr>
            <p:nvPr/>
          </p:nvSpPr>
          <p:spPr bwMode="auto">
            <a:xfrm>
              <a:off x="4259" y="4112"/>
              <a:ext cx="86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09" name="Oval 89"/>
            <p:cNvSpPr>
              <a:spLocks noChangeArrowheads="1"/>
            </p:cNvSpPr>
            <p:nvPr/>
          </p:nvSpPr>
          <p:spPr bwMode="auto">
            <a:xfrm>
              <a:off x="4275" y="3912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10" name="Line 90"/>
            <p:cNvSpPr>
              <a:spLocks noChangeShapeType="1"/>
            </p:cNvSpPr>
            <p:nvPr/>
          </p:nvSpPr>
          <p:spPr bwMode="auto">
            <a:xfrm>
              <a:off x="4303" y="3701"/>
              <a:ext cx="76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11" name="Oval 91"/>
            <p:cNvSpPr>
              <a:spLocks noChangeArrowheads="1"/>
            </p:cNvSpPr>
            <p:nvPr/>
          </p:nvSpPr>
          <p:spPr bwMode="auto">
            <a:xfrm>
              <a:off x="4363" y="3683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2412" name="Group 92"/>
          <p:cNvGrpSpPr>
            <a:grpSpLocks/>
          </p:cNvGrpSpPr>
          <p:nvPr/>
        </p:nvGrpSpPr>
        <p:grpSpPr bwMode="auto">
          <a:xfrm rot="5007867">
            <a:off x="7037387" y="6015038"/>
            <a:ext cx="701675" cy="984250"/>
            <a:chOff x="4006" y="3583"/>
            <a:chExt cx="442" cy="620"/>
          </a:xfrm>
        </p:grpSpPr>
        <p:sp>
          <p:nvSpPr>
            <p:cNvPr id="312413" name="Freeform 93"/>
            <p:cNvSpPr>
              <a:spLocks/>
            </p:cNvSpPr>
            <p:nvPr/>
          </p:nvSpPr>
          <p:spPr bwMode="auto">
            <a:xfrm>
              <a:off x="4006" y="3583"/>
              <a:ext cx="349" cy="583"/>
            </a:xfrm>
            <a:custGeom>
              <a:avLst/>
              <a:gdLst/>
              <a:ahLst/>
              <a:cxnLst>
                <a:cxn ang="0">
                  <a:pos x="25" y="74"/>
                </a:cxn>
                <a:cxn ang="0">
                  <a:pos x="204" y="250"/>
                </a:cxn>
                <a:cxn ang="0">
                  <a:pos x="233" y="551"/>
                </a:cxn>
                <a:cxn ang="0">
                  <a:pos x="310" y="548"/>
                </a:cxn>
                <a:cxn ang="0">
                  <a:pos x="324" y="274"/>
                </a:cxn>
                <a:cxn ang="0">
                  <a:pos x="478" y="82"/>
                </a:cxn>
                <a:cxn ang="0">
                  <a:pos x="425" y="23"/>
                </a:cxn>
                <a:cxn ang="0">
                  <a:pos x="276" y="175"/>
                </a:cxn>
                <a:cxn ang="0">
                  <a:pos x="84" y="23"/>
                </a:cxn>
                <a:cxn ang="0">
                  <a:pos x="25" y="74"/>
                </a:cxn>
              </a:cxnLst>
              <a:rect l="0" t="0" r="r" b="b"/>
              <a:pathLst>
                <a:path w="497" h="598">
                  <a:moveTo>
                    <a:pt x="25" y="74"/>
                  </a:moveTo>
                  <a:cubicBezTo>
                    <a:pt x="50" y="114"/>
                    <a:pt x="169" y="171"/>
                    <a:pt x="204" y="250"/>
                  </a:cubicBezTo>
                  <a:cubicBezTo>
                    <a:pt x="239" y="329"/>
                    <a:pt x="215" y="501"/>
                    <a:pt x="233" y="551"/>
                  </a:cubicBezTo>
                  <a:cubicBezTo>
                    <a:pt x="246" y="598"/>
                    <a:pt x="297" y="596"/>
                    <a:pt x="310" y="548"/>
                  </a:cubicBezTo>
                  <a:cubicBezTo>
                    <a:pt x="323" y="500"/>
                    <a:pt x="297" y="353"/>
                    <a:pt x="324" y="274"/>
                  </a:cubicBezTo>
                  <a:cubicBezTo>
                    <a:pt x="351" y="195"/>
                    <a:pt x="459" y="122"/>
                    <a:pt x="478" y="82"/>
                  </a:cubicBezTo>
                  <a:cubicBezTo>
                    <a:pt x="497" y="42"/>
                    <a:pt x="458" y="0"/>
                    <a:pt x="425" y="23"/>
                  </a:cubicBezTo>
                  <a:cubicBezTo>
                    <a:pt x="392" y="46"/>
                    <a:pt x="333" y="175"/>
                    <a:pt x="276" y="175"/>
                  </a:cubicBezTo>
                  <a:cubicBezTo>
                    <a:pt x="219" y="175"/>
                    <a:pt x="123" y="46"/>
                    <a:pt x="84" y="23"/>
                  </a:cubicBezTo>
                  <a:cubicBezTo>
                    <a:pt x="45" y="0"/>
                    <a:pt x="0" y="34"/>
                    <a:pt x="25" y="74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14" name="Oval 94"/>
            <p:cNvSpPr>
              <a:spLocks noChangeArrowheads="1"/>
            </p:cNvSpPr>
            <p:nvPr/>
          </p:nvSpPr>
          <p:spPr bwMode="auto">
            <a:xfrm>
              <a:off x="4014" y="4116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15" name="Line 95"/>
            <p:cNvSpPr>
              <a:spLocks noChangeShapeType="1"/>
            </p:cNvSpPr>
            <p:nvPr/>
          </p:nvSpPr>
          <p:spPr bwMode="auto">
            <a:xfrm flipV="1">
              <a:off x="4094" y="4119"/>
              <a:ext cx="73" cy="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16" name="Line 96"/>
            <p:cNvSpPr>
              <a:spLocks noChangeShapeType="1"/>
            </p:cNvSpPr>
            <p:nvPr/>
          </p:nvSpPr>
          <p:spPr bwMode="auto">
            <a:xfrm>
              <a:off x="4215" y="3931"/>
              <a:ext cx="76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17" name="Oval 97"/>
            <p:cNvSpPr>
              <a:spLocks noChangeArrowheads="1"/>
            </p:cNvSpPr>
            <p:nvPr/>
          </p:nvSpPr>
          <p:spPr bwMode="auto">
            <a:xfrm>
              <a:off x="4062" y="3826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18" name="Line 98"/>
            <p:cNvSpPr>
              <a:spLocks noChangeShapeType="1"/>
            </p:cNvSpPr>
            <p:nvPr/>
          </p:nvSpPr>
          <p:spPr bwMode="auto">
            <a:xfrm flipV="1">
              <a:off x="4143" y="3793"/>
              <a:ext cx="44" cy="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19" name="Line 99"/>
            <p:cNvSpPr>
              <a:spLocks noChangeShapeType="1"/>
            </p:cNvSpPr>
            <p:nvPr/>
          </p:nvSpPr>
          <p:spPr bwMode="auto">
            <a:xfrm>
              <a:off x="4207" y="4123"/>
              <a:ext cx="64" cy="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20" name="Oval 100"/>
            <p:cNvSpPr>
              <a:spLocks noChangeArrowheads="1"/>
            </p:cNvSpPr>
            <p:nvPr/>
          </p:nvSpPr>
          <p:spPr bwMode="auto">
            <a:xfrm>
              <a:off x="4259" y="4112"/>
              <a:ext cx="86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21" name="Oval 101"/>
            <p:cNvSpPr>
              <a:spLocks noChangeArrowheads="1"/>
            </p:cNvSpPr>
            <p:nvPr/>
          </p:nvSpPr>
          <p:spPr bwMode="auto">
            <a:xfrm>
              <a:off x="4275" y="3912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22" name="Line 102"/>
            <p:cNvSpPr>
              <a:spLocks noChangeShapeType="1"/>
            </p:cNvSpPr>
            <p:nvPr/>
          </p:nvSpPr>
          <p:spPr bwMode="auto">
            <a:xfrm>
              <a:off x="4303" y="3701"/>
              <a:ext cx="76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23" name="Oval 103"/>
            <p:cNvSpPr>
              <a:spLocks noChangeArrowheads="1"/>
            </p:cNvSpPr>
            <p:nvPr/>
          </p:nvSpPr>
          <p:spPr bwMode="auto">
            <a:xfrm>
              <a:off x="4363" y="3683"/>
              <a:ext cx="85" cy="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DNA Probes</a:t>
            </a:r>
          </a:p>
        </p:txBody>
      </p:sp>
      <p:pic>
        <p:nvPicPr>
          <p:cNvPr id="251907" name="Picture 3" descr="ethbr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286000"/>
            <a:ext cx="2074863" cy="1795463"/>
          </a:xfrm>
          <a:prstGeom prst="rect">
            <a:avLst/>
          </a:prstGeom>
          <a:noFill/>
        </p:spPr>
      </p:pic>
      <p:sp>
        <p:nvSpPr>
          <p:cNvPr id="251908" name="Rectangle 4"/>
          <p:cNvSpPr>
            <a:spLocks noChangeArrowheads="1"/>
          </p:cNvSpPr>
          <p:nvPr/>
        </p:nvSpPr>
        <p:spPr bwMode="auto">
          <a:xfrm>
            <a:off x="1066800" y="4419600"/>
            <a:ext cx="27019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Ethidium Bromide</a:t>
            </a:r>
          </a:p>
          <a:p>
            <a:r>
              <a:rPr lang="en-US" sz="2000"/>
              <a:t>~30 fold enhancement</a:t>
            </a:r>
          </a:p>
        </p:txBody>
      </p:sp>
      <p:pic>
        <p:nvPicPr>
          <p:cNvPr id="251909" name="Picture 5" descr="DAP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9600" y="2362200"/>
            <a:ext cx="3829050" cy="1209675"/>
          </a:xfrm>
          <a:prstGeom prst="rect">
            <a:avLst/>
          </a:prstGeom>
          <a:noFill/>
        </p:spPr>
      </p:pic>
      <p:sp>
        <p:nvSpPr>
          <p:cNvPr id="251910" name="Rectangle 6"/>
          <p:cNvSpPr>
            <a:spLocks noChangeArrowheads="1"/>
          </p:cNvSpPr>
          <p:nvPr/>
        </p:nvSpPr>
        <p:spPr bwMode="auto">
          <a:xfrm>
            <a:off x="5410200" y="4038600"/>
            <a:ext cx="270192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DAPI</a:t>
            </a:r>
          </a:p>
          <a:p>
            <a:r>
              <a:rPr lang="en-US" sz="2000"/>
              <a:t>Hoechst 33258</a:t>
            </a:r>
          </a:p>
          <a:p>
            <a:r>
              <a:rPr lang="en-US" sz="2000"/>
              <a:t>Hoechst 33342</a:t>
            </a:r>
          </a:p>
          <a:p>
            <a:r>
              <a:rPr lang="en-US" sz="2000"/>
              <a:t>~20 fold enhancement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533400"/>
          </a:xfrm>
        </p:spPr>
        <p:txBody>
          <a:bodyPr/>
          <a:lstStyle/>
          <a:p>
            <a:r>
              <a:rPr lang="en-US"/>
              <a:t>Other probes</a:t>
            </a:r>
          </a:p>
        </p:txBody>
      </p:sp>
      <p:pic>
        <p:nvPicPr>
          <p:cNvPr id="3082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" y="1524000"/>
            <a:ext cx="501967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8229" name="Rectangle 5"/>
          <p:cNvSpPr>
            <a:spLocks noChangeArrowheads="1"/>
          </p:cNvSpPr>
          <p:nvPr/>
        </p:nvSpPr>
        <p:spPr bwMode="auto">
          <a:xfrm>
            <a:off x="647700" y="1447800"/>
            <a:ext cx="3295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/>
              <a:t>ER-Tracker™ Blue-White DPX</a:t>
            </a:r>
          </a:p>
          <a:p>
            <a:endParaRPr lang="en-US"/>
          </a:p>
        </p:txBody>
      </p:sp>
      <p:pic>
        <p:nvPicPr>
          <p:cNvPr id="3082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0" y="3200400"/>
            <a:ext cx="25050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8231" name="Rectangle 7"/>
          <p:cNvSpPr>
            <a:spLocks noChangeArrowheads="1"/>
          </p:cNvSpPr>
          <p:nvPr/>
        </p:nvSpPr>
        <p:spPr bwMode="auto">
          <a:xfrm>
            <a:off x="723900" y="2819400"/>
            <a:ext cx="291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/>
              <a:t>MitoTracker Red CMXRos </a:t>
            </a:r>
          </a:p>
        </p:txBody>
      </p:sp>
      <p:pic>
        <p:nvPicPr>
          <p:cNvPr id="308232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95700" y="2667000"/>
            <a:ext cx="445770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8233" name="Text Box 9"/>
          <p:cNvSpPr txBox="1">
            <a:spLocks noChangeArrowheads="1"/>
          </p:cNvSpPr>
          <p:nvPr/>
        </p:nvSpPr>
        <p:spPr bwMode="auto">
          <a:xfrm>
            <a:off x="517525" y="6132513"/>
            <a:ext cx="675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Probes for Golgi, lysosomes, and peroxisomes are also available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Small molecules – pros / cons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1000s available – huge spectral range</a:t>
            </a:r>
          </a:p>
          <a:p>
            <a:r>
              <a:rPr lang="en-US"/>
              <a:t>Easy to acquire</a:t>
            </a:r>
          </a:p>
          <a:p>
            <a:r>
              <a:rPr lang="en-US"/>
              <a:t>Precisely tailored properties, including environmental sensitivity</a:t>
            </a:r>
          </a:p>
          <a:p>
            <a:endParaRPr lang="en-US"/>
          </a:p>
          <a:p>
            <a:r>
              <a:rPr lang="en-US"/>
              <a:t>Require fixing and staining, which can lead to artifacts</a:t>
            </a:r>
          </a:p>
          <a:p>
            <a:r>
              <a:rPr lang="en-US"/>
              <a:t>Potential self-quenching and environmental sensitivity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dots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143000"/>
          </a:xfrm>
        </p:spPr>
        <p:txBody>
          <a:bodyPr/>
          <a:lstStyle/>
          <a:p>
            <a:r>
              <a:rPr lang="en-US"/>
              <a:t>“Artificial atoms” composed of small semiconductior nanocrystals</a:t>
            </a:r>
          </a:p>
        </p:txBody>
      </p:sp>
      <p:pic>
        <p:nvPicPr>
          <p:cNvPr id="2846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57550" y="3657600"/>
            <a:ext cx="268605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Quantum dots - spectra</a:t>
            </a:r>
          </a:p>
        </p:txBody>
      </p:sp>
      <p:pic>
        <p:nvPicPr>
          <p:cNvPr id="286748" name="Picture 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752600"/>
            <a:ext cx="8501063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dots – pros / cons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Little to no </a:t>
            </a:r>
            <a:r>
              <a:rPr lang="en-US" dirty="0" err="1"/>
              <a:t>photobleaching</a:t>
            </a:r>
            <a:endParaRPr lang="en-US" dirty="0"/>
          </a:p>
          <a:p>
            <a:r>
              <a:rPr lang="en-US" dirty="0"/>
              <a:t>Very bright</a:t>
            </a:r>
          </a:p>
          <a:p>
            <a:r>
              <a:rPr lang="en-US" dirty="0"/>
              <a:t>Can use single excitation wavelength for multiple dyes</a:t>
            </a:r>
          </a:p>
          <a:p>
            <a:r>
              <a:rPr lang="en-US" dirty="0"/>
              <a:t>Narrow emission spectra</a:t>
            </a:r>
          </a:p>
          <a:p>
            <a:endParaRPr lang="en-US" dirty="0"/>
          </a:p>
          <a:p>
            <a:r>
              <a:rPr lang="en-US" dirty="0"/>
              <a:t>Large compared to small molecule dyes</a:t>
            </a:r>
          </a:p>
          <a:p>
            <a:r>
              <a:rPr lang="en-US" dirty="0"/>
              <a:t>Single quantum dots </a:t>
            </a:r>
            <a:r>
              <a:rPr lang="en-US" dirty="0" smtClean="0"/>
              <a:t>blink</a:t>
            </a:r>
          </a:p>
          <a:p>
            <a:r>
              <a:rPr lang="en-US" dirty="0" smtClean="0"/>
              <a:t>Problems with non-specific binding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524000"/>
          </a:xfrm>
        </p:spPr>
        <p:txBody>
          <a:bodyPr/>
          <a:lstStyle/>
          <a:p>
            <a:r>
              <a:rPr lang="en-US" dirty="0" smtClean="0"/>
              <a:t>Lanthanides: Atomic phosphors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Phosphorescence from atomic 4f transitions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2133600"/>
            <a:ext cx="2880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Organic dye antennas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953000" y="2133600"/>
            <a:ext cx="31540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Inorganic (</a:t>
            </a:r>
            <a:r>
              <a:rPr lang="en-US" sz="2400" dirty="0" err="1" smtClean="0"/>
              <a:t>nano</a:t>
            </a:r>
            <a:r>
              <a:rPr lang="en-US" sz="2400" dirty="0" smtClean="0"/>
              <a:t>)crystals</a:t>
            </a:r>
          </a:p>
          <a:p>
            <a:endParaRPr lang="en-US" sz="2400" dirty="0" smtClean="0"/>
          </a:p>
          <a:p>
            <a:r>
              <a:rPr lang="en-US" sz="2400" dirty="0" smtClean="0"/>
              <a:t>Eu:YVO</a:t>
            </a:r>
            <a:r>
              <a:rPr lang="en-US" sz="2400" baseline="-25000" dirty="0" smtClean="0"/>
              <a:t>4</a:t>
            </a:r>
          </a:p>
          <a:p>
            <a:r>
              <a:rPr lang="en-US" sz="2400" dirty="0" smtClean="0"/>
              <a:t>Eu:Y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</a:t>
            </a:r>
            <a:r>
              <a:rPr lang="en-US" sz="2400" baseline="-25000" dirty="0" smtClean="0"/>
              <a:t>3</a:t>
            </a:r>
            <a:endParaRPr lang="en-US" sz="2400" baseline="-250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2" y="5257801"/>
            <a:ext cx="663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VO</a:t>
            </a:r>
            <a:r>
              <a:rPr lang="en-US" sz="2400" baseline="-25000" dirty="0" smtClean="0"/>
              <a:t>4</a:t>
            </a:r>
            <a:endParaRPr lang="en-US" sz="2400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6705602" y="5257801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Eu</a:t>
            </a:r>
            <a:endParaRPr lang="en-US" sz="2400" baseline="-25000" dirty="0"/>
          </a:p>
        </p:txBody>
      </p:sp>
      <p:sp>
        <p:nvSpPr>
          <p:cNvPr id="11" name="Right Arrow 10"/>
          <p:cNvSpPr/>
          <p:nvPr/>
        </p:nvSpPr>
        <p:spPr>
          <a:xfrm>
            <a:off x="6172202" y="5374333"/>
            <a:ext cx="533400" cy="22860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35"/>
          <p:cNvSpPr>
            <a:spLocks/>
          </p:cNvSpPr>
          <p:nvPr/>
        </p:nvSpPr>
        <p:spPr bwMode="auto">
          <a:xfrm rot="1596976">
            <a:off x="7156564" y="5725218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Freeform 35"/>
          <p:cNvSpPr>
            <a:spLocks/>
          </p:cNvSpPr>
          <p:nvPr/>
        </p:nvSpPr>
        <p:spPr bwMode="auto">
          <a:xfrm rot="1596976">
            <a:off x="4870566" y="5039419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rgbClr val="0070C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124200"/>
            <a:ext cx="3028950" cy="207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Freeform 35"/>
          <p:cNvSpPr>
            <a:spLocks/>
          </p:cNvSpPr>
          <p:nvPr/>
        </p:nvSpPr>
        <p:spPr bwMode="auto">
          <a:xfrm rot="8328383" flipV="1">
            <a:off x="3228538" y="3284745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rgbClr val="0070C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9980619">
            <a:off x="2233252" y="4059698"/>
            <a:ext cx="533400" cy="22860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35"/>
          <p:cNvSpPr>
            <a:spLocks/>
          </p:cNvSpPr>
          <p:nvPr/>
        </p:nvSpPr>
        <p:spPr bwMode="auto">
          <a:xfrm rot="8195691" flipV="1">
            <a:off x="692911" y="4754018"/>
            <a:ext cx="7620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288" y="0"/>
              </a:cxn>
              <a:cxn ang="0">
                <a:pos x="384" y="96"/>
              </a:cxn>
              <a:cxn ang="0">
                <a:pos x="480" y="0"/>
              </a:cxn>
              <a:cxn ang="0">
                <a:pos x="576" y="96"/>
              </a:cxn>
            </a:cxnLst>
            <a:rect l="0" t="0" r="r" b="b"/>
            <a:pathLst>
              <a:path w="576" h="96">
                <a:moveTo>
                  <a:pt x="0" y="96"/>
                </a:moveTo>
                <a:cubicBezTo>
                  <a:pt x="16" y="80"/>
                  <a:pt x="64" y="0"/>
                  <a:pt x="96" y="0"/>
                </a:cubicBezTo>
                <a:cubicBezTo>
                  <a:pt x="128" y="0"/>
                  <a:pt x="160" y="96"/>
                  <a:pt x="192" y="96"/>
                </a:cubicBezTo>
                <a:cubicBezTo>
                  <a:pt x="224" y="96"/>
                  <a:pt x="256" y="0"/>
                  <a:pt x="288" y="0"/>
                </a:cubicBezTo>
                <a:cubicBezTo>
                  <a:pt x="320" y="0"/>
                  <a:pt x="352" y="96"/>
                  <a:pt x="384" y="96"/>
                </a:cubicBezTo>
                <a:cubicBezTo>
                  <a:pt x="416" y="96"/>
                  <a:pt x="448" y="0"/>
                  <a:pt x="480" y="0"/>
                </a:cubicBezTo>
                <a:cubicBezTo>
                  <a:pt x="512" y="0"/>
                  <a:pt x="556" y="76"/>
                  <a:pt x="576" y="96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 t="14159" r="8496"/>
          <a:stretch>
            <a:fillRect/>
          </a:stretch>
        </p:blipFill>
        <p:spPr bwMode="auto">
          <a:xfrm>
            <a:off x="6324600" y="2719387"/>
            <a:ext cx="2438400" cy="230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Unique lanthanide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Very long lifetime: 100 </a:t>
            </a:r>
            <a:r>
              <a:rPr lang="en-US" dirty="0" smtClean="0">
                <a:latin typeface="Symbol" pitchFamily="18" charset="2"/>
              </a:rPr>
              <a:t>m</a:t>
            </a:r>
            <a:r>
              <a:rPr lang="en-US" dirty="0" smtClean="0"/>
              <a:t>s – 1 ms</a:t>
            </a:r>
          </a:p>
          <a:p>
            <a:r>
              <a:rPr lang="en-US" dirty="0" smtClean="0"/>
              <a:t>Very narrow emission lines</a:t>
            </a:r>
          </a:p>
          <a:p>
            <a:r>
              <a:rPr lang="en-US" dirty="0" smtClean="0"/>
              <a:t>Can change wavelength by changing lanthanide</a:t>
            </a:r>
          </a:p>
          <a:p>
            <a:r>
              <a:rPr lang="en-US" dirty="0" smtClean="0"/>
              <a:t>No </a:t>
            </a:r>
            <a:r>
              <a:rPr lang="en-US" dirty="0" err="1" smtClean="0"/>
              <a:t>photobleaching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Uses: </a:t>
            </a:r>
          </a:p>
          <a:p>
            <a:r>
              <a:rPr lang="en-US" dirty="0" smtClean="0"/>
              <a:t>Time resolved luminescence</a:t>
            </a:r>
          </a:p>
          <a:p>
            <a:r>
              <a:rPr lang="en-US" dirty="0" smtClean="0"/>
              <a:t>Lanthanide phosphors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6Ln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8772" y="958346"/>
            <a:ext cx="5612628" cy="57033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20762"/>
          </a:xfrm>
        </p:spPr>
        <p:txBody>
          <a:bodyPr/>
          <a:lstStyle/>
          <a:p>
            <a:r>
              <a:rPr lang="en-US" dirty="0" smtClean="0"/>
              <a:t>Lanthanide </a:t>
            </a:r>
            <a:r>
              <a:rPr lang="en-US" dirty="0" err="1" smtClean="0"/>
              <a:t>Nanophosphors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85800" y="304800"/>
            <a:ext cx="7772400" cy="1981200"/>
          </a:xfrm>
        </p:spPr>
        <p:txBody>
          <a:bodyPr/>
          <a:lstStyle/>
          <a:p>
            <a:r>
              <a:rPr lang="en-US" dirty="0" smtClean="0"/>
              <a:t>Fluorescent Proteins and Genetically Encoded Tags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See </a:t>
            </a:r>
            <a:r>
              <a:rPr lang="en-US" dirty="0" smtClean="0"/>
              <a:t>next lecture</a:t>
            </a:r>
            <a:r>
              <a:rPr lang="en-US" dirty="0" smtClean="0"/>
              <a:t>!</a:t>
            </a:r>
            <a:endParaRPr lang="en-US" dirty="0"/>
          </a:p>
        </p:txBody>
      </p:sp>
      <p:pic>
        <p:nvPicPr>
          <p:cNvPr id="260101" name="Picture 5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838200" y="3033713"/>
            <a:ext cx="3289300" cy="2187575"/>
          </a:xfrm>
          <a:noFill/>
          <a:ln/>
        </p:spPr>
      </p:pic>
      <p:sp>
        <p:nvSpPr>
          <p:cNvPr id="260103" name="Text Box 7"/>
          <p:cNvSpPr txBox="1">
            <a:spLocks noChangeArrowheads="1"/>
          </p:cNvSpPr>
          <p:nvPr/>
        </p:nvSpPr>
        <p:spPr bwMode="auto">
          <a:xfrm>
            <a:off x="838200" y="4953000"/>
            <a:ext cx="1187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i="1"/>
              <a:t>A. sulcata</a:t>
            </a:r>
          </a:p>
        </p:txBody>
      </p:sp>
      <p:pic>
        <p:nvPicPr>
          <p:cNvPr id="15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800600" y="2500313"/>
            <a:ext cx="3814763" cy="3671887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533400" y="1143000"/>
            <a:ext cx="8229600" cy="392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/>
              <a:t>www.microscopyu.com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/>
              <a:t>micro.magnet.fsu.edu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>
                <a:hlinkClick r:id="rId3"/>
              </a:rPr>
              <a:t>www.chroma.com</a:t>
            </a:r>
            <a:r>
              <a:rPr lang="en-US" sz="2400"/>
              <a:t>	(esp. their handbook on filter design)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/>
              <a:t>www.probes.com	 (esp. their handbook/catalog)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/>
              <a:t>Douglas B. Murphy “Fundamentals of Light Microscopy and Electronic Imaging”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/>
              <a:t>James Pawley, Ed. “Handbook of Biological Confocal Microscopy, 3rd ed.”</a:t>
            </a:r>
          </a:p>
        </p:txBody>
      </p:sp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2438400" y="5257800"/>
            <a:ext cx="4191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800"/>
              <a:t>Acknowledgements</a:t>
            </a:r>
          </a:p>
        </p:txBody>
      </p:sp>
      <p:sp>
        <p:nvSpPr>
          <p:cNvPr id="145413" name="Text Box 5"/>
          <p:cNvSpPr txBox="1">
            <a:spLocks noChangeArrowheads="1"/>
          </p:cNvSpPr>
          <p:nvPr/>
        </p:nvSpPr>
        <p:spPr bwMode="auto">
          <a:xfrm>
            <a:off x="609600" y="6096000"/>
            <a:ext cx="769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dirty="0" err="1"/>
              <a:t>Nico</a:t>
            </a:r>
            <a:r>
              <a:rPr lang="en-US" sz="2400" dirty="0"/>
              <a:t> </a:t>
            </a:r>
            <a:r>
              <a:rPr lang="en-US" sz="2400" dirty="0" err="1"/>
              <a:t>Stuurman</a:t>
            </a:r>
            <a:r>
              <a:rPr lang="en-US" sz="2400" dirty="0"/>
              <a:t> / Mats </a:t>
            </a:r>
            <a:r>
              <a:rPr lang="en-US" sz="2400" dirty="0" err="1" smtClean="0"/>
              <a:t>Gustafsson</a:t>
            </a:r>
            <a:r>
              <a:rPr lang="en-US" sz="2400" dirty="0" smtClean="0"/>
              <a:t> / </a:t>
            </a:r>
            <a:r>
              <a:rPr lang="en-US" sz="2400" smtClean="0"/>
              <a:t>Mike Davidson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ヒラギノ角ゴ Pro W3"/>
        <a:cs typeface=""/>
      </a:majorFont>
      <a:minorFont>
        <a:latin typeface="Arial"/>
        <a:ea typeface="ヒラギノ角ゴ Pro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8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8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F48B00"/>
        </a:dk1>
        <a:lt1>
          <a:srgbClr val="FFFF00"/>
        </a:lt1>
        <a:dk2>
          <a:srgbClr val="070B49"/>
        </a:dk2>
        <a:lt2>
          <a:srgbClr val="FFFF00"/>
        </a:lt2>
        <a:accent1>
          <a:srgbClr val="BBE0E3"/>
        </a:accent1>
        <a:accent2>
          <a:srgbClr val="333399"/>
        </a:accent2>
        <a:accent3>
          <a:srgbClr val="AAAAB1"/>
        </a:accent3>
        <a:accent4>
          <a:srgbClr val="DAD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30821</TotalTime>
  <Words>862</Words>
  <Application>Microsoft Office PowerPoint</Application>
  <PresentationFormat>On-screen Show (4:3)</PresentationFormat>
  <Paragraphs>313</Paragraphs>
  <Slides>39</Slides>
  <Notes>31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Blank Presentation</vt:lpstr>
      <vt:lpstr>Image</vt:lpstr>
      <vt:lpstr>Equation</vt:lpstr>
      <vt:lpstr>Chart</vt:lpstr>
      <vt:lpstr>Fluorescence Microscopy: Small Molecule Probes  Kurt Thorn NIC</vt:lpstr>
      <vt:lpstr>What is fluorescence?</vt:lpstr>
      <vt:lpstr>Slide 3</vt:lpstr>
      <vt:lpstr>Slide 4</vt:lpstr>
      <vt:lpstr>Slide 5</vt:lpstr>
      <vt:lpstr>Slide 6</vt:lpstr>
      <vt:lpstr>Fluorescence Spectra</vt:lpstr>
      <vt:lpstr>Fluorophore saturation</vt:lpstr>
      <vt:lpstr>Slide 9</vt:lpstr>
      <vt:lpstr>Slide 10</vt:lpstr>
      <vt:lpstr>Parameters for some common fluorophores</vt:lpstr>
      <vt:lpstr>Slide 12</vt:lpstr>
      <vt:lpstr>Commercial Dye Series</vt:lpstr>
      <vt:lpstr>Alexa Fluors</vt:lpstr>
      <vt:lpstr>Slide 15</vt:lpstr>
      <vt:lpstr>Slide 16</vt:lpstr>
      <vt:lpstr>Slide 17</vt:lpstr>
      <vt:lpstr>Slide 18</vt:lpstr>
      <vt:lpstr>Slide 19</vt:lpstr>
      <vt:lpstr>Slide 20</vt:lpstr>
      <vt:lpstr>Effect of mounting medium on FITC bleaching</vt:lpstr>
      <vt:lpstr>Effect of mounting media on Alexa bleaching</vt:lpstr>
      <vt:lpstr>Factors affecting overall brightness</vt:lpstr>
      <vt:lpstr>pH dependence of dyes</vt:lpstr>
      <vt:lpstr>Environmental Dependence: Nile red</vt:lpstr>
      <vt:lpstr>Environmental Dependence: Nile Red  C. elegans staining with Nile Red and BODIPY-fatty acid (Kevin Jones, Ashrafi lab)</vt:lpstr>
      <vt:lpstr>Fluorescent dyes in Biology</vt:lpstr>
      <vt:lpstr>Slide 28</vt:lpstr>
      <vt:lpstr>DNA Probes</vt:lpstr>
      <vt:lpstr>Other probes</vt:lpstr>
      <vt:lpstr>Small molecules – pros / cons</vt:lpstr>
      <vt:lpstr>Quantum dots</vt:lpstr>
      <vt:lpstr>Quantum dots - spectra</vt:lpstr>
      <vt:lpstr>Quantum dots – pros / cons</vt:lpstr>
      <vt:lpstr>Lanthanides: Atomic phosphors  Phosphorescence from atomic 4f transitions</vt:lpstr>
      <vt:lpstr>Unique lanthanide properties</vt:lpstr>
      <vt:lpstr>Lanthanide Nanophosphors</vt:lpstr>
      <vt:lpstr>Fluorescent Proteins and Genetically Encoded Tags  See next lecture!</vt:lpstr>
      <vt:lpstr>Resources</vt:lpstr>
    </vt:vector>
  </TitlesOfParts>
  <Company>UCSF/HHMI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Fluorescence in Cell Biology</dc:title>
  <dc:creator>Nico Stuurman</dc:creator>
  <cp:lastModifiedBy>Kurt Thorn</cp:lastModifiedBy>
  <cp:revision>174</cp:revision>
  <cp:lastPrinted>2004-06-06T00:28:19Z</cp:lastPrinted>
  <dcterms:created xsi:type="dcterms:W3CDTF">2004-06-05T23:10:18Z</dcterms:created>
  <dcterms:modified xsi:type="dcterms:W3CDTF">2013-04-21T21:55:39Z</dcterms:modified>
</cp:coreProperties>
</file>