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54"/>
  </p:notesMasterIdLst>
  <p:sldIdLst>
    <p:sldId id="549" r:id="rId2"/>
    <p:sldId id="588" r:id="rId3"/>
    <p:sldId id="589" r:id="rId4"/>
    <p:sldId id="590" r:id="rId5"/>
    <p:sldId id="591" r:id="rId6"/>
    <p:sldId id="592" r:id="rId7"/>
    <p:sldId id="582" r:id="rId8"/>
    <p:sldId id="559" r:id="rId9"/>
    <p:sldId id="560" r:id="rId10"/>
    <p:sldId id="594" r:id="rId11"/>
    <p:sldId id="580" r:id="rId12"/>
    <p:sldId id="524" r:id="rId13"/>
    <p:sldId id="525" r:id="rId14"/>
    <p:sldId id="522" r:id="rId15"/>
    <p:sldId id="523" r:id="rId16"/>
    <p:sldId id="562" r:id="rId17"/>
    <p:sldId id="563" r:id="rId18"/>
    <p:sldId id="565" r:id="rId19"/>
    <p:sldId id="595" r:id="rId20"/>
    <p:sldId id="596" r:id="rId21"/>
    <p:sldId id="518" r:id="rId22"/>
    <p:sldId id="570" r:id="rId23"/>
    <p:sldId id="526" r:id="rId24"/>
    <p:sldId id="572" r:id="rId25"/>
    <p:sldId id="573" r:id="rId26"/>
    <p:sldId id="574" r:id="rId27"/>
    <p:sldId id="519" r:id="rId28"/>
    <p:sldId id="531" r:id="rId29"/>
    <p:sldId id="616" r:id="rId30"/>
    <p:sldId id="617" r:id="rId31"/>
    <p:sldId id="534" r:id="rId32"/>
    <p:sldId id="575" r:id="rId33"/>
    <p:sldId id="618" r:id="rId34"/>
    <p:sldId id="579" r:id="rId35"/>
    <p:sldId id="597" r:id="rId36"/>
    <p:sldId id="598" r:id="rId37"/>
    <p:sldId id="599" r:id="rId38"/>
    <p:sldId id="600" r:id="rId39"/>
    <p:sldId id="601" r:id="rId40"/>
    <p:sldId id="602" r:id="rId41"/>
    <p:sldId id="603" r:id="rId42"/>
    <p:sldId id="604" r:id="rId43"/>
    <p:sldId id="605" r:id="rId44"/>
    <p:sldId id="606" r:id="rId45"/>
    <p:sldId id="607" r:id="rId46"/>
    <p:sldId id="608" r:id="rId47"/>
    <p:sldId id="609" r:id="rId48"/>
    <p:sldId id="612" r:id="rId49"/>
    <p:sldId id="613" r:id="rId50"/>
    <p:sldId id="614" r:id="rId51"/>
    <p:sldId id="615" r:id="rId52"/>
    <p:sldId id="485" r:id="rId5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FFE0"/>
    <a:srgbClr val="66FFCC"/>
    <a:srgbClr val="00CC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42" autoAdjust="0"/>
    <p:restoredTop sz="94660"/>
  </p:normalViewPr>
  <p:slideViewPr>
    <p:cSldViewPr>
      <p:cViewPr varScale="1">
        <p:scale>
          <a:sx n="111" d="100"/>
          <a:sy n="111" d="100"/>
        </p:scale>
        <p:origin x="-76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/>
          </a:p>
        </p:txBody>
      </p:sp>
      <p:sp>
        <p:nvSpPr>
          <p:cNvPr id="46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6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/>
          </a:p>
        </p:txBody>
      </p:sp>
      <p:sp>
        <p:nvSpPr>
          <p:cNvPr id="46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D8DD8A68-2F37-4844-AF8D-D69507D00CC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9540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8C0E3F-0D15-4F82-B1EB-2B4D76F1AD1B}" type="slidenum">
              <a:rPr lang="en-US"/>
              <a:pPr/>
              <a:t>1</a:t>
            </a:fld>
            <a:endParaRPr lang="en-US"/>
          </a:p>
        </p:txBody>
      </p:sp>
      <p:sp>
        <p:nvSpPr>
          <p:cNvPr id="474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4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20BB77-B3E4-4266-8D5F-3D94FD1F3B21}" type="slidenum">
              <a:rPr lang="en-US"/>
              <a:pPr/>
              <a:t>7</a:t>
            </a:fld>
            <a:endParaRPr lang="en-US"/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4750EA-B269-4156-BC67-6FE854854899}" type="slidenum">
              <a:rPr lang="en-US"/>
              <a:pPr/>
              <a:t>8</a:t>
            </a:fld>
            <a:endParaRPr lang="en-US"/>
          </a:p>
        </p:txBody>
      </p:sp>
      <p:sp>
        <p:nvSpPr>
          <p:cNvPr id="494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4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744903-7689-481B-84E2-18FC14430A0E}" type="slidenum">
              <a:rPr lang="en-US"/>
              <a:pPr/>
              <a:t>9</a:t>
            </a:fld>
            <a:endParaRPr lang="en-US"/>
          </a:p>
        </p:txBody>
      </p:sp>
      <p:sp>
        <p:nvSpPr>
          <p:cNvPr id="496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6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31836C-B273-4E2B-BC21-739FFE2992B3}" type="slidenum">
              <a:rPr lang="en-US"/>
              <a:pPr/>
              <a:t>11</a:t>
            </a:fld>
            <a:endParaRPr lang="en-US"/>
          </a:p>
        </p:txBody>
      </p:sp>
      <p:sp>
        <p:nvSpPr>
          <p:cNvPr id="537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7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CD27FB-0545-4A7C-9E7F-257510D60F11}" type="slidenum">
              <a:rPr lang="en-US"/>
              <a:pPr/>
              <a:t>12</a:t>
            </a:fld>
            <a:endParaRPr lang="en-US"/>
          </a:p>
        </p:txBody>
      </p:sp>
      <p:sp>
        <p:nvSpPr>
          <p:cNvPr id="447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7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87105F-018D-4682-88C3-76AB0660AB98}" type="slidenum">
              <a:rPr lang="en-US"/>
              <a:pPr/>
              <a:t>13</a:t>
            </a:fld>
            <a:endParaRPr lang="en-US"/>
          </a:p>
        </p:txBody>
      </p:sp>
      <p:sp>
        <p:nvSpPr>
          <p:cNvPr id="448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890A35-2107-4197-AA7E-FF1DE4E559DF}" type="slidenum">
              <a:rPr lang="en-US"/>
              <a:pPr/>
              <a:t>14</a:t>
            </a:fld>
            <a:endParaRPr lang="en-US"/>
          </a:p>
        </p:txBody>
      </p:sp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C2D89B-DF18-4DEA-A4F4-F7F2B63B2BBE}" type="slidenum">
              <a:rPr lang="en-US"/>
              <a:pPr/>
              <a:t>15</a:t>
            </a:fld>
            <a:endParaRPr lang="en-US"/>
          </a:p>
        </p:txBody>
      </p:sp>
      <p:sp>
        <p:nvSpPr>
          <p:cNvPr id="446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6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AE8008-E243-4DC9-8B7F-5D6A56143346}" type="slidenum">
              <a:rPr lang="en-US"/>
              <a:pPr/>
              <a:t>16</a:t>
            </a:fld>
            <a:endParaRPr lang="en-US"/>
          </a:p>
        </p:txBody>
      </p:sp>
      <p:sp>
        <p:nvSpPr>
          <p:cNvPr id="500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0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7C82D4C-3E36-4993-9BFB-93589FF2288F}" type="slidenum">
              <a:rPr lang="en-US"/>
              <a:pPr/>
              <a:t>17</a:t>
            </a:fld>
            <a:endParaRPr lang="en-US"/>
          </a:p>
        </p:txBody>
      </p:sp>
      <p:sp>
        <p:nvSpPr>
          <p:cNvPr id="502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2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3584C2-470F-48F6-830D-5BDF52F58976}" type="slidenum">
              <a:rPr lang="en-US"/>
              <a:pPr/>
              <a:t>18</a:t>
            </a:fld>
            <a:endParaRPr lang="en-US"/>
          </a:p>
        </p:txBody>
      </p:sp>
      <p:sp>
        <p:nvSpPr>
          <p:cNvPr id="506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6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F9CB4F-F7F8-4B10-BDA3-C837EADB4572}" type="slidenum">
              <a:rPr lang="en-US"/>
              <a:pPr/>
              <a:t>21</a:t>
            </a:fld>
            <a:endParaRPr lang="en-US"/>
          </a:p>
        </p:txBody>
      </p:sp>
      <p:sp>
        <p:nvSpPr>
          <p:cNvPr id="442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2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5E8E91-D093-464C-958B-F42A089197F5}" type="slidenum">
              <a:rPr lang="en-US"/>
              <a:pPr/>
              <a:t>22</a:t>
            </a:fld>
            <a:endParaRPr lang="en-US"/>
          </a:p>
        </p:txBody>
      </p:sp>
      <p:sp>
        <p:nvSpPr>
          <p:cNvPr id="517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7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D4A648-D597-4F2D-9FD6-127327AE06FE}" type="slidenum">
              <a:rPr lang="en-US"/>
              <a:pPr/>
              <a:t>23</a:t>
            </a:fld>
            <a:endParaRPr lang="en-US"/>
          </a:p>
        </p:txBody>
      </p:sp>
      <p:sp>
        <p:nvSpPr>
          <p:cNvPr id="464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4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4C6451-9540-43EC-8FBE-0F2ADFA74FE7}" type="slidenum">
              <a:rPr lang="en-US"/>
              <a:pPr/>
              <a:t>24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DD3247-65ED-408B-B9D0-F8BD61C9F377}" type="slidenum">
              <a:rPr lang="en-US"/>
              <a:pPr/>
              <a:t>25</a:t>
            </a:fld>
            <a:endParaRPr lang="en-US"/>
          </a:p>
        </p:txBody>
      </p:sp>
      <p:sp>
        <p:nvSpPr>
          <p:cNvPr id="523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3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47EEB7-2F49-4B39-85A1-397A10031A9B}" type="slidenum">
              <a:rPr lang="en-US"/>
              <a:pPr/>
              <a:t>26</a:t>
            </a:fld>
            <a:endParaRPr lang="en-US"/>
          </a:p>
        </p:txBody>
      </p:sp>
      <p:sp>
        <p:nvSpPr>
          <p:cNvPr id="525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5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4E99FB-A0AB-4A21-806E-ACFF51D40FA2}" type="slidenum">
              <a:rPr lang="en-US"/>
              <a:pPr/>
              <a:t>27</a:t>
            </a:fld>
            <a:endParaRPr lang="en-US"/>
          </a:p>
        </p:txBody>
      </p:sp>
      <p:sp>
        <p:nvSpPr>
          <p:cNvPr id="466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6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0FC1D9-7AC5-46BE-B715-2F4C90D454C7}" type="slidenum">
              <a:rPr lang="en-US"/>
              <a:pPr/>
              <a:t>28</a:t>
            </a:fld>
            <a:endParaRPr lang="en-US"/>
          </a:p>
        </p:txBody>
      </p:sp>
      <p:sp>
        <p:nvSpPr>
          <p:cNvPr id="468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8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8C5FF7-D24E-4218-8ED4-34FC50294D8C}" type="slidenum">
              <a:rPr lang="en-US"/>
              <a:pPr/>
              <a:t>29</a:t>
            </a:fld>
            <a:endParaRPr lang="en-US"/>
          </a:p>
        </p:txBody>
      </p:sp>
      <p:sp>
        <p:nvSpPr>
          <p:cNvPr id="470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0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8C5FF7-D24E-4218-8ED4-34FC50294D8C}" type="slidenum">
              <a:rPr lang="en-US"/>
              <a:pPr/>
              <a:t>30</a:t>
            </a:fld>
            <a:endParaRPr lang="en-US"/>
          </a:p>
        </p:txBody>
      </p:sp>
      <p:sp>
        <p:nvSpPr>
          <p:cNvPr id="470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0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9CA9BA-2BBB-468F-B5A7-00D1D9533687}" type="slidenum">
              <a:rPr lang="en-US"/>
              <a:pPr/>
              <a:t>31</a:t>
            </a:fld>
            <a:endParaRPr lang="en-US"/>
          </a:p>
        </p:txBody>
      </p:sp>
      <p:sp>
        <p:nvSpPr>
          <p:cNvPr id="472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2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6C427A-B3ED-4F4C-9444-C26455A129CC}" type="slidenum">
              <a:rPr lang="en-US"/>
              <a:pPr/>
              <a:t>32</a:t>
            </a:fld>
            <a:endParaRPr lang="en-US"/>
          </a:p>
        </p:txBody>
      </p:sp>
      <p:sp>
        <p:nvSpPr>
          <p:cNvPr id="527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7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DD587E-17F6-471A-84D5-14B0BF2F940D}" type="slidenum">
              <a:rPr lang="en-US"/>
              <a:pPr/>
              <a:t>34</a:t>
            </a:fld>
            <a:endParaRPr lang="en-US"/>
          </a:p>
        </p:txBody>
      </p:sp>
      <p:sp>
        <p:nvSpPr>
          <p:cNvPr id="535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5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2F26E1-6076-42CB-A61B-BDCB0F090DBC}" type="slidenum">
              <a:rPr lang="en-US"/>
              <a:pPr/>
              <a:t>52</a:t>
            </a:fld>
            <a:endParaRPr lang="en-US"/>
          </a:p>
        </p:txBody>
      </p:sp>
      <p:sp>
        <p:nvSpPr>
          <p:cNvPr id="350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0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7BF809-DD56-4E50-8B9D-7EA4C2827E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972FF8-6030-4C33-9E20-1EC600389E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D0A5ED-27EB-4298-9402-79666ADB88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1A819A-0765-491C-ACF8-208FB98C35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E090D1-2A66-463B-B200-CF568CDA1E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457C18-4DE3-49A9-BCA6-FF0A4E01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152CDA-3C57-4AE6-B3A7-96C93E98F4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39F0AD-436B-4336-85E8-6FA2109A7C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5E460E-A5E3-4CD3-860F-4A92CAF925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7FF0A3-1742-4720-B2A7-3CD2F67CEC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5943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5943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7AA44B-1395-47B3-A25C-050F024A96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582690D-F12C-40BB-AA74-A7EC309E67F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D07231C-495D-4609-8D86-44304D3D6E9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j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j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7.wmf"/><Relationship Id="rId4" Type="http://schemas.openxmlformats.org/officeDocument/2006/relationships/oleObject" Target="../embeddings/oleObject1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Relationship Id="rId9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image" Target="../media/image57.png"/><Relationship Id="rId7" Type="http://schemas.openxmlformats.org/officeDocument/2006/relationships/image" Target="../media/image8.w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7" Type="http://schemas.openxmlformats.org/officeDocument/2006/relationships/image" Target="../media/image5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7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60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5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12.png"/><Relationship Id="rId7" Type="http://schemas.openxmlformats.org/officeDocument/2006/relationships/image" Target="../media/image58.w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10" Type="http://schemas.openxmlformats.org/officeDocument/2006/relationships/image" Target="../media/image11.wmf"/><Relationship Id="rId4" Type="http://schemas.openxmlformats.org/officeDocument/2006/relationships/image" Target="../media/image6.wmf"/><Relationship Id="rId9" Type="http://schemas.openxmlformats.org/officeDocument/2006/relationships/image" Target="../media/image10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67.w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wmf"/><Relationship Id="rId5" Type="http://schemas.openxmlformats.org/officeDocument/2006/relationships/image" Target="../media/image66.wmf"/><Relationship Id="rId4" Type="http://schemas.openxmlformats.org/officeDocument/2006/relationships/image" Target="../media/image65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0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47813" y="1815711"/>
            <a:ext cx="5673725" cy="4127889"/>
          </a:xfrm>
          <a:prstGeom prst="rect">
            <a:avLst/>
          </a:prstGeom>
          <a:noFill/>
        </p:spPr>
      </p:pic>
      <p:sp>
        <p:nvSpPr>
          <p:cNvPr id="473092" name="Text Box 4"/>
          <p:cNvSpPr txBox="1">
            <a:spLocks noChangeArrowheads="1"/>
          </p:cNvSpPr>
          <p:nvPr/>
        </p:nvSpPr>
        <p:spPr bwMode="auto">
          <a:xfrm>
            <a:off x="5486400" y="6172200"/>
            <a:ext cx="1795724" cy="243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000" b="0" dirty="0">
                <a:solidFill>
                  <a:schemeClr val="folHlink"/>
                </a:solidFill>
                <a:latin typeface="Helvetica" pitchFamily="34" charset="0"/>
              </a:rPr>
              <a:t>(Image: T. </a:t>
            </a:r>
            <a:r>
              <a:rPr lang="en-US" sz="1000" b="0" dirty="0" err="1">
                <a:solidFill>
                  <a:schemeClr val="folHlink"/>
                </a:solidFill>
                <a:latin typeface="Helvetica" pitchFamily="34" charset="0"/>
              </a:rPr>
              <a:t>Wittman</a:t>
            </a:r>
            <a:r>
              <a:rPr lang="en-US" sz="1000" b="0" dirty="0">
                <a:solidFill>
                  <a:schemeClr val="folHlink"/>
                </a:solidFill>
                <a:latin typeface="Helvetica" pitchFamily="34" charset="0"/>
              </a:rPr>
              <a:t>, Scripps)</a:t>
            </a:r>
            <a:endParaRPr lang="en-US" sz="1000" b="0" dirty="0">
              <a:solidFill>
                <a:schemeClr val="folHlink"/>
              </a:solidFill>
              <a:latin typeface="Times" pitchFamily="18" charset="0"/>
            </a:endParaRPr>
          </a:p>
        </p:txBody>
      </p:sp>
      <p:sp>
        <p:nvSpPr>
          <p:cNvPr id="473093" name="Line 5"/>
          <p:cNvSpPr>
            <a:spLocks noChangeShapeType="1"/>
          </p:cNvSpPr>
          <p:nvPr/>
        </p:nvSpPr>
        <p:spPr bwMode="auto">
          <a:xfrm>
            <a:off x="7221538" y="704850"/>
            <a:ext cx="0" cy="422617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3095" name="Rectangle 7"/>
          <p:cNvSpPr>
            <a:spLocks noChangeArrowheads="1"/>
          </p:cNvSpPr>
          <p:nvPr/>
        </p:nvSpPr>
        <p:spPr bwMode="auto">
          <a:xfrm>
            <a:off x="8001000" y="1414463"/>
            <a:ext cx="185738" cy="5062537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3097" name="Rectangle 9"/>
          <p:cNvSpPr>
            <a:spLocks noChangeArrowheads="1"/>
          </p:cNvSpPr>
          <p:nvPr/>
        </p:nvSpPr>
        <p:spPr bwMode="auto">
          <a:xfrm>
            <a:off x="685800" y="282575"/>
            <a:ext cx="7772400" cy="1089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sz="3600" dirty="0" smtClean="0">
                <a:solidFill>
                  <a:srgbClr val="CC00CC"/>
                </a:solidFill>
                <a:latin typeface="Chalkboard" charset="0"/>
              </a:rPr>
              <a:t>Principles &amp; Practice of</a:t>
            </a:r>
          </a:p>
          <a:p>
            <a:pPr algn="ctr" eaLnBrk="0" hangingPunct="0">
              <a:lnSpc>
                <a:spcPct val="90000"/>
              </a:lnSpc>
            </a:pPr>
            <a:r>
              <a:rPr lang="en-US" sz="3600" dirty="0" smtClean="0">
                <a:solidFill>
                  <a:srgbClr val="CC00CC"/>
                </a:solidFill>
                <a:latin typeface="Chalkboard" charset="0"/>
              </a:rPr>
              <a:t>Light Microscopy: 2</a:t>
            </a:r>
            <a:endParaRPr lang="en-US" sz="3600" dirty="0">
              <a:solidFill>
                <a:srgbClr val="CC00CC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3246438" y="1900238"/>
            <a:ext cx="118427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Tube lens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854075" y="4554538"/>
            <a:ext cx="2927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halkboard" charset="0"/>
              </a:rPr>
              <a:t>Back focal plane aperture</a:t>
            </a:r>
          </a:p>
        </p:txBody>
      </p:sp>
      <p:sp>
        <p:nvSpPr>
          <p:cNvPr id="19461" name="Freeform 5"/>
          <p:cNvSpPr>
            <a:spLocks/>
          </p:cNvSpPr>
          <p:nvPr/>
        </p:nvSpPr>
        <p:spPr bwMode="auto">
          <a:xfrm rot="-10800000">
            <a:off x="1666875" y="2584450"/>
            <a:ext cx="307975" cy="12223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2" name="Freeform 6"/>
          <p:cNvSpPr>
            <a:spLocks/>
          </p:cNvSpPr>
          <p:nvPr/>
        </p:nvSpPr>
        <p:spPr bwMode="auto">
          <a:xfrm flipV="1">
            <a:off x="3581400" y="2278063"/>
            <a:ext cx="246063" cy="185102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 rot="5400000">
            <a:off x="2012950" y="4338638"/>
            <a:ext cx="612775" cy="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 rot="5400000">
            <a:off x="1983581" y="2672557"/>
            <a:ext cx="65881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5" name="Line 9"/>
          <p:cNvSpPr>
            <a:spLocks noChangeShapeType="1"/>
          </p:cNvSpPr>
          <p:nvPr/>
        </p:nvSpPr>
        <p:spPr bwMode="auto">
          <a:xfrm rot="5400000">
            <a:off x="1979613" y="3716338"/>
            <a:ext cx="6667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6" name="Freeform 10"/>
          <p:cNvSpPr>
            <a:spLocks/>
          </p:cNvSpPr>
          <p:nvPr/>
        </p:nvSpPr>
        <p:spPr bwMode="auto">
          <a:xfrm>
            <a:off x="1682750" y="2343150"/>
            <a:ext cx="895350" cy="1144588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7" name="Freeform 11"/>
          <p:cNvSpPr>
            <a:spLocks/>
          </p:cNvSpPr>
          <p:nvPr/>
        </p:nvSpPr>
        <p:spPr bwMode="auto">
          <a:xfrm flipV="1">
            <a:off x="1682750" y="2901950"/>
            <a:ext cx="895350" cy="1146175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8" name="Rectangle 12"/>
          <p:cNvSpPr>
            <a:spLocks noChangeArrowheads="1"/>
          </p:cNvSpPr>
          <p:nvPr/>
        </p:nvSpPr>
        <p:spPr bwMode="auto">
          <a:xfrm>
            <a:off x="4584700" y="1712913"/>
            <a:ext cx="1546225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800">
                <a:solidFill>
                  <a:srgbClr val="FF0000"/>
                </a:solidFill>
                <a:latin typeface="Chalkboard" charset="0"/>
              </a:rPr>
              <a:t>Intermediate image plane</a:t>
            </a:r>
          </a:p>
        </p:txBody>
      </p:sp>
      <p:sp>
        <p:nvSpPr>
          <p:cNvPr id="19469" name="Line 13"/>
          <p:cNvSpPr>
            <a:spLocks noChangeShapeType="1"/>
          </p:cNvSpPr>
          <p:nvPr/>
        </p:nvSpPr>
        <p:spPr bwMode="auto">
          <a:xfrm>
            <a:off x="1235075" y="3197225"/>
            <a:ext cx="44354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70" name="Line 14"/>
          <p:cNvSpPr>
            <a:spLocks noChangeShapeType="1"/>
          </p:cNvSpPr>
          <p:nvPr/>
        </p:nvSpPr>
        <p:spPr bwMode="auto">
          <a:xfrm rot="5400000">
            <a:off x="851694" y="3205957"/>
            <a:ext cx="681037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71" name="Rectangle 15"/>
          <p:cNvSpPr>
            <a:spLocks noChangeArrowheads="1"/>
          </p:cNvSpPr>
          <p:nvPr/>
        </p:nvSpPr>
        <p:spPr bwMode="auto">
          <a:xfrm>
            <a:off x="5684838" y="3140075"/>
            <a:ext cx="127000" cy="160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72" name="Line 16"/>
          <p:cNvSpPr>
            <a:spLocks noChangeShapeType="1"/>
          </p:cNvSpPr>
          <p:nvPr/>
        </p:nvSpPr>
        <p:spPr bwMode="auto">
          <a:xfrm rot="5400000" flipV="1">
            <a:off x="5242719" y="2693194"/>
            <a:ext cx="881063" cy="9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1196975" y="3044825"/>
            <a:ext cx="4508500" cy="307975"/>
            <a:chOff x="1731" y="1502"/>
            <a:chExt cx="2840" cy="434"/>
          </a:xfrm>
        </p:grpSpPr>
        <p:sp>
          <p:nvSpPr>
            <p:cNvPr id="19474" name="Freeform 18"/>
            <p:cNvSpPr>
              <a:spLocks/>
            </p:cNvSpPr>
            <p:nvPr/>
          </p:nvSpPr>
          <p:spPr bwMode="auto">
            <a:xfrm>
              <a:off x="1754" y="1502"/>
              <a:ext cx="2817" cy="215"/>
            </a:xfrm>
            <a:custGeom>
              <a:avLst/>
              <a:gdLst/>
              <a:ahLst/>
              <a:cxnLst>
                <a:cxn ang="0">
                  <a:pos x="0" y="207"/>
                </a:cxn>
                <a:cxn ang="0">
                  <a:pos x="317" y="0"/>
                </a:cxn>
                <a:cxn ang="0">
                  <a:pos x="1579" y="2"/>
                </a:cxn>
                <a:cxn ang="0">
                  <a:pos x="2817" y="215"/>
                </a:cxn>
              </a:cxnLst>
              <a:rect l="0" t="0" r="r" b="b"/>
              <a:pathLst>
                <a:path w="2817" h="215">
                  <a:moveTo>
                    <a:pt x="0" y="207"/>
                  </a:moveTo>
                  <a:lnTo>
                    <a:pt x="317" y="0"/>
                  </a:lnTo>
                  <a:lnTo>
                    <a:pt x="1579" y="2"/>
                  </a:lnTo>
                  <a:lnTo>
                    <a:pt x="2817" y="215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5" name="Freeform 19"/>
            <p:cNvSpPr>
              <a:spLocks/>
            </p:cNvSpPr>
            <p:nvPr/>
          </p:nvSpPr>
          <p:spPr bwMode="auto">
            <a:xfrm>
              <a:off x="1731" y="1709"/>
              <a:ext cx="2813" cy="2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1" y="216"/>
                </a:cxn>
                <a:cxn ang="0">
                  <a:pos x="1592" y="227"/>
                </a:cxn>
                <a:cxn ang="0">
                  <a:pos x="2813" y="8"/>
                </a:cxn>
              </a:cxnLst>
              <a:rect l="0" t="0" r="r" b="b"/>
              <a:pathLst>
                <a:path w="2813" h="227">
                  <a:moveTo>
                    <a:pt x="0" y="0"/>
                  </a:moveTo>
                  <a:lnTo>
                    <a:pt x="341" y="216"/>
                  </a:lnTo>
                  <a:lnTo>
                    <a:pt x="1592" y="227"/>
                  </a:lnTo>
                  <a:lnTo>
                    <a:pt x="2813" y="8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19476" name="Picture 20" descr="NA .1                                                          001F46B2Mats Gustafsson                BC2CE792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2388" y="1828800"/>
            <a:ext cx="2741612" cy="2741613"/>
          </a:xfrm>
          <a:prstGeom prst="rect">
            <a:avLst/>
          </a:prstGeom>
          <a:noFill/>
        </p:spPr>
      </p:pic>
      <p:sp>
        <p:nvSpPr>
          <p:cNvPr id="19477" name="Rectangle 21"/>
          <p:cNvSpPr>
            <a:spLocks noChangeArrowheads="1"/>
          </p:cNvSpPr>
          <p:nvPr/>
        </p:nvSpPr>
        <p:spPr bwMode="auto">
          <a:xfrm>
            <a:off x="6311900" y="814388"/>
            <a:ext cx="2832100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Diffraction spot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on image plane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= </a:t>
            </a:r>
            <a:r>
              <a:rPr lang="en-US" sz="1800" b="1" i="1">
                <a:solidFill>
                  <a:srgbClr val="0000FF"/>
                </a:solidFill>
                <a:latin typeface="Chalkboard" charset="0"/>
              </a:rPr>
              <a:t>Point Spread Function</a:t>
            </a:r>
          </a:p>
        </p:txBody>
      </p:sp>
      <p:sp>
        <p:nvSpPr>
          <p:cNvPr id="19478" name="Rectangle 22"/>
          <p:cNvSpPr>
            <a:spLocks noChangeArrowheads="1"/>
          </p:cNvSpPr>
          <p:nvPr/>
        </p:nvSpPr>
        <p:spPr bwMode="auto">
          <a:xfrm>
            <a:off x="223838" y="2971800"/>
            <a:ext cx="91916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Sample</a:t>
            </a:r>
          </a:p>
        </p:txBody>
      </p:sp>
      <p:sp>
        <p:nvSpPr>
          <p:cNvPr id="19479" name="Rectangle 23"/>
          <p:cNvSpPr>
            <a:spLocks noChangeArrowheads="1"/>
          </p:cNvSpPr>
          <p:nvPr/>
        </p:nvSpPr>
        <p:spPr bwMode="auto">
          <a:xfrm>
            <a:off x="1420813" y="1965325"/>
            <a:ext cx="1190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Objective</a:t>
            </a:r>
          </a:p>
        </p:txBody>
      </p:sp>
      <p:sp>
        <p:nvSpPr>
          <p:cNvPr id="19480" name="Rectangle 24"/>
          <p:cNvSpPr>
            <a:spLocks noGrp="1" noChangeArrowheads="1"/>
          </p:cNvSpPr>
          <p:nvPr>
            <p:ph type="title"/>
          </p:nvPr>
        </p:nvSpPr>
        <p:spPr>
          <a:xfrm>
            <a:off x="685800" y="136525"/>
            <a:ext cx="7772400" cy="609600"/>
          </a:xfrm>
        </p:spPr>
        <p:txBody>
          <a:bodyPr/>
          <a:lstStyle/>
          <a:p>
            <a:r>
              <a:rPr lang="en-US"/>
              <a:t>Aperture and Resolution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87375"/>
          </a:xfrm>
        </p:spPr>
        <p:txBody>
          <a:bodyPr/>
          <a:lstStyle/>
          <a:p>
            <a:r>
              <a:rPr lang="en-US"/>
              <a:t>Aperture and Resolution</a:t>
            </a: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246438" y="1900238"/>
            <a:ext cx="118427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Tube lens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854075" y="4554538"/>
            <a:ext cx="2927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halkboard" charset="0"/>
              </a:rPr>
              <a:t>Back focal plane aperture</a:t>
            </a:r>
          </a:p>
        </p:txBody>
      </p:sp>
      <p:sp>
        <p:nvSpPr>
          <p:cNvPr id="20485" name="Freeform 5"/>
          <p:cNvSpPr>
            <a:spLocks/>
          </p:cNvSpPr>
          <p:nvPr/>
        </p:nvSpPr>
        <p:spPr bwMode="auto">
          <a:xfrm rot="-10800000">
            <a:off x="1666875" y="2584450"/>
            <a:ext cx="307975" cy="12223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6" name="Freeform 6"/>
          <p:cNvSpPr>
            <a:spLocks/>
          </p:cNvSpPr>
          <p:nvPr/>
        </p:nvSpPr>
        <p:spPr bwMode="auto">
          <a:xfrm flipV="1">
            <a:off x="3581400" y="2278063"/>
            <a:ext cx="246063" cy="185102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7" name="Line 7"/>
          <p:cNvSpPr>
            <a:spLocks noChangeShapeType="1"/>
          </p:cNvSpPr>
          <p:nvPr/>
        </p:nvSpPr>
        <p:spPr bwMode="auto">
          <a:xfrm rot="5400000">
            <a:off x="2012950" y="4338638"/>
            <a:ext cx="612775" cy="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8" name="Line 8"/>
          <p:cNvSpPr>
            <a:spLocks noChangeShapeType="1"/>
          </p:cNvSpPr>
          <p:nvPr/>
        </p:nvSpPr>
        <p:spPr bwMode="auto">
          <a:xfrm rot="5400000">
            <a:off x="2059781" y="2596357"/>
            <a:ext cx="50641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9" name="Line 9"/>
          <p:cNvSpPr>
            <a:spLocks noChangeShapeType="1"/>
          </p:cNvSpPr>
          <p:nvPr/>
        </p:nvSpPr>
        <p:spPr bwMode="auto">
          <a:xfrm rot="5400000">
            <a:off x="2043113" y="3779838"/>
            <a:ext cx="5397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0" name="Freeform 10"/>
          <p:cNvSpPr>
            <a:spLocks/>
          </p:cNvSpPr>
          <p:nvPr/>
        </p:nvSpPr>
        <p:spPr bwMode="auto">
          <a:xfrm>
            <a:off x="1682750" y="2343150"/>
            <a:ext cx="895350" cy="1144588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1" name="Freeform 11"/>
          <p:cNvSpPr>
            <a:spLocks/>
          </p:cNvSpPr>
          <p:nvPr/>
        </p:nvSpPr>
        <p:spPr bwMode="auto">
          <a:xfrm flipV="1">
            <a:off x="1682750" y="2901950"/>
            <a:ext cx="895350" cy="1146175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2" name="Rectangle 12"/>
          <p:cNvSpPr>
            <a:spLocks noChangeArrowheads="1"/>
          </p:cNvSpPr>
          <p:nvPr/>
        </p:nvSpPr>
        <p:spPr bwMode="auto">
          <a:xfrm>
            <a:off x="4584700" y="1712913"/>
            <a:ext cx="1546225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800">
                <a:solidFill>
                  <a:srgbClr val="FF0000"/>
                </a:solidFill>
                <a:latin typeface="Chalkboard" charset="0"/>
              </a:rPr>
              <a:t>Intermediate image plane</a:t>
            </a:r>
          </a:p>
        </p:txBody>
      </p:sp>
      <p:sp>
        <p:nvSpPr>
          <p:cNvPr id="20493" name="Line 13"/>
          <p:cNvSpPr>
            <a:spLocks noChangeShapeType="1"/>
          </p:cNvSpPr>
          <p:nvPr/>
        </p:nvSpPr>
        <p:spPr bwMode="auto">
          <a:xfrm>
            <a:off x="1235075" y="3197225"/>
            <a:ext cx="44354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4" name="Line 14"/>
          <p:cNvSpPr>
            <a:spLocks noChangeShapeType="1"/>
          </p:cNvSpPr>
          <p:nvPr/>
        </p:nvSpPr>
        <p:spPr bwMode="auto">
          <a:xfrm rot="5400000">
            <a:off x="851694" y="3205957"/>
            <a:ext cx="681037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5" name="Rectangle 15"/>
          <p:cNvSpPr>
            <a:spLocks noChangeArrowheads="1"/>
          </p:cNvSpPr>
          <p:nvPr/>
        </p:nvSpPr>
        <p:spPr bwMode="auto">
          <a:xfrm>
            <a:off x="5684838" y="3140075"/>
            <a:ext cx="127000" cy="160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6" name="Line 16"/>
          <p:cNvSpPr>
            <a:spLocks noChangeShapeType="1"/>
          </p:cNvSpPr>
          <p:nvPr/>
        </p:nvSpPr>
        <p:spPr bwMode="auto">
          <a:xfrm rot="5400000" flipV="1">
            <a:off x="5242719" y="2693194"/>
            <a:ext cx="881063" cy="9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1203325" y="2879725"/>
            <a:ext cx="4508500" cy="625475"/>
            <a:chOff x="1731" y="1502"/>
            <a:chExt cx="2840" cy="434"/>
          </a:xfrm>
        </p:grpSpPr>
        <p:sp>
          <p:nvSpPr>
            <p:cNvPr id="20498" name="Freeform 18"/>
            <p:cNvSpPr>
              <a:spLocks/>
            </p:cNvSpPr>
            <p:nvPr/>
          </p:nvSpPr>
          <p:spPr bwMode="auto">
            <a:xfrm>
              <a:off x="1754" y="1502"/>
              <a:ext cx="2817" cy="215"/>
            </a:xfrm>
            <a:custGeom>
              <a:avLst/>
              <a:gdLst/>
              <a:ahLst/>
              <a:cxnLst>
                <a:cxn ang="0">
                  <a:pos x="0" y="207"/>
                </a:cxn>
                <a:cxn ang="0">
                  <a:pos x="317" y="0"/>
                </a:cxn>
                <a:cxn ang="0">
                  <a:pos x="1579" y="2"/>
                </a:cxn>
                <a:cxn ang="0">
                  <a:pos x="2817" y="215"/>
                </a:cxn>
              </a:cxnLst>
              <a:rect l="0" t="0" r="r" b="b"/>
              <a:pathLst>
                <a:path w="2817" h="215">
                  <a:moveTo>
                    <a:pt x="0" y="207"/>
                  </a:moveTo>
                  <a:lnTo>
                    <a:pt x="317" y="0"/>
                  </a:lnTo>
                  <a:lnTo>
                    <a:pt x="1579" y="2"/>
                  </a:lnTo>
                  <a:lnTo>
                    <a:pt x="2817" y="215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9" name="Freeform 19"/>
            <p:cNvSpPr>
              <a:spLocks/>
            </p:cNvSpPr>
            <p:nvPr/>
          </p:nvSpPr>
          <p:spPr bwMode="auto">
            <a:xfrm>
              <a:off x="1731" y="1709"/>
              <a:ext cx="2813" cy="2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1" y="216"/>
                </a:cxn>
                <a:cxn ang="0">
                  <a:pos x="1592" y="227"/>
                </a:cxn>
                <a:cxn ang="0">
                  <a:pos x="2813" y="8"/>
                </a:cxn>
              </a:cxnLst>
              <a:rect l="0" t="0" r="r" b="b"/>
              <a:pathLst>
                <a:path w="2813" h="227">
                  <a:moveTo>
                    <a:pt x="0" y="0"/>
                  </a:moveTo>
                  <a:lnTo>
                    <a:pt x="341" y="216"/>
                  </a:lnTo>
                  <a:lnTo>
                    <a:pt x="1592" y="227"/>
                  </a:lnTo>
                  <a:lnTo>
                    <a:pt x="2813" y="8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20500" name="Picture 20" descr="NA .3                                                          001F46B2Mats Gustafsson                BC2CE792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2388" y="1828800"/>
            <a:ext cx="2741612" cy="2741613"/>
          </a:xfrm>
          <a:prstGeom prst="rect">
            <a:avLst/>
          </a:prstGeom>
          <a:noFill/>
        </p:spPr>
      </p:pic>
      <p:sp>
        <p:nvSpPr>
          <p:cNvPr id="20502" name="Rectangle 22"/>
          <p:cNvSpPr>
            <a:spLocks noChangeArrowheads="1"/>
          </p:cNvSpPr>
          <p:nvPr/>
        </p:nvSpPr>
        <p:spPr bwMode="auto">
          <a:xfrm>
            <a:off x="223838" y="2971800"/>
            <a:ext cx="91916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Sample</a:t>
            </a:r>
          </a:p>
        </p:txBody>
      </p:sp>
      <p:sp>
        <p:nvSpPr>
          <p:cNvPr id="20503" name="Rectangle 23"/>
          <p:cNvSpPr>
            <a:spLocks noChangeArrowheads="1"/>
          </p:cNvSpPr>
          <p:nvPr/>
        </p:nvSpPr>
        <p:spPr bwMode="auto">
          <a:xfrm>
            <a:off x="1420813" y="1965325"/>
            <a:ext cx="1190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Objective</a:t>
            </a:r>
          </a:p>
        </p:txBody>
      </p:sp>
      <p:sp>
        <p:nvSpPr>
          <p:cNvPr id="20505" name="Rectangle 25"/>
          <p:cNvSpPr>
            <a:spLocks noChangeArrowheads="1"/>
          </p:cNvSpPr>
          <p:nvPr/>
        </p:nvSpPr>
        <p:spPr bwMode="auto">
          <a:xfrm>
            <a:off x="6311900" y="814388"/>
            <a:ext cx="2832100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Diffraction spot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on image plane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= </a:t>
            </a:r>
            <a:r>
              <a:rPr lang="en-US" sz="1800" b="1" i="1">
                <a:solidFill>
                  <a:srgbClr val="0000FF"/>
                </a:solidFill>
                <a:latin typeface="Chalkboard" charset="0"/>
              </a:rPr>
              <a:t>Point Spread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87375"/>
          </a:xfrm>
        </p:spPr>
        <p:txBody>
          <a:bodyPr/>
          <a:lstStyle/>
          <a:p>
            <a:r>
              <a:rPr lang="en-US"/>
              <a:t>Aperture and Resolution</a:t>
            </a: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3246438" y="1900238"/>
            <a:ext cx="118427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Tube lens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854075" y="4554538"/>
            <a:ext cx="2927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halkboard" charset="0"/>
              </a:rPr>
              <a:t>Back focal plane aperture</a:t>
            </a:r>
          </a:p>
        </p:txBody>
      </p:sp>
      <p:sp>
        <p:nvSpPr>
          <p:cNvPr id="21509" name="Freeform 5"/>
          <p:cNvSpPr>
            <a:spLocks/>
          </p:cNvSpPr>
          <p:nvPr/>
        </p:nvSpPr>
        <p:spPr bwMode="auto">
          <a:xfrm rot="-10800000">
            <a:off x="1666875" y="2584450"/>
            <a:ext cx="307975" cy="12223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0" name="Freeform 6"/>
          <p:cNvSpPr>
            <a:spLocks/>
          </p:cNvSpPr>
          <p:nvPr/>
        </p:nvSpPr>
        <p:spPr bwMode="auto">
          <a:xfrm flipV="1">
            <a:off x="3581400" y="2278063"/>
            <a:ext cx="246063" cy="185102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1" name="Line 7"/>
          <p:cNvSpPr>
            <a:spLocks noChangeShapeType="1"/>
          </p:cNvSpPr>
          <p:nvPr/>
        </p:nvSpPr>
        <p:spPr bwMode="auto">
          <a:xfrm rot="5400000">
            <a:off x="2012950" y="4338638"/>
            <a:ext cx="612775" cy="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 rot="5400000">
            <a:off x="2132013" y="2524125"/>
            <a:ext cx="3619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3" name="Line 9"/>
          <p:cNvSpPr>
            <a:spLocks noChangeShapeType="1"/>
          </p:cNvSpPr>
          <p:nvPr/>
        </p:nvSpPr>
        <p:spPr bwMode="auto">
          <a:xfrm rot="5400000">
            <a:off x="2123281" y="3860007"/>
            <a:ext cx="37941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4" name="Freeform 10"/>
          <p:cNvSpPr>
            <a:spLocks/>
          </p:cNvSpPr>
          <p:nvPr/>
        </p:nvSpPr>
        <p:spPr bwMode="auto">
          <a:xfrm>
            <a:off x="1682750" y="2343150"/>
            <a:ext cx="895350" cy="1144588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5" name="Freeform 11"/>
          <p:cNvSpPr>
            <a:spLocks/>
          </p:cNvSpPr>
          <p:nvPr/>
        </p:nvSpPr>
        <p:spPr bwMode="auto">
          <a:xfrm flipV="1">
            <a:off x="1682750" y="2901950"/>
            <a:ext cx="895350" cy="1146175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6" name="Rectangle 12"/>
          <p:cNvSpPr>
            <a:spLocks noChangeArrowheads="1"/>
          </p:cNvSpPr>
          <p:nvPr/>
        </p:nvSpPr>
        <p:spPr bwMode="auto">
          <a:xfrm>
            <a:off x="4584700" y="1712913"/>
            <a:ext cx="1546225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800">
                <a:solidFill>
                  <a:srgbClr val="FF0000"/>
                </a:solidFill>
                <a:latin typeface="Chalkboard" charset="0"/>
              </a:rPr>
              <a:t>Intermediate image plane</a:t>
            </a:r>
          </a:p>
        </p:txBody>
      </p:sp>
      <p:sp>
        <p:nvSpPr>
          <p:cNvPr id="21517" name="Line 13"/>
          <p:cNvSpPr>
            <a:spLocks noChangeShapeType="1"/>
          </p:cNvSpPr>
          <p:nvPr/>
        </p:nvSpPr>
        <p:spPr bwMode="auto">
          <a:xfrm>
            <a:off x="1235075" y="3197225"/>
            <a:ext cx="44354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8" name="Line 14"/>
          <p:cNvSpPr>
            <a:spLocks noChangeShapeType="1"/>
          </p:cNvSpPr>
          <p:nvPr/>
        </p:nvSpPr>
        <p:spPr bwMode="auto">
          <a:xfrm rot="5400000">
            <a:off x="851694" y="3205957"/>
            <a:ext cx="681037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9" name="Rectangle 15"/>
          <p:cNvSpPr>
            <a:spLocks noChangeArrowheads="1"/>
          </p:cNvSpPr>
          <p:nvPr/>
        </p:nvSpPr>
        <p:spPr bwMode="auto">
          <a:xfrm>
            <a:off x="5684838" y="3140075"/>
            <a:ext cx="127000" cy="160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20" name="Line 16"/>
          <p:cNvSpPr>
            <a:spLocks noChangeShapeType="1"/>
          </p:cNvSpPr>
          <p:nvPr/>
        </p:nvSpPr>
        <p:spPr bwMode="auto">
          <a:xfrm rot="5400000" flipV="1">
            <a:off x="5242719" y="2693194"/>
            <a:ext cx="881063" cy="9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1200150" y="2733675"/>
            <a:ext cx="4508500" cy="923925"/>
            <a:chOff x="1731" y="1502"/>
            <a:chExt cx="2840" cy="434"/>
          </a:xfrm>
        </p:grpSpPr>
        <p:sp>
          <p:nvSpPr>
            <p:cNvPr id="21522" name="Freeform 18"/>
            <p:cNvSpPr>
              <a:spLocks/>
            </p:cNvSpPr>
            <p:nvPr/>
          </p:nvSpPr>
          <p:spPr bwMode="auto">
            <a:xfrm>
              <a:off x="1754" y="1502"/>
              <a:ext cx="2817" cy="215"/>
            </a:xfrm>
            <a:custGeom>
              <a:avLst/>
              <a:gdLst/>
              <a:ahLst/>
              <a:cxnLst>
                <a:cxn ang="0">
                  <a:pos x="0" y="207"/>
                </a:cxn>
                <a:cxn ang="0">
                  <a:pos x="317" y="0"/>
                </a:cxn>
                <a:cxn ang="0">
                  <a:pos x="1579" y="2"/>
                </a:cxn>
                <a:cxn ang="0">
                  <a:pos x="2817" y="215"/>
                </a:cxn>
              </a:cxnLst>
              <a:rect l="0" t="0" r="r" b="b"/>
              <a:pathLst>
                <a:path w="2817" h="215">
                  <a:moveTo>
                    <a:pt x="0" y="207"/>
                  </a:moveTo>
                  <a:lnTo>
                    <a:pt x="317" y="0"/>
                  </a:lnTo>
                  <a:lnTo>
                    <a:pt x="1579" y="2"/>
                  </a:lnTo>
                  <a:lnTo>
                    <a:pt x="2817" y="215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3" name="Freeform 19"/>
            <p:cNvSpPr>
              <a:spLocks/>
            </p:cNvSpPr>
            <p:nvPr/>
          </p:nvSpPr>
          <p:spPr bwMode="auto">
            <a:xfrm>
              <a:off x="1731" y="1709"/>
              <a:ext cx="2813" cy="2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1" y="216"/>
                </a:cxn>
                <a:cxn ang="0">
                  <a:pos x="1592" y="227"/>
                </a:cxn>
                <a:cxn ang="0">
                  <a:pos x="2813" y="8"/>
                </a:cxn>
              </a:cxnLst>
              <a:rect l="0" t="0" r="r" b="b"/>
              <a:pathLst>
                <a:path w="2813" h="227">
                  <a:moveTo>
                    <a:pt x="0" y="0"/>
                  </a:moveTo>
                  <a:lnTo>
                    <a:pt x="341" y="216"/>
                  </a:lnTo>
                  <a:lnTo>
                    <a:pt x="1592" y="227"/>
                  </a:lnTo>
                  <a:lnTo>
                    <a:pt x="2813" y="8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21524" name="Picture 20" descr="NA .4                                                          001F46B2Mats Gustafsson                BC2CE792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2388" y="1828800"/>
            <a:ext cx="2741612" cy="2741613"/>
          </a:xfrm>
          <a:prstGeom prst="rect">
            <a:avLst/>
          </a:prstGeom>
          <a:noFill/>
        </p:spPr>
      </p:pic>
      <p:sp>
        <p:nvSpPr>
          <p:cNvPr id="21526" name="Rectangle 22"/>
          <p:cNvSpPr>
            <a:spLocks noChangeArrowheads="1"/>
          </p:cNvSpPr>
          <p:nvPr/>
        </p:nvSpPr>
        <p:spPr bwMode="auto">
          <a:xfrm>
            <a:off x="223838" y="2971800"/>
            <a:ext cx="91916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Sample</a:t>
            </a:r>
          </a:p>
        </p:txBody>
      </p:sp>
      <p:sp>
        <p:nvSpPr>
          <p:cNvPr id="21527" name="Rectangle 23"/>
          <p:cNvSpPr>
            <a:spLocks noChangeArrowheads="1"/>
          </p:cNvSpPr>
          <p:nvPr/>
        </p:nvSpPr>
        <p:spPr bwMode="auto">
          <a:xfrm>
            <a:off x="1420813" y="1965325"/>
            <a:ext cx="1190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Objective</a:t>
            </a:r>
          </a:p>
        </p:txBody>
      </p:sp>
      <p:sp>
        <p:nvSpPr>
          <p:cNvPr id="21529" name="Rectangle 25"/>
          <p:cNvSpPr>
            <a:spLocks noChangeArrowheads="1"/>
          </p:cNvSpPr>
          <p:nvPr/>
        </p:nvSpPr>
        <p:spPr bwMode="auto">
          <a:xfrm>
            <a:off x="6311900" y="814388"/>
            <a:ext cx="2832100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Diffraction spot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on image plane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= </a:t>
            </a:r>
            <a:r>
              <a:rPr lang="en-US" sz="1800" b="1" i="1">
                <a:solidFill>
                  <a:srgbClr val="0000FF"/>
                </a:solidFill>
                <a:latin typeface="Chalkboard" charset="0"/>
              </a:rPr>
              <a:t>Point Spread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87375"/>
          </a:xfrm>
        </p:spPr>
        <p:txBody>
          <a:bodyPr/>
          <a:lstStyle/>
          <a:p>
            <a:r>
              <a:rPr lang="en-US"/>
              <a:t>Aperture and Resolution</a:t>
            </a: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838200" y="5334000"/>
            <a:ext cx="6299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169863" indent="-169863">
              <a:buFontTx/>
              <a:buChar char="•"/>
            </a:pPr>
            <a:r>
              <a:rPr lang="en-US" sz="1800">
                <a:latin typeface="Chalkboard" charset="0"/>
              </a:rPr>
              <a:t>Image resolution improves with Numerical Aperture (NA)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223838" y="2971800"/>
            <a:ext cx="91916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Sample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420813" y="1965325"/>
            <a:ext cx="1190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Objective</a:t>
            </a:r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3246438" y="1900238"/>
            <a:ext cx="118427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Tube lens</a:t>
            </a:r>
          </a:p>
        </p:txBody>
      </p:sp>
      <p:sp>
        <p:nvSpPr>
          <p:cNvPr id="22535" name="Rectangle 7"/>
          <p:cNvSpPr>
            <a:spLocks noChangeArrowheads="1"/>
          </p:cNvSpPr>
          <p:nvPr/>
        </p:nvSpPr>
        <p:spPr bwMode="auto">
          <a:xfrm>
            <a:off x="854075" y="4554538"/>
            <a:ext cx="2927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halkboard" charset="0"/>
              </a:rPr>
              <a:t>Back focal plane aperture</a:t>
            </a:r>
          </a:p>
        </p:txBody>
      </p:sp>
      <p:sp>
        <p:nvSpPr>
          <p:cNvPr id="22536" name="Freeform 8"/>
          <p:cNvSpPr>
            <a:spLocks/>
          </p:cNvSpPr>
          <p:nvPr/>
        </p:nvSpPr>
        <p:spPr bwMode="auto">
          <a:xfrm rot="-10800000">
            <a:off x="1666875" y="2584450"/>
            <a:ext cx="307975" cy="12223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37" name="Freeform 9"/>
          <p:cNvSpPr>
            <a:spLocks/>
          </p:cNvSpPr>
          <p:nvPr/>
        </p:nvSpPr>
        <p:spPr bwMode="auto">
          <a:xfrm flipV="1">
            <a:off x="3581400" y="2278063"/>
            <a:ext cx="246063" cy="185102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193800" y="2593975"/>
            <a:ext cx="4508500" cy="1216025"/>
            <a:chOff x="1731" y="1502"/>
            <a:chExt cx="2840" cy="434"/>
          </a:xfrm>
        </p:grpSpPr>
        <p:sp>
          <p:nvSpPr>
            <p:cNvPr id="22539" name="Freeform 11"/>
            <p:cNvSpPr>
              <a:spLocks/>
            </p:cNvSpPr>
            <p:nvPr/>
          </p:nvSpPr>
          <p:spPr bwMode="auto">
            <a:xfrm>
              <a:off x="1754" y="1502"/>
              <a:ext cx="2817" cy="215"/>
            </a:xfrm>
            <a:custGeom>
              <a:avLst/>
              <a:gdLst/>
              <a:ahLst/>
              <a:cxnLst>
                <a:cxn ang="0">
                  <a:pos x="0" y="207"/>
                </a:cxn>
                <a:cxn ang="0">
                  <a:pos x="317" y="0"/>
                </a:cxn>
                <a:cxn ang="0">
                  <a:pos x="1579" y="2"/>
                </a:cxn>
                <a:cxn ang="0">
                  <a:pos x="2817" y="215"/>
                </a:cxn>
              </a:cxnLst>
              <a:rect l="0" t="0" r="r" b="b"/>
              <a:pathLst>
                <a:path w="2817" h="215">
                  <a:moveTo>
                    <a:pt x="0" y="207"/>
                  </a:moveTo>
                  <a:lnTo>
                    <a:pt x="317" y="0"/>
                  </a:lnTo>
                  <a:lnTo>
                    <a:pt x="1579" y="2"/>
                  </a:lnTo>
                  <a:lnTo>
                    <a:pt x="2817" y="215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0" name="Freeform 12"/>
            <p:cNvSpPr>
              <a:spLocks/>
            </p:cNvSpPr>
            <p:nvPr/>
          </p:nvSpPr>
          <p:spPr bwMode="auto">
            <a:xfrm>
              <a:off x="1731" y="1709"/>
              <a:ext cx="2813" cy="2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1" y="216"/>
                </a:cxn>
                <a:cxn ang="0">
                  <a:pos x="1592" y="227"/>
                </a:cxn>
                <a:cxn ang="0">
                  <a:pos x="2813" y="8"/>
                </a:cxn>
              </a:cxnLst>
              <a:rect l="0" t="0" r="r" b="b"/>
              <a:pathLst>
                <a:path w="2813" h="227">
                  <a:moveTo>
                    <a:pt x="0" y="0"/>
                  </a:moveTo>
                  <a:lnTo>
                    <a:pt x="341" y="216"/>
                  </a:lnTo>
                  <a:lnTo>
                    <a:pt x="1592" y="227"/>
                  </a:lnTo>
                  <a:lnTo>
                    <a:pt x="2813" y="8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541" name="Line 13"/>
          <p:cNvSpPr>
            <a:spLocks noChangeShapeType="1"/>
          </p:cNvSpPr>
          <p:nvPr/>
        </p:nvSpPr>
        <p:spPr bwMode="auto">
          <a:xfrm rot="5400000">
            <a:off x="2012950" y="4338638"/>
            <a:ext cx="612775" cy="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2" name="Line 14"/>
          <p:cNvSpPr>
            <a:spLocks noChangeShapeType="1"/>
          </p:cNvSpPr>
          <p:nvPr/>
        </p:nvSpPr>
        <p:spPr bwMode="auto">
          <a:xfrm rot="5400000">
            <a:off x="2195513" y="2460625"/>
            <a:ext cx="2349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3" name="Line 15"/>
          <p:cNvSpPr>
            <a:spLocks noChangeShapeType="1"/>
          </p:cNvSpPr>
          <p:nvPr/>
        </p:nvSpPr>
        <p:spPr bwMode="auto">
          <a:xfrm rot="5400000">
            <a:off x="2186781" y="3923507"/>
            <a:ext cx="25241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4" name="Freeform 16"/>
          <p:cNvSpPr>
            <a:spLocks/>
          </p:cNvSpPr>
          <p:nvPr/>
        </p:nvSpPr>
        <p:spPr bwMode="auto">
          <a:xfrm>
            <a:off x="1682750" y="2343150"/>
            <a:ext cx="895350" cy="1144588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5" name="Freeform 17"/>
          <p:cNvSpPr>
            <a:spLocks/>
          </p:cNvSpPr>
          <p:nvPr/>
        </p:nvSpPr>
        <p:spPr bwMode="auto">
          <a:xfrm flipV="1">
            <a:off x="1682750" y="2901950"/>
            <a:ext cx="895350" cy="1146175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6" name="Rectangle 18"/>
          <p:cNvSpPr>
            <a:spLocks noChangeArrowheads="1"/>
          </p:cNvSpPr>
          <p:nvPr/>
        </p:nvSpPr>
        <p:spPr bwMode="auto">
          <a:xfrm>
            <a:off x="4584700" y="1712913"/>
            <a:ext cx="1546225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800">
                <a:solidFill>
                  <a:srgbClr val="FF0000"/>
                </a:solidFill>
                <a:latin typeface="Chalkboard" charset="0"/>
              </a:rPr>
              <a:t>Intermediate image plane</a:t>
            </a:r>
          </a:p>
        </p:txBody>
      </p:sp>
      <p:sp>
        <p:nvSpPr>
          <p:cNvPr id="22547" name="Line 19"/>
          <p:cNvSpPr>
            <a:spLocks noChangeShapeType="1"/>
          </p:cNvSpPr>
          <p:nvPr/>
        </p:nvSpPr>
        <p:spPr bwMode="auto">
          <a:xfrm>
            <a:off x="1235075" y="3197225"/>
            <a:ext cx="44354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8" name="Line 20"/>
          <p:cNvSpPr>
            <a:spLocks noChangeShapeType="1"/>
          </p:cNvSpPr>
          <p:nvPr/>
        </p:nvSpPr>
        <p:spPr bwMode="auto">
          <a:xfrm rot="5400000">
            <a:off x="851694" y="3205957"/>
            <a:ext cx="681037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9" name="Rectangle 21"/>
          <p:cNvSpPr>
            <a:spLocks noChangeArrowheads="1"/>
          </p:cNvSpPr>
          <p:nvPr/>
        </p:nvSpPr>
        <p:spPr bwMode="auto">
          <a:xfrm>
            <a:off x="5684838" y="3140075"/>
            <a:ext cx="127000" cy="160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50" name="Line 22"/>
          <p:cNvSpPr>
            <a:spLocks noChangeShapeType="1"/>
          </p:cNvSpPr>
          <p:nvPr/>
        </p:nvSpPr>
        <p:spPr bwMode="auto">
          <a:xfrm rot="5400000" flipV="1">
            <a:off x="5242719" y="2693194"/>
            <a:ext cx="881063" cy="9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22551" name="Picture 23" descr="NA .5                                                          001F46B2Mats Gustafsson                BC2CE792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1828800"/>
            <a:ext cx="2741613" cy="2741613"/>
          </a:xfrm>
          <a:prstGeom prst="rect">
            <a:avLst/>
          </a:prstGeom>
          <a:noFill/>
        </p:spPr>
      </p:pic>
      <p:sp>
        <p:nvSpPr>
          <p:cNvPr id="22553" name="Arc 25"/>
          <p:cNvSpPr>
            <a:spLocks/>
          </p:cNvSpPr>
          <p:nvPr/>
        </p:nvSpPr>
        <p:spPr bwMode="auto">
          <a:xfrm>
            <a:off x="1219200" y="3052763"/>
            <a:ext cx="195263" cy="149225"/>
          </a:xfrm>
          <a:custGeom>
            <a:avLst/>
            <a:gdLst>
              <a:gd name="G0" fmla="+- 0 0 0"/>
              <a:gd name="G1" fmla="+- 16530 0 0"/>
              <a:gd name="G2" fmla="+- 21600 0 0"/>
              <a:gd name="T0" fmla="*/ 13903 w 21600"/>
              <a:gd name="T1" fmla="*/ 0 h 16530"/>
              <a:gd name="T2" fmla="*/ 21600 w 21600"/>
              <a:gd name="T3" fmla="*/ 16530 h 16530"/>
              <a:gd name="T4" fmla="*/ 0 w 21600"/>
              <a:gd name="T5" fmla="*/ 16530 h 165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6530" fill="none" extrusionOk="0">
                <a:moveTo>
                  <a:pt x="13903" y="-1"/>
                </a:moveTo>
                <a:cubicBezTo>
                  <a:pt x="18782" y="4103"/>
                  <a:pt x="21600" y="10153"/>
                  <a:pt x="21600" y="16530"/>
                </a:cubicBezTo>
              </a:path>
              <a:path w="21600" h="16530" stroke="0" extrusionOk="0">
                <a:moveTo>
                  <a:pt x="13903" y="-1"/>
                </a:moveTo>
                <a:cubicBezTo>
                  <a:pt x="18782" y="4103"/>
                  <a:pt x="21600" y="10153"/>
                  <a:pt x="21600" y="16530"/>
                </a:cubicBezTo>
                <a:lnTo>
                  <a:pt x="0" y="1653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54" name="Rectangle 26"/>
          <p:cNvSpPr>
            <a:spLocks noChangeArrowheads="1"/>
          </p:cNvSpPr>
          <p:nvPr/>
        </p:nvSpPr>
        <p:spPr bwMode="auto">
          <a:xfrm>
            <a:off x="1357313" y="2859088"/>
            <a:ext cx="3286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  <a:sym typeface="Symbol" charset="2"/>
              </a:rPr>
              <a:t></a:t>
            </a:r>
            <a:endParaRPr lang="en-US" sz="1800">
              <a:solidFill>
                <a:schemeClr val="tx2"/>
              </a:solidFill>
              <a:latin typeface="Chalkboard" charset="0"/>
            </a:endParaRPr>
          </a:p>
        </p:txBody>
      </p:sp>
      <p:sp>
        <p:nvSpPr>
          <p:cNvPr id="22557" name="AutoShape 29"/>
          <p:cNvSpPr>
            <a:spLocks noChangeArrowheads="1"/>
          </p:cNvSpPr>
          <p:nvPr/>
        </p:nvSpPr>
        <p:spPr bwMode="auto">
          <a:xfrm>
            <a:off x="1095375" y="5924550"/>
            <a:ext cx="2011363" cy="508000"/>
          </a:xfrm>
          <a:prstGeom prst="roundRect">
            <a:avLst>
              <a:gd name="adj" fmla="val 16667"/>
            </a:avLst>
          </a:prstGeom>
          <a:solidFill>
            <a:srgbClr val="E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169863" indent="-169863"/>
            <a:r>
              <a:rPr lang="en-US" i="1">
                <a:latin typeface="Helvetica Neue" charset="0"/>
              </a:rPr>
              <a:t>NA</a:t>
            </a:r>
            <a:r>
              <a:rPr lang="en-US">
                <a:latin typeface="Helvetica Neue" charset="0"/>
              </a:rPr>
              <a:t> = </a:t>
            </a:r>
            <a:r>
              <a:rPr lang="en-US" i="1">
                <a:latin typeface="Helvetica Neue" charset="0"/>
              </a:rPr>
              <a:t>n</a:t>
            </a:r>
            <a:r>
              <a:rPr lang="en-US">
                <a:latin typeface="Helvetica Neue" charset="0"/>
              </a:rPr>
              <a:t> sin(</a:t>
            </a:r>
            <a:r>
              <a:rPr lang="en-US" i="1">
                <a:solidFill>
                  <a:schemeClr val="tx2"/>
                </a:solidFill>
                <a:latin typeface="Helvetica Neue" charset="0"/>
                <a:sym typeface="Symbol" charset="2"/>
              </a:rPr>
              <a:t></a:t>
            </a:r>
            <a:r>
              <a:rPr lang="en-US">
                <a:latin typeface="Helvetica Neue" charset="0"/>
              </a:rPr>
              <a:t>)</a:t>
            </a:r>
          </a:p>
        </p:txBody>
      </p:sp>
      <p:sp>
        <p:nvSpPr>
          <p:cNvPr id="22559" name="Rectangle 31"/>
          <p:cNvSpPr>
            <a:spLocks noChangeArrowheads="1"/>
          </p:cNvSpPr>
          <p:nvPr/>
        </p:nvSpPr>
        <p:spPr bwMode="auto">
          <a:xfrm>
            <a:off x="4445000" y="5808663"/>
            <a:ext cx="3729038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Symbol" charset="2"/>
              <a:buNone/>
            </a:pPr>
            <a:r>
              <a:rPr lang="en-US" sz="2000" i="1">
                <a:latin typeface="Chalkboard" charset="0"/>
                <a:sym typeface="Symbol" charset="2"/>
              </a:rPr>
              <a:t></a:t>
            </a:r>
            <a:r>
              <a:rPr lang="en-US" sz="2000">
                <a:latin typeface="Chalkboard" charset="0"/>
              </a:rPr>
              <a:t> = light gathering angle</a:t>
            </a:r>
          </a:p>
          <a:p>
            <a:pPr>
              <a:buFont typeface="Symbol" charset="2"/>
              <a:buNone/>
            </a:pPr>
            <a:r>
              <a:rPr lang="en-US" sz="2000" i="1">
                <a:latin typeface="Chalkboard" charset="0"/>
              </a:rPr>
              <a:t>n</a:t>
            </a:r>
            <a:r>
              <a:rPr lang="en-US" sz="2000">
                <a:latin typeface="Chalkboard" charset="0"/>
              </a:rPr>
              <a:t> = refractive index of sample</a:t>
            </a:r>
          </a:p>
        </p:txBody>
      </p:sp>
      <p:sp>
        <p:nvSpPr>
          <p:cNvPr id="22560" name="Rectangle 32"/>
          <p:cNvSpPr>
            <a:spLocks noChangeArrowheads="1"/>
          </p:cNvSpPr>
          <p:nvPr/>
        </p:nvSpPr>
        <p:spPr bwMode="auto">
          <a:xfrm>
            <a:off x="3411538" y="5975350"/>
            <a:ext cx="955675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Symbol" charset="2"/>
              <a:buNone/>
            </a:pPr>
            <a:r>
              <a:rPr lang="en-US" sz="2000">
                <a:latin typeface="Chalkboard" charset="0"/>
              </a:rPr>
              <a:t>where:</a:t>
            </a:r>
          </a:p>
        </p:txBody>
      </p:sp>
      <p:sp>
        <p:nvSpPr>
          <p:cNvPr id="22562" name="Rectangle 34"/>
          <p:cNvSpPr>
            <a:spLocks noChangeArrowheads="1"/>
          </p:cNvSpPr>
          <p:nvPr/>
        </p:nvSpPr>
        <p:spPr bwMode="auto">
          <a:xfrm>
            <a:off x="6311900" y="814388"/>
            <a:ext cx="2832100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Diffraction spot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on image plane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= </a:t>
            </a:r>
            <a:r>
              <a:rPr lang="en-US" sz="1800" b="1" i="1">
                <a:solidFill>
                  <a:srgbClr val="0000FF"/>
                </a:solidFill>
                <a:latin typeface="Chalkboard" charset="0"/>
              </a:rPr>
              <a:t>Point Spread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0" name="Freeform 6"/>
          <p:cNvSpPr>
            <a:spLocks/>
          </p:cNvSpPr>
          <p:nvPr/>
        </p:nvSpPr>
        <p:spPr bwMode="auto">
          <a:xfrm>
            <a:off x="2063750" y="6237288"/>
            <a:ext cx="1481138" cy="381000"/>
          </a:xfrm>
          <a:custGeom>
            <a:avLst/>
            <a:gdLst/>
            <a:ahLst/>
            <a:cxnLst>
              <a:cxn ang="0">
                <a:pos x="184" y="240"/>
              </a:cxn>
              <a:cxn ang="0">
                <a:pos x="21" y="89"/>
              </a:cxn>
              <a:cxn ang="0">
                <a:pos x="60" y="12"/>
              </a:cxn>
              <a:cxn ang="0">
                <a:pos x="184" y="14"/>
              </a:cxn>
              <a:cxn ang="0">
                <a:pos x="266" y="89"/>
              </a:cxn>
              <a:cxn ang="0">
                <a:pos x="225" y="114"/>
              </a:cxn>
              <a:cxn ang="0">
                <a:pos x="184" y="89"/>
              </a:cxn>
              <a:cxn ang="0">
                <a:pos x="268" y="18"/>
              </a:cxn>
              <a:cxn ang="0">
                <a:pos x="401" y="23"/>
              </a:cxn>
              <a:cxn ang="0">
                <a:pos x="511" y="89"/>
              </a:cxn>
              <a:cxn ang="0">
                <a:pos x="428" y="140"/>
              </a:cxn>
              <a:cxn ang="0">
                <a:pos x="348" y="89"/>
              </a:cxn>
              <a:cxn ang="0">
                <a:pos x="593" y="14"/>
              </a:cxn>
              <a:cxn ang="0">
                <a:pos x="756" y="89"/>
              </a:cxn>
              <a:cxn ang="0">
                <a:pos x="668" y="140"/>
              </a:cxn>
              <a:cxn ang="0">
                <a:pos x="593" y="89"/>
              </a:cxn>
              <a:cxn ang="0">
                <a:pos x="838" y="14"/>
              </a:cxn>
              <a:cxn ang="0">
                <a:pos x="919" y="52"/>
              </a:cxn>
              <a:cxn ang="0">
                <a:pos x="756" y="240"/>
              </a:cxn>
            </a:cxnLst>
            <a:rect l="0" t="0" r="r" b="b"/>
            <a:pathLst>
              <a:path w="933" h="240">
                <a:moveTo>
                  <a:pt x="184" y="240"/>
                </a:moveTo>
                <a:cubicBezTo>
                  <a:pt x="103" y="184"/>
                  <a:pt x="42" y="127"/>
                  <a:pt x="21" y="89"/>
                </a:cubicBezTo>
                <a:cubicBezTo>
                  <a:pt x="0" y="51"/>
                  <a:pt x="33" y="24"/>
                  <a:pt x="60" y="12"/>
                </a:cubicBezTo>
                <a:cubicBezTo>
                  <a:pt x="87" y="0"/>
                  <a:pt x="150" y="1"/>
                  <a:pt x="184" y="14"/>
                </a:cubicBezTo>
                <a:cubicBezTo>
                  <a:pt x="218" y="27"/>
                  <a:pt x="259" y="72"/>
                  <a:pt x="266" y="89"/>
                </a:cubicBezTo>
                <a:cubicBezTo>
                  <a:pt x="273" y="106"/>
                  <a:pt x="239" y="114"/>
                  <a:pt x="225" y="114"/>
                </a:cubicBezTo>
                <a:cubicBezTo>
                  <a:pt x="211" y="114"/>
                  <a:pt x="177" y="105"/>
                  <a:pt x="184" y="89"/>
                </a:cubicBezTo>
                <a:cubicBezTo>
                  <a:pt x="191" y="73"/>
                  <a:pt x="232" y="29"/>
                  <a:pt x="268" y="18"/>
                </a:cubicBezTo>
                <a:cubicBezTo>
                  <a:pt x="304" y="7"/>
                  <a:pt x="361" y="11"/>
                  <a:pt x="401" y="23"/>
                </a:cubicBezTo>
                <a:cubicBezTo>
                  <a:pt x="441" y="35"/>
                  <a:pt x="507" y="70"/>
                  <a:pt x="511" y="89"/>
                </a:cubicBezTo>
                <a:cubicBezTo>
                  <a:pt x="515" y="108"/>
                  <a:pt x="455" y="140"/>
                  <a:pt x="428" y="140"/>
                </a:cubicBezTo>
                <a:cubicBezTo>
                  <a:pt x="401" y="140"/>
                  <a:pt x="321" y="110"/>
                  <a:pt x="348" y="89"/>
                </a:cubicBezTo>
                <a:cubicBezTo>
                  <a:pt x="375" y="68"/>
                  <a:pt x="525" y="14"/>
                  <a:pt x="593" y="14"/>
                </a:cubicBezTo>
                <a:cubicBezTo>
                  <a:pt x="661" y="14"/>
                  <a:pt x="744" y="68"/>
                  <a:pt x="756" y="89"/>
                </a:cubicBezTo>
                <a:cubicBezTo>
                  <a:pt x="768" y="110"/>
                  <a:pt x="695" y="140"/>
                  <a:pt x="668" y="140"/>
                </a:cubicBezTo>
                <a:cubicBezTo>
                  <a:pt x="641" y="140"/>
                  <a:pt x="565" y="110"/>
                  <a:pt x="593" y="89"/>
                </a:cubicBezTo>
                <a:cubicBezTo>
                  <a:pt x="621" y="68"/>
                  <a:pt x="782" y="20"/>
                  <a:pt x="838" y="14"/>
                </a:cubicBezTo>
                <a:cubicBezTo>
                  <a:pt x="892" y="7"/>
                  <a:pt x="933" y="14"/>
                  <a:pt x="919" y="52"/>
                </a:cubicBezTo>
                <a:cubicBezTo>
                  <a:pt x="906" y="89"/>
                  <a:pt x="831" y="165"/>
                  <a:pt x="756" y="240"/>
                </a:cubicBezTo>
              </a:path>
            </a:pathLst>
          </a:custGeom>
          <a:noFill/>
          <a:ln w="28575" cmpd="sng">
            <a:solidFill>
              <a:srgbClr val="FF8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5" name="Text Box 11"/>
          <p:cNvSpPr txBox="1">
            <a:spLocks noChangeArrowheads="1"/>
          </p:cNvSpPr>
          <p:nvPr/>
        </p:nvSpPr>
        <p:spPr bwMode="auto">
          <a:xfrm>
            <a:off x="3200400" y="3505200"/>
            <a:ext cx="927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i="1">
                <a:latin typeface="Symbol" charset="2"/>
              </a:rPr>
              <a:t>a</a:t>
            </a:r>
            <a:r>
              <a:rPr lang="en-US" altLang="en-US" sz="1800" baseline="-25000">
                <a:latin typeface="Helvetica" charset="0"/>
              </a:rPr>
              <a:t>objective</a:t>
            </a:r>
            <a:endParaRPr lang="en-US" altLang="en-US" sz="1800"/>
          </a:p>
        </p:txBody>
      </p:sp>
      <p:sp>
        <p:nvSpPr>
          <p:cNvPr id="26637" name="Text Box 13"/>
          <p:cNvSpPr txBox="1">
            <a:spLocks noChangeArrowheads="1"/>
          </p:cNvSpPr>
          <p:nvPr/>
        </p:nvSpPr>
        <p:spPr bwMode="auto">
          <a:xfrm>
            <a:off x="4495800" y="2286000"/>
            <a:ext cx="443102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000" b="0" dirty="0">
                <a:solidFill>
                  <a:srgbClr val="660066"/>
                </a:solidFill>
                <a:latin typeface="Chalkboard" charset="0"/>
              </a:rPr>
              <a:t>For the highest resolution,</a:t>
            </a:r>
          </a:p>
          <a:p>
            <a:r>
              <a:rPr lang="en-US" altLang="en-US" sz="2000" b="0" dirty="0">
                <a:solidFill>
                  <a:srgbClr val="660066"/>
                </a:solidFill>
                <a:latin typeface="Chalkboard" charset="0"/>
              </a:rPr>
              <a:t>we need to have</a:t>
            </a:r>
          </a:p>
          <a:p>
            <a:endParaRPr lang="en-US" altLang="en-US" sz="2000" b="0" i="1" dirty="0">
              <a:solidFill>
                <a:srgbClr val="FF0000"/>
              </a:solidFill>
              <a:latin typeface="Helvetica" charset="0"/>
            </a:endParaRPr>
          </a:p>
          <a:p>
            <a:r>
              <a:rPr lang="en-US" altLang="en-US" sz="2000" b="0" i="1" dirty="0">
                <a:solidFill>
                  <a:srgbClr val="FF0000"/>
                </a:solidFill>
                <a:latin typeface="Helvetica" charset="0"/>
                <a:sym typeface="Symbol" charset="2"/>
              </a:rPr>
              <a:t></a:t>
            </a:r>
            <a:r>
              <a:rPr lang="en-US" altLang="en-US" sz="2000" b="0" baseline="-25000" dirty="0">
                <a:solidFill>
                  <a:srgbClr val="FF0000"/>
                </a:solidFill>
                <a:latin typeface="Helvetica" charset="0"/>
              </a:rPr>
              <a:t>condenser</a:t>
            </a:r>
            <a:r>
              <a:rPr lang="en-US" altLang="en-US" sz="2000" b="0" dirty="0">
                <a:solidFill>
                  <a:srgbClr val="FF0000"/>
                </a:solidFill>
                <a:latin typeface="Helvetica" charset="0"/>
              </a:rPr>
              <a:t> </a:t>
            </a:r>
            <a:r>
              <a:rPr lang="en-US" altLang="en-US" sz="2000" b="0" dirty="0">
                <a:solidFill>
                  <a:srgbClr val="FF0000"/>
                </a:solidFill>
                <a:latin typeface="Symbol" charset="2"/>
                <a:sym typeface="Symbol" charset="2"/>
              </a:rPr>
              <a:t></a:t>
            </a:r>
            <a:r>
              <a:rPr lang="en-US" altLang="en-US" sz="2000" b="0" dirty="0">
                <a:solidFill>
                  <a:srgbClr val="FF0000"/>
                </a:solidFill>
                <a:latin typeface="Helvetica" charset="0"/>
              </a:rPr>
              <a:t> </a:t>
            </a:r>
            <a:r>
              <a:rPr lang="en-US" altLang="en-US" sz="2000" b="0" i="1" dirty="0" smtClean="0">
                <a:solidFill>
                  <a:srgbClr val="FF0000"/>
                </a:solidFill>
                <a:latin typeface="Helvetica" charset="0"/>
                <a:sym typeface="Symbol" charset="2"/>
              </a:rPr>
              <a:t></a:t>
            </a:r>
            <a:r>
              <a:rPr lang="en-US" altLang="en-US" sz="2000" b="0" baseline="-25000" dirty="0" smtClean="0">
                <a:solidFill>
                  <a:srgbClr val="FF0000"/>
                </a:solidFill>
                <a:latin typeface="Helvetica" charset="0"/>
              </a:rPr>
              <a:t>objective</a:t>
            </a:r>
            <a:endParaRPr lang="en-US" altLang="en-US" sz="2000" b="0" i="1" dirty="0">
              <a:solidFill>
                <a:srgbClr val="FF0000"/>
              </a:solidFill>
              <a:latin typeface="Helvetica" charset="0"/>
            </a:endParaRPr>
          </a:p>
          <a:p>
            <a:r>
              <a:rPr lang="en-US" altLang="en-US" sz="2000" b="0" i="1" dirty="0">
                <a:solidFill>
                  <a:srgbClr val="FF0000"/>
                </a:solidFill>
                <a:latin typeface="Helvetica" charset="0"/>
                <a:sym typeface="Symbol" charset="2"/>
              </a:rPr>
              <a:t>        </a:t>
            </a:r>
            <a:endParaRPr lang="en-US" altLang="en-US" sz="2000" b="0" i="1" dirty="0">
              <a:solidFill>
                <a:srgbClr val="FF0000"/>
              </a:solidFill>
              <a:latin typeface="Helvetica" charset="0"/>
            </a:endParaRPr>
          </a:p>
          <a:p>
            <a:r>
              <a:rPr lang="en-US" altLang="en-US" sz="2000" b="0" i="1" dirty="0" err="1">
                <a:solidFill>
                  <a:srgbClr val="FF0000"/>
                </a:solidFill>
                <a:latin typeface="Helvetica" charset="0"/>
              </a:rPr>
              <a:t>NA</a:t>
            </a:r>
            <a:r>
              <a:rPr lang="en-US" altLang="en-US" sz="2000" b="0" baseline="-25000" dirty="0" err="1">
                <a:solidFill>
                  <a:srgbClr val="FF0000"/>
                </a:solidFill>
                <a:latin typeface="Helvetica" charset="0"/>
              </a:rPr>
              <a:t>condenser</a:t>
            </a:r>
            <a:r>
              <a:rPr lang="en-US" altLang="en-US" sz="2000" b="0" dirty="0">
                <a:solidFill>
                  <a:srgbClr val="FF0000"/>
                </a:solidFill>
                <a:latin typeface="Helvetica" charset="0"/>
              </a:rPr>
              <a:t> </a:t>
            </a:r>
            <a:r>
              <a:rPr lang="en-US" altLang="en-US" sz="2000" b="0" dirty="0">
                <a:solidFill>
                  <a:srgbClr val="FF0000"/>
                </a:solidFill>
                <a:latin typeface="Symbol" charset="2"/>
                <a:sym typeface="Symbol" charset="2"/>
              </a:rPr>
              <a:t></a:t>
            </a:r>
            <a:r>
              <a:rPr lang="en-US" altLang="en-US" sz="2000" b="0" dirty="0">
                <a:solidFill>
                  <a:srgbClr val="FF0000"/>
                </a:solidFill>
                <a:latin typeface="Helvetica" charset="0"/>
              </a:rPr>
              <a:t> </a:t>
            </a:r>
            <a:r>
              <a:rPr lang="en-US" altLang="en-US" sz="2000" b="0" i="1" dirty="0" err="1">
                <a:solidFill>
                  <a:srgbClr val="FF0000"/>
                </a:solidFill>
                <a:latin typeface="Helvetica" charset="0"/>
              </a:rPr>
              <a:t>NA</a:t>
            </a:r>
            <a:r>
              <a:rPr lang="en-US" altLang="en-US" sz="2000" b="0" baseline="-25000" dirty="0" err="1">
                <a:solidFill>
                  <a:srgbClr val="FF0000"/>
                </a:solidFill>
                <a:latin typeface="Helvetica" charset="0"/>
              </a:rPr>
              <a:t>objective</a:t>
            </a:r>
            <a:endParaRPr lang="en-US" altLang="en-US" sz="2000" b="0" baseline="-25000" dirty="0">
              <a:solidFill>
                <a:srgbClr val="FF0000"/>
              </a:solidFill>
              <a:latin typeface="Helvetica" charset="0"/>
            </a:endParaRPr>
          </a:p>
          <a:p>
            <a:endParaRPr lang="en-US" altLang="en-US" sz="2000" b="0" dirty="0">
              <a:solidFill>
                <a:srgbClr val="660066"/>
              </a:solidFill>
              <a:latin typeface="Helvetica" charset="0"/>
            </a:endParaRPr>
          </a:p>
          <a:p>
            <a:pPr>
              <a:buFont typeface="Symbol" charset="2"/>
              <a:buChar char="Þ"/>
            </a:pPr>
            <a:r>
              <a:rPr lang="en-US" altLang="en-US" sz="2000" b="0" dirty="0">
                <a:solidFill>
                  <a:srgbClr val="660066"/>
                </a:solidFill>
                <a:latin typeface="Chalkboard" charset="0"/>
              </a:rPr>
              <a:t> with oil immersion objectives,</a:t>
            </a:r>
          </a:p>
          <a:p>
            <a:pPr>
              <a:buFont typeface="Symbol" charset="2"/>
              <a:buNone/>
            </a:pPr>
            <a:r>
              <a:rPr lang="en-US" altLang="en-US" sz="2000" b="0" dirty="0">
                <a:solidFill>
                  <a:srgbClr val="660066"/>
                </a:solidFill>
                <a:latin typeface="Chalkboard" charset="0"/>
              </a:rPr>
              <a:t>we need an </a:t>
            </a:r>
            <a:r>
              <a:rPr lang="en-US" altLang="en-US" sz="2000" b="0" i="1" dirty="0">
                <a:solidFill>
                  <a:srgbClr val="660066"/>
                </a:solidFill>
                <a:latin typeface="Chalkboard" charset="0"/>
              </a:rPr>
              <a:t>oil immersion condenser!</a:t>
            </a:r>
          </a:p>
        </p:txBody>
      </p:sp>
      <p:sp>
        <p:nvSpPr>
          <p:cNvPr id="26652" name="Text Box 28"/>
          <p:cNvSpPr txBox="1">
            <a:spLocks noChangeArrowheads="1"/>
          </p:cNvSpPr>
          <p:nvPr/>
        </p:nvSpPr>
        <p:spPr bwMode="auto">
          <a:xfrm>
            <a:off x="3276600" y="4419600"/>
            <a:ext cx="10366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i="1">
                <a:latin typeface="Symbol" charset="2"/>
              </a:rPr>
              <a:t>a</a:t>
            </a:r>
            <a:r>
              <a:rPr lang="en-US" altLang="en-US" sz="1800" baseline="-25000">
                <a:latin typeface="Helvetica" charset="0"/>
              </a:rPr>
              <a:t>condenser</a:t>
            </a:r>
            <a:endParaRPr lang="en-US" altLang="en-US" sz="1800"/>
          </a:p>
        </p:txBody>
      </p:sp>
      <p:sp>
        <p:nvSpPr>
          <p:cNvPr id="26653" name="Line 29"/>
          <p:cNvSpPr>
            <a:spLocks noChangeShapeType="1"/>
          </p:cNvSpPr>
          <p:nvPr/>
        </p:nvSpPr>
        <p:spPr bwMode="auto">
          <a:xfrm>
            <a:off x="2946400" y="4013200"/>
            <a:ext cx="0" cy="533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66" name="Text Box 42"/>
          <p:cNvSpPr txBox="1">
            <a:spLocks noChangeArrowheads="1"/>
          </p:cNvSpPr>
          <p:nvPr/>
        </p:nvSpPr>
        <p:spPr bwMode="auto">
          <a:xfrm>
            <a:off x="2022475" y="131763"/>
            <a:ext cx="4700588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800" b="1">
                <a:solidFill>
                  <a:schemeClr val="tx2"/>
                </a:solidFill>
                <a:latin typeface="Chalkboard" charset="0"/>
              </a:rPr>
              <a:t>Filling the back focal plane</a:t>
            </a:r>
            <a:endParaRPr lang="en-US" altLang="en-US" sz="2000" b="1">
              <a:solidFill>
                <a:schemeClr val="tx2"/>
              </a:solidFill>
              <a:latin typeface="Chalkboard" charset="0"/>
            </a:endParaRPr>
          </a:p>
        </p:txBody>
      </p:sp>
      <p:sp>
        <p:nvSpPr>
          <p:cNvPr id="26628" name="Freeform 4"/>
          <p:cNvSpPr>
            <a:spLocks/>
          </p:cNvSpPr>
          <p:nvPr/>
        </p:nvSpPr>
        <p:spPr bwMode="auto">
          <a:xfrm>
            <a:off x="1520825" y="2819400"/>
            <a:ext cx="2578100" cy="304800"/>
          </a:xfrm>
          <a:custGeom>
            <a:avLst/>
            <a:gdLst/>
            <a:ahLst/>
            <a:cxnLst>
              <a:cxn ang="0">
                <a:pos x="0" y="102"/>
              </a:cxn>
              <a:cxn ang="0">
                <a:pos x="432" y="103"/>
              </a:cxn>
              <a:cxn ang="0">
                <a:pos x="0" y="103"/>
              </a:cxn>
            </a:cxnLst>
            <a:rect l="0" t="0" r="r" b="b"/>
            <a:pathLst>
              <a:path w="432" h="104">
                <a:moveTo>
                  <a:pt x="0" y="102"/>
                </a:moveTo>
                <a:cubicBezTo>
                  <a:pt x="181" y="100"/>
                  <a:pt x="256" y="104"/>
                  <a:pt x="432" y="103"/>
                </a:cubicBezTo>
                <a:cubicBezTo>
                  <a:pt x="256" y="0"/>
                  <a:pt x="99" y="35"/>
                  <a:pt x="0" y="103"/>
                </a:cubicBezTo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1" name="Rectangle 7"/>
          <p:cNvSpPr>
            <a:spLocks noChangeArrowheads="1"/>
          </p:cNvSpPr>
          <p:nvPr/>
        </p:nvSpPr>
        <p:spPr bwMode="auto">
          <a:xfrm>
            <a:off x="1527175" y="2057400"/>
            <a:ext cx="533400" cy="76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3552825" y="2057400"/>
            <a:ext cx="533400" cy="76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51" name="Line 27"/>
          <p:cNvSpPr>
            <a:spLocks noChangeShapeType="1"/>
          </p:cNvSpPr>
          <p:nvPr/>
        </p:nvSpPr>
        <p:spPr bwMode="auto">
          <a:xfrm flipV="1">
            <a:off x="2943225" y="3505200"/>
            <a:ext cx="0" cy="533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67" name="Rectangle 43"/>
          <p:cNvSpPr>
            <a:spLocks noChangeArrowheads="1"/>
          </p:cNvSpPr>
          <p:nvPr/>
        </p:nvSpPr>
        <p:spPr bwMode="auto">
          <a:xfrm>
            <a:off x="2181225" y="4127500"/>
            <a:ext cx="1227138" cy="117475"/>
          </a:xfrm>
          <a:prstGeom prst="rect">
            <a:avLst/>
          </a:prstGeom>
          <a:solidFill>
            <a:srgbClr val="408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1952625" y="1689100"/>
            <a:ext cx="304800" cy="1371600"/>
            <a:chOff x="1632" y="952"/>
            <a:chExt cx="192" cy="864"/>
          </a:xfrm>
        </p:grpSpPr>
        <p:sp>
          <p:nvSpPr>
            <p:cNvPr id="26675" name="Line 51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6" name="Line 52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54"/>
          <p:cNvGrpSpPr>
            <a:grpSpLocks/>
          </p:cNvGrpSpPr>
          <p:nvPr/>
        </p:nvGrpSpPr>
        <p:grpSpPr bwMode="auto">
          <a:xfrm>
            <a:off x="2181225" y="1689100"/>
            <a:ext cx="304800" cy="1371600"/>
            <a:chOff x="1632" y="952"/>
            <a:chExt cx="192" cy="864"/>
          </a:xfrm>
        </p:grpSpPr>
        <p:sp>
          <p:nvSpPr>
            <p:cNvPr id="26679" name="Line 55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0" name="Line 56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57"/>
          <p:cNvGrpSpPr>
            <a:grpSpLocks/>
          </p:cNvGrpSpPr>
          <p:nvPr/>
        </p:nvGrpSpPr>
        <p:grpSpPr bwMode="auto">
          <a:xfrm>
            <a:off x="2409825" y="1689100"/>
            <a:ext cx="304800" cy="1371600"/>
            <a:chOff x="1632" y="952"/>
            <a:chExt cx="192" cy="864"/>
          </a:xfrm>
        </p:grpSpPr>
        <p:sp>
          <p:nvSpPr>
            <p:cNvPr id="26682" name="Line 58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3" name="Line 59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2638425" y="1689100"/>
            <a:ext cx="304800" cy="1371600"/>
            <a:chOff x="1632" y="952"/>
            <a:chExt cx="192" cy="864"/>
          </a:xfrm>
        </p:grpSpPr>
        <p:sp>
          <p:nvSpPr>
            <p:cNvPr id="26685" name="Line 61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6" name="Line 62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63"/>
          <p:cNvGrpSpPr>
            <a:grpSpLocks/>
          </p:cNvGrpSpPr>
          <p:nvPr/>
        </p:nvGrpSpPr>
        <p:grpSpPr bwMode="auto">
          <a:xfrm>
            <a:off x="2867025" y="1689100"/>
            <a:ext cx="304800" cy="1371600"/>
            <a:chOff x="1632" y="952"/>
            <a:chExt cx="192" cy="864"/>
          </a:xfrm>
        </p:grpSpPr>
        <p:sp>
          <p:nvSpPr>
            <p:cNvPr id="26688" name="Line 64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9" name="Line 65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" name="Group 66"/>
          <p:cNvGrpSpPr>
            <a:grpSpLocks/>
          </p:cNvGrpSpPr>
          <p:nvPr/>
        </p:nvGrpSpPr>
        <p:grpSpPr bwMode="auto">
          <a:xfrm>
            <a:off x="3095625" y="1689100"/>
            <a:ext cx="304800" cy="1371600"/>
            <a:chOff x="1632" y="952"/>
            <a:chExt cx="192" cy="864"/>
          </a:xfrm>
        </p:grpSpPr>
        <p:sp>
          <p:nvSpPr>
            <p:cNvPr id="26691" name="Line 67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92" name="Line 68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69"/>
          <p:cNvGrpSpPr>
            <a:grpSpLocks/>
          </p:cNvGrpSpPr>
          <p:nvPr/>
        </p:nvGrpSpPr>
        <p:grpSpPr bwMode="auto">
          <a:xfrm>
            <a:off x="3324225" y="1689100"/>
            <a:ext cx="304800" cy="1371600"/>
            <a:chOff x="1632" y="952"/>
            <a:chExt cx="192" cy="864"/>
          </a:xfrm>
        </p:grpSpPr>
        <p:sp>
          <p:nvSpPr>
            <p:cNvPr id="26694" name="Line 70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95" name="Line 71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697" name="Line 73"/>
          <p:cNvSpPr>
            <a:spLocks noChangeShapeType="1"/>
          </p:cNvSpPr>
          <p:nvPr/>
        </p:nvSpPr>
        <p:spPr bwMode="auto">
          <a:xfrm>
            <a:off x="2943225" y="3060700"/>
            <a:ext cx="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99" name="Line 75"/>
          <p:cNvSpPr>
            <a:spLocks noChangeShapeType="1"/>
          </p:cNvSpPr>
          <p:nvPr/>
        </p:nvSpPr>
        <p:spPr bwMode="auto">
          <a:xfrm flipH="1">
            <a:off x="2943225" y="30607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15" name="Line 91"/>
          <p:cNvSpPr>
            <a:spLocks noChangeShapeType="1"/>
          </p:cNvSpPr>
          <p:nvPr/>
        </p:nvSpPr>
        <p:spPr bwMode="auto">
          <a:xfrm>
            <a:off x="2257425" y="30607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16" name="Line 92"/>
          <p:cNvSpPr>
            <a:spLocks noChangeShapeType="1"/>
          </p:cNvSpPr>
          <p:nvPr/>
        </p:nvSpPr>
        <p:spPr bwMode="auto">
          <a:xfrm>
            <a:off x="2486025" y="30607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17" name="Line 93"/>
          <p:cNvSpPr>
            <a:spLocks noChangeShapeType="1"/>
          </p:cNvSpPr>
          <p:nvPr/>
        </p:nvSpPr>
        <p:spPr bwMode="auto">
          <a:xfrm>
            <a:off x="2714625" y="30607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18" name="Line 94"/>
          <p:cNvSpPr>
            <a:spLocks noChangeShapeType="1"/>
          </p:cNvSpPr>
          <p:nvPr/>
        </p:nvSpPr>
        <p:spPr bwMode="auto">
          <a:xfrm flipH="1">
            <a:off x="2943225" y="30607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19" name="Line 95"/>
          <p:cNvSpPr>
            <a:spLocks noChangeShapeType="1"/>
          </p:cNvSpPr>
          <p:nvPr/>
        </p:nvSpPr>
        <p:spPr bwMode="auto">
          <a:xfrm flipH="1">
            <a:off x="2943225" y="30607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0" name="Line 96"/>
          <p:cNvSpPr>
            <a:spLocks noChangeShapeType="1"/>
          </p:cNvSpPr>
          <p:nvPr/>
        </p:nvSpPr>
        <p:spPr bwMode="auto">
          <a:xfrm>
            <a:off x="2638425" y="3060700"/>
            <a:ext cx="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1" name="Line 97"/>
          <p:cNvSpPr>
            <a:spLocks noChangeShapeType="1"/>
          </p:cNvSpPr>
          <p:nvPr/>
        </p:nvSpPr>
        <p:spPr bwMode="auto">
          <a:xfrm flipH="1">
            <a:off x="2638425" y="30607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2" name="Line 98"/>
          <p:cNvSpPr>
            <a:spLocks noChangeShapeType="1"/>
          </p:cNvSpPr>
          <p:nvPr/>
        </p:nvSpPr>
        <p:spPr bwMode="auto">
          <a:xfrm>
            <a:off x="1952625" y="30607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3" name="Line 99"/>
          <p:cNvSpPr>
            <a:spLocks noChangeShapeType="1"/>
          </p:cNvSpPr>
          <p:nvPr/>
        </p:nvSpPr>
        <p:spPr bwMode="auto">
          <a:xfrm>
            <a:off x="2181225" y="30607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4" name="Line 100"/>
          <p:cNvSpPr>
            <a:spLocks noChangeShapeType="1"/>
          </p:cNvSpPr>
          <p:nvPr/>
        </p:nvSpPr>
        <p:spPr bwMode="auto">
          <a:xfrm>
            <a:off x="2409825" y="30607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5" name="Line 101"/>
          <p:cNvSpPr>
            <a:spLocks noChangeShapeType="1"/>
          </p:cNvSpPr>
          <p:nvPr/>
        </p:nvSpPr>
        <p:spPr bwMode="auto">
          <a:xfrm flipH="1">
            <a:off x="2638425" y="30607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6" name="Line 102"/>
          <p:cNvSpPr>
            <a:spLocks noChangeShapeType="1"/>
          </p:cNvSpPr>
          <p:nvPr/>
        </p:nvSpPr>
        <p:spPr bwMode="auto">
          <a:xfrm flipH="1">
            <a:off x="2638425" y="30607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8" name="Arc 104"/>
          <p:cNvSpPr>
            <a:spLocks/>
          </p:cNvSpPr>
          <p:nvPr/>
        </p:nvSpPr>
        <p:spPr bwMode="auto">
          <a:xfrm>
            <a:off x="2943225" y="3659188"/>
            <a:ext cx="284163" cy="458787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12773"/>
              <a:gd name="T1" fmla="*/ 0 h 21600"/>
              <a:gd name="T2" fmla="*/ 12773 w 12773"/>
              <a:gd name="T3" fmla="*/ 4182 h 21600"/>
              <a:gd name="T4" fmla="*/ 0 w 1277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773" h="21600" fill="none" extrusionOk="0">
                <a:moveTo>
                  <a:pt x="-1" y="0"/>
                </a:moveTo>
                <a:cubicBezTo>
                  <a:pt x="4594" y="0"/>
                  <a:pt x="9068" y="1464"/>
                  <a:pt x="12773" y="4181"/>
                </a:cubicBezTo>
              </a:path>
              <a:path w="12773" h="21600" stroke="0" extrusionOk="0">
                <a:moveTo>
                  <a:pt x="-1" y="0"/>
                </a:moveTo>
                <a:cubicBezTo>
                  <a:pt x="4594" y="0"/>
                  <a:pt x="9068" y="1464"/>
                  <a:pt x="12773" y="4181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9" name="Text Box 105"/>
          <p:cNvSpPr txBox="1">
            <a:spLocks noChangeArrowheads="1"/>
          </p:cNvSpPr>
          <p:nvPr/>
        </p:nvSpPr>
        <p:spPr bwMode="auto">
          <a:xfrm>
            <a:off x="533400" y="838200"/>
            <a:ext cx="7654925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2000" i="1">
                <a:solidFill>
                  <a:schemeClr val="accent2"/>
                </a:solidFill>
                <a:latin typeface="Chalkboard" charset="0"/>
              </a:rPr>
              <a:t>In trans-illumination microscopy</a:t>
            </a:r>
            <a:r>
              <a:rPr lang="en-US" altLang="en-US" sz="2000">
                <a:solidFill>
                  <a:schemeClr val="accent2"/>
                </a:solidFill>
                <a:latin typeface="Chalkboard" charset="0"/>
              </a:rPr>
              <a:t>, to get maximum resolution,</a:t>
            </a:r>
          </a:p>
          <a:p>
            <a:pPr algn="ctr"/>
            <a:r>
              <a:rPr lang="en-US" altLang="en-US" sz="2000">
                <a:solidFill>
                  <a:schemeClr val="accent2"/>
                </a:solidFill>
                <a:latin typeface="Chalkboard" charset="0"/>
              </a:rPr>
              <a:t>the illumination must “fill the back focal plane”</a:t>
            </a:r>
          </a:p>
        </p:txBody>
      </p:sp>
      <p:sp>
        <p:nvSpPr>
          <p:cNvPr id="26814" name="Line 190"/>
          <p:cNvSpPr>
            <a:spLocks noChangeShapeType="1"/>
          </p:cNvSpPr>
          <p:nvPr/>
        </p:nvSpPr>
        <p:spPr bwMode="auto">
          <a:xfrm flipV="1">
            <a:off x="19526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15" name="Line 191"/>
          <p:cNvSpPr>
            <a:spLocks noChangeShapeType="1"/>
          </p:cNvSpPr>
          <p:nvPr/>
        </p:nvSpPr>
        <p:spPr bwMode="auto">
          <a:xfrm flipH="1" flipV="1">
            <a:off x="21050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17" name="Line 193"/>
          <p:cNvSpPr>
            <a:spLocks noChangeShapeType="1"/>
          </p:cNvSpPr>
          <p:nvPr/>
        </p:nvSpPr>
        <p:spPr bwMode="auto">
          <a:xfrm flipV="1">
            <a:off x="21812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18" name="Line 194"/>
          <p:cNvSpPr>
            <a:spLocks noChangeShapeType="1"/>
          </p:cNvSpPr>
          <p:nvPr/>
        </p:nvSpPr>
        <p:spPr bwMode="auto">
          <a:xfrm flipH="1" flipV="1">
            <a:off x="23336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0" name="Line 196"/>
          <p:cNvSpPr>
            <a:spLocks noChangeShapeType="1"/>
          </p:cNvSpPr>
          <p:nvPr/>
        </p:nvSpPr>
        <p:spPr bwMode="auto">
          <a:xfrm flipV="1">
            <a:off x="24098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1" name="Line 197"/>
          <p:cNvSpPr>
            <a:spLocks noChangeShapeType="1"/>
          </p:cNvSpPr>
          <p:nvPr/>
        </p:nvSpPr>
        <p:spPr bwMode="auto">
          <a:xfrm flipH="1" flipV="1">
            <a:off x="25622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3" name="Line 199"/>
          <p:cNvSpPr>
            <a:spLocks noChangeShapeType="1"/>
          </p:cNvSpPr>
          <p:nvPr/>
        </p:nvSpPr>
        <p:spPr bwMode="auto">
          <a:xfrm flipV="1">
            <a:off x="26384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4" name="Line 200"/>
          <p:cNvSpPr>
            <a:spLocks noChangeShapeType="1"/>
          </p:cNvSpPr>
          <p:nvPr/>
        </p:nvSpPr>
        <p:spPr bwMode="auto">
          <a:xfrm flipH="1" flipV="1">
            <a:off x="27908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6" name="Line 202"/>
          <p:cNvSpPr>
            <a:spLocks noChangeShapeType="1"/>
          </p:cNvSpPr>
          <p:nvPr/>
        </p:nvSpPr>
        <p:spPr bwMode="auto">
          <a:xfrm flipV="1">
            <a:off x="28670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7" name="Line 203"/>
          <p:cNvSpPr>
            <a:spLocks noChangeShapeType="1"/>
          </p:cNvSpPr>
          <p:nvPr/>
        </p:nvSpPr>
        <p:spPr bwMode="auto">
          <a:xfrm flipH="1" flipV="1">
            <a:off x="30194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9" name="Line 205"/>
          <p:cNvSpPr>
            <a:spLocks noChangeShapeType="1"/>
          </p:cNvSpPr>
          <p:nvPr/>
        </p:nvSpPr>
        <p:spPr bwMode="auto">
          <a:xfrm flipV="1">
            <a:off x="30956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0" name="Line 206"/>
          <p:cNvSpPr>
            <a:spLocks noChangeShapeType="1"/>
          </p:cNvSpPr>
          <p:nvPr/>
        </p:nvSpPr>
        <p:spPr bwMode="auto">
          <a:xfrm flipH="1" flipV="1">
            <a:off x="32480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2" name="Line 208"/>
          <p:cNvSpPr>
            <a:spLocks noChangeShapeType="1"/>
          </p:cNvSpPr>
          <p:nvPr/>
        </p:nvSpPr>
        <p:spPr bwMode="auto">
          <a:xfrm flipV="1">
            <a:off x="33242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3" name="Line 209"/>
          <p:cNvSpPr>
            <a:spLocks noChangeShapeType="1"/>
          </p:cNvSpPr>
          <p:nvPr/>
        </p:nvSpPr>
        <p:spPr bwMode="auto">
          <a:xfrm flipH="1" flipV="1">
            <a:off x="34766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4" name="Freeform 210"/>
          <p:cNvSpPr>
            <a:spLocks/>
          </p:cNvSpPr>
          <p:nvPr/>
        </p:nvSpPr>
        <p:spPr bwMode="auto">
          <a:xfrm flipV="1">
            <a:off x="1524000" y="5257800"/>
            <a:ext cx="2578100" cy="304800"/>
          </a:xfrm>
          <a:custGeom>
            <a:avLst/>
            <a:gdLst/>
            <a:ahLst/>
            <a:cxnLst>
              <a:cxn ang="0">
                <a:pos x="0" y="102"/>
              </a:cxn>
              <a:cxn ang="0">
                <a:pos x="432" y="103"/>
              </a:cxn>
              <a:cxn ang="0">
                <a:pos x="0" y="103"/>
              </a:cxn>
            </a:cxnLst>
            <a:rect l="0" t="0" r="r" b="b"/>
            <a:pathLst>
              <a:path w="432" h="104">
                <a:moveTo>
                  <a:pt x="0" y="102"/>
                </a:moveTo>
                <a:cubicBezTo>
                  <a:pt x="181" y="100"/>
                  <a:pt x="256" y="104"/>
                  <a:pt x="432" y="103"/>
                </a:cubicBezTo>
                <a:cubicBezTo>
                  <a:pt x="256" y="0"/>
                  <a:pt x="99" y="35"/>
                  <a:pt x="0" y="103"/>
                </a:cubicBezTo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7" name="Line 213"/>
          <p:cNvSpPr>
            <a:spLocks noChangeShapeType="1"/>
          </p:cNvSpPr>
          <p:nvPr/>
        </p:nvSpPr>
        <p:spPr bwMode="auto">
          <a:xfrm>
            <a:off x="2946400" y="4343400"/>
            <a:ext cx="0" cy="533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8" name="Line 214"/>
          <p:cNvSpPr>
            <a:spLocks noChangeShapeType="1"/>
          </p:cNvSpPr>
          <p:nvPr/>
        </p:nvSpPr>
        <p:spPr bwMode="auto">
          <a:xfrm flipV="1">
            <a:off x="2946400" y="4191000"/>
            <a:ext cx="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39" name="Line 215"/>
          <p:cNvSpPr>
            <a:spLocks noChangeShapeType="1"/>
          </p:cNvSpPr>
          <p:nvPr/>
        </p:nvSpPr>
        <p:spPr bwMode="auto">
          <a:xfrm flipH="1" flipV="1">
            <a:off x="2946400" y="41910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0" name="Line 216"/>
          <p:cNvSpPr>
            <a:spLocks noChangeShapeType="1"/>
          </p:cNvSpPr>
          <p:nvPr/>
        </p:nvSpPr>
        <p:spPr bwMode="auto">
          <a:xfrm flipV="1">
            <a:off x="2260600" y="41910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1" name="Line 217"/>
          <p:cNvSpPr>
            <a:spLocks noChangeShapeType="1"/>
          </p:cNvSpPr>
          <p:nvPr/>
        </p:nvSpPr>
        <p:spPr bwMode="auto">
          <a:xfrm flipV="1">
            <a:off x="2489200" y="41910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2" name="Line 218"/>
          <p:cNvSpPr>
            <a:spLocks noChangeShapeType="1"/>
          </p:cNvSpPr>
          <p:nvPr/>
        </p:nvSpPr>
        <p:spPr bwMode="auto">
          <a:xfrm flipV="1">
            <a:off x="2717800" y="41910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3" name="Line 219"/>
          <p:cNvSpPr>
            <a:spLocks noChangeShapeType="1"/>
          </p:cNvSpPr>
          <p:nvPr/>
        </p:nvSpPr>
        <p:spPr bwMode="auto">
          <a:xfrm flipH="1" flipV="1">
            <a:off x="2946400" y="41910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4" name="Line 220"/>
          <p:cNvSpPr>
            <a:spLocks noChangeShapeType="1"/>
          </p:cNvSpPr>
          <p:nvPr/>
        </p:nvSpPr>
        <p:spPr bwMode="auto">
          <a:xfrm flipH="1" flipV="1">
            <a:off x="2946400" y="41910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5" name="Line 221"/>
          <p:cNvSpPr>
            <a:spLocks noChangeShapeType="1"/>
          </p:cNvSpPr>
          <p:nvPr/>
        </p:nvSpPr>
        <p:spPr bwMode="auto">
          <a:xfrm flipV="1">
            <a:off x="2641600" y="4191000"/>
            <a:ext cx="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6" name="Line 222"/>
          <p:cNvSpPr>
            <a:spLocks noChangeShapeType="1"/>
          </p:cNvSpPr>
          <p:nvPr/>
        </p:nvSpPr>
        <p:spPr bwMode="auto">
          <a:xfrm flipH="1" flipV="1">
            <a:off x="2641600" y="41910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7" name="Line 223"/>
          <p:cNvSpPr>
            <a:spLocks noChangeShapeType="1"/>
          </p:cNvSpPr>
          <p:nvPr/>
        </p:nvSpPr>
        <p:spPr bwMode="auto">
          <a:xfrm flipV="1">
            <a:off x="1955800" y="41910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8" name="Line 224"/>
          <p:cNvSpPr>
            <a:spLocks noChangeShapeType="1"/>
          </p:cNvSpPr>
          <p:nvPr/>
        </p:nvSpPr>
        <p:spPr bwMode="auto">
          <a:xfrm flipV="1">
            <a:off x="2184400" y="41910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9" name="Line 225"/>
          <p:cNvSpPr>
            <a:spLocks noChangeShapeType="1"/>
          </p:cNvSpPr>
          <p:nvPr/>
        </p:nvSpPr>
        <p:spPr bwMode="auto">
          <a:xfrm flipV="1">
            <a:off x="2413000" y="41910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50" name="Line 226"/>
          <p:cNvSpPr>
            <a:spLocks noChangeShapeType="1"/>
          </p:cNvSpPr>
          <p:nvPr/>
        </p:nvSpPr>
        <p:spPr bwMode="auto">
          <a:xfrm flipH="1" flipV="1">
            <a:off x="2641600" y="41910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51" name="Line 227"/>
          <p:cNvSpPr>
            <a:spLocks noChangeShapeType="1"/>
          </p:cNvSpPr>
          <p:nvPr/>
        </p:nvSpPr>
        <p:spPr bwMode="auto">
          <a:xfrm flipH="1" flipV="1">
            <a:off x="2641600" y="41910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52" name="Arc 228"/>
          <p:cNvSpPr>
            <a:spLocks/>
          </p:cNvSpPr>
          <p:nvPr/>
        </p:nvSpPr>
        <p:spPr bwMode="auto">
          <a:xfrm flipV="1">
            <a:off x="2946400" y="4265613"/>
            <a:ext cx="293688" cy="458787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13231"/>
              <a:gd name="T1" fmla="*/ 0 h 21600"/>
              <a:gd name="T2" fmla="*/ 13231 w 13231"/>
              <a:gd name="T3" fmla="*/ 4527 h 21600"/>
              <a:gd name="T4" fmla="*/ 0 w 13231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231" h="21600" fill="none" extrusionOk="0">
                <a:moveTo>
                  <a:pt x="-1" y="0"/>
                </a:moveTo>
                <a:cubicBezTo>
                  <a:pt x="4790" y="0"/>
                  <a:pt x="9444" y="1592"/>
                  <a:pt x="13231" y="4526"/>
                </a:cubicBezTo>
              </a:path>
              <a:path w="13231" h="21600" stroke="0" extrusionOk="0">
                <a:moveTo>
                  <a:pt x="-1" y="0"/>
                </a:moveTo>
                <a:cubicBezTo>
                  <a:pt x="4790" y="0"/>
                  <a:pt x="9444" y="1592"/>
                  <a:pt x="13231" y="4526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53" name="Line 229"/>
          <p:cNvSpPr>
            <a:spLocks noChangeShapeType="1"/>
          </p:cNvSpPr>
          <p:nvPr/>
        </p:nvSpPr>
        <p:spPr bwMode="auto">
          <a:xfrm>
            <a:off x="19558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54" name="Line 230"/>
          <p:cNvSpPr>
            <a:spLocks noChangeShapeType="1"/>
          </p:cNvSpPr>
          <p:nvPr/>
        </p:nvSpPr>
        <p:spPr bwMode="auto">
          <a:xfrm flipH="1">
            <a:off x="21082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55" name="Line 231"/>
          <p:cNvSpPr>
            <a:spLocks noChangeShapeType="1"/>
          </p:cNvSpPr>
          <p:nvPr/>
        </p:nvSpPr>
        <p:spPr bwMode="auto">
          <a:xfrm>
            <a:off x="21844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56" name="Line 232"/>
          <p:cNvSpPr>
            <a:spLocks noChangeShapeType="1"/>
          </p:cNvSpPr>
          <p:nvPr/>
        </p:nvSpPr>
        <p:spPr bwMode="auto">
          <a:xfrm flipH="1">
            <a:off x="23368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57" name="Line 233"/>
          <p:cNvSpPr>
            <a:spLocks noChangeShapeType="1"/>
          </p:cNvSpPr>
          <p:nvPr/>
        </p:nvSpPr>
        <p:spPr bwMode="auto">
          <a:xfrm>
            <a:off x="24130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58" name="Line 234"/>
          <p:cNvSpPr>
            <a:spLocks noChangeShapeType="1"/>
          </p:cNvSpPr>
          <p:nvPr/>
        </p:nvSpPr>
        <p:spPr bwMode="auto">
          <a:xfrm flipH="1">
            <a:off x="25654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59" name="Line 235"/>
          <p:cNvSpPr>
            <a:spLocks noChangeShapeType="1"/>
          </p:cNvSpPr>
          <p:nvPr/>
        </p:nvSpPr>
        <p:spPr bwMode="auto">
          <a:xfrm>
            <a:off x="26416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0" name="Line 236"/>
          <p:cNvSpPr>
            <a:spLocks noChangeShapeType="1"/>
          </p:cNvSpPr>
          <p:nvPr/>
        </p:nvSpPr>
        <p:spPr bwMode="auto">
          <a:xfrm flipH="1">
            <a:off x="27940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1" name="Line 237"/>
          <p:cNvSpPr>
            <a:spLocks noChangeShapeType="1"/>
          </p:cNvSpPr>
          <p:nvPr/>
        </p:nvSpPr>
        <p:spPr bwMode="auto">
          <a:xfrm>
            <a:off x="28702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2" name="Line 238"/>
          <p:cNvSpPr>
            <a:spLocks noChangeShapeType="1"/>
          </p:cNvSpPr>
          <p:nvPr/>
        </p:nvSpPr>
        <p:spPr bwMode="auto">
          <a:xfrm flipH="1">
            <a:off x="30226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3" name="Line 239"/>
          <p:cNvSpPr>
            <a:spLocks noChangeShapeType="1"/>
          </p:cNvSpPr>
          <p:nvPr/>
        </p:nvSpPr>
        <p:spPr bwMode="auto">
          <a:xfrm>
            <a:off x="30988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4" name="Line 240"/>
          <p:cNvSpPr>
            <a:spLocks noChangeShapeType="1"/>
          </p:cNvSpPr>
          <p:nvPr/>
        </p:nvSpPr>
        <p:spPr bwMode="auto">
          <a:xfrm flipH="1">
            <a:off x="32512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5" name="Line 241"/>
          <p:cNvSpPr>
            <a:spLocks noChangeShapeType="1"/>
          </p:cNvSpPr>
          <p:nvPr/>
        </p:nvSpPr>
        <p:spPr bwMode="auto">
          <a:xfrm>
            <a:off x="33274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6" name="Line 242"/>
          <p:cNvSpPr>
            <a:spLocks noChangeShapeType="1"/>
          </p:cNvSpPr>
          <p:nvPr/>
        </p:nvSpPr>
        <p:spPr bwMode="auto">
          <a:xfrm flipH="1">
            <a:off x="34798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902" name="Rectangle 278"/>
          <p:cNvSpPr>
            <a:spLocks noChangeArrowheads="1"/>
          </p:cNvSpPr>
          <p:nvPr/>
        </p:nvSpPr>
        <p:spPr bwMode="auto">
          <a:xfrm>
            <a:off x="352425" y="2895600"/>
            <a:ext cx="1077913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Objective</a:t>
            </a:r>
            <a:endParaRPr lang="en-US" sz="16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26903" name="Rectangle 279"/>
          <p:cNvSpPr>
            <a:spLocks noChangeArrowheads="1"/>
          </p:cNvSpPr>
          <p:nvPr/>
        </p:nvSpPr>
        <p:spPr bwMode="auto">
          <a:xfrm>
            <a:off x="352425" y="5105400"/>
            <a:ext cx="110172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Condenser</a:t>
            </a:r>
            <a:endParaRPr lang="en-US" sz="16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26904" name="Rectangle 280"/>
          <p:cNvSpPr>
            <a:spLocks noChangeArrowheads="1"/>
          </p:cNvSpPr>
          <p:nvPr/>
        </p:nvSpPr>
        <p:spPr bwMode="auto">
          <a:xfrm>
            <a:off x="352425" y="6248400"/>
            <a:ext cx="13239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Light source</a:t>
            </a:r>
            <a:endParaRPr lang="en-US" sz="16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26905" name="Rectangle 281"/>
          <p:cNvSpPr>
            <a:spLocks noChangeArrowheads="1"/>
          </p:cNvSpPr>
          <p:nvPr/>
        </p:nvSpPr>
        <p:spPr bwMode="auto">
          <a:xfrm>
            <a:off x="590550" y="1758950"/>
            <a:ext cx="671513" cy="63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Back</a:t>
            </a:r>
          </a:p>
          <a:p>
            <a:pPr>
              <a:lnSpc>
                <a:spcPct val="70000"/>
              </a:lnSpc>
            </a:pPr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focal</a:t>
            </a:r>
          </a:p>
          <a:p>
            <a:pPr>
              <a:lnSpc>
                <a:spcPct val="70000"/>
              </a:lnSpc>
            </a:pPr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plane</a:t>
            </a:r>
            <a:endParaRPr lang="en-US" sz="16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26906" name="Rectangle 282"/>
          <p:cNvSpPr>
            <a:spLocks noChangeArrowheads="1"/>
          </p:cNvSpPr>
          <p:nvPr/>
        </p:nvSpPr>
        <p:spPr bwMode="auto">
          <a:xfrm flipV="1">
            <a:off x="3575050" y="6248400"/>
            <a:ext cx="387350" cy="76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907" name="Rectangle 283"/>
          <p:cNvSpPr>
            <a:spLocks noChangeArrowheads="1"/>
          </p:cNvSpPr>
          <p:nvPr/>
        </p:nvSpPr>
        <p:spPr bwMode="auto">
          <a:xfrm flipV="1">
            <a:off x="1676400" y="6248400"/>
            <a:ext cx="387350" cy="76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ChangeArrowheads="1"/>
          </p:cNvSpPr>
          <p:nvPr/>
        </p:nvSpPr>
        <p:spPr bwMode="auto">
          <a:xfrm>
            <a:off x="685800" y="152400"/>
            <a:ext cx="777240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800" b="1">
                <a:solidFill>
                  <a:schemeClr val="tx2"/>
                </a:solidFill>
                <a:latin typeface="Chalkboard" charset="0"/>
              </a:rPr>
              <a:t>Aperture, Resolution &amp; Contrast</a:t>
            </a:r>
          </a:p>
        </p:txBody>
      </p:sp>
      <p:sp>
        <p:nvSpPr>
          <p:cNvPr id="109571" name="Text Box 3"/>
          <p:cNvSpPr txBox="1">
            <a:spLocks noChangeArrowheads="1"/>
          </p:cNvSpPr>
          <p:nvPr/>
        </p:nvSpPr>
        <p:spPr bwMode="auto">
          <a:xfrm>
            <a:off x="619125" y="706438"/>
            <a:ext cx="7654925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2000">
                <a:solidFill>
                  <a:schemeClr val="accent2"/>
                </a:solidFill>
                <a:latin typeface="Chalkboard" charset="0"/>
              </a:rPr>
              <a:t>Can adjust the condenser NA with the </a:t>
            </a:r>
            <a:r>
              <a:rPr lang="en-US" altLang="en-US" sz="2000" b="1">
                <a:solidFill>
                  <a:schemeClr val="accent2"/>
                </a:solidFill>
                <a:latin typeface="Chalkboard" charset="0"/>
              </a:rPr>
              <a:t>aperture iris</a:t>
            </a:r>
            <a:endParaRPr lang="en-US" altLang="en-US" sz="20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109572" name="Rectangle 4"/>
          <p:cNvSpPr>
            <a:spLocks noChangeArrowheads="1"/>
          </p:cNvSpPr>
          <p:nvPr/>
        </p:nvSpPr>
        <p:spPr bwMode="auto">
          <a:xfrm>
            <a:off x="2622550" y="3571875"/>
            <a:ext cx="836613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Sample</a:t>
            </a:r>
          </a:p>
        </p:txBody>
      </p:sp>
      <p:sp>
        <p:nvSpPr>
          <p:cNvPr id="109573" name="Rectangle 5"/>
          <p:cNvSpPr>
            <a:spLocks noChangeArrowheads="1"/>
          </p:cNvSpPr>
          <p:nvPr/>
        </p:nvSpPr>
        <p:spPr bwMode="auto">
          <a:xfrm>
            <a:off x="2239963" y="3333750"/>
            <a:ext cx="1077912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Objective</a:t>
            </a:r>
          </a:p>
        </p:txBody>
      </p:sp>
      <p:sp>
        <p:nvSpPr>
          <p:cNvPr id="109574" name="Rectangle 6"/>
          <p:cNvSpPr>
            <a:spLocks noChangeArrowheads="1"/>
          </p:cNvSpPr>
          <p:nvPr/>
        </p:nvSpPr>
        <p:spPr bwMode="auto">
          <a:xfrm>
            <a:off x="1949450" y="2530475"/>
            <a:ext cx="10699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Tube lens</a:t>
            </a:r>
          </a:p>
        </p:txBody>
      </p:sp>
      <p:sp>
        <p:nvSpPr>
          <p:cNvPr id="109575" name="Freeform 7"/>
          <p:cNvSpPr>
            <a:spLocks/>
          </p:cNvSpPr>
          <p:nvPr/>
        </p:nvSpPr>
        <p:spPr bwMode="auto">
          <a:xfrm rot="16200000" flipV="1">
            <a:off x="3563144" y="2340769"/>
            <a:ext cx="115887" cy="8794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6" name="Freeform 8"/>
          <p:cNvSpPr>
            <a:spLocks/>
          </p:cNvSpPr>
          <p:nvPr/>
        </p:nvSpPr>
        <p:spPr bwMode="auto">
          <a:xfrm rot="-16200000">
            <a:off x="3544888" y="3205163"/>
            <a:ext cx="146050" cy="571500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7" name="Line 9"/>
          <p:cNvSpPr>
            <a:spLocks noChangeShapeType="1"/>
          </p:cNvSpPr>
          <p:nvPr/>
        </p:nvSpPr>
        <p:spPr bwMode="auto">
          <a:xfrm>
            <a:off x="3460750" y="3778250"/>
            <a:ext cx="323850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8" name="Freeform 10"/>
          <p:cNvSpPr>
            <a:spLocks/>
          </p:cNvSpPr>
          <p:nvPr/>
        </p:nvSpPr>
        <p:spPr bwMode="auto">
          <a:xfrm>
            <a:off x="3457575" y="1709738"/>
            <a:ext cx="371475" cy="2047875"/>
          </a:xfrm>
          <a:custGeom>
            <a:avLst/>
            <a:gdLst/>
            <a:ahLst/>
            <a:cxnLst>
              <a:cxn ang="0">
                <a:pos x="98" y="1290"/>
              </a:cxn>
              <a:cxn ang="0">
                <a:pos x="0" y="1139"/>
              </a:cxn>
              <a:cxn ang="0">
                <a:pos x="0" y="670"/>
              </a:cxn>
              <a:cxn ang="0">
                <a:pos x="234" y="0"/>
              </a:cxn>
            </a:cxnLst>
            <a:rect l="0" t="0" r="r" b="b"/>
            <a:pathLst>
              <a:path w="234" h="1290">
                <a:moveTo>
                  <a:pt x="98" y="1290"/>
                </a:moveTo>
                <a:lnTo>
                  <a:pt x="0" y="1139"/>
                </a:lnTo>
                <a:lnTo>
                  <a:pt x="0" y="670"/>
                </a:lnTo>
                <a:lnTo>
                  <a:pt x="234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9" name="Freeform 11"/>
          <p:cNvSpPr>
            <a:spLocks/>
          </p:cNvSpPr>
          <p:nvPr/>
        </p:nvSpPr>
        <p:spPr bwMode="auto">
          <a:xfrm>
            <a:off x="3403600" y="1709738"/>
            <a:ext cx="373063" cy="2065337"/>
          </a:xfrm>
          <a:custGeom>
            <a:avLst/>
            <a:gdLst/>
            <a:ahLst/>
            <a:cxnLst>
              <a:cxn ang="0">
                <a:pos x="132" y="1301"/>
              </a:cxn>
              <a:cxn ang="0">
                <a:pos x="235" y="1139"/>
              </a:cxn>
              <a:cxn ang="0">
                <a:pos x="235" y="670"/>
              </a:cxn>
              <a:cxn ang="0">
                <a:pos x="0" y="0"/>
              </a:cxn>
            </a:cxnLst>
            <a:rect l="0" t="0" r="r" b="b"/>
            <a:pathLst>
              <a:path w="235" h="1301">
                <a:moveTo>
                  <a:pt x="132" y="1301"/>
                </a:moveTo>
                <a:lnTo>
                  <a:pt x="235" y="1139"/>
                </a:lnTo>
                <a:lnTo>
                  <a:pt x="235" y="67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0" name="Freeform 12"/>
          <p:cNvSpPr>
            <a:spLocks/>
          </p:cNvSpPr>
          <p:nvPr/>
        </p:nvSpPr>
        <p:spPr bwMode="auto">
          <a:xfrm>
            <a:off x="3222625" y="1714500"/>
            <a:ext cx="514350" cy="2049463"/>
          </a:xfrm>
          <a:custGeom>
            <a:avLst/>
            <a:gdLst/>
            <a:ahLst/>
            <a:cxnLst>
              <a:cxn ang="0">
                <a:pos x="324" y="1291"/>
              </a:cxn>
              <a:cxn ang="0">
                <a:pos x="226" y="1140"/>
              </a:cxn>
              <a:cxn ang="0">
                <a:pos x="0" y="647"/>
              </a:cxn>
              <a:cxn ang="0">
                <a:pos x="268" y="0"/>
              </a:cxn>
            </a:cxnLst>
            <a:rect l="0" t="0" r="r" b="b"/>
            <a:pathLst>
              <a:path w="324" h="1291">
                <a:moveTo>
                  <a:pt x="324" y="1291"/>
                </a:moveTo>
                <a:lnTo>
                  <a:pt x="226" y="1140"/>
                </a:lnTo>
                <a:lnTo>
                  <a:pt x="0" y="647"/>
                </a:lnTo>
                <a:lnTo>
                  <a:pt x="268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1" name="Freeform 13"/>
          <p:cNvSpPr>
            <a:spLocks/>
          </p:cNvSpPr>
          <p:nvPr/>
        </p:nvSpPr>
        <p:spPr bwMode="auto">
          <a:xfrm>
            <a:off x="3190875" y="1744663"/>
            <a:ext cx="709613" cy="2030412"/>
          </a:xfrm>
          <a:custGeom>
            <a:avLst/>
            <a:gdLst/>
            <a:ahLst/>
            <a:cxnLst>
              <a:cxn ang="0">
                <a:pos x="344" y="1279"/>
              </a:cxn>
              <a:cxn ang="0">
                <a:pos x="447" y="1117"/>
              </a:cxn>
              <a:cxn ang="0">
                <a:pos x="229" y="631"/>
              </a:cxn>
              <a:cxn ang="0">
                <a:pos x="0" y="0"/>
              </a:cxn>
            </a:cxnLst>
            <a:rect l="0" t="0" r="r" b="b"/>
            <a:pathLst>
              <a:path w="447" h="1279">
                <a:moveTo>
                  <a:pt x="344" y="1279"/>
                </a:moveTo>
                <a:lnTo>
                  <a:pt x="447" y="1117"/>
                </a:lnTo>
                <a:lnTo>
                  <a:pt x="229" y="631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2" name="Freeform 14"/>
          <p:cNvSpPr>
            <a:spLocks/>
          </p:cNvSpPr>
          <p:nvPr/>
        </p:nvSpPr>
        <p:spPr bwMode="auto">
          <a:xfrm>
            <a:off x="3497263" y="1709738"/>
            <a:ext cx="514350" cy="2051050"/>
          </a:xfrm>
          <a:custGeom>
            <a:avLst/>
            <a:gdLst/>
            <a:ahLst/>
            <a:cxnLst>
              <a:cxn ang="0">
                <a:pos x="0" y="1292"/>
              </a:cxn>
              <a:cxn ang="0">
                <a:pos x="98" y="1141"/>
              </a:cxn>
              <a:cxn ang="0">
                <a:pos x="324" y="648"/>
              </a:cxn>
              <a:cxn ang="0">
                <a:pos x="56" y="0"/>
              </a:cxn>
            </a:cxnLst>
            <a:rect l="0" t="0" r="r" b="b"/>
            <a:pathLst>
              <a:path w="324" h="1292">
                <a:moveTo>
                  <a:pt x="0" y="1292"/>
                </a:moveTo>
                <a:lnTo>
                  <a:pt x="98" y="1141"/>
                </a:lnTo>
                <a:lnTo>
                  <a:pt x="324" y="648"/>
                </a:lnTo>
                <a:lnTo>
                  <a:pt x="56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3" name="Freeform 15"/>
          <p:cNvSpPr>
            <a:spLocks/>
          </p:cNvSpPr>
          <p:nvPr/>
        </p:nvSpPr>
        <p:spPr bwMode="auto">
          <a:xfrm>
            <a:off x="3333750" y="1739900"/>
            <a:ext cx="708025" cy="2032000"/>
          </a:xfrm>
          <a:custGeom>
            <a:avLst/>
            <a:gdLst/>
            <a:ahLst/>
            <a:cxnLst>
              <a:cxn ang="0">
                <a:pos x="103" y="1280"/>
              </a:cxn>
              <a:cxn ang="0">
                <a:pos x="0" y="1118"/>
              </a:cxn>
              <a:cxn ang="0">
                <a:pos x="217" y="632"/>
              </a:cxn>
              <a:cxn ang="0">
                <a:pos x="446" y="0"/>
              </a:cxn>
            </a:cxnLst>
            <a:rect l="0" t="0" r="r" b="b"/>
            <a:pathLst>
              <a:path w="446" h="1280">
                <a:moveTo>
                  <a:pt x="103" y="1280"/>
                </a:moveTo>
                <a:lnTo>
                  <a:pt x="0" y="1118"/>
                </a:lnTo>
                <a:lnTo>
                  <a:pt x="217" y="632"/>
                </a:lnTo>
                <a:lnTo>
                  <a:pt x="446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4" name="Line 16"/>
          <p:cNvSpPr>
            <a:spLocks noChangeShapeType="1"/>
          </p:cNvSpPr>
          <p:nvPr/>
        </p:nvSpPr>
        <p:spPr bwMode="auto">
          <a:xfrm>
            <a:off x="3252788" y="3246438"/>
            <a:ext cx="16033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5" name="Line 17"/>
          <p:cNvSpPr>
            <a:spLocks noChangeShapeType="1"/>
          </p:cNvSpPr>
          <p:nvPr/>
        </p:nvSpPr>
        <p:spPr bwMode="auto">
          <a:xfrm>
            <a:off x="3816350" y="3246438"/>
            <a:ext cx="1587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6" name="Line 18"/>
          <p:cNvSpPr>
            <a:spLocks noChangeShapeType="1"/>
          </p:cNvSpPr>
          <p:nvPr/>
        </p:nvSpPr>
        <p:spPr bwMode="auto">
          <a:xfrm>
            <a:off x="3838575" y="3779838"/>
            <a:ext cx="128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7" name="Line 19"/>
          <p:cNvSpPr>
            <a:spLocks noChangeShapeType="1"/>
          </p:cNvSpPr>
          <p:nvPr/>
        </p:nvSpPr>
        <p:spPr bwMode="auto">
          <a:xfrm flipV="1">
            <a:off x="3465513" y="3779838"/>
            <a:ext cx="323850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8" name="Freeform 20"/>
          <p:cNvSpPr>
            <a:spLocks/>
          </p:cNvSpPr>
          <p:nvPr/>
        </p:nvSpPr>
        <p:spPr bwMode="auto">
          <a:xfrm>
            <a:off x="1177925" y="1643063"/>
            <a:ext cx="431800" cy="2043112"/>
          </a:xfrm>
          <a:custGeom>
            <a:avLst/>
            <a:gdLst/>
            <a:ahLst/>
            <a:cxnLst>
              <a:cxn ang="0">
                <a:pos x="186" y="0"/>
              </a:cxn>
              <a:cxn ang="0">
                <a:pos x="112" y="569"/>
              </a:cxn>
              <a:cxn ang="0">
                <a:pos x="272" y="1287"/>
              </a:cxn>
            </a:cxnLst>
            <a:rect l="0" t="0" r="r" b="b"/>
            <a:pathLst>
              <a:path w="272" h="1287">
                <a:moveTo>
                  <a:pt x="186" y="0"/>
                </a:moveTo>
                <a:cubicBezTo>
                  <a:pt x="176" y="176"/>
                  <a:pt x="267" y="533"/>
                  <a:pt x="112" y="569"/>
                </a:cubicBezTo>
                <a:cubicBezTo>
                  <a:pt x="267" y="600"/>
                  <a:pt x="0" y="1287"/>
                  <a:pt x="272" y="128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9" name="Rectangle 21"/>
          <p:cNvSpPr>
            <a:spLocks noChangeArrowheads="1"/>
          </p:cNvSpPr>
          <p:nvPr/>
        </p:nvSpPr>
        <p:spPr bwMode="auto">
          <a:xfrm>
            <a:off x="339725" y="2152650"/>
            <a:ext cx="900113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Imaging</a:t>
            </a:r>
          </a:p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path</a:t>
            </a:r>
          </a:p>
        </p:txBody>
      </p:sp>
      <p:sp>
        <p:nvSpPr>
          <p:cNvPr id="109590" name="Freeform 22"/>
          <p:cNvSpPr>
            <a:spLocks/>
          </p:cNvSpPr>
          <p:nvPr/>
        </p:nvSpPr>
        <p:spPr bwMode="auto">
          <a:xfrm rot="-16200000">
            <a:off x="3563938" y="5289550"/>
            <a:ext cx="146050" cy="9556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1" name="Freeform 23"/>
          <p:cNvSpPr>
            <a:spLocks/>
          </p:cNvSpPr>
          <p:nvPr/>
        </p:nvSpPr>
        <p:spPr bwMode="auto">
          <a:xfrm rot="-16200000">
            <a:off x="3567907" y="4337844"/>
            <a:ext cx="115887" cy="8794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2" name="Freeform 24"/>
          <p:cNvSpPr>
            <a:spLocks/>
          </p:cNvSpPr>
          <p:nvPr/>
        </p:nvSpPr>
        <p:spPr bwMode="auto">
          <a:xfrm rot="16200000" flipV="1">
            <a:off x="3549650" y="3781425"/>
            <a:ext cx="146050" cy="571500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3" name="Freeform 25"/>
          <p:cNvSpPr>
            <a:spLocks/>
          </p:cNvSpPr>
          <p:nvPr/>
        </p:nvSpPr>
        <p:spPr bwMode="auto">
          <a:xfrm>
            <a:off x="3462338" y="3800475"/>
            <a:ext cx="371475" cy="2425700"/>
          </a:xfrm>
          <a:custGeom>
            <a:avLst/>
            <a:gdLst/>
            <a:ahLst/>
            <a:cxnLst>
              <a:cxn ang="0">
                <a:pos x="98" y="0"/>
              </a:cxn>
              <a:cxn ang="0">
                <a:pos x="0" y="151"/>
              </a:cxn>
              <a:cxn ang="0">
                <a:pos x="0" y="620"/>
              </a:cxn>
              <a:cxn ang="0">
                <a:pos x="234" y="1290"/>
              </a:cxn>
              <a:cxn ang="0">
                <a:pos x="188" y="1528"/>
              </a:cxn>
            </a:cxnLst>
            <a:rect l="0" t="0" r="r" b="b"/>
            <a:pathLst>
              <a:path w="234" h="1528">
                <a:moveTo>
                  <a:pt x="98" y="0"/>
                </a:moveTo>
                <a:lnTo>
                  <a:pt x="0" y="151"/>
                </a:lnTo>
                <a:lnTo>
                  <a:pt x="0" y="620"/>
                </a:lnTo>
                <a:lnTo>
                  <a:pt x="234" y="1290"/>
                </a:lnTo>
                <a:lnTo>
                  <a:pt x="188" y="1528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4" name="Freeform 26"/>
          <p:cNvSpPr>
            <a:spLocks/>
          </p:cNvSpPr>
          <p:nvPr/>
        </p:nvSpPr>
        <p:spPr bwMode="auto">
          <a:xfrm>
            <a:off x="3408363" y="3784600"/>
            <a:ext cx="373062" cy="2424113"/>
          </a:xfrm>
          <a:custGeom>
            <a:avLst/>
            <a:gdLst/>
            <a:ahLst/>
            <a:cxnLst>
              <a:cxn ang="0">
                <a:pos x="132" y="0"/>
              </a:cxn>
              <a:cxn ang="0">
                <a:pos x="235" y="162"/>
              </a:cxn>
              <a:cxn ang="0">
                <a:pos x="235" y="631"/>
              </a:cxn>
              <a:cxn ang="0">
                <a:pos x="0" y="1301"/>
              </a:cxn>
              <a:cxn ang="0">
                <a:pos x="36" y="1527"/>
              </a:cxn>
            </a:cxnLst>
            <a:rect l="0" t="0" r="r" b="b"/>
            <a:pathLst>
              <a:path w="235" h="1527">
                <a:moveTo>
                  <a:pt x="132" y="0"/>
                </a:moveTo>
                <a:lnTo>
                  <a:pt x="235" y="162"/>
                </a:lnTo>
                <a:lnTo>
                  <a:pt x="235" y="631"/>
                </a:lnTo>
                <a:lnTo>
                  <a:pt x="0" y="1301"/>
                </a:lnTo>
                <a:lnTo>
                  <a:pt x="36" y="1527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5" name="Freeform 27"/>
          <p:cNvSpPr>
            <a:spLocks/>
          </p:cNvSpPr>
          <p:nvPr/>
        </p:nvSpPr>
        <p:spPr bwMode="auto">
          <a:xfrm>
            <a:off x="3227388" y="3794125"/>
            <a:ext cx="542925" cy="2414588"/>
          </a:xfrm>
          <a:custGeom>
            <a:avLst/>
            <a:gdLst/>
            <a:ahLst/>
            <a:cxnLst>
              <a:cxn ang="0">
                <a:pos x="324" y="0"/>
              </a:cxn>
              <a:cxn ang="0">
                <a:pos x="226" y="151"/>
              </a:cxn>
              <a:cxn ang="0">
                <a:pos x="0" y="644"/>
              </a:cxn>
              <a:cxn ang="0">
                <a:pos x="268" y="1291"/>
              </a:cxn>
              <a:cxn ang="0">
                <a:pos x="342" y="1521"/>
              </a:cxn>
            </a:cxnLst>
            <a:rect l="0" t="0" r="r" b="b"/>
            <a:pathLst>
              <a:path w="342" h="1521">
                <a:moveTo>
                  <a:pt x="324" y="0"/>
                </a:moveTo>
                <a:lnTo>
                  <a:pt x="226" y="151"/>
                </a:lnTo>
                <a:lnTo>
                  <a:pt x="0" y="644"/>
                </a:lnTo>
                <a:lnTo>
                  <a:pt x="268" y="1291"/>
                </a:lnTo>
                <a:lnTo>
                  <a:pt x="342" y="1521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6" name="Freeform 28"/>
          <p:cNvSpPr>
            <a:spLocks/>
          </p:cNvSpPr>
          <p:nvPr/>
        </p:nvSpPr>
        <p:spPr bwMode="auto">
          <a:xfrm>
            <a:off x="3195638" y="3784600"/>
            <a:ext cx="709612" cy="2416175"/>
          </a:xfrm>
          <a:custGeom>
            <a:avLst/>
            <a:gdLst/>
            <a:ahLst/>
            <a:cxnLst>
              <a:cxn ang="0">
                <a:pos x="344" y="0"/>
              </a:cxn>
              <a:cxn ang="0">
                <a:pos x="447" y="162"/>
              </a:cxn>
              <a:cxn ang="0">
                <a:pos x="229" y="648"/>
              </a:cxn>
              <a:cxn ang="0">
                <a:pos x="0" y="1279"/>
              </a:cxn>
              <a:cxn ang="0">
                <a:pos x="170" y="1522"/>
              </a:cxn>
            </a:cxnLst>
            <a:rect l="0" t="0" r="r" b="b"/>
            <a:pathLst>
              <a:path w="447" h="1522">
                <a:moveTo>
                  <a:pt x="344" y="0"/>
                </a:moveTo>
                <a:lnTo>
                  <a:pt x="447" y="162"/>
                </a:lnTo>
                <a:lnTo>
                  <a:pt x="229" y="648"/>
                </a:lnTo>
                <a:lnTo>
                  <a:pt x="0" y="1279"/>
                </a:lnTo>
                <a:lnTo>
                  <a:pt x="170" y="1522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7" name="Freeform 29"/>
          <p:cNvSpPr>
            <a:spLocks/>
          </p:cNvSpPr>
          <p:nvPr/>
        </p:nvSpPr>
        <p:spPr bwMode="auto">
          <a:xfrm>
            <a:off x="3465513" y="3797300"/>
            <a:ext cx="550862" cy="2411413"/>
          </a:xfrm>
          <a:custGeom>
            <a:avLst/>
            <a:gdLst/>
            <a:ahLst/>
            <a:cxnLst>
              <a:cxn ang="0">
                <a:pos x="23" y="0"/>
              </a:cxn>
              <a:cxn ang="0">
                <a:pos x="121" y="151"/>
              </a:cxn>
              <a:cxn ang="0">
                <a:pos x="347" y="644"/>
              </a:cxn>
              <a:cxn ang="0">
                <a:pos x="79" y="1292"/>
              </a:cxn>
              <a:cxn ang="0">
                <a:pos x="0" y="1519"/>
              </a:cxn>
            </a:cxnLst>
            <a:rect l="0" t="0" r="r" b="b"/>
            <a:pathLst>
              <a:path w="347" h="1519">
                <a:moveTo>
                  <a:pt x="23" y="0"/>
                </a:moveTo>
                <a:lnTo>
                  <a:pt x="121" y="151"/>
                </a:lnTo>
                <a:lnTo>
                  <a:pt x="347" y="644"/>
                </a:lnTo>
                <a:lnTo>
                  <a:pt x="79" y="1292"/>
                </a:lnTo>
                <a:lnTo>
                  <a:pt x="0" y="1519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8" name="Freeform 30"/>
          <p:cNvSpPr>
            <a:spLocks/>
          </p:cNvSpPr>
          <p:nvPr/>
        </p:nvSpPr>
        <p:spPr bwMode="auto">
          <a:xfrm>
            <a:off x="3338513" y="3787775"/>
            <a:ext cx="708025" cy="2430463"/>
          </a:xfrm>
          <a:custGeom>
            <a:avLst/>
            <a:gdLst/>
            <a:ahLst/>
            <a:cxnLst>
              <a:cxn ang="0">
                <a:pos x="103" y="0"/>
              </a:cxn>
              <a:cxn ang="0">
                <a:pos x="0" y="162"/>
              </a:cxn>
              <a:cxn ang="0">
                <a:pos x="217" y="648"/>
              </a:cxn>
              <a:cxn ang="0">
                <a:pos x="446" y="1280"/>
              </a:cxn>
              <a:cxn ang="0">
                <a:pos x="266" y="1531"/>
              </a:cxn>
            </a:cxnLst>
            <a:rect l="0" t="0" r="r" b="b"/>
            <a:pathLst>
              <a:path w="446" h="1531">
                <a:moveTo>
                  <a:pt x="103" y="0"/>
                </a:moveTo>
                <a:lnTo>
                  <a:pt x="0" y="162"/>
                </a:lnTo>
                <a:lnTo>
                  <a:pt x="217" y="648"/>
                </a:lnTo>
                <a:lnTo>
                  <a:pt x="446" y="1280"/>
                </a:lnTo>
                <a:lnTo>
                  <a:pt x="266" y="1531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9" name="Line 31"/>
          <p:cNvSpPr>
            <a:spLocks noChangeShapeType="1"/>
          </p:cNvSpPr>
          <p:nvPr/>
        </p:nvSpPr>
        <p:spPr bwMode="auto">
          <a:xfrm flipV="1">
            <a:off x="3257550" y="4311650"/>
            <a:ext cx="16033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600" name="Line 32"/>
          <p:cNvSpPr>
            <a:spLocks noChangeShapeType="1"/>
          </p:cNvSpPr>
          <p:nvPr/>
        </p:nvSpPr>
        <p:spPr bwMode="auto">
          <a:xfrm flipV="1">
            <a:off x="3821113" y="4311650"/>
            <a:ext cx="1587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601" name="Line 33"/>
          <p:cNvSpPr>
            <a:spLocks noChangeShapeType="1"/>
          </p:cNvSpPr>
          <p:nvPr/>
        </p:nvSpPr>
        <p:spPr bwMode="auto">
          <a:xfrm flipV="1">
            <a:off x="3208338" y="5243513"/>
            <a:ext cx="16033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602" name="Line 34"/>
          <p:cNvSpPr>
            <a:spLocks noChangeShapeType="1"/>
          </p:cNvSpPr>
          <p:nvPr/>
        </p:nvSpPr>
        <p:spPr bwMode="auto">
          <a:xfrm flipV="1">
            <a:off x="3875088" y="5243513"/>
            <a:ext cx="1587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603" name="Freeform 35"/>
          <p:cNvSpPr>
            <a:spLocks/>
          </p:cNvSpPr>
          <p:nvPr/>
        </p:nvSpPr>
        <p:spPr bwMode="auto">
          <a:xfrm>
            <a:off x="3475038" y="6184900"/>
            <a:ext cx="304800" cy="168275"/>
          </a:xfrm>
          <a:custGeom>
            <a:avLst/>
            <a:gdLst/>
            <a:ahLst/>
            <a:cxnLst>
              <a:cxn ang="0">
                <a:pos x="48" y="336"/>
              </a:cxn>
              <a:cxn ang="0">
                <a:pos x="0" y="96"/>
              </a:cxn>
              <a:cxn ang="0">
                <a:pos x="48" y="0"/>
              </a:cxn>
              <a:cxn ang="0">
                <a:pos x="96" y="96"/>
              </a:cxn>
              <a:cxn ang="0">
                <a:pos x="144" y="0"/>
              </a:cxn>
              <a:cxn ang="0">
                <a:pos x="192" y="96"/>
              </a:cxn>
              <a:cxn ang="0">
                <a:pos x="240" y="0"/>
              </a:cxn>
              <a:cxn ang="0">
                <a:pos x="288" y="96"/>
              </a:cxn>
              <a:cxn ang="0">
                <a:pos x="336" y="0"/>
              </a:cxn>
              <a:cxn ang="0">
                <a:pos x="384" y="96"/>
              </a:cxn>
              <a:cxn ang="0">
                <a:pos x="336" y="336"/>
              </a:cxn>
            </a:cxnLst>
            <a:rect l="0" t="0" r="r" b="b"/>
            <a:pathLst>
              <a:path w="384" h="336">
                <a:moveTo>
                  <a:pt x="48" y="336"/>
                </a:moveTo>
                <a:lnTo>
                  <a:pt x="0" y="96"/>
                </a:lnTo>
                <a:lnTo>
                  <a:pt x="48" y="0"/>
                </a:lnTo>
                <a:lnTo>
                  <a:pt x="96" y="96"/>
                </a:lnTo>
                <a:lnTo>
                  <a:pt x="144" y="0"/>
                </a:lnTo>
                <a:lnTo>
                  <a:pt x="192" y="96"/>
                </a:lnTo>
                <a:lnTo>
                  <a:pt x="240" y="0"/>
                </a:lnTo>
                <a:lnTo>
                  <a:pt x="288" y="96"/>
                </a:lnTo>
                <a:lnTo>
                  <a:pt x="336" y="0"/>
                </a:lnTo>
                <a:lnTo>
                  <a:pt x="384" y="96"/>
                </a:lnTo>
                <a:lnTo>
                  <a:pt x="336" y="336"/>
                </a:lnTo>
              </a:path>
            </a:pathLst>
          </a:custGeom>
          <a:noFill/>
          <a:ln w="38100" cmpd="sng">
            <a:solidFill>
              <a:srgbClr val="FF932E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604" name="Rectangle 36"/>
          <p:cNvSpPr>
            <a:spLocks noChangeArrowheads="1"/>
          </p:cNvSpPr>
          <p:nvPr/>
        </p:nvSpPr>
        <p:spPr bwMode="auto">
          <a:xfrm>
            <a:off x="1870075" y="4122738"/>
            <a:ext cx="1398588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  <a:latin typeface="Chalkboard" charset="0"/>
              </a:rPr>
              <a:t>Aperture iris</a:t>
            </a:r>
          </a:p>
        </p:txBody>
      </p:sp>
      <p:sp>
        <p:nvSpPr>
          <p:cNvPr id="109605" name="Rectangle 37"/>
          <p:cNvSpPr>
            <a:spLocks noChangeArrowheads="1"/>
          </p:cNvSpPr>
          <p:nvPr/>
        </p:nvSpPr>
        <p:spPr bwMode="auto">
          <a:xfrm>
            <a:off x="2127250" y="5057775"/>
            <a:ext cx="969963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Field iris</a:t>
            </a:r>
          </a:p>
        </p:txBody>
      </p:sp>
      <p:sp>
        <p:nvSpPr>
          <p:cNvPr id="109606" name="Rectangle 38"/>
          <p:cNvSpPr>
            <a:spLocks noChangeArrowheads="1"/>
          </p:cNvSpPr>
          <p:nvPr/>
        </p:nvSpPr>
        <p:spPr bwMode="auto">
          <a:xfrm>
            <a:off x="2127250" y="6048375"/>
            <a:ext cx="13239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Light source</a:t>
            </a:r>
          </a:p>
        </p:txBody>
      </p:sp>
      <p:sp>
        <p:nvSpPr>
          <p:cNvPr id="109607" name="Freeform 39"/>
          <p:cNvSpPr>
            <a:spLocks/>
          </p:cNvSpPr>
          <p:nvPr/>
        </p:nvSpPr>
        <p:spPr bwMode="auto">
          <a:xfrm>
            <a:off x="1228725" y="3762375"/>
            <a:ext cx="381000" cy="2667000"/>
          </a:xfrm>
          <a:custGeom>
            <a:avLst/>
            <a:gdLst/>
            <a:ahLst/>
            <a:cxnLst>
              <a:cxn ang="0">
                <a:pos x="272" y="0"/>
              </a:cxn>
              <a:cxn ang="0">
                <a:pos x="112" y="944"/>
              </a:cxn>
              <a:cxn ang="0">
                <a:pos x="272" y="1920"/>
              </a:cxn>
            </a:cxnLst>
            <a:rect l="0" t="0" r="r" b="b"/>
            <a:pathLst>
              <a:path w="272" h="1920">
                <a:moveTo>
                  <a:pt x="272" y="0"/>
                </a:moveTo>
                <a:cubicBezTo>
                  <a:pt x="11" y="0"/>
                  <a:pt x="267" y="896"/>
                  <a:pt x="112" y="944"/>
                </a:cubicBezTo>
                <a:cubicBezTo>
                  <a:pt x="267" y="987"/>
                  <a:pt x="0" y="1920"/>
                  <a:pt x="272" y="192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608" name="Rectangle 40"/>
          <p:cNvSpPr>
            <a:spLocks noChangeArrowheads="1"/>
          </p:cNvSpPr>
          <p:nvPr/>
        </p:nvSpPr>
        <p:spPr bwMode="auto">
          <a:xfrm>
            <a:off x="111125" y="4841875"/>
            <a:ext cx="1262063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Illumination</a:t>
            </a:r>
          </a:p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path</a:t>
            </a:r>
          </a:p>
        </p:txBody>
      </p:sp>
      <p:sp>
        <p:nvSpPr>
          <p:cNvPr id="109609" name="Rectangle 41"/>
          <p:cNvSpPr>
            <a:spLocks noChangeArrowheads="1"/>
          </p:cNvSpPr>
          <p:nvPr/>
        </p:nvSpPr>
        <p:spPr bwMode="auto">
          <a:xfrm>
            <a:off x="2051050" y="5591175"/>
            <a:ext cx="100965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Collector</a:t>
            </a:r>
          </a:p>
        </p:txBody>
      </p:sp>
      <p:sp>
        <p:nvSpPr>
          <p:cNvPr id="109610" name="Rectangle 42"/>
          <p:cNvSpPr>
            <a:spLocks noChangeArrowheads="1"/>
          </p:cNvSpPr>
          <p:nvPr/>
        </p:nvSpPr>
        <p:spPr bwMode="auto">
          <a:xfrm>
            <a:off x="1720850" y="3844925"/>
            <a:ext cx="154305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Condenser lens</a:t>
            </a:r>
          </a:p>
        </p:txBody>
      </p:sp>
      <p:sp>
        <p:nvSpPr>
          <p:cNvPr id="109611" name="Rectangle 43"/>
          <p:cNvSpPr>
            <a:spLocks noChangeArrowheads="1"/>
          </p:cNvSpPr>
          <p:nvPr/>
        </p:nvSpPr>
        <p:spPr bwMode="auto">
          <a:xfrm>
            <a:off x="1974850" y="4618038"/>
            <a:ext cx="1049338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Field lens</a:t>
            </a:r>
          </a:p>
        </p:txBody>
      </p:sp>
      <p:sp>
        <p:nvSpPr>
          <p:cNvPr id="109612" name="Rectangle 44"/>
          <p:cNvSpPr>
            <a:spLocks noChangeArrowheads="1"/>
          </p:cNvSpPr>
          <p:nvPr/>
        </p:nvSpPr>
        <p:spPr bwMode="auto">
          <a:xfrm>
            <a:off x="1679575" y="3038475"/>
            <a:ext cx="151130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Back aperture</a:t>
            </a:r>
          </a:p>
        </p:txBody>
      </p:sp>
      <p:sp>
        <p:nvSpPr>
          <p:cNvPr id="109613" name="Rectangle 45"/>
          <p:cNvSpPr>
            <a:spLocks noChangeArrowheads="1"/>
          </p:cNvSpPr>
          <p:nvPr/>
        </p:nvSpPr>
        <p:spPr bwMode="auto">
          <a:xfrm>
            <a:off x="1619250" y="2124075"/>
            <a:ext cx="1693863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Intermed. image</a:t>
            </a:r>
          </a:p>
        </p:txBody>
      </p:sp>
      <p:sp>
        <p:nvSpPr>
          <p:cNvPr id="109614" name="Freeform 46"/>
          <p:cNvSpPr>
            <a:spLocks/>
          </p:cNvSpPr>
          <p:nvPr/>
        </p:nvSpPr>
        <p:spPr bwMode="auto">
          <a:xfrm>
            <a:off x="1468438" y="1236663"/>
            <a:ext cx="17462" cy="407987"/>
          </a:xfrm>
          <a:custGeom>
            <a:avLst/>
            <a:gdLst/>
            <a:ahLst/>
            <a:cxnLst>
              <a:cxn ang="0">
                <a:pos x="3" y="257"/>
              </a:cxn>
              <a:cxn ang="0">
                <a:pos x="11" y="0"/>
              </a:cxn>
            </a:cxnLst>
            <a:rect l="0" t="0" r="r" b="b"/>
            <a:pathLst>
              <a:path w="11" h="257">
                <a:moveTo>
                  <a:pt x="3" y="257"/>
                </a:moveTo>
                <a:cubicBezTo>
                  <a:pt x="0" y="197"/>
                  <a:pt x="8" y="53"/>
                  <a:pt x="11" y="0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4743450" y="3200400"/>
            <a:ext cx="3867150" cy="2624138"/>
            <a:chOff x="2988" y="2016"/>
            <a:chExt cx="2436" cy="1653"/>
          </a:xfrm>
        </p:grpSpPr>
        <p:sp>
          <p:nvSpPr>
            <p:cNvPr id="109616" name="Text Box 48"/>
            <p:cNvSpPr txBox="1">
              <a:spLocks noChangeArrowheads="1"/>
            </p:cNvSpPr>
            <p:nvPr/>
          </p:nvSpPr>
          <p:spPr bwMode="auto">
            <a:xfrm>
              <a:off x="2988" y="2016"/>
              <a:ext cx="2436" cy="14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7663" indent="-347663">
                <a:tabLst>
                  <a:tab pos="347663" algn="l"/>
                </a:tabLst>
              </a:pPr>
              <a:r>
                <a:rPr lang="en-US" altLang="en-US" sz="2000">
                  <a:solidFill>
                    <a:schemeClr val="accent2"/>
                  </a:solidFill>
                  <a:latin typeface="Chalkboard" charset="0"/>
                </a:rPr>
                <a:t>Q:	Don’t we always want</a:t>
              </a:r>
            </a:p>
            <a:p>
              <a:pPr marL="347663" indent="-347663">
                <a:tabLst>
                  <a:tab pos="347663" algn="l"/>
                </a:tabLst>
              </a:pPr>
              <a:r>
                <a:rPr lang="en-US" altLang="en-US" sz="2000">
                  <a:solidFill>
                    <a:schemeClr val="accent2"/>
                  </a:solidFill>
                  <a:latin typeface="Chalkboard" charset="0"/>
                </a:rPr>
                <a:t>	it full open??</a:t>
              </a:r>
            </a:p>
            <a:p>
              <a:pPr marL="347663" indent="-347663">
                <a:tabLst>
                  <a:tab pos="347663" algn="l"/>
                </a:tabLst>
              </a:pPr>
              <a:endParaRPr lang="en-US" altLang="en-US" sz="2000">
                <a:solidFill>
                  <a:schemeClr val="accent2"/>
                </a:solidFill>
                <a:latin typeface="Chalkboard" charset="0"/>
              </a:endParaRPr>
            </a:p>
            <a:p>
              <a:pPr marL="347663" indent="-347663">
                <a:tabLst>
                  <a:tab pos="347663" algn="l"/>
                </a:tabLst>
              </a:pPr>
              <a:r>
                <a:rPr lang="en-US" altLang="en-US" sz="2000">
                  <a:solidFill>
                    <a:schemeClr val="accent2"/>
                  </a:solidFill>
                  <a:latin typeface="Chalkboard" charset="0"/>
                </a:rPr>
                <a:t>A:	</a:t>
              </a:r>
              <a:r>
                <a:rPr lang="en-US" altLang="en-US" sz="2000" b="1">
                  <a:solidFill>
                    <a:schemeClr val="accent2"/>
                  </a:solidFill>
                  <a:latin typeface="Chalkboard" charset="0"/>
                </a:rPr>
                <a:t>No</a:t>
              </a:r>
              <a:endParaRPr lang="en-US" altLang="en-US" sz="2000">
                <a:solidFill>
                  <a:schemeClr val="accent2"/>
                </a:solidFill>
                <a:latin typeface="Chalkboard" charset="0"/>
              </a:endParaRPr>
            </a:p>
            <a:p>
              <a:pPr marL="347663" indent="-347663">
                <a:tabLst>
                  <a:tab pos="347663" algn="l"/>
                </a:tabLst>
              </a:pPr>
              <a:endParaRPr lang="en-US" altLang="en-US" sz="2000">
                <a:solidFill>
                  <a:schemeClr val="accent2"/>
                </a:solidFill>
                <a:latin typeface="Chalkboard" charset="0"/>
              </a:endParaRPr>
            </a:p>
            <a:p>
              <a:pPr marL="347663" indent="-347663">
                <a:tabLst>
                  <a:tab pos="347663" algn="l"/>
                </a:tabLst>
              </a:pPr>
              <a:r>
                <a:rPr lang="en-US" altLang="en-US" sz="2000">
                  <a:solidFill>
                    <a:schemeClr val="accent2"/>
                  </a:solidFill>
                  <a:latin typeface="Chalkboard" charset="0"/>
                </a:rPr>
                <a:t>Why? Tradeoff:</a:t>
              </a:r>
            </a:p>
            <a:p>
              <a:pPr marL="347663" indent="-347663">
                <a:tabLst>
                  <a:tab pos="347663" algn="l"/>
                </a:tabLst>
              </a:pPr>
              <a:r>
                <a:rPr lang="en-US" altLang="en-US" sz="2000">
                  <a:solidFill>
                    <a:schemeClr val="accent2"/>
                  </a:solidFill>
                  <a:latin typeface="Chalkboard" charset="0"/>
                </a:rPr>
                <a:t> 	resolution vs. </a:t>
              </a:r>
              <a:r>
                <a:rPr lang="en-US" altLang="en-US" sz="2000" b="1">
                  <a:solidFill>
                    <a:schemeClr val="accent2"/>
                  </a:solidFill>
                  <a:latin typeface="Chalkboard" charset="0"/>
                </a:rPr>
                <a:t>contrast</a:t>
              </a:r>
              <a:endParaRPr lang="en-US" altLang="en-US" sz="2000">
                <a:solidFill>
                  <a:schemeClr val="accent2"/>
                </a:solidFill>
                <a:latin typeface="Chalkboard" charset="0"/>
              </a:endParaRPr>
            </a:p>
          </p:txBody>
        </p:sp>
        <p:sp>
          <p:nvSpPr>
            <p:cNvPr id="109617" name="Rectangle 49"/>
            <p:cNvSpPr>
              <a:spLocks noChangeArrowheads="1"/>
            </p:cNvSpPr>
            <p:nvPr/>
          </p:nvSpPr>
          <p:spPr bwMode="auto">
            <a:xfrm>
              <a:off x="4299" y="3557"/>
              <a:ext cx="400" cy="11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Text Box 2"/>
          <p:cNvSpPr txBox="1">
            <a:spLocks noChangeArrowheads="1"/>
          </p:cNvSpPr>
          <p:nvPr/>
        </p:nvSpPr>
        <p:spPr bwMode="auto">
          <a:xfrm>
            <a:off x="1806575" y="23813"/>
            <a:ext cx="5364163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Spatial frequencies &amp; the</a:t>
            </a:r>
          </a:p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Optical Transfer Function (OTF)</a:t>
            </a:r>
          </a:p>
        </p:txBody>
      </p:sp>
      <p:sp>
        <p:nvSpPr>
          <p:cNvPr id="493571" name="Text Box 3"/>
          <p:cNvSpPr txBox="1">
            <a:spLocks noChangeArrowheads="1"/>
          </p:cNvSpPr>
          <p:nvPr/>
        </p:nvSpPr>
        <p:spPr bwMode="auto">
          <a:xfrm>
            <a:off x="863600" y="5680075"/>
            <a:ext cx="1022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 eaLnBrk="0" hangingPunct="0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Object</a:t>
            </a:r>
          </a:p>
        </p:txBody>
      </p:sp>
      <p:pic>
        <p:nvPicPr>
          <p:cNvPr id="4935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20888" y="5253038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357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13150" y="5253038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3574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207000" y="5254625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493575" name="Group 7"/>
          <p:cNvGrpSpPr>
            <a:grpSpLocks/>
          </p:cNvGrpSpPr>
          <p:nvPr/>
        </p:nvGrpSpPr>
        <p:grpSpPr bwMode="auto">
          <a:xfrm>
            <a:off x="727075" y="3814763"/>
            <a:ext cx="5815013" cy="1333500"/>
            <a:chOff x="458" y="2403"/>
            <a:chExt cx="3663" cy="840"/>
          </a:xfrm>
        </p:grpSpPr>
        <p:sp>
          <p:nvSpPr>
            <p:cNvPr id="493576" name="Text Box 8"/>
            <p:cNvSpPr txBox="1">
              <a:spLocks noChangeArrowheads="1"/>
            </p:cNvSpPr>
            <p:nvPr/>
          </p:nvSpPr>
          <p:spPr bwMode="auto">
            <a:xfrm>
              <a:off x="458" y="2686"/>
              <a:ext cx="764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eaLnBrk="0" hangingPunct="0">
                <a:lnSpc>
                  <a:spcPct val="80000"/>
                </a:lnSpc>
              </a:pPr>
              <a:r>
                <a:rPr lang="en-US" altLang="en-US" sz="1800" b="0">
                  <a:solidFill>
                    <a:srgbClr val="660066"/>
                  </a:solidFill>
                  <a:latin typeface="Chalkboard" charset="0"/>
                </a:rPr>
                <a:t>Observed</a:t>
              </a:r>
            </a:p>
            <a:p>
              <a:pPr algn="ctr" eaLnBrk="0" hangingPunct="0">
                <a:lnSpc>
                  <a:spcPct val="80000"/>
                </a:lnSpc>
              </a:pPr>
              <a:r>
                <a:rPr lang="en-US" altLang="en-US" sz="1800" b="0">
                  <a:solidFill>
                    <a:srgbClr val="660066"/>
                  </a:solidFill>
                  <a:latin typeface="Chalkboard" charset="0"/>
                </a:rPr>
                <a:t>image</a:t>
              </a:r>
            </a:p>
          </p:txBody>
        </p:sp>
        <p:pic>
          <p:nvPicPr>
            <p:cNvPr id="493577" name="Picture 9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274" y="2403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93578" name="Picture 10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2277" y="2403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93579" name="Picture 11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3281" y="2403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493580" name="Group 12"/>
          <p:cNvGrpSpPr>
            <a:grpSpLocks/>
          </p:cNvGrpSpPr>
          <p:nvPr/>
        </p:nvGrpSpPr>
        <p:grpSpPr bwMode="auto">
          <a:xfrm>
            <a:off x="720725" y="1089025"/>
            <a:ext cx="8258175" cy="2738438"/>
            <a:chOff x="454" y="686"/>
            <a:chExt cx="5202" cy="1725"/>
          </a:xfrm>
        </p:grpSpPr>
        <p:pic>
          <p:nvPicPr>
            <p:cNvPr id="493581" name="Picture 13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529" y="874"/>
              <a:ext cx="3025" cy="10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493582" name="Rectangle 14"/>
            <p:cNvSpPr>
              <a:spLocks noChangeArrowheads="1"/>
            </p:cNvSpPr>
            <p:nvPr/>
          </p:nvSpPr>
          <p:spPr bwMode="auto">
            <a:xfrm>
              <a:off x="454" y="816"/>
              <a:ext cx="1572" cy="112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83" name="Rectangle 15"/>
            <p:cNvSpPr>
              <a:spLocks noChangeArrowheads="1"/>
            </p:cNvSpPr>
            <p:nvPr/>
          </p:nvSpPr>
          <p:spPr bwMode="auto">
            <a:xfrm>
              <a:off x="4473" y="1958"/>
              <a:ext cx="1183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(Spatial frequency,</a:t>
              </a:r>
            </a:p>
            <a:p>
              <a:pPr algn="ctr" eaLnBrk="0" hangingPunct="0"/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periods/meter)</a:t>
              </a:r>
            </a:p>
          </p:txBody>
        </p:sp>
        <p:sp>
          <p:nvSpPr>
            <p:cNvPr id="493584" name="Freeform 16"/>
            <p:cNvSpPr>
              <a:spLocks/>
            </p:cNvSpPr>
            <p:nvPr/>
          </p:nvSpPr>
          <p:spPr bwMode="auto">
            <a:xfrm>
              <a:off x="3952" y="2005"/>
              <a:ext cx="560" cy="129"/>
            </a:xfrm>
            <a:custGeom>
              <a:avLst/>
              <a:gdLst/>
              <a:ahLst/>
              <a:cxnLst>
                <a:cxn ang="0">
                  <a:pos x="560" y="86"/>
                </a:cxn>
                <a:cxn ang="0">
                  <a:pos x="0" y="17"/>
                </a:cxn>
              </a:cxnLst>
              <a:rect l="0" t="0" r="r" b="b"/>
              <a:pathLst>
                <a:path w="560" h="129">
                  <a:moveTo>
                    <a:pt x="560" y="86"/>
                  </a:moveTo>
                  <a:cubicBezTo>
                    <a:pt x="415" y="129"/>
                    <a:pt x="219" y="0"/>
                    <a:pt x="0" y="17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85" name="Freeform 17"/>
            <p:cNvSpPr>
              <a:spLocks/>
            </p:cNvSpPr>
            <p:nvPr/>
          </p:nvSpPr>
          <p:spPr bwMode="auto">
            <a:xfrm>
              <a:off x="1685" y="1910"/>
              <a:ext cx="641" cy="490"/>
            </a:xfrm>
            <a:custGeom>
              <a:avLst/>
              <a:gdLst/>
              <a:ahLst/>
              <a:cxnLst>
                <a:cxn ang="0">
                  <a:pos x="0" y="549"/>
                </a:cxn>
                <a:cxn ang="0">
                  <a:pos x="1014" y="0"/>
                </a:cxn>
              </a:cxnLst>
              <a:rect l="0" t="0" r="r" b="b"/>
              <a:pathLst>
                <a:path w="1014" h="549">
                  <a:moveTo>
                    <a:pt x="0" y="549"/>
                  </a:moveTo>
                  <a:cubicBezTo>
                    <a:pt x="11" y="341"/>
                    <a:pt x="1008" y="448"/>
                    <a:pt x="1014" y="0"/>
                  </a:cubicBezTo>
                </a:path>
              </a:pathLst>
            </a:custGeom>
            <a:noFill/>
            <a:ln w="9525" cap="flat" cmpd="sng">
              <a:solidFill>
                <a:srgbClr val="0000CC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86" name="Freeform 18"/>
            <p:cNvSpPr>
              <a:spLocks/>
            </p:cNvSpPr>
            <p:nvPr/>
          </p:nvSpPr>
          <p:spPr bwMode="auto">
            <a:xfrm>
              <a:off x="2704" y="1896"/>
              <a:ext cx="240" cy="515"/>
            </a:xfrm>
            <a:custGeom>
              <a:avLst/>
              <a:gdLst/>
              <a:ahLst/>
              <a:cxnLst>
                <a:cxn ang="0">
                  <a:pos x="0" y="571"/>
                </a:cxn>
                <a:cxn ang="0">
                  <a:pos x="453" y="0"/>
                </a:cxn>
              </a:cxnLst>
              <a:rect l="0" t="0" r="r" b="b"/>
              <a:pathLst>
                <a:path w="453" h="571">
                  <a:moveTo>
                    <a:pt x="0" y="571"/>
                  </a:moveTo>
                  <a:cubicBezTo>
                    <a:pt x="11" y="363"/>
                    <a:pt x="453" y="464"/>
                    <a:pt x="453" y="0"/>
                  </a:cubicBezTo>
                </a:path>
              </a:pathLst>
            </a:custGeom>
            <a:noFill/>
            <a:ln w="9525" cap="flat" cmpd="sng">
              <a:solidFill>
                <a:srgbClr val="0000CC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87" name="Freeform 19"/>
            <p:cNvSpPr>
              <a:spLocks/>
            </p:cNvSpPr>
            <p:nvPr/>
          </p:nvSpPr>
          <p:spPr bwMode="auto">
            <a:xfrm>
              <a:off x="3504" y="1898"/>
              <a:ext cx="187" cy="507"/>
            </a:xfrm>
            <a:custGeom>
              <a:avLst/>
              <a:gdLst/>
              <a:ahLst/>
              <a:cxnLst>
                <a:cxn ang="0">
                  <a:pos x="91" y="539"/>
                </a:cxn>
                <a:cxn ang="0">
                  <a:pos x="0" y="0"/>
                </a:cxn>
              </a:cxnLst>
              <a:rect l="0" t="0" r="r" b="b"/>
              <a:pathLst>
                <a:path w="91" h="539">
                  <a:moveTo>
                    <a:pt x="91" y="539"/>
                  </a:moveTo>
                  <a:cubicBezTo>
                    <a:pt x="80" y="336"/>
                    <a:pt x="0" y="464"/>
                    <a:pt x="0" y="0"/>
                  </a:cubicBezTo>
                </a:path>
              </a:pathLst>
            </a:custGeom>
            <a:noFill/>
            <a:ln w="9525" cap="flat" cmpd="sng">
              <a:solidFill>
                <a:srgbClr val="0000CC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88" name="Line 20"/>
            <p:cNvSpPr>
              <a:spLocks noChangeShapeType="1"/>
            </p:cNvSpPr>
            <p:nvPr/>
          </p:nvSpPr>
          <p:spPr bwMode="auto">
            <a:xfrm>
              <a:off x="1933" y="1900"/>
              <a:ext cx="192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89" name="Line 21"/>
            <p:cNvSpPr>
              <a:spLocks noChangeShapeType="1"/>
            </p:cNvSpPr>
            <p:nvPr/>
          </p:nvSpPr>
          <p:spPr bwMode="auto">
            <a:xfrm flipV="1">
              <a:off x="2330" y="1238"/>
              <a:ext cx="0" cy="659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90" name="Line 22"/>
            <p:cNvSpPr>
              <a:spLocks noChangeShapeType="1"/>
            </p:cNvSpPr>
            <p:nvPr/>
          </p:nvSpPr>
          <p:spPr bwMode="auto">
            <a:xfrm flipV="1">
              <a:off x="2939" y="1744"/>
              <a:ext cx="0" cy="133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91" name="Line 23"/>
            <p:cNvSpPr>
              <a:spLocks noChangeShapeType="1"/>
            </p:cNvSpPr>
            <p:nvPr/>
          </p:nvSpPr>
          <p:spPr bwMode="auto">
            <a:xfrm flipH="1">
              <a:off x="3259" y="1898"/>
              <a:ext cx="320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92" name="Text Box 24"/>
            <p:cNvSpPr txBox="1">
              <a:spLocks noChangeArrowheads="1"/>
            </p:cNvSpPr>
            <p:nvPr/>
          </p:nvSpPr>
          <p:spPr bwMode="auto">
            <a:xfrm>
              <a:off x="3766" y="1924"/>
              <a:ext cx="18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600" b="0" i="1">
                  <a:solidFill>
                    <a:srgbClr val="000000"/>
                  </a:solidFill>
                  <a:latin typeface="Helvetica" pitchFamily="34" charset="0"/>
                </a:rPr>
                <a:t>k</a:t>
              </a:r>
              <a:endParaRPr lang="en-US" altLang="en-US" sz="1600" b="0">
                <a:solidFill>
                  <a:srgbClr val="000000"/>
                </a:solidFill>
                <a:latin typeface="Helvetica" pitchFamily="34" charset="0"/>
              </a:endParaRPr>
            </a:p>
          </p:txBody>
        </p:sp>
        <p:sp>
          <p:nvSpPr>
            <p:cNvPr id="493593" name="Line 25"/>
            <p:cNvSpPr>
              <a:spLocks noChangeShapeType="1"/>
            </p:cNvSpPr>
            <p:nvPr/>
          </p:nvSpPr>
          <p:spPr bwMode="auto">
            <a:xfrm flipV="1">
              <a:off x="2034" y="686"/>
              <a:ext cx="0" cy="126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94" name="Text Box 26"/>
            <p:cNvSpPr txBox="1">
              <a:spLocks noChangeArrowheads="1"/>
            </p:cNvSpPr>
            <p:nvPr/>
          </p:nvSpPr>
          <p:spPr bwMode="auto">
            <a:xfrm>
              <a:off x="2272" y="919"/>
              <a:ext cx="52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OTF(</a:t>
              </a:r>
              <a:r>
                <a:rPr lang="en-US" altLang="en-US" sz="1600" b="0" i="1">
                  <a:solidFill>
                    <a:srgbClr val="000000"/>
                  </a:solidFill>
                  <a:latin typeface="Helvetica" pitchFamily="34" charset="0"/>
                </a:rPr>
                <a:t>k</a:t>
              </a:r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)</a:t>
              </a:r>
              <a:endParaRPr lang="en-US" altLang="en-US" sz="1600">
                <a:solidFill>
                  <a:srgbClr val="000000"/>
                </a:solidFill>
                <a:latin typeface="Helvetica" pitchFamily="34" charset="0"/>
              </a:endParaRPr>
            </a:p>
          </p:txBody>
        </p:sp>
        <p:sp>
          <p:nvSpPr>
            <p:cNvPr id="493595" name="Text Box 27"/>
            <p:cNvSpPr txBox="1">
              <a:spLocks noChangeArrowheads="1"/>
            </p:cNvSpPr>
            <p:nvPr/>
          </p:nvSpPr>
          <p:spPr bwMode="auto">
            <a:xfrm>
              <a:off x="1758" y="793"/>
              <a:ext cx="18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</a:p>
          </p:txBody>
        </p:sp>
        <p:sp>
          <p:nvSpPr>
            <p:cNvPr id="493596" name="Line 28"/>
            <p:cNvSpPr>
              <a:spLocks noChangeShapeType="1"/>
            </p:cNvSpPr>
            <p:nvPr/>
          </p:nvSpPr>
          <p:spPr bwMode="auto">
            <a:xfrm>
              <a:off x="1955" y="912"/>
              <a:ext cx="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97" name="Rectangle 29"/>
            <p:cNvSpPr>
              <a:spLocks noChangeArrowheads="1"/>
            </p:cNvSpPr>
            <p:nvPr/>
          </p:nvSpPr>
          <p:spPr bwMode="auto">
            <a:xfrm>
              <a:off x="1321" y="1131"/>
              <a:ext cx="615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(Image</a:t>
              </a:r>
            </a:p>
            <a:p>
              <a:pPr algn="ctr" eaLnBrk="0" hangingPunct="0"/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contrast)</a:t>
              </a:r>
            </a:p>
          </p:txBody>
        </p:sp>
        <p:grpSp>
          <p:nvGrpSpPr>
            <p:cNvPr id="493598" name="Group 30"/>
            <p:cNvGrpSpPr>
              <a:grpSpLocks/>
            </p:cNvGrpSpPr>
            <p:nvPr/>
          </p:nvGrpSpPr>
          <p:grpSpPr bwMode="auto">
            <a:xfrm>
              <a:off x="3350" y="994"/>
              <a:ext cx="2092" cy="877"/>
              <a:chOff x="3398" y="989"/>
              <a:chExt cx="2092" cy="877"/>
            </a:xfrm>
          </p:grpSpPr>
          <p:sp>
            <p:nvSpPr>
              <p:cNvPr id="493599" name="Rectangle 31"/>
              <p:cNvSpPr>
                <a:spLocks noChangeArrowheads="1"/>
              </p:cNvSpPr>
              <p:nvPr/>
            </p:nvSpPr>
            <p:spPr bwMode="auto">
              <a:xfrm>
                <a:off x="4244" y="989"/>
                <a:ext cx="1246" cy="4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en-US" sz="2000" b="0">
                    <a:latin typeface="Helvetica" pitchFamily="34" charset="0"/>
                  </a:rPr>
                  <a:t>Resolution limit:</a:t>
                </a:r>
                <a:endParaRPr lang="en-US" altLang="en-US" sz="2000" b="0">
                  <a:solidFill>
                    <a:srgbClr val="FF0000"/>
                  </a:solidFill>
                  <a:latin typeface="Helvetica" pitchFamily="34" charset="0"/>
                </a:endParaRPr>
              </a:p>
              <a:p>
                <a:pPr algn="ctr" eaLnBrk="0" hangingPunct="0"/>
                <a:r>
                  <a:rPr lang="en-US" altLang="en-US" sz="2000" b="0" i="1">
                    <a:solidFill>
                      <a:srgbClr val="FF0000"/>
                    </a:solidFill>
                    <a:latin typeface="Helvetica" pitchFamily="34" charset="0"/>
                  </a:rPr>
                  <a:t>k</a:t>
                </a:r>
                <a:r>
                  <a:rPr lang="en-US" altLang="en-US" sz="2000" b="0" baseline="-25000">
                    <a:solidFill>
                      <a:srgbClr val="FF0000"/>
                    </a:solidFill>
                    <a:latin typeface="Helvetica" pitchFamily="34" charset="0"/>
                  </a:rPr>
                  <a:t>max </a:t>
                </a:r>
                <a:r>
                  <a:rPr lang="en-US" altLang="en-US" sz="2000" b="0">
                    <a:solidFill>
                      <a:srgbClr val="FF0000"/>
                    </a:solidFill>
                    <a:latin typeface="Helvetica" pitchFamily="34" charset="0"/>
                  </a:rPr>
                  <a:t>= 2 </a:t>
                </a:r>
                <a:r>
                  <a:rPr lang="en-US" altLang="en-US" sz="2000" b="0" i="1">
                    <a:solidFill>
                      <a:srgbClr val="FF0000"/>
                    </a:solidFill>
                    <a:latin typeface="Helvetica" pitchFamily="34" charset="0"/>
                  </a:rPr>
                  <a:t>NA</a:t>
                </a:r>
                <a:r>
                  <a:rPr lang="en-US" altLang="en-US" sz="2000" b="0">
                    <a:solidFill>
                      <a:srgbClr val="FF0000"/>
                    </a:solidFill>
                    <a:latin typeface="Symbol" pitchFamily="18" charset="2"/>
                  </a:rPr>
                  <a:t> / l</a:t>
                </a:r>
                <a:endParaRPr lang="en-US" sz="2000" b="0">
                  <a:solidFill>
                    <a:srgbClr val="FF0000"/>
                  </a:solidFill>
                  <a:latin typeface="Symbol" pitchFamily="18" charset="2"/>
                </a:endParaRPr>
              </a:p>
            </p:txBody>
          </p:sp>
          <p:sp>
            <p:nvSpPr>
              <p:cNvPr id="493600" name="Freeform 32"/>
              <p:cNvSpPr>
                <a:spLocks/>
              </p:cNvSpPr>
              <p:nvPr/>
            </p:nvSpPr>
            <p:spPr bwMode="auto">
              <a:xfrm>
                <a:off x="3398" y="1205"/>
                <a:ext cx="847" cy="661"/>
              </a:xfrm>
              <a:custGeom>
                <a:avLst/>
                <a:gdLst/>
                <a:ahLst/>
                <a:cxnLst>
                  <a:cxn ang="0">
                    <a:pos x="847" y="0"/>
                  </a:cxn>
                  <a:cxn ang="0">
                    <a:pos x="0" y="661"/>
                  </a:cxn>
                </a:cxnLst>
                <a:rect l="0" t="0" r="r" b="b"/>
                <a:pathLst>
                  <a:path w="847" h="661">
                    <a:moveTo>
                      <a:pt x="847" y="0"/>
                    </a:moveTo>
                    <a:cubicBezTo>
                      <a:pt x="666" y="22"/>
                      <a:pt x="106" y="182"/>
                      <a:pt x="0" y="661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8" name="Text Box 2"/>
          <p:cNvSpPr txBox="1">
            <a:spLocks noChangeArrowheads="1"/>
          </p:cNvSpPr>
          <p:nvPr/>
        </p:nvSpPr>
        <p:spPr bwMode="auto">
          <a:xfrm>
            <a:off x="614363" y="109538"/>
            <a:ext cx="7916862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Resolution &amp; Contrast vs. Illumination aperture</a:t>
            </a:r>
          </a:p>
        </p:txBody>
      </p:sp>
      <p:sp>
        <p:nvSpPr>
          <p:cNvPr id="495619" name="Text Box 3"/>
          <p:cNvSpPr txBox="1">
            <a:spLocks noChangeArrowheads="1"/>
          </p:cNvSpPr>
          <p:nvPr/>
        </p:nvSpPr>
        <p:spPr bwMode="auto">
          <a:xfrm>
            <a:off x="2168525" y="3875088"/>
            <a:ext cx="16986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 eaLnBrk="0" hangingPunct="0"/>
            <a:r>
              <a:rPr lang="en-US" altLang="en-US" sz="1800" b="0">
                <a:latin typeface="Helvetica" pitchFamily="34" charset="0"/>
              </a:rPr>
              <a:t>Resolution</a:t>
            </a:r>
          </a:p>
        </p:txBody>
      </p:sp>
      <p:pic>
        <p:nvPicPr>
          <p:cNvPr id="49562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33450" y="1524000"/>
            <a:ext cx="3922713" cy="242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5621" name="Text Box 5"/>
          <p:cNvSpPr txBox="1">
            <a:spLocks noChangeArrowheads="1"/>
          </p:cNvSpPr>
          <p:nvPr/>
        </p:nvSpPr>
        <p:spPr bwMode="auto">
          <a:xfrm rot="-5400000">
            <a:off x="-91281" y="2415381"/>
            <a:ext cx="16986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 eaLnBrk="0" hangingPunct="0"/>
            <a:r>
              <a:rPr lang="en-US" altLang="en-US" sz="1800" b="0">
                <a:latin typeface="Helvetica" pitchFamily="34" charset="0"/>
              </a:rPr>
              <a:t>Contrast</a:t>
            </a:r>
          </a:p>
        </p:txBody>
      </p:sp>
      <p:sp>
        <p:nvSpPr>
          <p:cNvPr id="495622" name="Rectangle 6"/>
          <p:cNvSpPr>
            <a:spLocks noChangeArrowheads="1"/>
          </p:cNvSpPr>
          <p:nvPr/>
        </p:nvSpPr>
        <p:spPr bwMode="auto">
          <a:xfrm>
            <a:off x="4257675" y="1708150"/>
            <a:ext cx="17113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 b="0" i="1">
                <a:latin typeface="Helvetica" pitchFamily="34" charset="0"/>
              </a:rPr>
              <a:t>NA</a:t>
            </a:r>
            <a:r>
              <a:rPr lang="en-US" altLang="en-US" sz="2000" b="0" baseline="-25000">
                <a:latin typeface="Helvetica" pitchFamily="34" charset="0"/>
              </a:rPr>
              <a:t>condenser</a:t>
            </a:r>
            <a:r>
              <a:rPr lang="en-US" altLang="en-US" sz="2000" b="0">
                <a:latin typeface="Helvetica" pitchFamily="34" charset="0"/>
              </a:rPr>
              <a:t> </a:t>
            </a:r>
            <a:r>
              <a:rPr lang="en-US" altLang="en-US" sz="2000" b="0">
                <a:latin typeface="Symbol" pitchFamily="18" charset="2"/>
                <a:sym typeface="Symbol" pitchFamily="18" charset="2"/>
              </a:rPr>
              <a:t> 0</a:t>
            </a:r>
            <a:endParaRPr lang="en-US" sz="18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495623" name="Rectangle 7"/>
          <p:cNvSpPr>
            <a:spLocks noChangeArrowheads="1"/>
          </p:cNvSpPr>
          <p:nvPr/>
        </p:nvSpPr>
        <p:spPr bwMode="auto">
          <a:xfrm>
            <a:off x="3983038" y="2854325"/>
            <a:ext cx="226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 b="0" i="1">
                <a:latin typeface="Helvetica" pitchFamily="34" charset="0"/>
              </a:rPr>
              <a:t>NA</a:t>
            </a:r>
            <a:r>
              <a:rPr lang="en-US" altLang="en-US" sz="2000" b="0" baseline="-25000">
                <a:latin typeface="Helvetica" pitchFamily="34" charset="0"/>
              </a:rPr>
              <a:t>condenser</a:t>
            </a:r>
            <a:r>
              <a:rPr lang="en-US" altLang="en-US" sz="2000" b="0">
                <a:latin typeface="Helvetica" pitchFamily="34" charset="0"/>
              </a:rPr>
              <a:t> </a:t>
            </a:r>
            <a:r>
              <a:rPr lang="en-US" altLang="en-US" sz="2000" b="0">
                <a:latin typeface="Symbol" pitchFamily="18" charset="2"/>
                <a:sym typeface="Symbol" pitchFamily="18" charset="2"/>
              </a:rPr>
              <a:t></a:t>
            </a:r>
            <a:r>
              <a:rPr lang="en-US" altLang="en-US" sz="2000" b="0">
                <a:latin typeface="Helvetica" pitchFamily="34" charset="0"/>
              </a:rPr>
              <a:t> </a:t>
            </a:r>
            <a:r>
              <a:rPr lang="en-US" altLang="en-US" sz="2000" b="0" i="1">
                <a:latin typeface="Helvetica" pitchFamily="34" charset="0"/>
              </a:rPr>
              <a:t>NA</a:t>
            </a:r>
            <a:r>
              <a:rPr lang="en-US" altLang="en-US" sz="2000" b="0" baseline="-25000">
                <a:latin typeface="Helvetica" pitchFamily="34" charset="0"/>
              </a:rPr>
              <a:t>obj</a:t>
            </a:r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 </a:t>
            </a:r>
          </a:p>
        </p:txBody>
      </p:sp>
      <p:sp>
        <p:nvSpPr>
          <p:cNvPr id="495624" name="Line 8"/>
          <p:cNvSpPr>
            <a:spLocks noChangeShapeType="1"/>
          </p:cNvSpPr>
          <p:nvPr/>
        </p:nvSpPr>
        <p:spPr bwMode="auto">
          <a:xfrm flipH="1">
            <a:off x="3716338" y="3071813"/>
            <a:ext cx="312737" cy="296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5625" name="Line 9"/>
          <p:cNvSpPr>
            <a:spLocks noChangeShapeType="1"/>
          </p:cNvSpPr>
          <p:nvPr/>
        </p:nvSpPr>
        <p:spPr bwMode="auto">
          <a:xfrm flipH="1">
            <a:off x="2995613" y="1879600"/>
            <a:ext cx="1311275" cy="5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5626" name="AutoShape 10"/>
          <p:cNvSpPr>
            <a:spLocks noChangeArrowheads="1"/>
          </p:cNvSpPr>
          <p:nvPr/>
        </p:nvSpPr>
        <p:spPr bwMode="auto">
          <a:xfrm>
            <a:off x="2166938" y="5348288"/>
            <a:ext cx="4773612" cy="1177925"/>
          </a:xfrm>
          <a:prstGeom prst="roundRect">
            <a:avLst>
              <a:gd name="adj" fmla="val 16667"/>
            </a:avLst>
          </a:prstGeom>
          <a:solidFill>
            <a:srgbClr val="E8FAFF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Increasing the illumination aperture</a:t>
            </a:r>
          </a:p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increases resolution</a:t>
            </a:r>
          </a:p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but decreases contrast</a:t>
            </a:r>
            <a:endParaRPr lang="en-US" sz="2000" b="0">
              <a:solidFill>
                <a:schemeClr val="accent2"/>
              </a:solidFill>
              <a:latin typeface="Chalkboard" charset="0"/>
            </a:endParaRPr>
          </a:p>
        </p:txBody>
      </p:sp>
      <p:grpSp>
        <p:nvGrpSpPr>
          <p:cNvPr id="495627" name="Group 11"/>
          <p:cNvGrpSpPr>
            <a:grpSpLocks/>
          </p:cNvGrpSpPr>
          <p:nvPr/>
        </p:nvGrpSpPr>
        <p:grpSpPr bwMode="auto">
          <a:xfrm>
            <a:off x="6205538" y="1465263"/>
            <a:ext cx="881062" cy="881062"/>
            <a:chOff x="3433" y="866"/>
            <a:chExt cx="555" cy="555"/>
          </a:xfrm>
        </p:grpSpPr>
        <p:sp>
          <p:nvSpPr>
            <p:cNvPr id="495628" name="Oval 12"/>
            <p:cNvSpPr>
              <a:spLocks noChangeArrowheads="1"/>
            </p:cNvSpPr>
            <p:nvPr/>
          </p:nvSpPr>
          <p:spPr bwMode="auto">
            <a:xfrm>
              <a:off x="3433" y="866"/>
              <a:ext cx="555" cy="55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5629" name="Oval 13"/>
            <p:cNvSpPr>
              <a:spLocks noChangeArrowheads="1"/>
            </p:cNvSpPr>
            <p:nvPr/>
          </p:nvSpPr>
          <p:spPr bwMode="auto">
            <a:xfrm>
              <a:off x="3696" y="1129"/>
              <a:ext cx="28" cy="2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95630" name="Rectangle 14"/>
          <p:cNvSpPr>
            <a:spLocks noChangeArrowheads="1"/>
          </p:cNvSpPr>
          <p:nvPr/>
        </p:nvSpPr>
        <p:spPr bwMode="auto">
          <a:xfrm>
            <a:off x="7188200" y="1603375"/>
            <a:ext cx="1379538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(“Coherent</a:t>
            </a:r>
          </a:p>
          <a:p>
            <a:pPr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illumination”)</a:t>
            </a:r>
            <a:endParaRPr lang="en-US" sz="16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495631" name="Rectangle 15"/>
          <p:cNvSpPr>
            <a:spLocks noChangeArrowheads="1"/>
          </p:cNvSpPr>
          <p:nvPr/>
        </p:nvSpPr>
        <p:spPr bwMode="auto">
          <a:xfrm>
            <a:off x="7188200" y="2622550"/>
            <a:ext cx="1706563" cy="858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(= Full aperture,</a:t>
            </a:r>
          </a:p>
          <a:p>
            <a:pPr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“incoherent</a:t>
            </a:r>
          </a:p>
          <a:p>
            <a:pPr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illumination”)</a:t>
            </a:r>
            <a:endParaRPr lang="en-US" sz="16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495632" name="Oval 16"/>
          <p:cNvSpPr>
            <a:spLocks noChangeArrowheads="1"/>
          </p:cNvSpPr>
          <p:nvPr/>
        </p:nvSpPr>
        <p:spPr bwMode="auto">
          <a:xfrm>
            <a:off x="6205538" y="2613025"/>
            <a:ext cx="881062" cy="8810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5633" name="Rectangle 17"/>
          <p:cNvSpPr>
            <a:spLocks noChangeArrowheads="1"/>
          </p:cNvSpPr>
          <p:nvPr/>
        </p:nvSpPr>
        <p:spPr bwMode="auto">
          <a:xfrm>
            <a:off x="6029325" y="938213"/>
            <a:ext cx="1233488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lnSpc>
                <a:spcPct val="80000"/>
              </a:lnSpc>
            </a:pPr>
            <a:r>
              <a:rPr lang="en-US" altLang="en-US" sz="1600" b="0">
                <a:latin typeface="Chalkboard" charset="0"/>
              </a:rPr>
              <a:t>Pupil</a:t>
            </a:r>
          </a:p>
          <a:p>
            <a:pPr algn="ctr" eaLnBrk="0" hangingPunct="0">
              <a:lnSpc>
                <a:spcPct val="80000"/>
              </a:lnSpc>
            </a:pPr>
            <a:r>
              <a:rPr lang="en-US" altLang="en-US" sz="1600" b="0">
                <a:latin typeface="Chalkboard" charset="0"/>
              </a:rPr>
              <a:t>appearance</a:t>
            </a:r>
            <a:endParaRPr lang="en-US" sz="1600" b="0">
              <a:latin typeface="Chalkboard" charset="0"/>
            </a:endParaRPr>
          </a:p>
        </p:txBody>
      </p:sp>
      <p:grpSp>
        <p:nvGrpSpPr>
          <p:cNvPr id="495634" name="Group 18"/>
          <p:cNvGrpSpPr>
            <a:grpSpLocks/>
          </p:cNvGrpSpPr>
          <p:nvPr/>
        </p:nvGrpSpPr>
        <p:grpSpPr bwMode="auto">
          <a:xfrm>
            <a:off x="3690938" y="3835400"/>
            <a:ext cx="4821237" cy="931863"/>
            <a:chOff x="2325" y="2416"/>
            <a:chExt cx="3037" cy="587"/>
          </a:xfrm>
        </p:grpSpPr>
        <p:sp>
          <p:nvSpPr>
            <p:cNvPr id="495635" name="Rectangle 19"/>
            <p:cNvSpPr>
              <a:spLocks noChangeArrowheads="1"/>
            </p:cNvSpPr>
            <p:nvPr/>
          </p:nvSpPr>
          <p:spPr bwMode="auto">
            <a:xfrm>
              <a:off x="3048" y="2561"/>
              <a:ext cx="2314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en-US" sz="2000" b="0">
                  <a:latin typeface="Helvetica" pitchFamily="34" charset="0"/>
                </a:rPr>
                <a:t>Resolution limit:</a:t>
              </a:r>
              <a:endParaRPr lang="en-US" altLang="en-US" sz="2000" b="0">
                <a:solidFill>
                  <a:srgbClr val="FF0000"/>
                </a:solidFill>
                <a:latin typeface="Helvetica" pitchFamily="34" charset="0"/>
              </a:endParaRPr>
            </a:p>
            <a:p>
              <a:pPr algn="ctr" eaLnBrk="0" hangingPunct="0"/>
              <a:r>
                <a:rPr lang="en-US" altLang="en-US" sz="2000" b="0">
                  <a:solidFill>
                    <a:srgbClr val="FF0000"/>
                  </a:solidFill>
                  <a:latin typeface="Helvetica" pitchFamily="34" charset="0"/>
                </a:rPr>
                <a:t>k</a:t>
              </a:r>
              <a:r>
                <a:rPr lang="en-US" altLang="en-US" sz="2000" b="0" baseline="-25000">
                  <a:solidFill>
                    <a:srgbClr val="FF0000"/>
                  </a:solidFill>
                  <a:latin typeface="Helvetica" pitchFamily="34" charset="0"/>
                </a:rPr>
                <a:t>max </a:t>
              </a:r>
              <a:r>
                <a:rPr lang="en-US" altLang="en-US" sz="2000" b="0">
                  <a:solidFill>
                    <a:srgbClr val="FF0000"/>
                  </a:solidFill>
                  <a:latin typeface="Helvetica" pitchFamily="34" charset="0"/>
                </a:rPr>
                <a:t>= (</a:t>
              </a:r>
              <a:r>
                <a:rPr lang="en-US" altLang="en-US" sz="2000" b="0" i="1">
                  <a:solidFill>
                    <a:srgbClr val="FF0000"/>
                  </a:solidFill>
                  <a:latin typeface="Helvetica" pitchFamily="34" charset="0"/>
                </a:rPr>
                <a:t>NA</a:t>
              </a:r>
              <a:r>
                <a:rPr lang="en-US" altLang="en-US" sz="2000" b="0" i="1" baseline="-25000">
                  <a:solidFill>
                    <a:srgbClr val="FF0000"/>
                  </a:solidFill>
                  <a:latin typeface="Helvetica" pitchFamily="34" charset="0"/>
                </a:rPr>
                <a:t>objective</a:t>
              </a:r>
              <a:r>
                <a:rPr lang="en-US" altLang="en-US" sz="2000" b="0" i="1">
                  <a:solidFill>
                    <a:srgbClr val="FF0000"/>
                  </a:solidFill>
                  <a:latin typeface="Helvetica" pitchFamily="34" charset="0"/>
                </a:rPr>
                <a:t>+</a:t>
              </a:r>
              <a:r>
                <a:rPr lang="en-US" altLang="en-US" sz="2000" b="0">
                  <a:solidFill>
                    <a:srgbClr val="FF0000"/>
                  </a:solidFill>
                  <a:latin typeface="Symbol" pitchFamily="18" charset="2"/>
                </a:rPr>
                <a:t> </a:t>
              </a:r>
              <a:r>
                <a:rPr lang="en-US" altLang="en-US" sz="2000" b="0" i="1">
                  <a:solidFill>
                    <a:srgbClr val="FF0000"/>
                  </a:solidFill>
                  <a:latin typeface="Helvetica" pitchFamily="34" charset="0"/>
                </a:rPr>
                <a:t>NA</a:t>
              </a:r>
              <a:r>
                <a:rPr lang="en-US" altLang="en-US" sz="2000" b="0" i="1" baseline="-25000">
                  <a:solidFill>
                    <a:srgbClr val="FF0000"/>
                  </a:solidFill>
                  <a:latin typeface="Helvetica" pitchFamily="34" charset="0"/>
                </a:rPr>
                <a:t>condenser</a:t>
              </a:r>
              <a:r>
                <a:rPr lang="en-US" altLang="en-US" sz="2000" b="0">
                  <a:solidFill>
                    <a:srgbClr val="FF0000"/>
                  </a:solidFill>
                  <a:latin typeface="Symbol" pitchFamily="18" charset="2"/>
                </a:rPr>
                <a:t>)/ l</a:t>
              </a:r>
              <a:endParaRPr lang="en-US" sz="2000" b="0">
                <a:solidFill>
                  <a:srgbClr val="FF0000"/>
                </a:solidFill>
                <a:latin typeface="Symbol" pitchFamily="18" charset="2"/>
              </a:endParaRPr>
            </a:p>
          </p:txBody>
        </p:sp>
        <p:sp>
          <p:nvSpPr>
            <p:cNvPr id="495636" name="Freeform 20"/>
            <p:cNvSpPr>
              <a:spLocks/>
            </p:cNvSpPr>
            <p:nvPr/>
          </p:nvSpPr>
          <p:spPr bwMode="auto">
            <a:xfrm>
              <a:off x="2549" y="2416"/>
              <a:ext cx="518" cy="485"/>
            </a:xfrm>
            <a:custGeom>
              <a:avLst/>
              <a:gdLst/>
              <a:ahLst/>
              <a:cxnLst>
                <a:cxn ang="0">
                  <a:pos x="518" y="453"/>
                </a:cxn>
                <a:cxn ang="0">
                  <a:pos x="0" y="0"/>
                </a:cxn>
              </a:cxnLst>
              <a:rect l="0" t="0" r="r" b="b"/>
              <a:pathLst>
                <a:path w="518" h="485">
                  <a:moveTo>
                    <a:pt x="518" y="453"/>
                  </a:moveTo>
                  <a:cubicBezTo>
                    <a:pt x="294" y="448"/>
                    <a:pt x="64" y="485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5637" name="Freeform 21"/>
            <p:cNvSpPr>
              <a:spLocks/>
            </p:cNvSpPr>
            <p:nvPr/>
          </p:nvSpPr>
          <p:spPr bwMode="auto">
            <a:xfrm>
              <a:off x="2325" y="2416"/>
              <a:ext cx="742" cy="485"/>
            </a:xfrm>
            <a:custGeom>
              <a:avLst/>
              <a:gdLst/>
              <a:ahLst/>
              <a:cxnLst>
                <a:cxn ang="0">
                  <a:pos x="518" y="453"/>
                </a:cxn>
                <a:cxn ang="0">
                  <a:pos x="0" y="0"/>
                </a:cxn>
              </a:cxnLst>
              <a:rect l="0" t="0" r="r" b="b"/>
              <a:pathLst>
                <a:path w="518" h="485">
                  <a:moveTo>
                    <a:pt x="518" y="453"/>
                  </a:moveTo>
                  <a:cubicBezTo>
                    <a:pt x="294" y="448"/>
                    <a:pt x="64" y="485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5638" name="Freeform 22"/>
            <p:cNvSpPr>
              <a:spLocks/>
            </p:cNvSpPr>
            <p:nvPr/>
          </p:nvSpPr>
          <p:spPr bwMode="auto">
            <a:xfrm>
              <a:off x="2762" y="2416"/>
              <a:ext cx="305" cy="485"/>
            </a:xfrm>
            <a:custGeom>
              <a:avLst/>
              <a:gdLst/>
              <a:ahLst/>
              <a:cxnLst>
                <a:cxn ang="0">
                  <a:pos x="518" y="453"/>
                </a:cxn>
                <a:cxn ang="0">
                  <a:pos x="0" y="0"/>
                </a:cxn>
              </a:cxnLst>
              <a:rect l="0" t="0" r="r" b="b"/>
              <a:pathLst>
                <a:path w="518" h="485">
                  <a:moveTo>
                    <a:pt x="518" y="453"/>
                  </a:moveTo>
                  <a:cubicBezTo>
                    <a:pt x="294" y="448"/>
                    <a:pt x="64" y="485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5626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2514600" y="109538"/>
            <a:ext cx="4127500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Definitions of Resolution</a:t>
            </a:r>
          </a:p>
        </p:txBody>
      </p:sp>
      <p:pic>
        <p:nvPicPr>
          <p:cNvPr id="57363" name="Picture 1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57438" y="1206500"/>
            <a:ext cx="4324350" cy="154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7364" name="Rectangle 20"/>
          <p:cNvSpPr>
            <a:spLocks noChangeArrowheads="1"/>
          </p:cNvSpPr>
          <p:nvPr/>
        </p:nvSpPr>
        <p:spPr bwMode="auto">
          <a:xfrm>
            <a:off x="2020888" y="1123950"/>
            <a:ext cx="2484437" cy="16017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70" name="Line 26"/>
          <p:cNvSpPr>
            <a:spLocks noChangeShapeType="1"/>
          </p:cNvSpPr>
          <p:nvPr/>
        </p:nvSpPr>
        <p:spPr bwMode="auto">
          <a:xfrm>
            <a:off x="4333875" y="2674938"/>
            <a:ext cx="2792413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74" name="Text Box 30"/>
          <p:cNvSpPr txBox="1">
            <a:spLocks noChangeArrowheads="1"/>
          </p:cNvSpPr>
          <p:nvPr/>
        </p:nvSpPr>
        <p:spPr bwMode="auto">
          <a:xfrm>
            <a:off x="6704013" y="2674938"/>
            <a:ext cx="4016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>
                <a:solidFill>
                  <a:srgbClr val="000000"/>
                </a:solidFill>
                <a:latin typeface="Helvetica" charset="0"/>
              </a:rPr>
              <a:t>|</a:t>
            </a:r>
            <a:r>
              <a:rPr lang="en-US" altLang="en-US" sz="16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>
                <a:solidFill>
                  <a:srgbClr val="000000"/>
                </a:solidFill>
                <a:latin typeface="Helvetica" charset="0"/>
              </a:rPr>
              <a:t>|</a:t>
            </a:r>
          </a:p>
        </p:txBody>
      </p:sp>
      <p:sp>
        <p:nvSpPr>
          <p:cNvPr id="57375" name="Line 31"/>
          <p:cNvSpPr>
            <a:spLocks noChangeShapeType="1"/>
          </p:cNvSpPr>
          <p:nvPr/>
        </p:nvSpPr>
        <p:spPr bwMode="auto">
          <a:xfrm flipV="1">
            <a:off x="4516438" y="938213"/>
            <a:ext cx="0" cy="18081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76" name="Text Box 32"/>
          <p:cNvSpPr txBox="1">
            <a:spLocks noChangeArrowheads="1"/>
          </p:cNvSpPr>
          <p:nvPr/>
        </p:nvSpPr>
        <p:spPr bwMode="auto">
          <a:xfrm>
            <a:off x="4649788" y="1052513"/>
            <a:ext cx="8397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>
                <a:solidFill>
                  <a:srgbClr val="000000"/>
                </a:solidFill>
                <a:latin typeface="Helvetica" charset="0"/>
              </a:rPr>
              <a:t>OTF(</a:t>
            </a:r>
            <a:r>
              <a:rPr lang="en-US" altLang="en-US" sz="16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>
                <a:solidFill>
                  <a:srgbClr val="000000"/>
                </a:solidFill>
                <a:latin typeface="Helvetica" charset="0"/>
              </a:rPr>
              <a:t>)</a:t>
            </a:r>
            <a:endParaRPr lang="en-US" altLang="en-US" sz="1600" b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7377" name="Text Box 33"/>
          <p:cNvSpPr txBox="1">
            <a:spLocks noChangeArrowheads="1"/>
          </p:cNvSpPr>
          <p:nvPr/>
        </p:nvSpPr>
        <p:spPr bwMode="auto">
          <a:xfrm>
            <a:off x="4106863" y="1074738"/>
            <a:ext cx="2968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>
                <a:solidFill>
                  <a:srgbClr val="000000"/>
                </a:solidFill>
                <a:latin typeface="Helvetica" charset="0"/>
              </a:rPr>
              <a:t>1</a:t>
            </a:r>
          </a:p>
        </p:txBody>
      </p:sp>
      <p:sp>
        <p:nvSpPr>
          <p:cNvPr id="57378" name="Line 34"/>
          <p:cNvSpPr>
            <a:spLocks noChangeShapeType="1"/>
          </p:cNvSpPr>
          <p:nvPr/>
        </p:nvSpPr>
        <p:spPr bwMode="auto">
          <a:xfrm>
            <a:off x="4403725" y="1262063"/>
            <a:ext cx="1127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81" name="Rectangle 37"/>
          <p:cNvSpPr>
            <a:spLocks noChangeArrowheads="1"/>
          </p:cNvSpPr>
          <p:nvPr/>
        </p:nvSpPr>
        <p:spPr bwMode="auto">
          <a:xfrm>
            <a:off x="6156325" y="1046163"/>
            <a:ext cx="1776413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Cutoff frequency</a:t>
            </a:r>
            <a:endParaRPr lang="en-US" altLang="en-US" sz="2000" i="1">
              <a:solidFill>
                <a:srgbClr val="FF0000"/>
              </a:solidFill>
              <a:latin typeface="Helvetica" charset="0"/>
            </a:endParaRPr>
          </a:p>
          <a:p>
            <a:r>
              <a:rPr lang="en-US" altLang="en-US" sz="1600" i="1">
                <a:latin typeface="Helvetica" charset="0"/>
              </a:rPr>
              <a:t> k</a:t>
            </a:r>
            <a:r>
              <a:rPr lang="en-US" altLang="en-US" sz="1600" baseline="-25000">
                <a:latin typeface="Helvetica" charset="0"/>
              </a:rPr>
              <a:t>max </a:t>
            </a:r>
            <a:r>
              <a:rPr lang="en-US" altLang="en-US" sz="1600">
                <a:latin typeface="Helvetica" charset="0"/>
              </a:rPr>
              <a:t>= 2 </a:t>
            </a:r>
            <a:r>
              <a:rPr lang="en-US" altLang="en-US" sz="1600" i="1">
                <a:latin typeface="Helvetica" charset="0"/>
              </a:rPr>
              <a:t>NA</a:t>
            </a:r>
            <a:r>
              <a:rPr lang="en-US" altLang="en-US" sz="1600">
                <a:latin typeface="Symbol" charset="2"/>
              </a:rPr>
              <a:t> / </a:t>
            </a:r>
            <a:r>
              <a:rPr lang="en-US" altLang="en-US" sz="1600" i="1">
                <a:latin typeface="Symbol" charset="2"/>
              </a:rPr>
              <a:t>l</a:t>
            </a:r>
            <a:endParaRPr lang="en-US" sz="2000" i="1">
              <a:solidFill>
                <a:srgbClr val="FF0000"/>
              </a:solidFill>
              <a:latin typeface="Symbol" charset="2"/>
            </a:endParaRPr>
          </a:p>
        </p:txBody>
      </p:sp>
      <p:sp>
        <p:nvSpPr>
          <p:cNvPr id="57382" name="Freeform 38"/>
          <p:cNvSpPr>
            <a:spLocks/>
          </p:cNvSpPr>
          <p:nvPr/>
        </p:nvSpPr>
        <p:spPr bwMode="auto">
          <a:xfrm>
            <a:off x="6405563" y="1693863"/>
            <a:ext cx="342900" cy="938212"/>
          </a:xfrm>
          <a:custGeom>
            <a:avLst/>
            <a:gdLst/>
            <a:ahLst/>
            <a:cxnLst>
              <a:cxn ang="0">
                <a:pos x="216" y="0"/>
              </a:cxn>
              <a:cxn ang="0">
                <a:pos x="0" y="591"/>
              </a:cxn>
            </a:cxnLst>
            <a:rect l="0" t="0" r="r" b="b"/>
            <a:pathLst>
              <a:path w="216" h="591">
                <a:moveTo>
                  <a:pt x="216" y="0"/>
                </a:moveTo>
                <a:cubicBezTo>
                  <a:pt x="146" y="85"/>
                  <a:pt x="43" y="205"/>
                  <a:pt x="0" y="591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84" name="Rectangle 40"/>
          <p:cNvSpPr>
            <a:spLocks noChangeArrowheads="1"/>
          </p:cNvSpPr>
          <p:nvPr/>
        </p:nvSpPr>
        <p:spPr bwMode="auto">
          <a:xfrm>
            <a:off x="463550" y="1797050"/>
            <a:ext cx="338124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000" b="0" dirty="0">
                <a:solidFill>
                  <a:schemeClr val="accent2"/>
                </a:solidFill>
                <a:latin typeface="Chalkboard" charset="0"/>
              </a:rPr>
              <a:t>As the OTF cutoff frequency</a:t>
            </a:r>
            <a:endParaRPr lang="en-US" sz="2000" b="0" dirty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7386" name="Rectangle 42"/>
          <p:cNvSpPr>
            <a:spLocks noChangeArrowheads="1"/>
          </p:cNvSpPr>
          <p:nvPr/>
        </p:nvSpPr>
        <p:spPr bwMode="auto">
          <a:xfrm>
            <a:off x="463550" y="3295650"/>
            <a:ext cx="348845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As the Full Width at Half Max</a:t>
            </a:r>
          </a:p>
          <a:p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(FWHM) of the PSF</a:t>
            </a:r>
            <a:endParaRPr lang="en-US" sz="20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7387" name="Rectangle 43"/>
          <p:cNvSpPr>
            <a:spLocks noChangeArrowheads="1"/>
          </p:cNvSpPr>
          <p:nvPr/>
        </p:nvSpPr>
        <p:spPr bwMode="auto">
          <a:xfrm>
            <a:off x="463550" y="4845050"/>
            <a:ext cx="371473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000" b="0" dirty="0">
                <a:solidFill>
                  <a:schemeClr val="accent2"/>
                </a:solidFill>
                <a:latin typeface="Chalkboard" charset="0"/>
              </a:rPr>
              <a:t>As the diameter of the Airy disk</a:t>
            </a:r>
          </a:p>
          <a:p>
            <a:r>
              <a:rPr lang="en-US" altLang="en-US" sz="2000" b="0" dirty="0">
                <a:solidFill>
                  <a:schemeClr val="accent2"/>
                </a:solidFill>
                <a:latin typeface="Chalkboard" charset="0"/>
              </a:rPr>
              <a:t>(first dark ring of the PSF)</a:t>
            </a:r>
          </a:p>
          <a:p>
            <a:r>
              <a:rPr lang="en-US" altLang="en-US" sz="2000" b="0" dirty="0">
                <a:solidFill>
                  <a:schemeClr val="accent2"/>
                </a:solidFill>
                <a:latin typeface="Chalkboard" charset="0"/>
              </a:rPr>
              <a:t>= “Rayleigh criterion”</a:t>
            </a:r>
            <a:endParaRPr lang="en-US" sz="2000" b="0" dirty="0">
              <a:solidFill>
                <a:schemeClr val="accent2"/>
              </a:solidFill>
              <a:latin typeface="Chalkboard" charset="0"/>
            </a:endParaRPr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4983163" y="3449638"/>
            <a:ext cx="3611562" cy="2105025"/>
            <a:chOff x="2841" y="2205"/>
            <a:chExt cx="2275" cy="1113"/>
          </a:xfrm>
        </p:grpSpPr>
        <p:pic>
          <p:nvPicPr>
            <p:cNvPr id="57389" name="Picture 45" descr="&#10;AiryDisk.pict                                                  001F1E40Mats Gustafsson                BC2CE792: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841" y="2205"/>
              <a:ext cx="2275" cy="941"/>
            </a:xfrm>
            <a:prstGeom prst="rect">
              <a:avLst/>
            </a:prstGeom>
            <a:noFill/>
          </p:spPr>
        </p:pic>
        <p:sp>
          <p:nvSpPr>
            <p:cNvPr id="57390" name="Line 46"/>
            <p:cNvSpPr>
              <a:spLocks noChangeShapeType="1"/>
            </p:cNvSpPr>
            <p:nvPr/>
          </p:nvSpPr>
          <p:spPr bwMode="auto">
            <a:xfrm>
              <a:off x="3706" y="3265"/>
              <a:ext cx="5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91" name="Line 47"/>
            <p:cNvSpPr>
              <a:spLocks noChangeShapeType="1"/>
            </p:cNvSpPr>
            <p:nvPr/>
          </p:nvSpPr>
          <p:spPr bwMode="auto">
            <a:xfrm>
              <a:off x="3707" y="3121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92" name="Line 48"/>
            <p:cNvSpPr>
              <a:spLocks noChangeShapeType="1"/>
            </p:cNvSpPr>
            <p:nvPr/>
          </p:nvSpPr>
          <p:spPr bwMode="auto">
            <a:xfrm>
              <a:off x="4256" y="312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7393" name="Rectangle 49"/>
          <p:cNvSpPr>
            <a:spLocks noChangeArrowheads="1"/>
          </p:cNvSpPr>
          <p:nvPr/>
        </p:nvSpPr>
        <p:spPr bwMode="auto">
          <a:xfrm>
            <a:off x="5862638" y="5781675"/>
            <a:ext cx="189388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  <a:latin typeface="Chalkboard" charset="0"/>
              </a:rPr>
              <a:t>Airy disk diameter</a:t>
            </a:r>
          </a:p>
          <a:p>
            <a:pPr algn="ctr"/>
            <a:r>
              <a:rPr lang="en-US" sz="1600">
                <a:solidFill>
                  <a:schemeClr val="tx2"/>
                </a:solidFill>
                <a:latin typeface="Chalkboard" charset="0"/>
              </a:rPr>
              <a:t>≈ </a:t>
            </a:r>
            <a:r>
              <a:rPr lang="en-US" sz="1600">
                <a:solidFill>
                  <a:srgbClr val="FF0000"/>
                </a:solidFill>
                <a:latin typeface="Chalkboard" charset="0"/>
              </a:rPr>
              <a:t>0.61 </a:t>
            </a:r>
            <a:r>
              <a:rPr lang="en-US" sz="1600" i="1">
                <a:solidFill>
                  <a:srgbClr val="FF0000"/>
                </a:solidFill>
                <a:latin typeface="Chalkboard" charset="0"/>
                <a:sym typeface="Symbol" charset="2"/>
              </a:rPr>
              <a:t></a:t>
            </a:r>
            <a:r>
              <a:rPr lang="en-US" sz="1600">
                <a:solidFill>
                  <a:srgbClr val="FF0000"/>
                </a:solidFill>
                <a:latin typeface="Chalkboard" charset="0"/>
              </a:rPr>
              <a:t> </a:t>
            </a:r>
            <a:r>
              <a:rPr lang="en-US" sz="1600" i="1">
                <a:solidFill>
                  <a:srgbClr val="FF0000"/>
                </a:solidFill>
                <a:latin typeface="Chalkboard" charset="0"/>
              </a:rPr>
              <a:t>/NA</a:t>
            </a:r>
          </a:p>
        </p:txBody>
      </p:sp>
      <p:sp>
        <p:nvSpPr>
          <p:cNvPr id="57395" name="Rectangle 51"/>
          <p:cNvSpPr>
            <a:spLocks noChangeArrowheads="1"/>
          </p:cNvSpPr>
          <p:nvPr/>
        </p:nvSpPr>
        <p:spPr bwMode="auto">
          <a:xfrm>
            <a:off x="7099300" y="4181475"/>
            <a:ext cx="1568450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  <a:latin typeface="Chalkboard" charset="0"/>
              </a:rPr>
              <a:t>FWHM</a:t>
            </a:r>
          </a:p>
          <a:p>
            <a:pPr algn="ctr"/>
            <a:r>
              <a:rPr lang="en-US" sz="1600">
                <a:solidFill>
                  <a:schemeClr val="tx2"/>
                </a:solidFill>
                <a:latin typeface="Chalkboard" charset="0"/>
              </a:rPr>
              <a:t>≈ </a:t>
            </a:r>
            <a:r>
              <a:rPr lang="en-US" sz="1600">
                <a:solidFill>
                  <a:srgbClr val="FF0000"/>
                </a:solidFill>
                <a:latin typeface="Chalkboard" charset="0"/>
              </a:rPr>
              <a:t>0.353 </a:t>
            </a:r>
            <a:r>
              <a:rPr lang="en-US" sz="1600" i="1">
                <a:solidFill>
                  <a:srgbClr val="FF0000"/>
                </a:solidFill>
                <a:latin typeface="Chalkboard" charset="0"/>
                <a:sym typeface="Symbol" charset="2"/>
              </a:rPr>
              <a:t></a:t>
            </a:r>
            <a:r>
              <a:rPr lang="en-US" sz="1600">
                <a:solidFill>
                  <a:srgbClr val="FF0000"/>
                </a:solidFill>
                <a:latin typeface="Chalkboard" charset="0"/>
              </a:rPr>
              <a:t> </a:t>
            </a:r>
            <a:r>
              <a:rPr lang="en-US" sz="1600" i="1">
                <a:solidFill>
                  <a:srgbClr val="FF0000"/>
                </a:solidFill>
                <a:latin typeface="Chalkboard" charset="0"/>
              </a:rPr>
              <a:t>/NA</a:t>
            </a:r>
          </a:p>
        </p:txBody>
      </p:sp>
      <p:sp>
        <p:nvSpPr>
          <p:cNvPr id="57396" name="Line 52"/>
          <p:cNvSpPr>
            <a:spLocks noChangeShapeType="1"/>
          </p:cNvSpPr>
          <p:nvPr/>
        </p:nvSpPr>
        <p:spPr bwMode="auto">
          <a:xfrm>
            <a:off x="6256338" y="4419600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97" name="Line 53"/>
          <p:cNvSpPr>
            <a:spLocks noChangeShapeType="1"/>
          </p:cNvSpPr>
          <p:nvPr/>
        </p:nvSpPr>
        <p:spPr bwMode="auto">
          <a:xfrm flipH="1">
            <a:off x="6983413" y="4419600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73" name="Line 29"/>
          <p:cNvSpPr>
            <a:spLocks noChangeShapeType="1"/>
          </p:cNvSpPr>
          <p:nvPr/>
        </p:nvSpPr>
        <p:spPr bwMode="auto">
          <a:xfrm flipH="1">
            <a:off x="6327775" y="2670175"/>
            <a:ext cx="5080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98" name="Rectangle 54"/>
          <p:cNvSpPr>
            <a:spLocks noChangeArrowheads="1"/>
          </p:cNvSpPr>
          <p:nvPr/>
        </p:nvSpPr>
        <p:spPr bwMode="auto">
          <a:xfrm>
            <a:off x="7727950" y="1828800"/>
            <a:ext cx="1314450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  <a:latin typeface="Chalkboard" charset="0"/>
              </a:rPr>
              <a:t>1/</a:t>
            </a:r>
            <a:r>
              <a:rPr lang="en-US" sz="1600" i="1">
                <a:solidFill>
                  <a:schemeClr val="tx2"/>
                </a:solidFill>
                <a:latin typeface="Chalkboard" charset="0"/>
              </a:rPr>
              <a:t>k</a:t>
            </a:r>
            <a:r>
              <a:rPr lang="en-US" sz="1600" i="1" baseline="-25000">
                <a:solidFill>
                  <a:schemeClr val="tx2"/>
                </a:solidFill>
                <a:latin typeface="Chalkboard" charset="0"/>
              </a:rPr>
              <a:t>max</a:t>
            </a:r>
            <a:endParaRPr lang="en-US" sz="1600">
              <a:solidFill>
                <a:schemeClr val="tx2"/>
              </a:solidFill>
              <a:latin typeface="Chalkboard" charset="0"/>
            </a:endParaRPr>
          </a:p>
          <a:p>
            <a:pPr algn="ctr"/>
            <a:r>
              <a:rPr lang="en-US" sz="1600">
                <a:solidFill>
                  <a:schemeClr val="tx2"/>
                </a:solidFill>
                <a:latin typeface="Chalkboard" charset="0"/>
              </a:rPr>
              <a:t>= </a:t>
            </a:r>
            <a:r>
              <a:rPr lang="en-US" sz="1600">
                <a:solidFill>
                  <a:srgbClr val="FF0000"/>
                </a:solidFill>
                <a:latin typeface="Chalkboard" charset="0"/>
              </a:rPr>
              <a:t>0.5 </a:t>
            </a:r>
            <a:r>
              <a:rPr lang="en-US" sz="1600" i="1">
                <a:solidFill>
                  <a:srgbClr val="FF0000"/>
                </a:solidFill>
                <a:latin typeface="Chalkboard" charset="0"/>
                <a:sym typeface="Symbol" charset="2"/>
              </a:rPr>
              <a:t></a:t>
            </a:r>
            <a:r>
              <a:rPr lang="en-US" sz="1600">
                <a:solidFill>
                  <a:srgbClr val="FF0000"/>
                </a:solidFill>
                <a:latin typeface="Chalkboard" charset="0"/>
              </a:rPr>
              <a:t> </a:t>
            </a:r>
            <a:r>
              <a:rPr lang="en-US" sz="1600" i="1">
                <a:solidFill>
                  <a:srgbClr val="FF0000"/>
                </a:solidFill>
                <a:latin typeface="Chalkboard" charset="0"/>
              </a:rPr>
              <a:t>/NA</a:t>
            </a:r>
            <a:endParaRPr lang="en-US" sz="1600" i="1">
              <a:solidFill>
                <a:schemeClr val="tx2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5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50013" y="2790825"/>
            <a:ext cx="2498725" cy="2454275"/>
          </a:xfrm>
          <a:prstGeom prst="rect">
            <a:avLst/>
          </a:prstGeom>
          <a:noFill/>
        </p:spPr>
      </p:pic>
      <p:sp>
        <p:nvSpPr>
          <p:cNvPr id="536579" name="Text Box 3"/>
          <p:cNvSpPr txBox="1">
            <a:spLocks noChangeArrowheads="1"/>
          </p:cNvSpPr>
          <p:nvPr/>
        </p:nvSpPr>
        <p:spPr bwMode="auto">
          <a:xfrm>
            <a:off x="7131050" y="2311400"/>
            <a:ext cx="118586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Measured</a:t>
            </a:r>
          </a:p>
        </p:txBody>
      </p:sp>
      <p:sp>
        <p:nvSpPr>
          <p:cNvPr id="536580" name="Line 4"/>
          <p:cNvSpPr>
            <a:spLocks noChangeShapeType="1"/>
          </p:cNvSpPr>
          <p:nvPr/>
        </p:nvSpPr>
        <p:spPr bwMode="auto">
          <a:xfrm>
            <a:off x="4621213" y="5538788"/>
            <a:ext cx="715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6581" name="Text Box 5"/>
          <p:cNvSpPr txBox="1">
            <a:spLocks noChangeArrowheads="1"/>
          </p:cNvSpPr>
          <p:nvPr/>
        </p:nvSpPr>
        <p:spPr bwMode="auto">
          <a:xfrm>
            <a:off x="5334000" y="5318125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2000" b="0">
                <a:latin typeface="Helvetica" pitchFamily="34" charset="0"/>
              </a:rPr>
              <a:t>x</a:t>
            </a:r>
          </a:p>
        </p:txBody>
      </p:sp>
      <p:sp>
        <p:nvSpPr>
          <p:cNvPr id="536582" name="Text Box 6"/>
          <p:cNvSpPr txBox="1">
            <a:spLocks noChangeArrowheads="1"/>
          </p:cNvSpPr>
          <p:nvPr/>
        </p:nvSpPr>
        <p:spPr bwMode="auto">
          <a:xfrm>
            <a:off x="3352800" y="2573338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2000" b="0">
                <a:latin typeface="Helvetica" pitchFamily="34" charset="0"/>
              </a:rPr>
              <a:t>z</a:t>
            </a:r>
          </a:p>
        </p:txBody>
      </p:sp>
      <p:sp>
        <p:nvSpPr>
          <p:cNvPr id="536583" name="Line 7"/>
          <p:cNvSpPr>
            <a:spLocks noChangeShapeType="1"/>
          </p:cNvSpPr>
          <p:nvPr/>
        </p:nvSpPr>
        <p:spPr bwMode="auto">
          <a:xfrm flipV="1">
            <a:off x="3505200" y="2954338"/>
            <a:ext cx="0" cy="703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6584" name="Text Box 8"/>
          <p:cNvSpPr txBox="1">
            <a:spLocks noChangeArrowheads="1"/>
          </p:cNvSpPr>
          <p:nvPr/>
        </p:nvSpPr>
        <p:spPr bwMode="auto">
          <a:xfrm>
            <a:off x="4344988" y="2312988"/>
            <a:ext cx="129063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Calculated</a:t>
            </a:r>
          </a:p>
        </p:txBody>
      </p:sp>
      <p:pic>
        <p:nvPicPr>
          <p:cNvPr id="536585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54413" y="2743200"/>
            <a:ext cx="2686050" cy="2686050"/>
          </a:xfrm>
          <a:prstGeom prst="rect">
            <a:avLst/>
          </a:prstGeom>
          <a:noFill/>
        </p:spPr>
      </p:pic>
      <p:sp>
        <p:nvSpPr>
          <p:cNvPr id="536586" name="Text Box 10"/>
          <p:cNvSpPr txBox="1">
            <a:spLocks noChangeArrowheads="1"/>
          </p:cNvSpPr>
          <p:nvPr/>
        </p:nvSpPr>
        <p:spPr bwMode="auto">
          <a:xfrm>
            <a:off x="1581150" y="109538"/>
            <a:ext cx="6002338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The 3D Point Spread Function (PSF)</a:t>
            </a:r>
          </a:p>
        </p:txBody>
      </p:sp>
      <p:pic>
        <p:nvPicPr>
          <p:cNvPr id="536587" name="Picture 1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1000" y="3238500"/>
            <a:ext cx="1682750" cy="168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36588" name="Picture 1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1000" y="1524000"/>
            <a:ext cx="1682750" cy="168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36589" name="Picture 1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1000" y="4953000"/>
            <a:ext cx="1682750" cy="168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36590" name="Rectangle 14"/>
          <p:cNvSpPr>
            <a:spLocks noChangeArrowheads="1"/>
          </p:cNvSpPr>
          <p:nvPr/>
        </p:nvSpPr>
        <p:spPr bwMode="auto">
          <a:xfrm>
            <a:off x="381000" y="3244850"/>
            <a:ext cx="4937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400" b="0">
                <a:solidFill>
                  <a:srgbClr val="FFFFFF"/>
                </a:solidFill>
                <a:latin typeface="Helvetica" pitchFamily="34" charset="0"/>
              </a:rPr>
              <a:t>Z=0</a:t>
            </a:r>
            <a:endParaRPr lang="en-US" sz="1400" b="0">
              <a:solidFill>
                <a:srgbClr val="FFFFFF"/>
              </a:solidFill>
              <a:latin typeface="Helvetica" pitchFamily="34" charset="0"/>
            </a:endParaRPr>
          </a:p>
        </p:txBody>
      </p:sp>
      <p:sp>
        <p:nvSpPr>
          <p:cNvPr id="536591" name="Rectangle 15"/>
          <p:cNvSpPr>
            <a:spLocks noChangeArrowheads="1"/>
          </p:cNvSpPr>
          <p:nvPr/>
        </p:nvSpPr>
        <p:spPr bwMode="auto">
          <a:xfrm>
            <a:off x="381000" y="1524000"/>
            <a:ext cx="8477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400" b="0">
                <a:solidFill>
                  <a:srgbClr val="FFFFFF"/>
                </a:solidFill>
                <a:latin typeface="Helvetica" pitchFamily="34" charset="0"/>
              </a:rPr>
              <a:t>Z=+2µm</a:t>
            </a:r>
            <a:endParaRPr lang="en-US" sz="1400" b="0">
              <a:solidFill>
                <a:srgbClr val="FFFFFF"/>
              </a:solidFill>
              <a:latin typeface="Helvetica" pitchFamily="34" charset="0"/>
            </a:endParaRPr>
          </a:p>
        </p:txBody>
      </p:sp>
      <p:sp>
        <p:nvSpPr>
          <p:cNvPr id="536592" name="Rectangle 16"/>
          <p:cNvSpPr>
            <a:spLocks noChangeArrowheads="1"/>
          </p:cNvSpPr>
          <p:nvPr/>
        </p:nvSpPr>
        <p:spPr bwMode="auto">
          <a:xfrm>
            <a:off x="381000" y="4953000"/>
            <a:ext cx="8032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400" b="0">
                <a:solidFill>
                  <a:srgbClr val="FFFFFF"/>
                </a:solidFill>
                <a:latin typeface="Helvetica" pitchFamily="34" charset="0"/>
              </a:rPr>
              <a:t>Z=-2µm</a:t>
            </a:r>
            <a:endParaRPr lang="en-US" sz="1400" b="0">
              <a:solidFill>
                <a:srgbClr val="FFFFFF"/>
              </a:solidFill>
              <a:latin typeface="Helvetica" pitchFamily="34" charset="0"/>
            </a:endParaRPr>
          </a:p>
        </p:txBody>
      </p:sp>
      <p:sp>
        <p:nvSpPr>
          <p:cNvPr id="536593" name="Text Box 17"/>
          <p:cNvSpPr txBox="1">
            <a:spLocks noChangeArrowheads="1"/>
          </p:cNvSpPr>
          <p:nvPr/>
        </p:nvSpPr>
        <p:spPr bwMode="auto">
          <a:xfrm>
            <a:off x="-36513" y="968375"/>
            <a:ext cx="2432051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lnSpc>
                <a:spcPct val="80000"/>
              </a:lnSpc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2D PSF</a:t>
            </a:r>
          </a:p>
          <a:p>
            <a:pPr algn="ctr" eaLnBrk="0" hangingPunct="0">
              <a:lnSpc>
                <a:spcPct val="80000"/>
              </a:lnSpc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for different defocus</a:t>
            </a:r>
          </a:p>
        </p:txBody>
      </p:sp>
      <p:sp>
        <p:nvSpPr>
          <p:cNvPr id="536594" name="Text Box 18"/>
          <p:cNvSpPr txBox="1">
            <a:spLocks noChangeArrowheads="1"/>
          </p:cNvSpPr>
          <p:nvPr/>
        </p:nvSpPr>
        <p:spPr bwMode="auto">
          <a:xfrm>
            <a:off x="2855913" y="577850"/>
            <a:ext cx="3497262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2000">
                <a:solidFill>
                  <a:srgbClr val="408000"/>
                </a:solidFill>
                <a:latin typeface="Chalkboard" charset="0"/>
              </a:rPr>
              <a:t>The image of a point object</a:t>
            </a:r>
          </a:p>
        </p:txBody>
      </p:sp>
      <p:sp>
        <p:nvSpPr>
          <p:cNvPr id="536595" name="Line 19"/>
          <p:cNvSpPr>
            <a:spLocks noChangeShapeType="1"/>
          </p:cNvSpPr>
          <p:nvPr/>
        </p:nvSpPr>
        <p:spPr bwMode="auto">
          <a:xfrm>
            <a:off x="990600" y="6705600"/>
            <a:ext cx="715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6596" name="Text Box 20"/>
          <p:cNvSpPr txBox="1">
            <a:spLocks noChangeArrowheads="1"/>
          </p:cNvSpPr>
          <p:nvPr/>
        </p:nvSpPr>
        <p:spPr bwMode="auto">
          <a:xfrm>
            <a:off x="1736725" y="6500813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2000" b="0">
                <a:latin typeface="Helvetica" pitchFamily="34" charset="0"/>
              </a:rPr>
              <a:t>x</a:t>
            </a:r>
          </a:p>
        </p:txBody>
      </p:sp>
      <p:sp>
        <p:nvSpPr>
          <p:cNvPr id="536597" name="Text Box 21"/>
          <p:cNvSpPr txBox="1">
            <a:spLocks noChangeArrowheads="1"/>
          </p:cNvSpPr>
          <p:nvPr/>
        </p:nvSpPr>
        <p:spPr bwMode="auto">
          <a:xfrm>
            <a:off x="152400" y="5105400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2000" b="0">
                <a:latin typeface="Helvetica" pitchFamily="34" charset="0"/>
              </a:rPr>
              <a:t>y</a:t>
            </a:r>
          </a:p>
        </p:txBody>
      </p:sp>
      <p:sp>
        <p:nvSpPr>
          <p:cNvPr id="536598" name="Line 22"/>
          <p:cNvSpPr>
            <a:spLocks noChangeShapeType="1"/>
          </p:cNvSpPr>
          <p:nvPr/>
        </p:nvSpPr>
        <p:spPr bwMode="auto">
          <a:xfrm flipV="1">
            <a:off x="304800" y="5486400"/>
            <a:ext cx="0" cy="703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6599" name="Freeform 23"/>
          <p:cNvSpPr>
            <a:spLocks/>
          </p:cNvSpPr>
          <p:nvPr/>
        </p:nvSpPr>
        <p:spPr bwMode="auto">
          <a:xfrm flipH="1">
            <a:off x="2209800" y="1524000"/>
            <a:ext cx="431800" cy="5029200"/>
          </a:xfrm>
          <a:custGeom>
            <a:avLst/>
            <a:gdLst/>
            <a:ahLst/>
            <a:cxnLst>
              <a:cxn ang="0">
                <a:pos x="272" y="0"/>
              </a:cxn>
              <a:cxn ang="0">
                <a:pos x="112" y="944"/>
              </a:cxn>
              <a:cxn ang="0">
                <a:pos x="272" y="1920"/>
              </a:cxn>
            </a:cxnLst>
            <a:rect l="0" t="0" r="r" b="b"/>
            <a:pathLst>
              <a:path w="272" h="1920">
                <a:moveTo>
                  <a:pt x="272" y="0"/>
                </a:moveTo>
                <a:cubicBezTo>
                  <a:pt x="11" y="0"/>
                  <a:pt x="267" y="896"/>
                  <a:pt x="112" y="944"/>
                </a:cubicBezTo>
                <a:cubicBezTo>
                  <a:pt x="267" y="987"/>
                  <a:pt x="0" y="1920"/>
                  <a:pt x="272" y="1920"/>
                </a:cubicBezTo>
              </a:path>
            </a:pathLst>
          </a:custGeom>
          <a:noFill/>
          <a:ln w="12700" cmpd="sng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6600" name="Line 24"/>
          <p:cNvSpPr>
            <a:spLocks noChangeShapeType="1"/>
          </p:cNvSpPr>
          <p:nvPr/>
        </p:nvSpPr>
        <p:spPr bwMode="auto">
          <a:xfrm>
            <a:off x="2590800" y="3994150"/>
            <a:ext cx="609600" cy="0"/>
          </a:xfrm>
          <a:prstGeom prst="line">
            <a:avLst/>
          </a:prstGeom>
          <a:noFill/>
          <a:ln w="57150">
            <a:solidFill>
              <a:srgbClr val="408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6601" name="Rectangle 25"/>
          <p:cNvSpPr>
            <a:spLocks noChangeArrowheads="1"/>
          </p:cNvSpPr>
          <p:nvPr/>
        </p:nvSpPr>
        <p:spPr bwMode="auto">
          <a:xfrm>
            <a:off x="5688013" y="1676400"/>
            <a:ext cx="119538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en-US">
                <a:solidFill>
                  <a:schemeClr val="accent2"/>
                </a:solidFill>
                <a:latin typeface="Chalkboard" charset="0"/>
              </a:rPr>
              <a:t>3D PSF</a:t>
            </a:r>
            <a:endParaRPr lang="en-US">
              <a:solidFill>
                <a:schemeClr val="accent2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116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2362200"/>
            <a:ext cx="6197600" cy="373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165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29400" y="2743200"/>
            <a:ext cx="2352675" cy="294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11654" name="Text Box 6"/>
          <p:cNvSpPr txBox="1">
            <a:spLocks noChangeArrowheads="1"/>
          </p:cNvSpPr>
          <p:nvPr/>
        </p:nvSpPr>
        <p:spPr bwMode="auto">
          <a:xfrm>
            <a:off x="7467600" y="5791200"/>
            <a:ext cx="776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Arial" charset="0"/>
              </a:rPr>
              <a:t>x - z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/>
              <a:t>Z-resolution, a.k.a. depth of field, for widefield microscopy</a:t>
            </a:r>
          </a:p>
        </p:txBody>
      </p:sp>
      <p:graphicFrame>
        <p:nvGraphicFramePr>
          <p:cNvPr id="412793" name="Group 121"/>
          <p:cNvGraphicFramePr>
            <a:graphicFrameLocks noGrp="1"/>
          </p:cNvGraphicFramePr>
          <p:nvPr>
            <p:ph type="tbl" idx="1"/>
          </p:nvPr>
        </p:nvGraphicFramePr>
        <p:xfrm>
          <a:off x="3810000" y="3962400"/>
          <a:ext cx="5029200" cy="2468880"/>
        </p:xfrm>
        <a:graphic>
          <a:graphicData uri="http://schemas.openxmlformats.org/drawingml/2006/table">
            <a:tbl>
              <a:tblPr/>
              <a:tblGrid>
                <a:gridCol w="1676400"/>
                <a:gridCol w="1676400"/>
                <a:gridCol w="1676400"/>
              </a:tblGrid>
              <a:tr h="4556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NA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Resolution (nm; X-Y)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depth of field (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cs typeface="Arial" charset="0"/>
                        </a:rPr>
                        <a:t>m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m)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1017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11.1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0.75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407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1.77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321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1.11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218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0.773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412678" name="Picture 6" descr="02"/>
          <p:cNvPicPr>
            <a:picLocks noChangeAspect="1" noChangeArrowheads="1"/>
          </p:cNvPicPr>
          <p:nvPr/>
        </p:nvPicPr>
        <p:blipFill>
          <a:blip r:embed="rId3" cstate="print"/>
          <a:srcRect l="25000" t="57777" r="30800" b="2222"/>
          <a:stretch>
            <a:fillRect/>
          </a:stretch>
        </p:blipFill>
        <p:spPr bwMode="auto">
          <a:xfrm>
            <a:off x="609600" y="1676400"/>
            <a:ext cx="4041775" cy="2743200"/>
          </a:xfrm>
          <a:prstGeom prst="rect">
            <a:avLst/>
          </a:prstGeom>
          <a:noFill/>
        </p:spPr>
      </p:pic>
      <p:sp>
        <p:nvSpPr>
          <p:cNvPr id="412679" name="Text Box 7"/>
          <p:cNvSpPr txBox="1">
            <a:spLocks noChangeArrowheads="1"/>
          </p:cNvSpPr>
          <p:nvPr/>
        </p:nvSpPr>
        <p:spPr bwMode="auto">
          <a:xfrm>
            <a:off x="5410200" y="2438400"/>
            <a:ext cx="18796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0">
                <a:latin typeface="Arial" charset="0"/>
              </a:rPr>
              <a:t>Z-resolution:</a:t>
            </a:r>
          </a:p>
          <a:p>
            <a:r>
              <a:rPr lang="en-US" b="0">
                <a:latin typeface="Arial" charset="0"/>
              </a:rPr>
              <a:t>2</a:t>
            </a:r>
            <a:r>
              <a:rPr lang="en-US" b="0">
                <a:latin typeface="Symbol" pitchFamily="18" charset="2"/>
              </a:rPr>
              <a:t>l</a:t>
            </a:r>
            <a:r>
              <a:rPr lang="en-US" b="0">
                <a:latin typeface="Arial" charset="0"/>
              </a:rPr>
              <a:t>n / NA</a:t>
            </a:r>
            <a:r>
              <a:rPr lang="en-US" b="0" baseline="30000">
                <a:latin typeface="Arial" charset="0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Summary: Numerical Aperture and Resolution</a:t>
            </a:r>
          </a:p>
        </p:txBody>
      </p:sp>
      <p:sp>
        <p:nvSpPr>
          <p:cNvPr id="40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Numerical aperture, </a:t>
            </a:r>
            <a:r>
              <a:rPr lang="en-US" sz="2400" b="1" i="1" dirty="0">
                <a:latin typeface="Chalkboard"/>
              </a:rPr>
              <a:t>not magnification</a:t>
            </a:r>
            <a:r>
              <a:rPr lang="en-US" sz="2400" dirty="0">
                <a:latin typeface="Chalkboard"/>
              </a:rPr>
              <a:t>, sets the smallest details you can resolve in an image</a:t>
            </a:r>
          </a:p>
          <a:p>
            <a:pPr>
              <a:spcBef>
                <a:spcPct val="50000"/>
              </a:spcBef>
            </a:pPr>
            <a:endParaRPr lang="en-US" sz="2400" dirty="0">
              <a:latin typeface="Chalkboard"/>
            </a:endParaRPr>
          </a:p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Increasing NA also increases the amount of light collected by the lens, thereby increasing the brightness of the image – this scales as NA</a:t>
            </a:r>
            <a:r>
              <a:rPr lang="en-US" sz="2400" baseline="30000" dirty="0">
                <a:latin typeface="Chalkboard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579" name="Rectangle 9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Specifications for some common objectives</a:t>
            </a:r>
          </a:p>
        </p:txBody>
      </p:sp>
      <p:graphicFrame>
        <p:nvGraphicFramePr>
          <p:cNvPr id="404608" name="Group 128"/>
          <p:cNvGraphicFramePr>
            <a:graphicFrameLocks noGrp="1"/>
          </p:cNvGraphicFramePr>
          <p:nvPr>
            <p:ph type="tbl" idx="1"/>
          </p:nvPr>
        </p:nvGraphicFramePr>
        <p:xfrm>
          <a:off x="609600" y="2514600"/>
          <a:ext cx="7772400" cy="3302318"/>
        </p:xfrm>
        <a:graphic>
          <a:graphicData uri="http://schemas.openxmlformats.org/drawingml/2006/table">
            <a:tbl>
              <a:tblPr/>
              <a:tblGrid>
                <a:gridCol w="1676400"/>
                <a:gridCol w="685800"/>
                <a:gridCol w="1371600"/>
                <a:gridCol w="1733681"/>
                <a:gridCol w="2304919"/>
              </a:tblGrid>
              <a:tr h="3746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Magnification</a:t>
                      </a: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Resolution </a:t>
                      </a:r>
                    </a:p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(nm)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Depth of Field</a:t>
                      </a:r>
                      <a:b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(nm)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Light gathering (</a:t>
                      </a: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arb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 units)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1017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16830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0.09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0.75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407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2690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0.56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321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1680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592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235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896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1.69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254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926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1.44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218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773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1.96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1.4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218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773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1.96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4" name="Text Box 2"/>
          <p:cNvSpPr txBox="1">
            <a:spLocks noChangeArrowheads="1"/>
          </p:cNvSpPr>
          <p:nvPr/>
        </p:nvSpPr>
        <p:spPr bwMode="auto">
          <a:xfrm>
            <a:off x="3333750" y="1568450"/>
            <a:ext cx="2060575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Aberrations</a:t>
            </a:r>
          </a:p>
        </p:txBody>
      </p:sp>
      <p:sp>
        <p:nvSpPr>
          <p:cNvPr id="499715" name="Text Box 3"/>
          <p:cNvSpPr txBox="1">
            <a:spLocks noChangeArrowheads="1"/>
          </p:cNvSpPr>
          <p:nvPr/>
        </p:nvSpPr>
        <p:spPr bwMode="auto">
          <a:xfrm>
            <a:off x="3052763" y="4089400"/>
            <a:ext cx="30146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b="0">
                <a:solidFill>
                  <a:schemeClr val="tx2"/>
                </a:solidFill>
                <a:latin typeface="Chalkboard" charset="0"/>
              </a:rPr>
              <a:t>They are the enemy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Text Box 2"/>
          <p:cNvSpPr txBox="1">
            <a:spLocks noChangeArrowheads="1"/>
          </p:cNvSpPr>
          <p:nvPr/>
        </p:nvSpPr>
        <p:spPr bwMode="auto">
          <a:xfrm>
            <a:off x="3024188" y="412750"/>
            <a:ext cx="2595562" cy="66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3600" b="0">
                <a:solidFill>
                  <a:schemeClr val="tx2"/>
                </a:solidFill>
                <a:latin typeface="Chalkboard" charset="0"/>
              </a:rPr>
              <a:t>Aberrations</a:t>
            </a:r>
          </a:p>
        </p:txBody>
      </p:sp>
      <p:sp>
        <p:nvSpPr>
          <p:cNvPr id="501763" name="Text Box 3"/>
          <p:cNvSpPr txBox="1">
            <a:spLocks noChangeArrowheads="1"/>
          </p:cNvSpPr>
          <p:nvPr/>
        </p:nvSpPr>
        <p:spPr bwMode="auto">
          <a:xfrm>
            <a:off x="1905000" y="1608138"/>
            <a:ext cx="3592513" cy="470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228600" indent="-228600" eaLnBrk="0" hangingPunct="0">
              <a:buFontTx/>
              <a:buChar char="•"/>
            </a:pPr>
            <a:r>
              <a:rPr lang="en-US" altLang="en-US" b="0">
                <a:solidFill>
                  <a:schemeClr val="tx2"/>
                </a:solidFill>
                <a:latin typeface="Chalkboard" charset="0"/>
              </a:rPr>
              <a:t>Chromatic aberrations</a:t>
            </a:r>
          </a:p>
          <a:p>
            <a:pPr lvl="1" eaLnBrk="0" hangingPunct="0"/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Longitudinal chr. Ab.</a:t>
            </a:r>
          </a:p>
          <a:p>
            <a:pPr lvl="1" eaLnBrk="0" hangingPunct="0"/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Lateral chr. Ab.</a:t>
            </a:r>
          </a:p>
          <a:p>
            <a:pPr lvl="1" eaLnBrk="0" hangingPunct="0"/>
            <a:endParaRPr lang="en-US" altLang="en-US" b="0">
              <a:solidFill>
                <a:schemeClr val="tx2"/>
              </a:solidFill>
              <a:latin typeface="Chalkboard" charset="0"/>
            </a:endParaRPr>
          </a:p>
          <a:p>
            <a:pPr marL="228600" indent="-228600" eaLnBrk="0" hangingPunct="0">
              <a:buFontTx/>
              <a:buChar char="•"/>
            </a:pPr>
            <a:r>
              <a:rPr lang="en-US" altLang="en-US" b="0">
                <a:solidFill>
                  <a:schemeClr val="tx2"/>
                </a:solidFill>
                <a:latin typeface="Chalkboard" charset="0"/>
              </a:rPr>
              <a:t>Wavefront aberrations</a:t>
            </a:r>
          </a:p>
          <a:p>
            <a:pPr lvl="1" eaLnBrk="0" hangingPunct="0"/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Spherical aberration</a:t>
            </a:r>
          </a:p>
          <a:p>
            <a:pPr lvl="1" eaLnBrk="0" hangingPunct="0"/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Astigmatism</a:t>
            </a:r>
          </a:p>
          <a:p>
            <a:pPr lvl="1" eaLnBrk="0" hangingPunct="0"/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Coma</a:t>
            </a:r>
          </a:p>
          <a:p>
            <a:pPr lvl="1" eaLnBrk="0" hangingPunct="0"/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…</a:t>
            </a:r>
          </a:p>
          <a:p>
            <a:pPr lvl="1" eaLnBrk="0" hangingPunct="0"/>
            <a:endParaRPr lang="en-US" altLang="en-US" sz="1800" b="0">
              <a:solidFill>
                <a:schemeClr val="accent2"/>
              </a:solidFill>
              <a:latin typeface="Chalkboard" charset="0"/>
            </a:endParaRPr>
          </a:p>
          <a:p>
            <a:pPr marL="228600" indent="-228600" eaLnBrk="0" hangingPunct="0">
              <a:buFontTx/>
              <a:buChar char="•"/>
            </a:pPr>
            <a:r>
              <a:rPr lang="en-US" altLang="en-US" b="0">
                <a:solidFill>
                  <a:schemeClr val="tx2"/>
                </a:solidFill>
                <a:latin typeface="Chalkboard" charset="0"/>
              </a:rPr>
              <a:t>Curvature of field </a:t>
            </a:r>
          </a:p>
          <a:p>
            <a:pPr marL="228600" indent="-228600" eaLnBrk="0" hangingPunct="0">
              <a:buFontTx/>
              <a:buChar char="•"/>
            </a:pPr>
            <a:endParaRPr lang="en-US" altLang="en-US" b="0">
              <a:solidFill>
                <a:schemeClr val="tx2"/>
              </a:solidFill>
              <a:latin typeface="Chalkboard" charset="0"/>
            </a:endParaRPr>
          </a:p>
          <a:p>
            <a:pPr marL="228600" indent="-228600" eaLnBrk="0" hangingPunct="0">
              <a:buFontTx/>
              <a:buChar char="•"/>
            </a:pPr>
            <a:r>
              <a:rPr lang="en-US" altLang="en-US" b="0">
                <a:solidFill>
                  <a:schemeClr val="tx2"/>
                </a:solidFill>
                <a:latin typeface="Chalkboard" charset="0"/>
              </a:rPr>
              <a:t>Distortion</a:t>
            </a:r>
          </a:p>
          <a:p>
            <a:pPr lvl="1" eaLnBrk="0" hangingPunct="0"/>
            <a:endParaRPr lang="en-US" altLang="en-US" sz="1800" b="0">
              <a:solidFill>
                <a:schemeClr val="accent2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Wavefront Aberrations</a:t>
            </a:r>
          </a:p>
        </p:txBody>
      </p:sp>
      <p:sp>
        <p:nvSpPr>
          <p:cNvPr id="505859" name="Arc 3"/>
          <p:cNvSpPr>
            <a:spLocks/>
          </p:cNvSpPr>
          <p:nvPr/>
        </p:nvSpPr>
        <p:spPr bwMode="auto">
          <a:xfrm rot="2700000">
            <a:off x="2438400" y="3200400"/>
            <a:ext cx="990600" cy="990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0" name="Arc 4"/>
          <p:cNvSpPr>
            <a:spLocks/>
          </p:cNvSpPr>
          <p:nvPr/>
        </p:nvSpPr>
        <p:spPr bwMode="auto">
          <a:xfrm rot="2700000">
            <a:off x="2030413" y="4216400"/>
            <a:ext cx="2057400" cy="241300"/>
          </a:xfrm>
          <a:custGeom>
            <a:avLst/>
            <a:gdLst>
              <a:gd name="G0" fmla="+- 0 0 0"/>
              <a:gd name="G1" fmla="+- 2525 0 0"/>
              <a:gd name="G2" fmla="+- 21600 0 0"/>
              <a:gd name="T0" fmla="*/ 21451 w 21600"/>
              <a:gd name="T1" fmla="*/ 0 h 2525"/>
              <a:gd name="T2" fmla="*/ 21600 w 21600"/>
              <a:gd name="T3" fmla="*/ 2525 h 2525"/>
              <a:gd name="T4" fmla="*/ 0 w 21600"/>
              <a:gd name="T5" fmla="*/ 2525 h 25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525" fill="none" extrusionOk="0">
                <a:moveTo>
                  <a:pt x="21451" y="-1"/>
                </a:moveTo>
                <a:cubicBezTo>
                  <a:pt x="21550" y="837"/>
                  <a:pt x="21600" y="1681"/>
                  <a:pt x="21600" y="2525"/>
                </a:cubicBezTo>
              </a:path>
              <a:path w="21600" h="2525" stroke="0" extrusionOk="0">
                <a:moveTo>
                  <a:pt x="21451" y="-1"/>
                </a:moveTo>
                <a:cubicBezTo>
                  <a:pt x="21550" y="837"/>
                  <a:pt x="21600" y="1681"/>
                  <a:pt x="21600" y="2525"/>
                </a:cubicBezTo>
                <a:lnTo>
                  <a:pt x="0" y="2525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1" name="Arc 5"/>
          <p:cNvSpPr>
            <a:spLocks/>
          </p:cNvSpPr>
          <p:nvPr/>
        </p:nvSpPr>
        <p:spPr bwMode="auto">
          <a:xfrm rot="2700000">
            <a:off x="2484438" y="3124200"/>
            <a:ext cx="1143000" cy="1143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2" name="Arc 6"/>
          <p:cNvSpPr>
            <a:spLocks/>
          </p:cNvSpPr>
          <p:nvPr/>
        </p:nvSpPr>
        <p:spPr bwMode="auto">
          <a:xfrm rot="2700000">
            <a:off x="2516188" y="3048000"/>
            <a:ext cx="1295400" cy="1295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3" name="Arc 7"/>
          <p:cNvSpPr>
            <a:spLocks/>
          </p:cNvSpPr>
          <p:nvPr/>
        </p:nvSpPr>
        <p:spPr bwMode="auto">
          <a:xfrm rot="2700000">
            <a:off x="2609850" y="2819400"/>
            <a:ext cx="1752600" cy="1752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4" name="Arc 8"/>
          <p:cNvSpPr>
            <a:spLocks/>
          </p:cNvSpPr>
          <p:nvPr/>
        </p:nvSpPr>
        <p:spPr bwMode="auto">
          <a:xfrm rot="2700000">
            <a:off x="2546350" y="2971800"/>
            <a:ext cx="1447800" cy="14478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5" name="Arc 9"/>
          <p:cNvSpPr>
            <a:spLocks/>
          </p:cNvSpPr>
          <p:nvPr/>
        </p:nvSpPr>
        <p:spPr bwMode="auto">
          <a:xfrm rot="2700000">
            <a:off x="2641600" y="2743200"/>
            <a:ext cx="1905000" cy="1905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6" name="Arc 10"/>
          <p:cNvSpPr>
            <a:spLocks/>
          </p:cNvSpPr>
          <p:nvPr/>
        </p:nvSpPr>
        <p:spPr bwMode="auto">
          <a:xfrm rot="2700000">
            <a:off x="2578100" y="2895600"/>
            <a:ext cx="1600200" cy="16002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7" name="Arc 11"/>
          <p:cNvSpPr>
            <a:spLocks/>
          </p:cNvSpPr>
          <p:nvPr/>
        </p:nvSpPr>
        <p:spPr bwMode="auto">
          <a:xfrm rot="2700000">
            <a:off x="2900362" y="2124076"/>
            <a:ext cx="523875" cy="2057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5493"/>
              <a:gd name="T1" fmla="*/ 0 h 21600"/>
              <a:gd name="T2" fmla="*/ 5493 w 5493"/>
              <a:gd name="T3" fmla="*/ 711 h 21600"/>
              <a:gd name="T4" fmla="*/ 0 w 549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93" h="21600" fill="none" extrusionOk="0">
                <a:moveTo>
                  <a:pt x="-1" y="0"/>
                </a:moveTo>
                <a:cubicBezTo>
                  <a:pt x="1853" y="0"/>
                  <a:pt x="3700" y="238"/>
                  <a:pt x="5493" y="710"/>
                </a:cubicBezTo>
              </a:path>
              <a:path w="5493" h="21600" stroke="0" extrusionOk="0">
                <a:moveTo>
                  <a:pt x="-1" y="0"/>
                </a:moveTo>
                <a:cubicBezTo>
                  <a:pt x="1853" y="0"/>
                  <a:pt x="3700" y="238"/>
                  <a:pt x="5493" y="71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8" name="Arc 12"/>
          <p:cNvSpPr>
            <a:spLocks/>
          </p:cNvSpPr>
          <p:nvPr/>
        </p:nvSpPr>
        <p:spPr bwMode="auto">
          <a:xfrm rot="2700000">
            <a:off x="2406650" y="3275013"/>
            <a:ext cx="838200" cy="8382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9" name="Arc 13"/>
          <p:cNvSpPr>
            <a:spLocks/>
          </p:cNvSpPr>
          <p:nvPr/>
        </p:nvSpPr>
        <p:spPr bwMode="auto">
          <a:xfrm rot="2700000">
            <a:off x="2374900" y="3351213"/>
            <a:ext cx="685800" cy="6858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0" name="Arc 14"/>
          <p:cNvSpPr>
            <a:spLocks/>
          </p:cNvSpPr>
          <p:nvPr/>
        </p:nvSpPr>
        <p:spPr bwMode="auto">
          <a:xfrm rot="2700000">
            <a:off x="2247900" y="3656013"/>
            <a:ext cx="76200" cy="762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1" name="Arc 15"/>
          <p:cNvSpPr>
            <a:spLocks/>
          </p:cNvSpPr>
          <p:nvPr/>
        </p:nvSpPr>
        <p:spPr bwMode="auto">
          <a:xfrm rot="2700000">
            <a:off x="2279650" y="3579813"/>
            <a:ext cx="228600" cy="228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2" name="Arc 16"/>
          <p:cNvSpPr>
            <a:spLocks/>
          </p:cNvSpPr>
          <p:nvPr/>
        </p:nvSpPr>
        <p:spPr bwMode="auto">
          <a:xfrm rot="2700000">
            <a:off x="2311400" y="3503613"/>
            <a:ext cx="381000" cy="381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3" name="Arc 17"/>
          <p:cNvSpPr>
            <a:spLocks/>
          </p:cNvSpPr>
          <p:nvPr/>
        </p:nvSpPr>
        <p:spPr bwMode="auto">
          <a:xfrm rot="2700000">
            <a:off x="2343150" y="3427413"/>
            <a:ext cx="533400" cy="533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4" name="Oval 18"/>
          <p:cNvSpPr>
            <a:spLocks noChangeArrowheads="1"/>
          </p:cNvSpPr>
          <p:nvPr/>
        </p:nvSpPr>
        <p:spPr bwMode="auto">
          <a:xfrm>
            <a:off x="2209800" y="36576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5" name="Rectangle 19"/>
          <p:cNvSpPr>
            <a:spLocks noChangeArrowheads="1"/>
          </p:cNvSpPr>
          <p:nvPr/>
        </p:nvSpPr>
        <p:spPr bwMode="auto">
          <a:xfrm>
            <a:off x="5638800" y="1676400"/>
            <a:ext cx="76200" cy="5334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6" name="Rectangle 20"/>
          <p:cNvSpPr>
            <a:spLocks noChangeArrowheads="1"/>
          </p:cNvSpPr>
          <p:nvPr/>
        </p:nvSpPr>
        <p:spPr bwMode="auto">
          <a:xfrm>
            <a:off x="5638800" y="5181600"/>
            <a:ext cx="76200" cy="5334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7" name="Line 21"/>
          <p:cNvSpPr>
            <a:spLocks noChangeShapeType="1"/>
          </p:cNvSpPr>
          <p:nvPr/>
        </p:nvSpPr>
        <p:spPr bwMode="auto">
          <a:xfrm flipH="1" flipV="1">
            <a:off x="5740400" y="5080000"/>
            <a:ext cx="508000" cy="711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05878" name="Group 22"/>
          <p:cNvGrpSpPr>
            <a:grpSpLocks/>
          </p:cNvGrpSpPr>
          <p:nvPr/>
        </p:nvGrpSpPr>
        <p:grpSpPr bwMode="auto">
          <a:xfrm>
            <a:off x="3970338" y="2209800"/>
            <a:ext cx="3827462" cy="4175125"/>
            <a:chOff x="2501" y="1392"/>
            <a:chExt cx="2411" cy="2630"/>
          </a:xfrm>
        </p:grpSpPr>
        <p:grpSp>
          <p:nvGrpSpPr>
            <p:cNvPr id="505879" name="Group 23"/>
            <p:cNvGrpSpPr>
              <a:grpSpLocks/>
            </p:cNvGrpSpPr>
            <p:nvPr/>
          </p:nvGrpSpPr>
          <p:grpSpPr bwMode="auto">
            <a:xfrm>
              <a:off x="2501" y="1392"/>
              <a:ext cx="1414" cy="1872"/>
              <a:chOff x="2501" y="1392"/>
              <a:chExt cx="1414" cy="1872"/>
            </a:xfrm>
          </p:grpSpPr>
          <p:sp>
            <p:nvSpPr>
              <p:cNvPr id="505880" name="Freeform 24"/>
              <p:cNvSpPr>
                <a:spLocks/>
              </p:cNvSpPr>
              <p:nvPr/>
            </p:nvSpPr>
            <p:spPr bwMode="auto">
              <a:xfrm>
                <a:off x="2501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1" name="Freeform 25"/>
              <p:cNvSpPr>
                <a:spLocks/>
              </p:cNvSpPr>
              <p:nvPr/>
            </p:nvSpPr>
            <p:spPr bwMode="auto">
              <a:xfrm>
                <a:off x="2597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2" name="Freeform 26"/>
              <p:cNvSpPr>
                <a:spLocks/>
              </p:cNvSpPr>
              <p:nvPr/>
            </p:nvSpPr>
            <p:spPr bwMode="auto">
              <a:xfrm>
                <a:off x="2693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3" name="Freeform 27"/>
              <p:cNvSpPr>
                <a:spLocks/>
              </p:cNvSpPr>
              <p:nvPr/>
            </p:nvSpPr>
            <p:spPr bwMode="auto">
              <a:xfrm>
                <a:off x="2789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4" name="Freeform 28"/>
              <p:cNvSpPr>
                <a:spLocks/>
              </p:cNvSpPr>
              <p:nvPr/>
            </p:nvSpPr>
            <p:spPr bwMode="auto">
              <a:xfrm>
                <a:off x="2885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5" name="Freeform 29"/>
              <p:cNvSpPr>
                <a:spLocks/>
              </p:cNvSpPr>
              <p:nvPr/>
            </p:nvSpPr>
            <p:spPr bwMode="auto">
              <a:xfrm>
                <a:off x="2981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6" name="Freeform 30"/>
              <p:cNvSpPr>
                <a:spLocks/>
              </p:cNvSpPr>
              <p:nvPr/>
            </p:nvSpPr>
            <p:spPr bwMode="auto">
              <a:xfrm>
                <a:off x="3077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7" name="Freeform 31"/>
              <p:cNvSpPr>
                <a:spLocks/>
              </p:cNvSpPr>
              <p:nvPr/>
            </p:nvSpPr>
            <p:spPr bwMode="auto">
              <a:xfrm>
                <a:off x="3173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8" name="Freeform 32"/>
              <p:cNvSpPr>
                <a:spLocks/>
              </p:cNvSpPr>
              <p:nvPr/>
            </p:nvSpPr>
            <p:spPr bwMode="auto">
              <a:xfrm>
                <a:off x="3269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9" name="Freeform 33"/>
              <p:cNvSpPr>
                <a:spLocks/>
              </p:cNvSpPr>
              <p:nvPr/>
            </p:nvSpPr>
            <p:spPr bwMode="auto">
              <a:xfrm>
                <a:off x="3365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90" name="Freeform 34"/>
              <p:cNvSpPr>
                <a:spLocks/>
              </p:cNvSpPr>
              <p:nvPr/>
            </p:nvSpPr>
            <p:spPr bwMode="auto">
              <a:xfrm>
                <a:off x="3461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91" name="Freeform 35"/>
              <p:cNvSpPr>
                <a:spLocks/>
              </p:cNvSpPr>
              <p:nvPr/>
            </p:nvSpPr>
            <p:spPr bwMode="auto">
              <a:xfrm>
                <a:off x="3557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92" name="Freeform 36"/>
              <p:cNvSpPr>
                <a:spLocks/>
              </p:cNvSpPr>
              <p:nvPr/>
            </p:nvSpPr>
            <p:spPr bwMode="auto">
              <a:xfrm>
                <a:off x="3653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93" name="Freeform 37"/>
              <p:cNvSpPr>
                <a:spLocks/>
              </p:cNvSpPr>
              <p:nvPr/>
            </p:nvSpPr>
            <p:spPr bwMode="auto">
              <a:xfrm>
                <a:off x="3749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05894" name="Text Box 38"/>
            <p:cNvSpPr txBox="1">
              <a:spLocks noChangeArrowheads="1"/>
            </p:cNvSpPr>
            <p:nvPr/>
          </p:nvSpPr>
          <p:spPr bwMode="auto">
            <a:xfrm>
              <a:off x="3408" y="3600"/>
              <a:ext cx="1504" cy="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800" b="0">
                  <a:solidFill>
                    <a:schemeClr val="accent2"/>
                  </a:solidFill>
                  <a:latin typeface="Chalkboard" charset="0"/>
                </a:rPr>
                <a:t>Aberrated wavefront</a:t>
              </a:r>
            </a:p>
            <a:p>
              <a:pPr algn="ctr" eaLnBrk="0" hangingPunct="0"/>
              <a:r>
                <a:rPr lang="en-US" altLang="en-US" sz="1800" b="0">
                  <a:solidFill>
                    <a:schemeClr val="accent2"/>
                  </a:solidFill>
                  <a:latin typeface="Chalkboard" charset="0"/>
                </a:rPr>
                <a:t>in the pupil</a:t>
              </a:r>
            </a:p>
          </p:txBody>
        </p:sp>
      </p:grpSp>
      <p:grpSp>
        <p:nvGrpSpPr>
          <p:cNvPr id="505895" name="Group 39"/>
          <p:cNvGrpSpPr>
            <a:grpSpLocks/>
          </p:cNvGrpSpPr>
          <p:nvPr/>
        </p:nvGrpSpPr>
        <p:grpSpPr bwMode="auto">
          <a:xfrm>
            <a:off x="4038600" y="2209800"/>
            <a:ext cx="3489325" cy="4175125"/>
            <a:chOff x="2544" y="1392"/>
            <a:chExt cx="2198" cy="2630"/>
          </a:xfrm>
        </p:grpSpPr>
        <p:grpSp>
          <p:nvGrpSpPr>
            <p:cNvPr id="505896" name="Group 40"/>
            <p:cNvGrpSpPr>
              <a:grpSpLocks/>
            </p:cNvGrpSpPr>
            <p:nvPr/>
          </p:nvGrpSpPr>
          <p:grpSpPr bwMode="auto">
            <a:xfrm>
              <a:off x="2544" y="1392"/>
              <a:ext cx="1248" cy="1872"/>
              <a:chOff x="2544" y="1392"/>
              <a:chExt cx="1248" cy="1872"/>
            </a:xfrm>
          </p:grpSpPr>
          <p:sp>
            <p:nvSpPr>
              <p:cNvPr id="505897" name="Line 41"/>
              <p:cNvSpPr>
                <a:spLocks noChangeShapeType="1"/>
              </p:cNvSpPr>
              <p:nvPr/>
            </p:nvSpPr>
            <p:spPr bwMode="auto">
              <a:xfrm>
                <a:off x="2544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98" name="Line 42"/>
              <p:cNvSpPr>
                <a:spLocks noChangeShapeType="1"/>
              </p:cNvSpPr>
              <p:nvPr/>
            </p:nvSpPr>
            <p:spPr bwMode="auto">
              <a:xfrm>
                <a:off x="2640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99" name="Line 43"/>
              <p:cNvSpPr>
                <a:spLocks noChangeShapeType="1"/>
              </p:cNvSpPr>
              <p:nvPr/>
            </p:nvSpPr>
            <p:spPr bwMode="auto">
              <a:xfrm>
                <a:off x="2736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0" name="Line 44"/>
              <p:cNvSpPr>
                <a:spLocks noChangeShapeType="1"/>
              </p:cNvSpPr>
              <p:nvPr/>
            </p:nvSpPr>
            <p:spPr bwMode="auto">
              <a:xfrm>
                <a:off x="2832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1" name="Line 45"/>
              <p:cNvSpPr>
                <a:spLocks noChangeShapeType="1"/>
              </p:cNvSpPr>
              <p:nvPr/>
            </p:nvSpPr>
            <p:spPr bwMode="auto">
              <a:xfrm>
                <a:off x="2928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2" name="Line 46"/>
              <p:cNvSpPr>
                <a:spLocks noChangeShapeType="1"/>
              </p:cNvSpPr>
              <p:nvPr/>
            </p:nvSpPr>
            <p:spPr bwMode="auto">
              <a:xfrm>
                <a:off x="3024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3" name="Line 47"/>
              <p:cNvSpPr>
                <a:spLocks noChangeShapeType="1"/>
              </p:cNvSpPr>
              <p:nvPr/>
            </p:nvSpPr>
            <p:spPr bwMode="auto">
              <a:xfrm>
                <a:off x="3120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4" name="Line 48"/>
              <p:cNvSpPr>
                <a:spLocks noChangeShapeType="1"/>
              </p:cNvSpPr>
              <p:nvPr/>
            </p:nvSpPr>
            <p:spPr bwMode="auto">
              <a:xfrm>
                <a:off x="3216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5" name="Line 49"/>
              <p:cNvSpPr>
                <a:spLocks noChangeShapeType="1"/>
              </p:cNvSpPr>
              <p:nvPr/>
            </p:nvSpPr>
            <p:spPr bwMode="auto">
              <a:xfrm>
                <a:off x="3312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6" name="Line 50"/>
              <p:cNvSpPr>
                <a:spLocks noChangeShapeType="1"/>
              </p:cNvSpPr>
              <p:nvPr/>
            </p:nvSpPr>
            <p:spPr bwMode="auto">
              <a:xfrm>
                <a:off x="3408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7" name="Line 51"/>
              <p:cNvSpPr>
                <a:spLocks noChangeShapeType="1"/>
              </p:cNvSpPr>
              <p:nvPr/>
            </p:nvSpPr>
            <p:spPr bwMode="auto">
              <a:xfrm>
                <a:off x="3504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8" name="Line 52"/>
              <p:cNvSpPr>
                <a:spLocks noChangeShapeType="1"/>
              </p:cNvSpPr>
              <p:nvPr/>
            </p:nvSpPr>
            <p:spPr bwMode="auto">
              <a:xfrm>
                <a:off x="3600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9" name="Line 53"/>
              <p:cNvSpPr>
                <a:spLocks noChangeShapeType="1"/>
              </p:cNvSpPr>
              <p:nvPr/>
            </p:nvSpPr>
            <p:spPr bwMode="auto">
              <a:xfrm>
                <a:off x="3696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10" name="Line 54"/>
              <p:cNvSpPr>
                <a:spLocks noChangeShapeType="1"/>
              </p:cNvSpPr>
              <p:nvPr/>
            </p:nvSpPr>
            <p:spPr bwMode="auto">
              <a:xfrm>
                <a:off x="3792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05911" name="Text Box 55"/>
            <p:cNvSpPr txBox="1">
              <a:spLocks noChangeArrowheads="1"/>
            </p:cNvSpPr>
            <p:nvPr/>
          </p:nvSpPr>
          <p:spPr bwMode="auto">
            <a:xfrm>
              <a:off x="3573" y="3600"/>
              <a:ext cx="1169" cy="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800" b="0">
                  <a:solidFill>
                    <a:schemeClr val="accent2"/>
                  </a:solidFill>
                  <a:latin typeface="Chalkboard" charset="0"/>
                </a:rPr>
                <a:t>Ideal wavefront</a:t>
              </a:r>
            </a:p>
            <a:p>
              <a:pPr algn="ctr" eaLnBrk="0" hangingPunct="0"/>
              <a:r>
                <a:rPr lang="en-US" altLang="en-US" sz="1800" b="0">
                  <a:solidFill>
                    <a:schemeClr val="accent2"/>
                  </a:solidFill>
                  <a:latin typeface="Chalkboard" charset="0"/>
                </a:rPr>
                <a:t>in the pupil</a:t>
              </a:r>
            </a:p>
          </p:txBody>
        </p:sp>
      </p:grpSp>
      <p:sp>
        <p:nvSpPr>
          <p:cNvPr id="505912" name="Freeform 56"/>
          <p:cNvSpPr>
            <a:spLocks/>
          </p:cNvSpPr>
          <p:nvPr/>
        </p:nvSpPr>
        <p:spPr bwMode="auto">
          <a:xfrm flipH="1">
            <a:off x="3817938" y="2133600"/>
            <a:ext cx="573087" cy="3124200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913" name="Freeform 57"/>
          <p:cNvSpPr>
            <a:spLocks/>
          </p:cNvSpPr>
          <p:nvPr/>
        </p:nvSpPr>
        <p:spPr bwMode="auto">
          <a:xfrm>
            <a:off x="3810000" y="5257800"/>
            <a:ext cx="2209800" cy="457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88" y="288"/>
              </a:cxn>
              <a:cxn ang="0">
                <a:pos x="1392" y="288"/>
              </a:cxn>
            </a:cxnLst>
            <a:rect l="0" t="0" r="r" b="b"/>
            <a:pathLst>
              <a:path w="1392" h="288">
                <a:moveTo>
                  <a:pt x="0" y="0"/>
                </a:moveTo>
                <a:lnTo>
                  <a:pt x="288" y="288"/>
                </a:lnTo>
                <a:lnTo>
                  <a:pt x="1392" y="288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914" name="Freeform 58"/>
          <p:cNvSpPr>
            <a:spLocks/>
          </p:cNvSpPr>
          <p:nvPr/>
        </p:nvSpPr>
        <p:spPr bwMode="auto">
          <a:xfrm flipV="1">
            <a:off x="3810000" y="1676400"/>
            <a:ext cx="2209800" cy="457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88" y="288"/>
              </a:cxn>
              <a:cxn ang="0">
                <a:pos x="1392" y="288"/>
              </a:cxn>
            </a:cxnLst>
            <a:rect l="0" t="0" r="r" b="b"/>
            <a:pathLst>
              <a:path w="1392" h="288">
                <a:moveTo>
                  <a:pt x="0" y="0"/>
                </a:moveTo>
                <a:lnTo>
                  <a:pt x="288" y="288"/>
                </a:lnTo>
                <a:lnTo>
                  <a:pt x="1392" y="288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2" name="Picture 4" descr="Zernike wavefronts.gif                                         001FEE86Mats Gustafsson                BC2CE792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07963" y="427038"/>
            <a:ext cx="9609138" cy="6242050"/>
          </a:xfrm>
          <a:prstGeom prst="rect">
            <a:avLst/>
          </a:prstGeom>
          <a:noFill/>
        </p:spPr>
      </p:pic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0" y="414338"/>
            <a:ext cx="711200" cy="61134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4" name="Rectangle 46"/>
          <p:cNvSpPr>
            <a:spLocks noChangeArrowheads="1"/>
          </p:cNvSpPr>
          <p:nvPr/>
        </p:nvSpPr>
        <p:spPr bwMode="auto">
          <a:xfrm>
            <a:off x="3657600" y="41989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5" name="Rectangle 47"/>
          <p:cNvSpPr>
            <a:spLocks noChangeArrowheads="1"/>
          </p:cNvSpPr>
          <p:nvPr/>
        </p:nvSpPr>
        <p:spPr bwMode="auto">
          <a:xfrm>
            <a:off x="3200400" y="4976813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6" name="Rectangle 48"/>
          <p:cNvSpPr>
            <a:spLocks noChangeArrowheads="1"/>
          </p:cNvSpPr>
          <p:nvPr/>
        </p:nvSpPr>
        <p:spPr bwMode="auto">
          <a:xfrm>
            <a:off x="4114800" y="49863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7" name="Rectangle 49"/>
          <p:cNvSpPr>
            <a:spLocks noChangeArrowheads="1"/>
          </p:cNvSpPr>
          <p:nvPr/>
        </p:nvSpPr>
        <p:spPr bwMode="auto">
          <a:xfrm>
            <a:off x="3200400" y="34099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8" name="Rectangle 50"/>
          <p:cNvSpPr>
            <a:spLocks noChangeArrowheads="1"/>
          </p:cNvSpPr>
          <p:nvPr/>
        </p:nvSpPr>
        <p:spPr bwMode="auto">
          <a:xfrm>
            <a:off x="4106863" y="34115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9" name="Rectangle 51"/>
          <p:cNvSpPr>
            <a:spLocks noChangeArrowheads="1"/>
          </p:cNvSpPr>
          <p:nvPr/>
        </p:nvSpPr>
        <p:spPr bwMode="auto">
          <a:xfrm>
            <a:off x="2278063" y="34099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20" name="Rectangle 52"/>
          <p:cNvSpPr>
            <a:spLocks noChangeArrowheads="1"/>
          </p:cNvSpPr>
          <p:nvPr/>
        </p:nvSpPr>
        <p:spPr bwMode="auto">
          <a:xfrm>
            <a:off x="5046663" y="34115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21" name="Rectangle 53"/>
          <p:cNvSpPr>
            <a:spLocks noChangeArrowheads="1"/>
          </p:cNvSpPr>
          <p:nvPr/>
        </p:nvSpPr>
        <p:spPr bwMode="auto">
          <a:xfrm>
            <a:off x="3665538" y="576580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24" name="Rectangle 56"/>
          <p:cNvSpPr>
            <a:spLocks noChangeArrowheads="1"/>
          </p:cNvSpPr>
          <p:nvPr/>
        </p:nvSpPr>
        <p:spPr bwMode="auto">
          <a:xfrm>
            <a:off x="3667125" y="26225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25" name="Rectangle 57"/>
          <p:cNvSpPr>
            <a:spLocks noChangeArrowheads="1"/>
          </p:cNvSpPr>
          <p:nvPr/>
        </p:nvSpPr>
        <p:spPr bwMode="auto">
          <a:xfrm>
            <a:off x="4581525" y="26241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26" name="Rectangle 58"/>
          <p:cNvSpPr>
            <a:spLocks noChangeArrowheads="1"/>
          </p:cNvSpPr>
          <p:nvPr/>
        </p:nvSpPr>
        <p:spPr bwMode="auto">
          <a:xfrm>
            <a:off x="2752725" y="26225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3" name="Rectangle 45"/>
          <p:cNvSpPr>
            <a:spLocks noChangeArrowheads="1"/>
          </p:cNvSpPr>
          <p:nvPr/>
        </p:nvSpPr>
        <p:spPr bwMode="auto">
          <a:xfrm>
            <a:off x="7254875" y="600075"/>
            <a:ext cx="1643063" cy="61134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78" name="Rectangle 10"/>
          <p:cNvSpPr>
            <a:spLocks noChangeArrowheads="1"/>
          </p:cNvSpPr>
          <p:nvPr/>
        </p:nvSpPr>
        <p:spPr bwMode="auto">
          <a:xfrm>
            <a:off x="152400" y="503238"/>
            <a:ext cx="703580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79" name="Rectangle 11"/>
          <p:cNvSpPr>
            <a:spLocks noChangeArrowheads="1"/>
          </p:cNvSpPr>
          <p:nvPr/>
        </p:nvSpPr>
        <p:spPr bwMode="auto">
          <a:xfrm>
            <a:off x="8585200" y="541338"/>
            <a:ext cx="711200" cy="61134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2133600" y="109538"/>
            <a:ext cx="3927475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Wavefront Aberrations</a:t>
            </a:r>
          </a:p>
        </p:txBody>
      </p:sp>
      <p:sp>
        <p:nvSpPr>
          <p:cNvPr id="32780" name="Text Box 12"/>
          <p:cNvSpPr txBox="1">
            <a:spLocks noChangeArrowheads="1"/>
          </p:cNvSpPr>
          <p:nvPr/>
        </p:nvSpPr>
        <p:spPr bwMode="auto">
          <a:xfrm>
            <a:off x="7667625" y="1062038"/>
            <a:ext cx="936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(piston)</a:t>
            </a:r>
          </a:p>
        </p:txBody>
      </p:sp>
      <p:sp>
        <p:nvSpPr>
          <p:cNvPr id="32781" name="Text Box 13"/>
          <p:cNvSpPr txBox="1">
            <a:spLocks noChangeArrowheads="1"/>
          </p:cNvSpPr>
          <p:nvPr/>
        </p:nvSpPr>
        <p:spPr bwMode="auto">
          <a:xfrm>
            <a:off x="7804150" y="1858963"/>
            <a:ext cx="6619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(tilt)</a:t>
            </a:r>
          </a:p>
        </p:txBody>
      </p:sp>
      <p:sp>
        <p:nvSpPr>
          <p:cNvPr id="32783" name="Text Box 15"/>
          <p:cNvSpPr txBox="1">
            <a:spLocks noChangeArrowheads="1"/>
          </p:cNvSpPr>
          <p:nvPr/>
        </p:nvSpPr>
        <p:spPr bwMode="auto">
          <a:xfrm>
            <a:off x="7418388" y="2417763"/>
            <a:ext cx="14319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Astigmatism</a:t>
            </a:r>
          </a:p>
        </p:txBody>
      </p:sp>
      <p:sp>
        <p:nvSpPr>
          <p:cNvPr id="32784" name="Text Box 16"/>
          <p:cNvSpPr txBox="1">
            <a:spLocks noChangeArrowheads="1"/>
          </p:cNvSpPr>
          <p:nvPr/>
        </p:nvSpPr>
        <p:spPr bwMode="auto">
          <a:xfrm>
            <a:off x="7639050" y="2840038"/>
            <a:ext cx="9921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Defocus</a:t>
            </a:r>
          </a:p>
        </p:txBody>
      </p:sp>
      <p:sp>
        <p:nvSpPr>
          <p:cNvPr id="32785" name="Text Box 17"/>
          <p:cNvSpPr txBox="1">
            <a:spLocks noChangeArrowheads="1"/>
          </p:cNvSpPr>
          <p:nvPr/>
        </p:nvSpPr>
        <p:spPr bwMode="auto">
          <a:xfrm>
            <a:off x="7775575" y="3263900"/>
            <a:ext cx="71913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Coma</a:t>
            </a:r>
          </a:p>
        </p:txBody>
      </p:sp>
      <p:sp>
        <p:nvSpPr>
          <p:cNvPr id="32786" name="Text Box 18"/>
          <p:cNvSpPr txBox="1">
            <a:spLocks noChangeArrowheads="1"/>
          </p:cNvSpPr>
          <p:nvPr/>
        </p:nvSpPr>
        <p:spPr bwMode="auto">
          <a:xfrm>
            <a:off x="7708900" y="3560763"/>
            <a:ext cx="8699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Trefoil</a:t>
            </a:r>
          </a:p>
        </p:txBody>
      </p:sp>
      <p:sp>
        <p:nvSpPr>
          <p:cNvPr id="32787" name="Text Box 19"/>
          <p:cNvSpPr txBox="1">
            <a:spLocks noChangeArrowheads="1"/>
          </p:cNvSpPr>
          <p:nvPr/>
        </p:nvSpPr>
        <p:spPr bwMode="auto">
          <a:xfrm>
            <a:off x="7364413" y="4356100"/>
            <a:ext cx="155733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Spherical ab.</a:t>
            </a:r>
          </a:p>
        </p:txBody>
      </p:sp>
      <p:sp>
        <p:nvSpPr>
          <p:cNvPr id="32788" name="Text Box 20"/>
          <p:cNvSpPr txBox="1">
            <a:spLocks noChangeArrowheads="1"/>
          </p:cNvSpPr>
          <p:nvPr/>
        </p:nvSpPr>
        <p:spPr bwMode="auto">
          <a:xfrm>
            <a:off x="7226300" y="5118100"/>
            <a:ext cx="185261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Secondary coma</a:t>
            </a:r>
          </a:p>
        </p:txBody>
      </p:sp>
      <p:sp>
        <p:nvSpPr>
          <p:cNvPr id="32789" name="Text Box 21"/>
          <p:cNvSpPr txBox="1">
            <a:spLocks noChangeArrowheads="1"/>
          </p:cNvSpPr>
          <p:nvPr/>
        </p:nvSpPr>
        <p:spPr bwMode="auto">
          <a:xfrm>
            <a:off x="7400925" y="5778500"/>
            <a:ext cx="1520825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Secondary</a:t>
            </a:r>
          </a:p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spherical ab.</a:t>
            </a:r>
          </a:p>
        </p:txBody>
      </p:sp>
      <p:sp>
        <p:nvSpPr>
          <p:cNvPr id="32790" name="Freeform 22"/>
          <p:cNvSpPr>
            <a:spLocks/>
          </p:cNvSpPr>
          <p:nvPr/>
        </p:nvSpPr>
        <p:spPr bwMode="auto">
          <a:xfrm>
            <a:off x="5164138" y="2590800"/>
            <a:ext cx="2108200" cy="195263"/>
          </a:xfrm>
          <a:custGeom>
            <a:avLst/>
            <a:gdLst/>
            <a:ahLst/>
            <a:cxnLst>
              <a:cxn ang="0">
                <a:pos x="678" y="0"/>
              </a:cxn>
              <a:cxn ang="0">
                <a:pos x="0" y="123"/>
              </a:cxn>
            </a:cxnLst>
            <a:rect l="0" t="0" r="r" b="b"/>
            <a:pathLst>
              <a:path w="678" h="123">
                <a:moveTo>
                  <a:pt x="678" y="0"/>
                </a:moveTo>
                <a:cubicBezTo>
                  <a:pt x="678" y="0"/>
                  <a:pt x="310" y="16"/>
                  <a:pt x="0" y="123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91" name="Freeform 23"/>
          <p:cNvSpPr>
            <a:spLocks/>
          </p:cNvSpPr>
          <p:nvPr/>
        </p:nvSpPr>
        <p:spPr bwMode="auto">
          <a:xfrm>
            <a:off x="3319463" y="2430463"/>
            <a:ext cx="3946525" cy="279400"/>
          </a:xfrm>
          <a:custGeom>
            <a:avLst/>
            <a:gdLst/>
            <a:ahLst/>
            <a:cxnLst>
              <a:cxn ang="0">
                <a:pos x="1819" y="79"/>
              </a:cxn>
              <a:cxn ang="0">
                <a:pos x="0" y="176"/>
              </a:cxn>
            </a:cxnLst>
            <a:rect l="0" t="0" r="r" b="b"/>
            <a:pathLst>
              <a:path w="1819" h="176">
                <a:moveTo>
                  <a:pt x="1819" y="79"/>
                </a:moveTo>
                <a:cubicBezTo>
                  <a:pt x="1516" y="95"/>
                  <a:pt x="240" y="0"/>
                  <a:pt x="0" y="176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92" name="Freeform 24"/>
          <p:cNvSpPr>
            <a:spLocks/>
          </p:cNvSpPr>
          <p:nvPr/>
        </p:nvSpPr>
        <p:spPr bwMode="auto">
          <a:xfrm>
            <a:off x="4335463" y="1254125"/>
            <a:ext cx="3157537" cy="77788"/>
          </a:xfrm>
          <a:custGeom>
            <a:avLst/>
            <a:gdLst/>
            <a:ahLst/>
            <a:cxnLst>
              <a:cxn ang="0">
                <a:pos x="678" y="0"/>
              </a:cxn>
              <a:cxn ang="0">
                <a:pos x="0" y="123"/>
              </a:cxn>
            </a:cxnLst>
            <a:rect l="0" t="0" r="r" b="b"/>
            <a:pathLst>
              <a:path w="678" h="123">
                <a:moveTo>
                  <a:pt x="678" y="0"/>
                </a:moveTo>
                <a:cubicBezTo>
                  <a:pt x="678" y="0"/>
                  <a:pt x="310" y="16"/>
                  <a:pt x="0" y="123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93" name="Freeform 25"/>
          <p:cNvSpPr>
            <a:spLocks/>
          </p:cNvSpPr>
          <p:nvPr/>
        </p:nvSpPr>
        <p:spPr bwMode="auto">
          <a:xfrm>
            <a:off x="4208463" y="3048000"/>
            <a:ext cx="3241675" cy="482600"/>
          </a:xfrm>
          <a:custGeom>
            <a:avLst/>
            <a:gdLst/>
            <a:ahLst/>
            <a:cxnLst>
              <a:cxn ang="0">
                <a:pos x="2042" y="0"/>
              </a:cxn>
              <a:cxn ang="0">
                <a:pos x="0" y="85"/>
              </a:cxn>
            </a:cxnLst>
            <a:rect l="0" t="0" r="r" b="b"/>
            <a:pathLst>
              <a:path w="2042" h="304">
                <a:moveTo>
                  <a:pt x="2042" y="0"/>
                </a:moveTo>
                <a:cubicBezTo>
                  <a:pt x="1703" y="13"/>
                  <a:pt x="245" y="304"/>
                  <a:pt x="0" y="85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99" name="Freeform 31"/>
          <p:cNvSpPr>
            <a:spLocks/>
          </p:cNvSpPr>
          <p:nvPr/>
        </p:nvSpPr>
        <p:spPr bwMode="auto">
          <a:xfrm>
            <a:off x="4757738" y="1946275"/>
            <a:ext cx="2914650" cy="169863"/>
          </a:xfrm>
          <a:custGeom>
            <a:avLst/>
            <a:gdLst/>
            <a:ahLst/>
            <a:cxnLst>
              <a:cxn ang="0">
                <a:pos x="1836" y="59"/>
              </a:cxn>
              <a:cxn ang="0">
                <a:pos x="0" y="107"/>
              </a:cxn>
            </a:cxnLst>
            <a:rect l="0" t="0" r="r" b="b"/>
            <a:pathLst>
              <a:path w="1836" h="107">
                <a:moveTo>
                  <a:pt x="1836" y="59"/>
                </a:moveTo>
                <a:cubicBezTo>
                  <a:pt x="1530" y="67"/>
                  <a:pt x="310" y="0"/>
                  <a:pt x="0" y="107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00" name="Freeform 32"/>
          <p:cNvSpPr>
            <a:spLocks/>
          </p:cNvSpPr>
          <p:nvPr/>
        </p:nvSpPr>
        <p:spPr bwMode="auto">
          <a:xfrm>
            <a:off x="3860800" y="1557338"/>
            <a:ext cx="3778250" cy="447675"/>
          </a:xfrm>
          <a:custGeom>
            <a:avLst/>
            <a:gdLst/>
            <a:ahLst/>
            <a:cxnLst>
              <a:cxn ang="0">
                <a:pos x="2380" y="282"/>
              </a:cxn>
              <a:cxn ang="0">
                <a:pos x="0" y="176"/>
              </a:cxn>
            </a:cxnLst>
            <a:rect l="0" t="0" r="r" b="b"/>
            <a:pathLst>
              <a:path w="2380" h="282">
                <a:moveTo>
                  <a:pt x="2380" y="282"/>
                </a:moveTo>
                <a:cubicBezTo>
                  <a:pt x="1983" y="264"/>
                  <a:pt x="240" y="0"/>
                  <a:pt x="0" y="176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02" name="Freeform 34"/>
          <p:cNvSpPr>
            <a:spLocks/>
          </p:cNvSpPr>
          <p:nvPr/>
        </p:nvSpPr>
        <p:spPr bwMode="auto">
          <a:xfrm>
            <a:off x="4681538" y="3217863"/>
            <a:ext cx="2963862" cy="287337"/>
          </a:xfrm>
          <a:custGeom>
            <a:avLst/>
            <a:gdLst/>
            <a:ahLst/>
            <a:cxnLst>
              <a:cxn ang="0">
                <a:pos x="1867" y="160"/>
              </a:cxn>
              <a:cxn ang="0">
                <a:pos x="0" y="181"/>
              </a:cxn>
            </a:cxnLst>
            <a:rect l="0" t="0" r="r" b="b"/>
            <a:pathLst>
              <a:path w="1867" h="181">
                <a:moveTo>
                  <a:pt x="1867" y="160"/>
                </a:moveTo>
                <a:cubicBezTo>
                  <a:pt x="1556" y="163"/>
                  <a:pt x="70" y="0"/>
                  <a:pt x="0" y="181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03" name="Freeform 35"/>
          <p:cNvSpPr>
            <a:spLocks/>
          </p:cNvSpPr>
          <p:nvPr/>
        </p:nvSpPr>
        <p:spPr bwMode="auto">
          <a:xfrm>
            <a:off x="3759200" y="3167063"/>
            <a:ext cx="3879850" cy="330200"/>
          </a:xfrm>
          <a:custGeom>
            <a:avLst/>
            <a:gdLst/>
            <a:ahLst/>
            <a:cxnLst>
              <a:cxn ang="0">
                <a:pos x="2444" y="170"/>
              </a:cxn>
              <a:cxn ang="0">
                <a:pos x="0" y="208"/>
              </a:cxn>
            </a:cxnLst>
            <a:rect l="0" t="0" r="r" b="b"/>
            <a:pathLst>
              <a:path w="2444" h="208">
                <a:moveTo>
                  <a:pt x="2444" y="170"/>
                </a:moveTo>
                <a:cubicBezTo>
                  <a:pt x="2037" y="176"/>
                  <a:pt x="309" y="0"/>
                  <a:pt x="0" y="208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04" name="Freeform 36"/>
          <p:cNvSpPr>
            <a:spLocks/>
          </p:cNvSpPr>
          <p:nvPr/>
        </p:nvSpPr>
        <p:spPr bwMode="auto">
          <a:xfrm>
            <a:off x="4157663" y="4656138"/>
            <a:ext cx="3124200" cy="398462"/>
          </a:xfrm>
          <a:custGeom>
            <a:avLst/>
            <a:gdLst/>
            <a:ahLst/>
            <a:cxnLst>
              <a:cxn ang="0">
                <a:pos x="1968" y="0"/>
              </a:cxn>
              <a:cxn ang="0">
                <a:pos x="0" y="91"/>
              </a:cxn>
            </a:cxnLst>
            <a:rect l="0" t="0" r="r" b="b"/>
            <a:pathLst>
              <a:path w="1968" h="251">
                <a:moveTo>
                  <a:pt x="1968" y="0"/>
                </a:moveTo>
                <a:cubicBezTo>
                  <a:pt x="1477" y="139"/>
                  <a:pt x="80" y="251"/>
                  <a:pt x="0" y="91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05" name="Freeform 37"/>
          <p:cNvSpPr>
            <a:spLocks/>
          </p:cNvSpPr>
          <p:nvPr/>
        </p:nvSpPr>
        <p:spPr bwMode="auto">
          <a:xfrm>
            <a:off x="2819400" y="3810000"/>
            <a:ext cx="4808538" cy="533400"/>
          </a:xfrm>
          <a:custGeom>
            <a:avLst/>
            <a:gdLst/>
            <a:ahLst/>
            <a:cxnLst>
              <a:cxn ang="0">
                <a:pos x="3029" y="0"/>
              </a:cxn>
              <a:cxn ang="0">
                <a:pos x="0" y="96"/>
              </a:cxn>
            </a:cxnLst>
            <a:rect l="0" t="0" r="r" b="b"/>
            <a:pathLst>
              <a:path w="3029" h="336">
                <a:moveTo>
                  <a:pt x="3029" y="0"/>
                </a:moveTo>
                <a:cubicBezTo>
                  <a:pt x="2512" y="117"/>
                  <a:pt x="235" y="336"/>
                  <a:pt x="0" y="96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06" name="Freeform 38"/>
          <p:cNvSpPr>
            <a:spLocks/>
          </p:cNvSpPr>
          <p:nvPr/>
        </p:nvSpPr>
        <p:spPr bwMode="auto">
          <a:xfrm>
            <a:off x="5672138" y="3776663"/>
            <a:ext cx="1947862" cy="185737"/>
          </a:xfrm>
          <a:custGeom>
            <a:avLst/>
            <a:gdLst/>
            <a:ahLst/>
            <a:cxnLst>
              <a:cxn ang="0">
                <a:pos x="1227" y="0"/>
              </a:cxn>
              <a:cxn ang="0">
                <a:pos x="0" y="5"/>
              </a:cxn>
            </a:cxnLst>
            <a:rect l="0" t="0" r="r" b="b"/>
            <a:pathLst>
              <a:path w="1227" h="117">
                <a:moveTo>
                  <a:pt x="1227" y="0"/>
                </a:moveTo>
                <a:cubicBezTo>
                  <a:pt x="1023" y="1"/>
                  <a:pt x="315" y="117"/>
                  <a:pt x="0" y="5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0" name="Freeform 42"/>
          <p:cNvSpPr>
            <a:spLocks/>
          </p:cNvSpPr>
          <p:nvPr/>
        </p:nvSpPr>
        <p:spPr bwMode="auto">
          <a:xfrm>
            <a:off x="3725863" y="5537200"/>
            <a:ext cx="3987800" cy="338138"/>
          </a:xfrm>
          <a:custGeom>
            <a:avLst/>
            <a:gdLst/>
            <a:ahLst/>
            <a:cxnLst>
              <a:cxn ang="0">
                <a:pos x="2512" y="0"/>
              </a:cxn>
              <a:cxn ang="0">
                <a:pos x="0" y="11"/>
              </a:cxn>
            </a:cxnLst>
            <a:rect l="0" t="0" r="r" b="b"/>
            <a:pathLst>
              <a:path w="2512" h="213">
                <a:moveTo>
                  <a:pt x="2512" y="0"/>
                </a:moveTo>
                <a:cubicBezTo>
                  <a:pt x="1882" y="123"/>
                  <a:pt x="277" y="213"/>
                  <a:pt x="0" y="11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1" name="Freeform 43"/>
          <p:cNvSpPr>
            <a:spLocks/>
          </p:cNvSpPr>
          <p:nvPr/>
        </p:nvSpPr>
        <p:spPr bwMode="auto">
          <a:xfrm>
            <a:off x="4646613" y="5494338"/>
            <a:ext cx="3117850" cy="398462"/>
          </a:xfrm>
          <a:custGeom>
            <a:avLst/>
            <a:gdLst/>
            <a:ahLst/>
            <a:cxnLst>
              <a:cxn ang="0">
                <a:pos x="1964" y="0"/>
              </a:cxn>
              <a:cxn ang="0">
                <a:pos x="0" y="27"/>
              </a:cxn>
            </a:cxnLst>
            <a:rect l="0" t="0" r="r" b="b"/>
            <a:pathLst>
              <a:path w="1964" h="251">
                <a:moveTo>
                  <a:pt x="1964" y="0"/>
                </a:moveTo>
                <a:cubicBezTo>
                  <a:pt x="1612" y="48"/>
                  <a:pt x="156" y="251"/>
                  <a:pt x="0" y="27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2" name="Freeform 44"/>
          <p:cNvSpPr>
            <a:spLocks/>
          </p:cNvSpPr>
          <p:nvPr/>
        </p:nvSpPr>
        <p:spPr bwMode="auto">
          <a:xfrm>
            <a:off x="4183063" y="6367463"/>
            <a:ext cx="3403600" cy="287337"/>
          </a:xfrm>
          <a:custGeom>
            <a:avLst/>
            <a:gdLst/>
            <a:ahLst/>
            <a:cxnLst>
              <a:cxn ang="0">
                <a:pos x="2144" y="42"/>
              </a:cxn>
              <a:cxn ang="0">
                <a:pos x="0" y="0"/>
              </a:cxn>
            </a:cxnLst>
            <a:rect l="0" t="0" r="r" b="b"/>
            <a:pathLst>
              <a:path w="2144" h="181">
                <a:moveTo>
                  <a:pt x="2144" y="42"/>
                </a:moveTo>
                <a:cubicBezTo>
                  <a:pt x="1653" y="181"/>
                  <a:pt x="80" y="160"/>
                  <a:pt x="0" y="0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4" name="Picture 4" descr="Zernike PSFs.gif                                               001FEE86Mats Gustafsson                BC2CE792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06375" y="423863"/>
            <a:ext cx="9610725" cy="6254750"/>
          </a:xfrm>
          <a:prstGeom prst="rect">
            <a:avLst/>
          </a:prstGeom>
          <a:noFill/>
        </p:spPr>
      </p:pic>
      <p:sp>
        <p:nvSpPr>
          <p:cNvPr id="35845" name="Rectangle 5"/>
          <p:cNvSpPr>
            <a:spLocks noChangeArrowheads="1"/>
          </p:cNvSpPr>
          <p:nvPr/>
        </p:nvSpPr>
        <p:spPr bwMode="auto">
          <a:xfrm>
            <a:off x="0" y="414338"/>
            <a:ext cx="711200" cy="61134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3657600" y="41989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7" name="Rectangle 7"/>
          <p:cNvSpPr>
            <a:spLocks noChangeArrowheads="1"/>
          </p:cNvSpPr>
          <p:nvPr/>
        </p:nvSpPr>
        <p:spPr bwMode="auto">
          <a:xfrm>
            <a:off x="3200400" y="4976813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8" name="Rectangle 8"/>
          <p:cNvSpPr>
            <a:spLocks noChangeArrowheads="1"/>
          </p:cNvSpPr>
          <p:nvPr/>
        </p:nvSpPr>
        <p:spPr bwMode="auto">
          <a:xfrm>
            <a:off x="4114800" y="49863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9" name="Rectangle 9"/>
          <p:cNvSpPr>
            <a:spLocks noChangeArrowheads="1"/>
          </p:cNvSpPr>
          <p:nvPr/>
        </p:nvSpPr>
        <p:spPr bwMode="auto">
          <a:xfrm>
            <a:off x="3208338" y="34099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0" name="Rectangle 10"/>
          <p:cNvSpPr>
            <a:spLocks noChangeArrowheads="1"/>
          </p:cNvSpPr>
          <p:nvPr/>
        </p:nvSpPr>
        <p:spPr bwMode="auto">
          <a:xfrm>
            <a:off x="4122738" y="34115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1" name="Rectangle 11"/>
          <p:cNvSpPr>
            <a:spLocks noChangeArrowheads="1"/>
          </p:cNvSpPr>
          <p:nvPr/>
        </p:nvSpPr>
        <p:spPr bwMode="auto">
          <a:xfrm>
            <a:off x="2278063" y="34099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2" name="Rectangle 12"/>
          <p:cNvSpPr>
            <a:spLocks noChangeArrowheads="1"/>
          </p:cNvSpPr>
          <p:nvPr/>
        </p:nvSpPr>
        <p:spPr bwMode="auto">
          <a:xfrm>
            <a:off x="5046663" y="34115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3" name="Rectangle 13"/>
          <p:cNvSpPr>
            <a:spLocks noChangeArrowheads="1"/>
          </p:cNvSpPr>
          <p:nvPr/>
        </p:nvSpPr>
        <p:spPr bwMode="auto">
          <a:xfrm>
            <a:off x="3665538" y="576580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4" name="Rectangle 14"/>
          <p:cNvSpPr>
            <a:spLocks noChangeArrowheads="1"/>
          </p:cNvSpPr>
          <p:nvPr/>
        </p:nvSpPr>
        <p:spPr bwMode="auto">
          <a:xfrm>
            <a:off x="3667125" y="26225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5" name="Rectangle 15"/>
          <p:cNvSpPr>
            <a:spLocks noChangeArrowheads="1"/>
          </p:cNvSpPr>
          <p:nvPr/>
        </p:nvSpPr>
        <p:spPr bwMode="auto">
          <a:xfrm>
            <a:off x="4581525" y="26241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6" name="Rectangle 16"/>
          <p:cNvSpPr>
            <a:spLocks noChangeArrowheads="1"/>
          </p:cNvSpPr>
          <p:nvPr/>
        </p:nvSpPr>
        <p:spPr bwMode="auto">
          <a:xfrm>
            <a:off x="2752725" y="26225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7" name="Rectangle 17"/>
          <p:cNvSpPr>
            <a:spLocks noChangeArrowheads="1"/>
          </p:cNvSpPr>
          <p:nvPr/>
        </p:nvSpPr>
        <p:spPr bwMode="auto">
          <a:xfrm>
            <a:off x="7254875" y="600075"/>
            <a:ext cx="1643063" cy="61134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8" name="Rectangle 18"/>
          <p:cNvSpPr>
            <a:spLocks noChangeArrowheads="1"/>
          </p:cNvSpPr>
          <p:nvPr/>
        </p:nvSpPr>
        <p:spPr bwMode="auto">
          <a:xfrm>
            <a:off x="152400" y="503238"/>
            <a:ext cx="703580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9" name="Rectangle 19"/>
          <p:cNvSpPr>
            <a:spLocks noChangeArrowheads="1"/>
          </p:cNvSpPr>
          <p:nvPr/>
        </p:nvSpPr>
        <p:spPr bwMode="auto">
          <a:xfrm>
            <a:off x="8585200" y="541338"/>
            <a:ext cx="711200" cy="61134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60" name="Text Box 20"/>
          <p:cNvSpPr txBox="1">
            <a:spLocks noChangeArrowheads="1"/>
          </p:cNvSpPr>
          <p:nvPr/>
        </p:nvSpPr>
        <p:spPr bwMode="auto">
          <a:xfrm>
            <a:off x="7667625" y="1062038"/>
            <a:ext cx="936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(piston)</a:t>
            </a:r>
          </a:p>
        </p:txBody>
      </p:sp>
      <p:sp>
        <p:nvSpPr>
          <p:cNvPr id="35861" name="Text Box 21"/>
          <p:cNvSpPr txBox="1">
            <a:spLocks noChangeArrowheads="1"/>
          </p:cNvSpPr>
          <p:nvPr/>
        </p:nvSpPr>
        <p:spPr bwMode="auto">
          <a:xfrm>
            <a:off x="7804150" y="1858963"/>
            <a:ext cx="6619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(tilt)</a:t>
            </a:r>
          </a:p>
        </p:txBody>
      </p:sp>
      <p:sp>
        <p:nvSpPr>
          <p:cNvPr id="35862" name="Text Box 22"/>
          <p:cNvSpPr txBox="1">
            <a:spLocks noChangeArrowheads="1"/>
          </p:cNvSpPr>
          <p:nvPr/>
        </p:nvSpPr>
        <p:spPr bwMode="auto">
          <a:xfrm>
            <a:off x="7418388" y="2417763"/>
            <a:ext cx="14319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Astigmatism</a:t>
            </a:r>
          </a:p>
        </p:txBody>
      </p:sp>
      <p:sp>
        <p:nvSpPr>
          <p:cNvPr id="35863" name="Text Box 23"/>
          <p:cNvSpPr txBox="1">
            <a:spLocks noChangeArrowheads="1"/>
          </p:cNvSpPr>
          <p:nvPr/>
        </p:nvSpPr>
        <p:spPr bwMode="auto">
          <a:xfrm>
            <a:off x="7639050" y="2840038"/>
            <a:ext cx="9921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Defocus</a:t>
            </a:r>
          </a:p>
        </p:txBody>
      </p:sp>
      <p:sp>
        <p:nvSpPr>
          <p:cNvPr id="35864" name="Text Box 24"/>
          <p:cNvSpPr txBox="1">
            <a:spLocks noChangeArrowheads="1"/>
          </p:cNvSpPr>
          <p:nvPr/>
        </p:nvSpPr>
        <p:spPr bwMode="auto">
          <a:xfrm>
            <a:off x="7775575" y="3263900"/>
            <a:ext cx="71913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Coma</a:t>
            </a:r>
          </a:p>
        </p:txBody>
      </p:sp>
      <p:sp>
        <p:nvSpPr>
          <p:cNvPr id="35865" name="Text Box 25"/>
          <p:cNvSpPr txBox="1">
            <a:spLocks noChangeArrowheads="1"/>
          </p:cNvSpPr>
          <p:nvPr/>
        </p:nvSpPr>
        <p:spPr bwMode="auto">
          <a:xfrm>
            <a:off x="7708900" y="3560763"/>
            <a:ext cx="8699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Trefoil</a:t>
            </a:r>
          </a:p>
        </p:txBody>
      </p:sp>
      <p:sp>
        <p:nvSpPr>
          <p:cNvPr id="35866" name="Text Box 26"/>
          <p:cNvSpPr txBox="1">
            <a:spLocks noChangeArrowheads="1"/>
          </p:cNvSpPr>
          <p:nvPr/>
        </p:nvSpPr>
        <p:spPr bwMode="auto">
          <a:xfrm>
            <a:off x="7364413" y="4356100"/>
            <a:ext cx="155733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Spherical ab.</a:t>
            </a:r>
          </a:p>
        </p:txBody>
      </p:sp>
      <p:sp>
        <p:nvSpPr>
          <p:cNvPr id="35867" name="Text Box 27"/>
          <p:cNvSpPr txBox="1">
            <a:spLocks noChangeArrowheads="1"/>
          </p:cNvSpPr>
          <p:nvPr/>
        </p:nvSpPr>
        <p:spPr bwMode="auto">
          <a:xfrm>
            <a:off x="7226300" y="5118100"/>
            <a:ext cx="185261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Secondary coma</a:t>
            </a:r>
          </a:p>
        </p:txBody>
      </p:sp>
      <p:sp>
        <p:nvSpPr>
          <p:cNvPr id="35868" name="Text Box 28"/>
          <p:cNvSpPr txBox="1">
            <a:spLocks noChangeArrowheads="1"/>
          </p:cNvSpPr>
          <p:nvPr/>
        </p:nvSpPr>
        <p:spPr bwMode="auto">
          <a:xfrm>
            <a:off x="7400925" y="5778500"/>
            <a:ext cx="1520825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Secondary</a:t>
            </a:r>
          </a:p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spherical ab.</a:t>
            </a:r>
          </a:p>
        </p:txBody>
      </p:sp>
      <p:sp>
        <p:nvSpPr>
          <p:cNvPr id="35869" name="Freeform 29"/>
          <p:cNvSpPr>
            <a:spLocks/>
          </p:cNvSpPr>
          <p:nvPr/>
        </p:nvSpPr>
        <p:spPr bwMode="auto">
          <a:xfrm>
            <a:off x="5164138" y="2590800"/>
            <a:ext cx="2108200" cy="195263"/>
          </a:xfrm>
          <a:custGeom>
            <a:avLst/>
            <a:gdLst/>
            <a:ahLst/>
            <a:cxnLst>
              <a:cxn ang="0">
                <a:pos x="678" y="0"/>
              </a:cxn>
              <a:cxn ang="0">
                <a:pos x="0" y="123"/>
              </a:cxn>
            </a:cxnLst>
            <a:rect l="0" t="0" r="r" b="b"/>
            <a:pathLst>
              <a:path w="678" h="123">
                <a:moveTo>
                  <a:pt x="678" y="0"/>
                </a:moveTo>
                <a:cubicBezTo>
                  <a:pt x="678" y="0"/>
                  <a:pt x="310" y="16"/>
                  <a:pt x="0" y="123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0" name="Freeform 30"/>
          <p:cNvSpPr>
            <a:spLocks/>
          </p:cNvSpPr>
          <p:nvPr/>
        </p:nvSpPr>
        <p:spPr bwMode="auto">
          <a:xfrm>
            <a:off x="3319463" y="2430463"/>
            <a:ext cx="3946525" cy="279400"/>
          </a:xfrm>
          <a:custGeom>
            <a:avLst/>
            <a:gdLst/>
            <a:ahLst/>
            <a:cxnLst>
              <a:cxn ang="0">
                <a:pos x="1819" y="79"/>
              </a:cxn>
              <a:cxn ang="0">
                <a:pos x="0" y="176"/>
              </a:cxn>
            </a:cxnLst>
            <a:rect l="0" t="0" r="r" b="b"/>
            <a:pathLst>
              <a:path w="1819" h="176">
                <a:moveTo>
                  <a:pt x="1819" y="79"/>
                </a:moveTo>
                <a:cubicBezTo>
                  <a:pt x="1516" y="95"/>
                  <a:pt x="240" y="0"/>
                  <a:pt x="0" y="176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1" name="Freeform 31"/>
          <p:cNvSpPr>
            <a:spLocks/>
          </p:cNvSpPr>
          <p:nvPr/>
        </p:nvSpPr>
        <p:spPr bwMode="auto">
          <a:xfrm>
            <a:off x="4335463" y="1254125"/>
            <a:ext cx="3157537" cy="77788"/>
          </a:xfrm>
          <a:custGeom>
            <a:avLst/>
            <a:gdLst/>
            <a:ahLst/>
            <a:cxnLst>
              <a:cxn ang="0">
                <a:pos x="678" y="0"/>
              </a:cxn>
              <a:cxn ang="0">
                <a:pos x="0" y="123"/>
              </a:cxn>
            </a:cxnLst>
            <a:rect l="0" t="0" r="r" b="b"/>
            <a:pathLst>
              <a:path w="678" h="123">
                <a:moveTo>
                  <a:pt x="678" y="0"/>
                </a:moveTo>
                <a:cubicBezTo>
                  <a:pt x="678" y="0"/>
                  <a:pt x="310" y="16"/>
                  <a:pt x="0" y="123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2" name="Freeform 32"/>
          <p:cNvSpPr>
            <a:spLocks/>
          </p:cNvSpPr>
          <p:nvPr/>
        </p:nvSpPr>
        <p:spPr bwMode="auto">
          <a:xfrm>
            <a:off x="4208463" y="3048000"/>
            <a:ext cx="3241675" cy="482600"/>
          </a:xfrm>
          <a:custGeom>
            <a:avLst/>
            <a:gdLst/>
            <a:ahLst/>
            <a:cxnLst>
              <a:cxn ang="0">
                <a:pos x="2042" y="0"/>
              </a:cxn>
              <a:cxn ang="0">
                <a:pos x="0" y="85"/>
              </a:cxn>
            </a:cxnLst>
            <a:rect l="0" t="0" r="r" b="b"/>
            <a:pathLst>
              <a:path w="2042" h="304">
                <a:moveTo>
                  <a:pt x="2042" y="0"/>
                </a:moveTo>
                <a:cubicBezTo>
                  <a:pt x="1703" y="13"/>
                  <a:pt x="245" y="304"/>
                  <a:pt x="0" y="85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3" name="Freeform 33"/>
          <p:cNvSpPr>
            <a:spLocks/>
          </p:cNvSpPr>
          <p:nvPr/>
        </p:nvSpPr>
        <p:spPr bwMode="auto">
          <a:xfrm>
            <a:off x="4757738" y="1946275"/>
            <a:ext cx="2914650" cy="169863"/>
          </a:xfrm>
          <a:custGeom>
            <a:avLst/>
            <a:gdLst/>
            <a:ahLst/>
            <a:cxnLst>
              <a:cxn ang="0">
                <a:pos x="1836" y="59"/>
              </a:cxn>
              <a:cxn ang="0">
                <a:pos x="0" y="107"/>
              </a:cxn>
            </a:cxnLst>
            <a:rect l="0" t="0" r="r" b="b"/>
            <a:pathLst>
              <a:path w="1836" h="107">
                <a:moveTo>
                  <a:pt x="1836" y="59"/>
                </a:moveTo>
                <a:cubicBezTo>
                  <a:pt x="1530" y="67"/>
                  <a:pt x="310" y="0"/>
                  <a:pt x="0" y="107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4" name="Freeform 34"/>
          <p:cNvSpPr>
            <a:spLocks/>
          </p:cNvSpPr>
          <p:nvPr/>
        </p:nvSpPr>
        <p:spPr bwMode="auto">
          <a:xfrm>
            <a:off x="3860800" y="1557338"/>
            <a:ext cx="3778250" cy="447675"/>
          </a:xfrm>
          <a:custGeom>
            <a:avLst/>
            <a:gdLst/>
            <a:ahLst/>
            <a:cxnLst>
              <a:cxn ang="0">
                <a:pos x="2380" y="282"/>
              </a:cxn>
              <a:cxn ang="0">
                <a:pos x="0" y="176"/>
              </a:cxn>
            </a:cxnLst>
            <a:rect l="0" t="0" r="r" b="b"/>
            <a:pathLst>
              <a:path w="2380" h="282">
                <a:moveTo>
                  <a:pt x="2380" y="282"/>
                </a:moveTo>
                <a:cubicBezTo>
                  <a:pt x="1983" y="264"/>
                  <a:pt x="240" y="0"/>
                  <a:pt x="0" y="176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5" name="Freeform 35"/>
          <p:cNvSpPr>
            <a:spLocks/>
          </p:cNvSpPr>
          <p:nvPr/>
        </p:nvSpPr>
        <p:spPr bwMode="auto">
          <a:xfrm>
            <a:off x="4681538" y="3217863"/>
            <a:ext cx="2963862" cy="287337"/>
          </a:xfrm>
          <a:custGeom>
            <a:avLst/>
            <a:gdLst/>
            <a:ahLst/>
            <a:cxnLst>
              <a:cxn ang="0">
                <a:pos x="1867" y="160"/>
              </a:cxn>
              <a:cxn ang="0">
                <a:pos x="0" y="181"/>
              </a:cxn>
            </a:cxnLst>
            <a:rect l="0" t="0" r="r" b="b"/>
            <a:pathLst>
              <a:path w="1867" h="181">
                <a:moveTo>
                  <a:pt x="1867" y="160"/>
                </a:moveTo>
                <a:cubicBezTo>
                  <a:pt x="1556" y="163"/>
                  <a:pt x="70" y="0"/>
                  <a:pt x="0" y="181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6" name="Freeform 36"/>
          <p:cNvSpPr>
            <a:spLocks/>
          </p:cNvSpPr>
          <p:nvPr/>
        </p:nvSpPr>
        <p:spPr bwMode="auto">
          <a:xfrm>
            <a:off x="3759200" y="3167063"/>
            <a:ext cx="3879850" cy="330200"/>
          </a:xfrm>
          <a:custGeom>
            <a:avLst/>
            <a:gdLst/>
            <a:ahLst/>
            <a:cxnLst>
              <a:cxn ang="0">
                <a:pos x="2444" y="170"/>
              </a:cxn>
              <a:cxn ang="0">
                <a:pos x="0" y="208"/>
              </a:cxn>
            </a:cxnLst>
            <a:rect l="0" t="0" r="r" b="b"/>
            <a:pathLst>
              <a:path w="2444" h="208">
                <a:moveTo>
                  <a:pt x="2444" y="170"/>
                </a:moveTo>
                <a:cubicBezTo>
                  <a:pt x="2037" y="176"/>
                  <a:pt x="309" y="0"/>
                  <a:pt x="0" y="208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7" name="Freeform 37"/>
          <p:cNvSpPr>
            <a:spLocks/>
          </p:cNvSpPr>
          <p:nvPr/>
        </p:nvSpPr>
        <p:spPr bwMode="auto">
          <a:xfrm>
            <a:off x="4157663" y="4656138"/>
            <a:ext cx="3124200" cy="398462"/>
          </a:xfrm>
          <a:custGeom>
            <a:avLst/>
            <a:gdLst/>
            <a:ahLst/>
            <a:cxnLst>
              <a:cxn ang="0">
                <a:pos x="1968" y="0"/>
              </a:cxn>
              <a:cxn ang="0">
                <a:pos x="0" y="91"/>
              </a:cxn>
            </a:cxnLst>
            <a:rect l="0" t="0" r="r" b="b"/>
            <a:pathLst>
              <a:path w="1968" h="251">
                <a:moveTo>
                  <a:pt x="1968" y="0"/>
                </a:moveTo>
                <a:cubicBezTo>
                  <a:pt x="1477" y="139"/>
                  <a:pt x="80" y="251"/>
                  <a:pt x="0" y="91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8" name="Freeform 38"/>
          <p:cNvSpPr>
            <a:spLocks/>
          </p:cNvSpPr>
          <p:nvPr/>
        </p:nvSpPr>
        <p:spPr bwMode="auto">
          <a:xfrm>
            <a:off x="2819400" y="3810000"/>
            <a:ext cx="4808538" cy="533400"/>
          </a:xfrm>
          <a:custGeom>
            <a:avLst/>
            <a:gdLst/>
            <a:ahLst/>
            <a:cxnLst>
              <a:cxn ang="0">
                <a:pos x="3029" y="0"/>
              </a:cxn>
              <a:cxn ang="0">
                <a:pos x="0" y="96"/>
              </a:cxn>
            </a:cxnLst>
            <a:rect l="0" t="0" r="r" b="b"/>
            <a:pathLst>
              <a:path w="3029" h="336">
                <a:moveTo>
                  <a:pt x="3029" y="0"/>
                </a:moveTo>
                <a:cubicBezTo>
                  <a:pt x="2512" y="117"/>
                  <a:pt x="235" y="336"/>
                  <a:pt x="0" y="96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9" name="Freeform 39"/>
          <p:cNvSpPr>
            <a:spLocks/>
          </p:cNvSpPr>
          <p:nvPr/>
        </p:nvSpPr>
        <p:spPr bwMode="auto">
          <a:xfrm>
            <a:off x="5672138" y="3776663"/>
            <a:ext cx="1947862" cy="185737"/>
          </a:xfrm>
          <a:custGeom>
            <a:avLst/>
            <a:gdLst/>
            <a:ahLst/>
            <a:cxnLst>
              <a:cxn ang="0">
                <a:pos x="1227" y="0"/>
              </a:cxn>
              <a:cxn ang="0">
                <a:pos x="0" y="5"/>
              </a:cxn>
            </a:cxnLst>
            <a:rect l="0" t="0" r="r" b="b"/>
            <a:pathLst>
              <a:path w="1227" h="117">
                <a:moveTo>
                  <a:pt x="1227" y="0"/>
                </a:moveTo>
                <a:cubicBezTo>
                  <a:pt x="1023" y="1"/>
                  <a:pt x="315" y="117"/>
                  <a:pt x="0" y="5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80" name="Freeform 40"/>
          <p:cNvSpPr>
            <a:spLocks/>
          </p:cNvSpPr>
          <p:nvPr/>
        </p:nvSpPr>
        <p:spPr bwMode="auto">
          <a:xfrm>
            <a:off x="3725863" y="5537200"/>
            <a:ext cx="3987800" cy="338138"/>
          </a:xfrm>
          <a:custGeom>
            <a:avLst/>
            <a:gdLst/>
            <a:ahLst/>
            <a:cxnLst>
              <a:cxn ang="0">
                <a:pos x="2512" y="0"/>
              </a:cxn>
              <a:cxn ang="0">
                <a:pos x="0" y="11"/>
              </a:cxn>
            </a:cxnLst>
            <a:rect l="0" t="0" r="r" b="b"/>
            <a:pathLst>
              <a:path w="2512" h="213">
                <a:moveTo>
                  <a:pt x="2512" y="0"/>
                </a:moveTo>
                <a:cubicBezTo>
                  <a:pt x="1882" y="123"/>
                  <a:pt x="277" y="213"/>
                  <a:pt x="0" y="11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81" name="Freeform 41"/>
          <p:cNvSpPr>
            <a:spLocks/>
          </p:cNvSpPr>
          <p:nvPr/>
        </p:nvSpPr>
        <p:spPr bwMode="auto">
          <a:xfrm>
            <a:off x="4646613" y="5494338"/>
            <a:ext cx="3117850" cy="398462"/>
          </a:xfrm>
          <a:custGeom>
            <a:avLst/>
            <a:gdLst/>
            <a:ahLst/>
            <a:cxnLst>
              <a:cxn ang="0">
                <a:pos x="1964" y="0"/>
              </a:cxn>
              <a:cxn ang="0">
                <a:pos x="0" y="27"/>
              </a:cxn>
            </a:cxnLst>
            <a:rect l="0" t="0" r="r" b="b"/>
            <a:pathLst>
              <a:path w="1964" h="251">
                <a:moveTo>
                  <a:pt x="1964" y="0"/>
                </a:moveTo>
                <a:cubicBezTo>
                  <a:pt x="1612" y="48"/>
                  <a:pt x="156" y="251"/>
                  <a:pt x="0" y="27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82" name="Freeform 42"/>
          <p:cNvSpPr>
            <a:spLocks/>
          </p:cNvSpPr>
          <p:nvPr/>
        </p:nvSpPr>
        <p:spPr bwMode="auto">
          <a:xfrm>
            <a:off x="4183063" y="6367463"/>
            <a:ext cx="3403600" cy="287337"/>
          </a:xfrm>
          <a:custGeom>
            <a:avLst/>
            <a:gdLst/>
            <a:ahLst/>
            <a:cxnLst>
              <a:cxn ang="0">
                <a:pos x="2144" y="42"/>
              </a:cxn>
              <a:cxn ang="0">
                <a:pos x="0" y="0"/>
              </a:cxn>
            </a:cxnLst>
            <a:rect l="0" t="0" r="r" b="b"/>
            <a:pathLst>
              <a:path w="2144" h="181">
                <a:moveTo>
                  <a:pt x="2144" y="42"/>
                </a:moveTo>
                <a:cubicBezTo>
                  <a:pt x="1653" y="181"/>
                  <a:pt x="80" y="160"/>
                  <a:pt x="0" y="0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2592388" y="109538"/>
            <a:ext cx="2801937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PSF Aberrations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Spherical Aberration</a:t>
            </a:r>
          </a:p>
        </p:txBody>
      </p:sp>
      <p:pic>
        <p:nvPicPr>
          <p:cNvPr id="39629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5813" y="2209800"/>
            <a:ext cx="7596187" cy="411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8" name="Text Box 2"/>
          <p:cNvSpPr txBox="1">
            <a:spLocks noChangeArrowheads="1"/>
          </p:cNvSpPr>
          <p:nvPr/>
        </p:nvSpPr>
        <p:spPr bwMode="auto">
          <a:xfrm>
            <a:off x="2798763" y="109538"/>
            <a:ext cx="3548062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Spherical Aberration</a:t>
            </a:r>
          </a:p>
        </p:txBody>
      </p:sp>
      <p:sp>
        <p:nvSpPr>
          <p:cNvPr id="516099" name="Text Box 3"/>
          <p:cNvSpPr txBox="1">
            <a:spLocks noChangeArrowheads="1"/>
          </p:cNvSpPr>
          <p:nvPr/>
        </p:nvSpPr>
        <p:spPr bwMode="auto">
          <a:xfrm>
            <a:off x="2927350" y="923925"/>
            <a:ext cx="32924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b="0">
                <a:solidFill>
                  <a:schemeClr val="accent2"/>
                </a:solidFill>
                <a:latin typeface="Chalkboard" charset="0"/>
              </a:rPr>
              <a:t>Point spread functions</a:t>
            </a:r>
          </a:p>
        </p:txBody>
      </p:sp>
      <p:sp>
        <p:nvSpPr>
          <p:cNvPr id="516100" name="Line 4"/>
          <p:cNvSpPr>
            <a:spLocks noChangeShapeType="1"/>
          </p:cNvSpPr>
          <p:nvPr/>
        </p:nvSpPr>
        <p:spPr bwMode="auto">
          <a:xfrm rot="-5400000">
            <a:off x="188912" y="3822701"/>
            <a:ext cx="11017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6101" name="Text Box 5"/>
          <p:cNvSpPr txBox="1">
            <a:spLocks noChangeArrowheads="1"/>
          </p:cNvSpPr>
          <p:nvPr/>
        </p:nvSpPr>
        <p:spPr bwMode="auto">
          <a:xfrm>
            <a:off x="373063" y="35941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b="0">
                <a:latin typeface="Helvetica" pitchFamily="34" charset="0"/>
              </a:rPr>
              <a:t>z</a:t>
            </a:r>
          </a:p>
        </p:txBody>
      </p:sp>
      <p:sp>
        <p:nvSpPr>
          <p:cNvPr id="516102" name="Line 6"/>
          <p:cNvSpPr>
            <a:spLocks noChangeShapeType="1"/>
          </p:cNvSpPr>
          <p:nvPr/>
        </p:nvSpPr>
        <p:spPr bwMode="auto">
          <a:xfrm>
            <a:off x="2108200" y="5657850"/>
            <a:ext cx="11017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6103" name="Text Box 7"/>
          <p:cNvSpPr txBox="1">
            <a:spLocks noChangeArrowheads="1"/>
          </p:cNvSpPr>
          <p:nvPr/>
        </p:nvSpPr>
        <p:spPr bwMode="auto">
          <a:xfrm>
            <a:off x="2490788" y="556418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b="0">
                <a:latin typeface="Helvetica" pitchFamily="34" charset="0"/>
              </a:rPr>
              <a:t>x</a:t>
            </a:r>
          </a:p>
        </p:txBody>
      </p:sp>
      <p:pic>
        <p:nvPicPr>
          <p:cNvPr id="516104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30725" y="1995488"/>
            <a:ext cx="3657600" cy="3657600"/>
          </a:xfrm>
          <a:prstGeom prst="rect">
            <a:avLst/>
          </a:prstGeom>
          <a:noFill/>
        </p:spPr>
      </p:pic>
      <p:pic>
        <p:nvPicPr>
          <p:cNvPr id="516105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0263" y="1993900"/>
            <a:ext cx="3657600" cy="3657600"/>
          </a:xfrm>
          <a:prstGeom prst="rect">
            <a:avLst/>
          </a:prstGeom>
          <a:noFill/>
        </p:spPr>
      </p:pic>
      <p:sp>
        <p:nvSpPr>
          <p:cNvPr id="516106" name="Line 10"/>
          <p:cNvSpPr>
            <a:spLocks noChangeShapeType="1"/>
          </p:cNvSpPr>
          <p:nvPr/>
        </p:nvSpPr>
        <p:spPr bwMode="auto">
          <a:xfrm>
            <a:off x="5808663" y="5657850"/>
            <a:ext cx="11017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6107" name="Text Box 11"/>
          <p:cNvSpPr txBox="1">
            <a:spLocks noChangeArrowheads="1"/>
          </p:cNvSpPr>
          <p:nvPr/>
        </p:nvSpPr>
        <p:spPr bwMode="auto">
          <a:xfrm>
            <a:off x="6191250" y="558958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b="0">
                <a:latin typeface="Helvetica" pitchFamily="34" charset="0"/>
              </a:rPr>
              <a:t>x</a:t>
            </a:r>
          </a:p>
        </p:txBody>
      </p:sp>
      <p:sp>
        <p:nvSpPr>
          <p:cNvPr id="516108" name="Text Box 12"/>
          <p:cNvSpPr txBox="1">
            <a:spLocks noChangeArrowheads="1"/>
          </p:cNvSpPr>
          <p:nvPr/>
        </p:nvSpPr>
        <p:spPr bwMode="auto">
          <a:xfrm>
            <a:off x="2233613" y="1566863"/>
            <a:ext cx="892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b="0">
                <a:solidFill>
                  <a:schemeClr val="accent2"/>
                </a:solidFill>
                <a:latin typeface="Chalkboard" charset="0"/>
              </a:rPr>
              <a:t>Ideal</a:t>
            </a:r>
          </a:p>
        </p:txBody>
      </p:sp>
      <p:sp>
        <p:nvSpPr>
          <p:cNvPr id="516109" name="Text Box 13"/>
          <p:cNvSpPr txBox="1">
            <a:spLocks noChangeArrowheads="1"/>
          </p:cNvSpPr>
          <p:nvPr/>
        </p:nvSpPr>
        <p:spPr bwMode="auto">
          <a:xfrm>
            <a:off x="4643438" y="1531938"/>
            <a:ext cx="33369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b="0">
                <a:solidFill>
                  <a:schemeClr val="accent2"/>
                </a:solidFill>
                <a:latin typeface="Chalkboard" charset="0"/>
              </a:rPr>
              <a:t>1 wave of spherical ab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609600"/>
          </a:xfrm>
        </p:spPr>
        <p:txBody>
          <a:bodyPr/>
          <a:lstStyle/>
          <a:p>
            <a:r>
              <a:rPr lang="en-US"/>
              <a:t>Causes of spherical aberration</a:t>
            </a:r>
          </a:p>
        </p:txBody>
      </p:sp>
      <p:sp>
        <p:nvSpPr>
          <p:cNvPr id="41472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3505200"/>
            <a:ext cx="7772400" cy="2590800"/>
          </a:xfrm>
        </p:spPr>
        <p:txBody>
          <a:bodyPr/>
          <a:lstStyle/>
          <a:p>
            <a:r>
              <a:rPr lang="en-US" sz="2400" dirty="0">
                <a:latin typeface="Chalkboard"/>
              </a:rPr>
              <a:t>Modern objectives are complicated!</a:t>
            </a:r>
          </a:p>
          <a:p>
            <a:r>
              <a:rPr lang="en-US" sz="2400" dirty="0">
                <a:latin typeface="Chalkboard"/>
              </a:rPr>
              <a:t>The optical design requires specifying the optical path length between the sample and the back focal plane of the lens</a:t>
            </a:r>
          </a:p>
          <a:p>
            <a:r>
              <a:rPr lang="en-US" sz="2400" dirty="0">
                <a:latin typeface="Chalkboard"/>
              </a:rPr>
              <a:t>OPL = l</a:t>
            </a:r>
            <a:r>
              <a:rPr lang="en-US" sz="2400" baseline="-25000" dirty="0">
                <a:latin typeface="Chalkboard"/>
              </a:rPr>
              <a:t>1</a:t>
            </a:r>
            <a:r>
              <a:rPr lang="en-US" sz="2400" dirty="0">
                <a:latin typeface="Chalkboard"/>
              </a:rPr>
              <a:t>n</a:t>
            </a:r>
            <a:r>
              <a:rPr lang="en-US" sz="2400" baseline="-25000" dirty="0">
                <a:latin typeface="Chalkboard"/>
              </a:rPr>
              <a:t>1 </a:t>
            </a:r>
            <a:r>
              <a:rPr lang="en-US" sz="2400" dirty="0">
                <a:latin typeface="Chalkboard"/>
              </a:rPr>
              <a:t>+</a:t>
            </a:r>
            <a:r>
              <a:rPr lang="en-US" sz="2400" baseline="-25000" dirty="0">
                <a:latin typeface="Chalkboard"/>
              </a:rPr>
              <a:t> </a:t>
            </a:r>
            <a:r>
              <a:rPr lang="en-US" sz="2400" dirty="0">
                <a:latin typeface="Chalkboard"/>
              </a:rPr>
              <a:t>l</a:t>
            </a:r>
            <a:r>
              <a:rPr lang="en-US" sz="2400" baseline="-25000" dirty="0">
                <a:latin typeface="Chalkboard"/>
              </a:rPr>
              <a:t>2</a:t>
            </a:r>
            <a:r>
              <a:rPr lang="en-US" sz="2400" dirty="0">
                <a:latin typeface="Chalkboard"/>
              </a:rPr>
              <a:t>n</a:t>
            </a:r>
            <a:r>
              <a:rPr lang="en-US" sz="2400" baseline="-25000" dirty="0">
                <a:latin typeface="Chalkboard"/>
              </a:rPr>
              <a:t>2 </a:t>
            </a:r>
            <a:r>
              <a:rPr lang="en-US" sz="2400" dirty="0">
                <a:latin typeface="Chalkboard"/>
              </a:rPr>
              <a:t>+ … + </a:t>
            </a:r>
            <a:r>
              <a:rPr lang="en-US" sz="2400" baseline="-25000" dirty="0">
                <a:latin typeface="Chalkboard"/>
              </a:rPr>
              <a:t> </a:t>
            </a:r>
            <a:r>
              <a:rPr lang="en-US" sz="2400" dirty="0" err="1">
                <a:latin typeface="Chalkboard"/>
              </a:rPr>
              <a:t>l</a:t>
            </a:r>
            <a:r>
              <a:rPr lang="en-US" sz="2400" baseline="-25000" dirty="0" err="1">
                <a:latin typeface="Chalkboard"/>
              </a:rPr>
              <a:t>n</a:t>
            </a:r>
            <a:r>
              <a:rPr lang="en-US" sz="2400" dirty="0" err="1">
                <a:latin typeface="Chalkboard"/>
              </a:rPr>
              <a:t>n</a:t>
            </a:r>
            <a:r>
              <a:rPr lang="en-US" sz="2400" baseline="-25000" dirty="0" err="1">
                <a:latin typeface="Chalkboard"/>
              </a:rPr>
              <a:t>n</a:t>
            </a:r>
            <a:endParaRPr lang="en-US" sz="2400" baseline="-25000" dirty="0">
              <a:latin typeface="Chalkboard"/>
            </a:endParaRPr>
          </a:p>
          <a:p>
            <a:endParaRPr lang="en-US" sz="2400" baseline="-25000" dirty="0">
              <a:latin typeface="Chalkboard"/>
            </a:endParaRPr>
          </a:p>
        </p:txBody>
      </p:sp>
      <p:pic>
        <p:nvPicPr>
          <p:cNvPr id="4147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1219200"/>
            <a:ext cx="6883400" cy="218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4" name="Text Box 2"/>
          <p:cNvSpPr txBox="1">
            <a:spLocks noChangeArrowheads="1"/>
          </p:cNvSpPr>
          <p:nvPr/>
        </p:nvSpPr>
        <p:spPr bwMode="auto">
          <a:xfrm>
            <a:off x="995363" y="1362075"/>
            <a:ext cx="4989512" cy="406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>
              <a:lnSpc>
                <a:spcPct val="125000"/>
              </a:lnSpc>
            </a:pPr>
            <a:r>
              <a:rPr lang="en-US" altLang="en-US" sz="2000" b="0">
                <a:solidFill>
                  <a:schemeClr val="tx2"/>
                </a:solidFill>
                <a:latin typeface="Chalkboard" charset="0"/>
              </a:rPr>
              <a:t>Design compromises</a:t>
            </a:r>
          </a:p>
          <a:p>
            <a:pPr eaLnBrk="0" hangingPunct="0">
              <a:lnSpc>
                <a:spcPct val="125000"/>
              </a:lnSpc>
            </a:pPr>
            <a:r>
              <a:rPr lang="en-US" altLang="en-US" sz="2000" b="0">
                <a:solidFill>
                  <a:schemeClr val="tx2"/>
                </a:solidFill>
                <a:latin typeface="Chalkboard" charset="0"/>
              </a:rPr>
              <a:t>Manufacturing tolerances</a:t>
            </a:r>
          </a:p>
          <a:p>
            <a:pPr eaLnBrk="0" hangingPunct="0">
              <a:lnSpc>
                <a:spcPct val="125000"/>
              </a:lnSpc>
            </a:pPr>
            <a:endParaRPr lang="en-US" altLang="en-US" sz="2000" b="0">
              <a:solidFill>
                <a:schemeClr val="tx2"/>
              </a:solidFill>
              <a:latin typeface="Chalkboard" charset="0"/>
            </a:endParaRPr>
          </a:p>
          <a:p>
            <a:pPr eaLnBrk="0" hangingPunct="0">
              <a:lnSpc>
                <a:spcPct val="125000"/>
              </a:lnSpc>
            </a:pPr>
            <a:r>
              <a:rPr lang="en-US" altLang="en-US" sz="2000" b="0">
                <a:solidFill>
                  <a:schemeClr val="tx2"/>
                </a:solidFill>
                <a:latin typeface="Chalkboard" charset="0"/>
              </a:rPr>
              <a:t>Immersion fluid index error</a:t>
            </a:r>
          </a:p>
          <a:p>
            <a:pPr eaLnBrk="0" hangingPunct="0">
              <a:lnSpc>
                <a:spcPct val="125000"/>
              </a:lnSpc>
            </a:pPr>
            <a:r>
              <a:rPr lang="en-US" altLang="en-US" sz="2000" b="0">
                <a:solidFill>
                  <a:schemeClr val="tx2"/>
                </a:solidFill>
                <a:latin typeface="Chalkboard" charset="0"/>
              </a:rPr>
              <a:t>Temperature variation</a:t>
            </a:r>
          </a:p>
          <a:p>
            <a:pPr eaLnBrk="0" hangingPunct="0">
              <a:lnSpc>
                <a:spcPct val="125000"/>
              </a:lnSpc>
            </a:pPr>
            <a:r>
              <a:rPr lang="en-US" altLang="en-US" sz="2000" b="0">
                <a:solidFill>
                  <a:schemeClr val="tx2"/>
                </a:solidFill>
                <a:latin typeface="Chalkboard" charset="0"/>
              </a:rPr>
              <a:t>Cover slip thickness</a:t>
            </a:r>
          </a:p>
          <a:p>
            <a:pPr lvl="1" eaLnBrk="0" hangingPunct="0">
              <a:lnSpc>
                <a:spcPct val="125000"/>
              </a:lnSpc>
            </a:pPr>
            <a:r>
              <a:rPr lang="en-US" altLang="en-US" sz="1800" b="0">
                <a:solidFill>
                  <a:schemeClr val="tx2"/>
                </a:solidFill>
                <a:latin typeface="Chalkboard" charset="0"/>
              </a:rPr>
              <a:t>(high-NA objectives except oil immersion)</a:t>
            </a:r>
            <a:endParaRPr lang="en-US" altLang="en-US" sz="2000" b="0">
              <a:solidFill>
                <a:schemeClr val="tx2"/>
              </a:solidFill>
              <a:latin typeface="Chalkboard" charset="0"/>
            </a:endParaRPr>
          </a:p>
          <a:p>
            <a:pPr eaLnBrk="0" hangingPunct="0">
              <a:lnSpc>
                <a:spcPct val="125000"/>
              </a:lnSpc>
            </a:pPr>
            <a:r>
              <a:rPr lang="en-US" altLang="en-US" sz="2000" b="0">
                <a:solidFill>
                  <a:schemeClr val="tx2"/>
                </a:solidFill>
                <a:latin typeface="Chalkboard" charset="0"/>
              </a:rPr>
              <a:t>Correction collar setting</a:t>
            </a:r>
          </a:p>
          <a:p>
            <a:pPr eaLnBrk="0" hangingPunct="0">
              <a:lnSpc>
                <a:spcPct val="125000"/>
              </a:lnSpc>
            </a:pPr>
            <a:endParaRPr lang="en-US" altLang="en-US" sz="2000" b="0">
              <a:solidFill>
                <a:schemeClr val="tx2"/>
              </a:solidFill>
              <a:latin typeface="Chalkboard" charset="0"/>
            </a:endParaRPr>
          </a:p>
          <a:p>
            <a:pPr eaLnBrk="0" hangingPunct="0">
              <a:lnSpc>
                <a:spcPct val="125000"/>
              </a:lnSpc>
            </a:pPr>
            <a:r>
              <a:rPr lang="en-US" altLang="en-US" sz="2000" i="1">
                <a:solidFill>
                  <a:schemeClr val="tx2"/>
                </a:solidFill>
                <a:latin typeface="Chalkboard" charset="0"/>
              </a:rPr>
              <a:t>Sample refractive index mismatch</a:t>
            </a:r>
          </a:p>
        </p:txBody>
      </p:sp>
      <p:sp>
        <p:nvSpPr>
          <p:cNvPr id="520195" name="Text Box 3"/>
          <p:cNvSpPr txBox="1">
            <a:spLocks noChangeArrowheads="1"/>
          </p:cNvSpPr>
          <p:nvPr/>
        </p:nvSpPr>
        <p:spPr bwMode="auto">
          <a:xfrm>
            <a:off x="1879600" y="109538"/>
            <a:ext cx="5411788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Sources of Spherical Aberration</a:t>
            </a:r>
          </a:p>
        </p:txBody>
      </p:sp>
      <p:grpSp>
        <p:nvGrpSpPr>
          <p:cNvPr id="520196" name="Group 4"/>
          <p:cNvGrpSpPr>
            <a:grpSpLocks/>
          </p:cNvGrpSpPr>
          <p:nvPr/>
        </p:nvGrpSpPr>
        <p:grpSpPr bwMode="auto">
          <a:xfrm>
            <a:off x="6321425" y="2338388"/>
            <a:ext cx="2451100" cy="3009900"/>
            <a:chOff x="4095" y="1166"/>
            <a:chExt cx="1544" cy="1896"/>
          </a:xfrm>
        </p:grpSpPr>
        <p:pic>
          <p:nvPicPr>
            <p:cNvPr id="520197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 l="51840"/>
            <a:stretch>
              <a:fillRect/>
            </a:stretch>
          </p:blipFill>
          <p:spPr bwMode="auto">
            <a:xfrm>
              <a:off x="4194" y="1207"/>
              <a:ext cx="1445" cy="1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20198" name="Rectangle 6"/>
            <p:cNvSpPr>
              <a:spLocks noChangeArrowheads="1"/>
            </p:cNvSpPr>
            <p:nvPr/>
          </p:nvSpPr>
          <p:spPr bwMode="auto">
            <a:xfrm>
              <a:off x="4095" y="2859"/>
              <a:ext cx="235" cy="20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199" name="Rectangle 7"/>
            <p:cNvSpPr>
              <a:spLocks noChangeArrowheads="1"/>
            </p:cNvSpPr>
            <p:nvPr/>
          </p:nvSpPr>
          <p:spPr bwMode="auto">
            <a:xfrm>
              <a:off x="4272" y="1166"/>
              <a:ext cx="656" cy="24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Freeform 2"/>
          <p:cNvSpPr>
            <a:spLocks/>
          </p:cNvSpPr>
          <p:nvPr/>
        </p:nvSpPr>
        <p:spPr bwMode="auto">
          <a:xfrm>
            <a:off x="482600" y="3421063"/>
            <a:ext cx="2870200" cy="6175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736" y="0"/>
              </a:cxn>
              <a:cxn ang="0">
                <a:pos x="2736" y="240"/>
              </a:cxn>
              <a:cxn ang="0">
                <a:pos x="0" y="240"/>
              </a:cxn>
              <a:cxn ang="0">
                <a:pos x="0" y="0"/>
              </a:cxn>
            </a:cxnLst>
            <a:rect l="0" t="0" r="r" b="b"/>
            <a:pathLst>
              <a:path w="2736" h="240">
                <a:moveTo>
                  <a:pt x="0" y="0"/>
                </a:moveTo>
                <a:cubicBezTo>
                  <a:pt x="1368" y="0"/>
                  <a:pt x="2736" y="0"/>
                  <a:pt x="2736" y="0"/>
                </a:cubicBezTo>
                <a:cubicBezTo>
                  <a:pt x="2656" y="117"/>
                  <a:pt x="2709" y="165"/>
                  <a:pt x="2736" y="240"/>
                </a:cubicBezTo>
                <a:cubicBezTo>
                  <a:pt x="2736" y="240"/>
                  <a:pt x="1368" y="240"/>
                  <a:pt x="0" y="240"/>
                </a:cubicBezTo>
                <a:cubicBezTo>
                  <a:pt x="43" y="133"/>
                  <a:pt x="37" y="69"/>
                  <a:pt x="0" y="0"/>
                </a:cubicBezTo>
                <a:close/>
              </a:path>
            </a:pathLst>
          </a:custGeom>
          <a:solidFill>
            <a:srgbClr val="C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43" name="Freeform 3"/>
          <p:cNvSpPr>
            <a:spLocks/>
          </p:cNvSpPr>
          <p:nvPr/>
        </p:nvSpPr>
        <p:spPr bwMode="auto">
          <a:xfrm>
            <a:off x="152400" y="2481263"/>
            <a:ext cx="3675063" cy="947737"/>
          </a:xfrm>
          <a:custGeom>
            <a:avLst/>
            <a:gdLst/>
            <a:ahLst/>
            <a:cxnLst>
              <a:cxn ang="0">
                <a:pos x="2949" y="955"/>
              </a:cxn>
              <a:cxn ang="0">
                <a:pos x="0" y="955"/>
              </a:cxn>
              <a:cxn ang="0">
                <a:pos x="2949" y="955"/>
              </a:cxn>
            </a:cxnLst>
            <a:rect l="0" t="0" r="r" b="b"/>
            <a:pathLst>
              <a:path w="2949" h="955">
                <a:moveTo>
                  <a:pt x="2949" y="955"/>
                </a:moveTo>
                <a:cubicBezTo>
                  <a:pt x="1755" y="0"/>
                  <a:pt x="671" y="324"/>
                  <a:pt x="0" y="955"/>
                </a:cubicBezTo>
                <a:cubicBezTo>
                  <a:pt x="0" y="955"/>
                  <a:pt x="2949" y="955"/>
                  <a:pt x="2949" y="955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244" name="Freeform 4"/>
          <p:cNvSpPr>
            <a:spLocks/>
          </p:cNvSpPr>
          <p:nvPr/>
        </p:nvSpPr>
        <p:spPr bwMode="auto">
          <a:xfrm>
            <a:off x="160338" y="4241800"/>
            <a:ext cx="3852862" cy="1111250"/>
          </a:xfrm>
          <a:custGeom>
            <a:avLst/>
            <a:gdLst/>
            <a:ahLst/>
            <a:cxnLst>
              <a:cxn ang="0">
                <a:pos x="40" y="59"/>
              </a:cxn>
              <a:cxn ang="0">
                <a:pos x="2270" y="59"/>
              </a:cxn>
              <a:cxn ang="0">
                <a:pos x="2251" y="416"/>
              </a:cxn>
              <a:cxn ang="0">
                <a:pos x="2299" y="700"/>
              </a:cxn>
              <a:cxn ang="0">
                <a:pos x="40" y="700"/>
              </a:cxn>
              <a:cxn ang="0">
                <a:pos x="70" y="444"/>
              </a:cxn>
              <a:cxn ang="0">
                <a:pos x="11" y="315"/>
              </a:cxn>
              <a:cxn ang="0">
                <a:pos x="70" y="187"/>
              </a:cxn>
              <a:cxn ang="0">
                <a:pos x="40" y="59"/>
              </a:cxn>
            </a:cxnLst>
            <a:rect l="0" t="0" r="r" b="b"/>
            <a:pathLst>
              <a:path w="2427" h="700">
                <a:moveTo>
                  <a:pt x="40" y="59"/>
                </a:moveTo>
                <a:cubicBezTo>
                  <a:pt x="40" y="59"/>
                  <a:pt x="1902" y="0"/>
                  <a:pt x="2270" y="59"/>
                </a:cubicBezTo>
                <a:cubicBezTo>
                  <a:pt x="2427" y="384"/>
                  <a:pt x="2256" y="262"/>
                  <a:pt x="2251" y="416"/>
                </a:cubicBezTo>
                <a:cubicBezTo>
                  <a:pt x="2246" y="570"/>
                  <a:pt x="2331" y="549"/>
                  <a:pt x="2299" y="700"/>
                </a:cubicBezTo>
                <a:cubicBezTo>
                  <a:pt x="2299" y="700"/>
                  <a:pt x="1169" y="700"/>
                  <a:pt x="40" y="700"/>
                </a:cubicBezTo>
                <a:cubicBezTo>
                  <a:pt x="0" y="539"/>
                  <a:pt x="75" y="508"/>
                  <a:pt x="70" y="444"/>
                </a:cubicBezTo>
                <a:cubicBezTo>
                  <a:pt x="65" y="380"/>
                  <a:pt x="11" y="358"/>
                  <a:pt x="11" y="315"/>
                </a:cubicBezTo>
                <a:cubicBezTo>
                  <a:pt x="11" y="272"/>
                  <a:pt x="65" y="230"/>
                  <a:pt x="70" y="187"/>
                </a:cubicBezTo>
                <a:cubicBezTo>
                  <a:pt x="75" y="144"/>
                  <a:pt x="46" y="86"/>
                  <a:pt x="40" y="59"/>
                </a:cubicBezTo>
                <a:close/>
              </a:path>
            </a:pathLst>
          </a:custGeom>
          <a:solidFill>
            <a:srgbClr val="E3CFB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45" name="Rectangle 5"/>
          <p:cNvSpPr>
            <a:spLocks noChangeArrowheads="1"/>
          </p:cNvSpPr>
          <p:nvPr/>
        </p:nvSpPr>
        <p:spPr bwMode="auto">
          <a:xfrm>
            <a:off x="152400" y="4038600"/>
            <a:ext cx="3733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22246" name="Group 6"/>
          <p:cNvGrpSpPr>
            <a:grpSpLocks/>
          </p:cNvGrpSpPr>
          <p:nvPr/>
        </p:nvGrpSpPr>
        <p:grpSpPr bwMode="auto">
          <a:xfrm>
            <a:off x="685800" y="1600200"/>
            <a:ext cx="1219200" cy="2743200"/>
            <a:chOff x="672" y="1008"/>
            <a:chExt cx="768" cy="1728"/>
          </a:xfrm>
        </p:grpSpPr>
        <p:sp>
          <p:nvSpPr>
            <p:cNvPr id="522247" name="Freeform 7"/>
            <p:cNvSpPr>
              <a:spLocks/>
            </p:cNvSpPr>
            <p:nvPr/>
          </p:nvSpPr>
          <p:spPr bwMode="auto">
            <a:xfrm>
              <a:off x="672" y="1008"/>
              <a:ext cx="768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48" name="Freeform 8"/>
            <p:cNvSpPr>
              <a:spLocks/>
            </p:cNvSpPr>
            <p:nvPr/>
          </p:nvSpPr>
          <p:spPr bwMode="auto">
            <a:xfrm>
              <a:off x="1248" y="1008"/>
              <a:ext cx="192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49" name="Freeform 9"/>
            <p:cNvSpPr>
              <a:spLocks/>
            </p:cNvSpPr>
            <p:nvPr/>
          </p:nvSpPr>
          <p:spPr bwMode="auto">
            <a:xfrm>
              <a:off x="1056" y="1008"/>
              <a:ext cx="384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50" name="Freeform 10"/>
            <p:cNvSpPr>
              <a:spLocks/>
            </p:cNvSpPr>
            <p:nvPr/>
          </p:nvSpPr>
          <p:spPr bwMode="auto">
            <a:xfrm>
              <a:off x="864" y="1008"/>
              <a:ext cx="576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22251" name="Line 11"/>
          <p:cNvSpPr>
            <a:spLocks noChangeShapeType="1"/>
          </p:cNvSpPr>
          <p:nvPr/>
        </p:nvSpPr>
        <p:spPr bwMode="auto">
          <a:xfrm flipV="1">
            <a:off x="1905000" y="1600200"/>
            <a:ext cx="0" cy="2743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22252" name="Group 12"/>
          <p:cNvGrpSpPr>
            <a:grpSpLocks/>
          </p:cNvGrpSpPr>
          <p:nvPr/>
        </p:nvGrpSpPr>
        <p:grpSpPr bwMode="auto">
          <a:xfrm flipH="1">
            <a:off x="1905000" y="1600200"/>
            <a:ext cx="1219200" cy="2743200"/>
            <a:chOff x="672" y="1008"/>
            <a:chExt cx="768" cy="1728"/>
          </a:xfrm>
        </p:grpSpPr>
        <p:sp>
          <p:nvSpPr>
            <p:cNvPr id="522253" name="Freeform 13"/>
            <p:cNvSpPr>
              <a:spLocks/>
            </p:cNvSpPr>
            <p:nvPr/>
          </p:nvSpPr>
          <p:spPr bwMode="auto">
            <a:xfrm>
              <a:off x="672" y="1008"/>
              <a:ext cx="768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54" name="Freeform 14"/>
            <p:cNvSpPr>
              <a:spLocks/>
            </p:cNvSpPr>
            <p:nvPr/>
          </p:nvSpPr>
          <p:spPr bwMode="auto">
            <a:xfrm>
              <a:off x="1248" y="1008"/>
              <a:ext cx="192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55" name="Freeform 15"/>
            <p:cNvSpPr>
              <a:spLocks/>
            </p:cNvSpPr>
            <p:nvPr/>
          </p:nvSpPr>
          <p:spPr bwMode="auto">
            <a:xfrm>
              <a:off x="1056" y="1008"/>
              <a:ext cx="384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56" name="Freeform 16"/>
            <p:cNvSpPr>
              <a:spLocks/>
            </p:cNvSpPr>
            <p:nvPr/>
          </p:nvSpPr>
          <p:spPr bwMode="auto">
            <a:xfrm>
              <a:off x="864" y="1008"/>
              <a:ext cx="576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22257" name="Text Box 17"/>
          <p:cNvSpPr txBox="1">
            <a:spLocks noChangeArrowheads="1"/>
          </p:cNvSpPr>
          <p:nvPr/>
        </p:nvSpPr>
        <p:spPr bwMode="auto">
          <a:xfrm>
            <a:off x="2620963" y="152400"/>
            <a:ext cx="3948112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Index Mismatch</a:t>
            </a:r>
          </a:p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&amp; Spherical Aberration</a:t>
            </a:r>
          </a:p>
        </p:txBody>
      </p:sp>
      <p:sp>
        <p:nvSpPr>
          <p:cNvPr id="522258" name="Freeform 18"/>
          <p:cNvSpPr>
            <a:spLocks/>
          </p:cNvSpPr>
          <p:nvPr/>
        </p:nvSpPr>
        <p:spPr bwMode="auto">
          <a:xfrm>
            <a:off x="5308600" y="3421063"/>
            <a:ext cx="3716338" cy="312737"/>
          </a:xfrm>
          <a:custGeom>
            <a:avLst/>
            <a:gdLst/>
            <a:ahLst/>
            <a:cxnLst>
              <a:cxn ang="0">
                <a:pos x="37" y="0"/>
              </a:cxn>
              <a:cxn ang="0">
                <a:pos x="2293" y="0"/>
              </a:cxn>
              <a:cxn ang="0">
                <a:pos x="2293" y="197"/>
              </a:cxn>
              <a:cxn ang="0">
                <a:pos x="37" y="197"/>
              </a:cxn>
              <a:cxn ang="0">
                <a:pos x="37" y="0"/>
              </a:cxn>
            </a:cxnLst>
            <a:rect l="0" t="0" r="r" b="b"/>
            <a:pathLst>
              <a:path w="2341" h="197">
                <a:moveTo>
                  <a:pt x="37" y="0"/>
                </a:moveTo>
                <a:cubicBezTo>
                  <a:pt x="1165" y="0"/>
                  <a:pt x="2293" y="0"/>
                  <a:pt x="2293" y="0"/>
                </a:cubicBezTo>
                <a:cubicBezTo>
                  <a:pt x="2330" y="90"/>
                  <a:pt x="2341" y="117"/>
                  <a:pt x="2293" y="197"/>
                </a:cubicBezTo>
                <a:cubicBezTo>
                  <a:pt x="2293" y="197"/>
                  <a:pt x="1165" y="197"/>
                  <a:pt x="37" y="197"/>
                </a:cubicBezTo>
                <a:cubicBezTo>
                  <a:pt x="0" y="101"/>
                  <a:pt x="0" y="64"/>
                  <a:pt x="37" y="0"/>
                </a:cubicBezTo>
                <a:close/>
              </a:path>
            </a:pathLst>
          </a:custGeom>
          <a:solidFill>
            <a:srgbClr val="C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59" name="Freeform 19"/>
          <p:cNvSpPr>
            <a:spLocks/>
          </p:cNvSpPr>
          <p:nvPr/>
        </p:nvSpPr>
        <p:spPr bwMode="auto">
          <a:xfrm>
            <a:off x="5291138" y="2481263"/>
            <a:ext cx="3675062" cy="947737"/>
          </a:xfrm>
          <a:custGeom>
            <a:avLst/>
            <a:gdLst/>
            <a:ahLst/>
            <a:cxnLst>
              <a:cxn ang="0">
                <a:pos x="2949" y="955"/>
              </a:cxn>
              <a:cxn ang="0">
                <a:pos x="0" y="955"/>
              </a:cxn>
              <a:cxn ang="0">
                <a:pos x="2949" y="955"/>
              </a:cxn>
            </a:cxnLst>
            <a:rect l="0" t="0" r="r" b="b"/>
            <a:pathLst>
              <a:path w="2949" h="955">
                <a:moveTo>
                  <a:pt x="2949" y="955"/>
                </a:moveTo>
                <a:cubicBezTo>
                  <a:pt x="1755" y="0"/>
                  <a:pt x="671" y="324"/>
                  <a:pt x="0" y="955"/>
                </a:cubicBezTo>
                <a:cubicBezTo>
                  <a:pt x="0" y="955"/>
                  <a:pt x="2949" y="955"/>
                  <a:pt x="2949" y="955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260" name="Freeform 20"/>
          <p:cNvSpPr>
            <a:spLocks/>
          </p:cNvSpPr>
          <p:nvPr/>
        </p:nvSpPr>
        <p:spPr bwMode="auto">
          <a:xfrm>
            <a:off x="5291138" y="3886200"/>
            <a:ext cx="3852862" cy="1111250"/>
          </a:xfrm>
          <a:custGeom>
            <a:avLst/>
            <a:gdLst/>
            <a:ahLst/>
            <a:cxnLst>
              <a:cxn ang="0">
                <a:pos x="40" y="59"/>
              </a:cxn>
              <a:cxn ang="0">
                <a:pos x="2270" y="59"/>
              </a:cxn>
              <a:cxn ang="0">
                <a:pos x="2251" y="416"/>
              </a:cxn>
              <a:cxn ang="0">
                <a:pos x="2299" y="700"/>
              </a:cxn>
              <a:cxn ang="0">
                <a:pos x="40" y="700"/>
              </a:cxn>
              <a:cxn ang="0">
                <a:pos x="70" y="444"/>
              </a:cxn>
              <a:cxn ang="0">
                <a:pos x="11" y="315"/>
              </a:cxn>
              <a:cxn ang="0">
                <a:pos x="70" y="187"/>
              </a:cxn>
              <a:cxn ang="0">
                <a:pos x="40" y="59"/>
              </a:cxn>
            </a:cxnLst>
            <a:rect l="0" t="0" r="r" b="b"/>
            <a:pathLst>
              <a:path w="2427" h="700">
                <a:moveTo>
                  <a:pt x="40" y="59"/>
                </a:moveTo>
                <a:cubicBezTo>
                  <a:pt x="40" y="59"/>
                  <a:pt x="1902" y="0"/>
                  <a:pt x="2270" y="59"/>
                </a:cubicBezTo>
                <a:cubicBezTo>
                  <a:pt x="2427" y="384"/>
                  <a:pt x="2256" y="262"/>
                  <a:pt x="2251" y="416"/>
                </a:cubicBezTo>
                <a:cubicBezTo>
                  <a:pt x="2246" y="570"/>
                  <a:pt x="2331" y="549"/>
                  <a:pt x="2299" y="700"/>
                </a:cubicBezTo>
                <a:cubicBezTo>
                  <a:pt x="2299" y="700"/>
                  <a:pt x="1169" y="700"/>
                  <a:pt x="40" y="700"/>
                </a:cubicBezTo>
                <a:cubicBezTo>
                  <a:pt x="0" y="539"/>
                  <a:pt x="75" y="508"/>
                  <a:pt x="70" y="444"/>
                </a:cubicBezTo>
                <a:cubicBezTo>
                  <a:pt x="65" y="380"/>
                  <a:pt x="11" y="358"/>
                  <a:pt x="11" y="315"/>
                </a:cubicBezTo>
                <a:cubicBezTo>
                  <a:pt x="11" y="272"/>
                  <a:pt x="65" y="230"/>
                  <a:pt x="70" y="187"/>
                </a:cubicBezTo>
                <a:cubicBezTo>
                  <a:pt x="75" y="144"/>
                  <a:pt x="46" y="86"/>
                  <a:pt x="40" y="59"/>
                </a:cubicBezTo>
                <a:close/>
              </a:path>
            </a:pathLst>
          </a:custGeom>
          <a:solidFill>
            <a:srgbClr val="E3CFB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1" name="Rectangle 21"/>
          <p:cNvSpPr>
            <a:spLocks noChangeArrowheads="1"/>
          </p:cNvSpPr>
          <p:nvPr/>
        </p:nvSpPr>
        <p:spPr bwMode="auto">
          <a:xfrm>
            <a:off x="5291138" y="3733800"/>
            <a:ext cx="3733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2" name="Freeform 22"/>
          <p:cNvSpPr>
            <a:spLocks/>
          </p:cNvSpPr>
          <p:nvPr/>
        </p:nvSpPr>
        <p:spPr bwMode="auto">
          <a:xfrm>
            <a:off x="5824538" y="1600200"/>
            <a:ext cx="1643062" cy="2649538"/>
          </a:xfrm>
          <a:custGeom>
            <a:avLst/>
            <a:gdLst/>
            <a:ahLst/>
            <a:cxnLst>
              <a:cxn ang="0">
                <a:pos x="1035" y="1669"/>
              </a:cxn>
              <a:cxn ang="0">
                <a:pos x="543" y="1531"/>
              </a:cxn>
              <a:cxn ang="0">
                <a:pos x="0" y="1056"/>
              </a:cxn>
              <a:cxn ang="0">
                <a:pos x="0" y="0"/>
              </a:cxn>
            </a:cxnLst>
            <a:rect l="0" t="0" r="r" b="b"/>
            <a:pathLst>
              <a:path w="1035" h="1669">
                <a:moveTo>
                  <a:pt x="1035" y="1669"/>
                </a:moveTo>
                <a:lnTo>
                  <a:pt x="543" y="1531"/>
                </a:lnTo>
                <a:lnTo>
                  <a:pt x="0" y="105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3" name="Freeform 23"/>
          <p:cNvSpPr>
            <a:spLocks/>
          </p:cNvSpPr>
          <p:nvPr/>
        </p:nvSpPr>
        <p:spPr bwMode="auto">
          <a:xfrm>
            <a:off x="6738938" y="1600200"/>
            <a:ext cx="330200" cy="2743200"/>
          </a:xfrm>
          <a:custGeom>
            <a:avLst/>
            <a:gdLst/>
            <a:ahLst/>
            <a:cxnLst>
              <a:cxn ang="0">
                <a:pos x="208" y="1728"/>
              </a:cxn>
              <a:cxn ang="0">
                <a:pos x="135" y="1530"/>
              </a:cxn>
              <a:cxn ang="0">
                <a:pos x="0" y="1056"/>
              </a:cxn>
              <a:cxn ang="0">
                <a:pos x="0" y="0"/>
              </a:cxn>
            </a:cxnLst>
            <a:rect l="0" t="0" r="r" b="b"/>
            <a:pathLst>
              <a:path w="208" h="1728">
                <a:moveTo>
                  <a:pt x="208" y="1728"/>
                </a:moveTo>
                <a:lnTo>
                  <a:pt x="135" y="1530"/>
                </a:lnTo>
                <a:lnTo>
                  <a:pt x="0" y="105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4" name="Freeform 24"/>
          <p:cNvSpPr>
            <a:spLocks/>
          </p:cNvSpPr>
          <p:nvPr/>
        </p:nvSpPr>
        <p:spPr bwMode="auto">
          <a:xfrm>
            <a:off x="6434138" y="1600200"/>
            <a:ext cx="693737" cy="2725738"/>
          </a:xfrm>
          <a:custGeom>
            <a:avLst/>
            <a:gdLst/>
            <a:ahLst/>
            <a:cxnLst>
              <a:cxn ang="0">
                <a:pos x="437" y="1717"/>
              </a:cxn>
              <a:cxn ang="0">
                <a:pos x="271" y="1531"/>
              </a:cxn>
              <a:cxn ang="0">
                <a:pos x="0" y="1056"/>
              </a:cxn>
              <a:cxn ang="0">
                <a:pos x="0" y="0"/>
              </a:cxn>
            </a:cxnLst>
            <a:rect l="0" t="0" r="r" b="b"/>
            <a:pathLst>
              <a:path w="437" h="1717">
                <a:moveTo>
                  <a:pt x="437" y="1717"/>
                </a:moveTo>
                <a:lnTo>
                  <a:pt x="271" y="1531"/>
                </a:lnTo>
                <a:lnTo>
                  <a:pt x="0" y="105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5" name="Freeform 25"/>
          <p:cNvSpPr>
            <a:spLocks/>
          </p:cNvSpPr>
          <p:nvPr/>
        </p:nvSpPr>
        <p:spPr bwMode="auto">
          <a:xfrm>
            <a:off x="6129338" y="1600200"/>
            <a:ext cx="1125537" cy="2725738"/>
          </a:xfrm>
          <a:custGeom>
            <a:avLst/>
            <a:gdLst/>
            <a:ahLst/>
            <a:cxnLst>
              <a:cxn ang="0">
                <a:pos x="709" y="1717"/>
              </a:cxn>
              <a:cxn ang="0">
                <a:pos x="408" y="1532"/>
              </a:cxn>
              <a:cxn ang="0">
                <a:pos x="0" y="1056"/>
              </a:cxn>
              <a:cxn ang="0">
                <a:pos x="0" y="0"/>
              </a:cxn>
            </a:cxnLst>
            <a:rect l="0" t="0" r="r" b="b"/>
            <a:pathLst>
              <a:path w="709" h="1717">
                <a:moveTo>
                  <a:pt x="709" y="1717"/>
                </a:moveTo>
                <a:lnTo>
                  <a:pt x="408" y="1532"/>
                </a:lnTo>
                <a:lnTo>
                  <a:pt x="0" y="105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6" name="Line 26"/>
          <p:cNvSpPr>
            <a:spLocks noChangeShapeType="1"/>
          </p:cNvSpPr>
          <p:nvPr/>
        </p:nvSpPr>
        <p:spPr bwMode="auto">
          <a:xfrm flipV="1">
            <a:off x="7043738" y="1600200"/>
            <a:ext cx="0" cy="2743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7" name="Freeform 27"/>
          <p:cNvSpPr>
            <a:spLocks/>
          </p:cNvSpPr>
          <p:nvPr/>
        </p:nvSpPr>
        <p:spPr bwMode="auto">
          <a:xfrm>
            <a:off x="6670675" y="1600200"/>
            <a:ext cx="1592263" cy="2633663"/>
          </a:xfrm>
          <a:custGeom>
            <a:avLst/>
            <a:gdLst/>
            <a:ahLst/>
            <a:cxnLst>
              <a:cxn ang="0">
                <a:pos x="0" y="1659"/>
              </a:cxn>
              <a:cxn ang="0">
                <a:pos x="456" y="1534"/>
              </a:cxn>
              <a:cxn ang="0">
                <a:pos x="1003" y="1056"/>
              </a:cxn>
              <a:cxn ang="0">
                <a:pos x="1003" y="0"/>
              </a:cxn>
            </a:cxnLst>
            <a:rect l="0" t="0" r="r" b="b"/>
            <a:pathLst>
              <a:path w="1003" h="1659">
                <a:moveTo>
                  <a:pt x="0" y="1659"/>
                </a:moveTo>
                <a:lnTo>
                  <a:pt x="456" y="1534"/>
                </a:lnTo>
                <a:lnTo>
                  <a:pt x="1003" y="1056"/>
                </a:lnTo>
                <a:lnTo>
                  <a:pt x="1003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8" name="Freeform 28"/>
          <p:cNvSpPr>
            <a:spLocks/>
          </p:cNvSpPr>
          <p:nvPr/>
        </p:nvSpPr>
        <p:spPr bwMode="auto">
          <a:xfrm>
            <a:off x="7018338" y="1600200"/>
            <a:ext cx="330200" cy="2760663"/>
          </a:xfrm>
          <a:custGeom>
            <a:avLst/>
            <a:gdLst/>
            <a:ahLst/>
            <a:cxnLst>
              <a:cxn ang="0">
                <a:pos x="0" y="1739"/>
              </a:cxn>
              <a:cxn ang="0">
                <a:pos x="72" y="1531"/>
              </a:cxn>
              <a:cxn ang="0">
                <a:pos x="208" y="1056"/>
              </a:cxn>
              <a:cxn ang="0">
                <a:pos x="208" y="0"/>
              </a:cxn>
            </a:cxnLst>
            <a:rect l="0" t="0" r="r" b="b"/>
            <a:pathLst>
              <a:path w="208" h="1739">
                <a:moveTo>
                  <a:pt x="0" y="1739"/>
                </a:moveTo>
                <a:lnTo>
                  <a:pt x="72" y="1531"/>
                </a:lnTo>
                <a:lnTo>
                  <a:pt x="208" y="1056"/>
                </a:lnTo>
                <a:lnTo>
                  <a:pt x="208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9" name="Freeform 29"/>
          <p:cNvSpPr>
            <a:spLocks/>
          </p:cNvSpPr>
          <p:nvPr/>
        </p:nvSpPr>
        <p:spPr bwMode="auto">
          <a:xfrm>
            <a:off x="6950075" y="1600200"/>
            <a:ext cx="703263" cy="2735263"/>
          </a:xfrm>
          <a:custGeom>
            <a:avLst/>
            <a:gdLst/>
            <a:ahLst/>
            <a:cxnLst>
              <a:cxn ang="0">
                <a:pos x="0" y="1723"/>
              </a:cxn>
              <a:cxn ang="0">
                <a:pos x="171" y="1531"/>
              </a:cxn>
              <a:cxn ang="0">
                <a:pos x="443" y="1056"/>
              </a:cxn>
              <a:cxn ang="0">
                <a:pos x="443" y="0"/>
              </a:cxn>
            </a:cxnLst>
            <a:rect l="0" t="0" r="r" b="b"/>
            <a:pathLst>
              <a:path w="443" h="1723">
                <a:moveTo>
                  <a:pt x="0" y="1723"/>
                </a:moveTo>
                <a:lnTo>
                  <a:pt x="171" y="1531"/>
                </a:lnTo>
                <a:lnTo>
                  <a:pt x="443" y="1056"/>
                </a:lnTo>
                <a:lnTo>
                  <a:pt x="443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0" name="Freeform 30"/>
          <p:cNvSpPr>
            <a:spLocks/>
          </p:cNvSpPr>
          <p:nvPr/>
        </p:nvSpPr>
        <p:spPr bwMode="auto">
          <a:xfrm>
            <a:off x="6865938" y="1600200"/>
            <a:ext cx="1092200" cy="2692400"/>
          </a:xfrm>
          <a:custGeom>
            <a:avLst/>
            <a:gdLst/>
            <a:ahLst/>
            <a:cxnLst>
              <a:cxn ang="0">
                <a:pos x="0" y="1696"/>
              </a:cxn>
              <a:cxn ang="0">
                <a:pos x="276" y="1535"/>
              </a:cxn>
              <a:cxn ang="0">
                <a:pos x="688" y="1056"/>
              </a:cxn>
              <a:cxn ang="0">
                <a:pos x="688" y="0"/>
              </a:cxn>
            </a:cxnLst>
            <a:rect l="0" t="0" r="r" b="b"/>
            <a:pathLst>
              <a:path w="688" h="1696">
                <a:moveTo>
                  <a:pt x="0" y="1696"/>
                </a:moveTo>
                <a:lnTo>
                  <a:pt x="276" y="1535"/>
                </a:lnTo>
                <a:lnTo>
                  <a:pt x="688" y="1056"/>
                </a:lnTo>
                <a:lnTo>
                  <a:pt x="688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1" name="Text Box 31"/>
          <p:cNvSpPr txBox="1">
            <a:spLocks noChangeArrowheads="1"/>
          </p:cNvSpPr>
          <p:nvPr/>
        </p:nvSpPr>
        <p:spPr bwMode="auto">
          <a:xfrm>
            <a:off x="3886200" y="2911475"/>
            <a:ext cx="102870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objective</a:t>
            </a:r>
          </a:p>
        </p:txBody>
      </p:sp>
      <p:sp>
        <p:nvSpPr>
          <p:cNvPr id="522272" name="Text Box 32"/>
          <p:cNvSpPr txBox="1">
            <a:spLocks noChangeArrowheads="1"/>
          </p:cNvSpPr>
          <p:nvPr/>
        </p:nvSpPr>
        <p:spPr bwMode="auto">
          <a:xfrm>
            <a:off x="3868738" y="3430588"/>
            <a:ext cx="1108075" cy="52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Immersion</a:t>
            </a:r>
          </a:p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fluid</a:t>
            </a:r>
          </a:p>
        </p:txBody>
      </p:sp>
      <p:sp>
        <p:nvSpPr>
          <p:cNvPr id="522273" name="Text Box 33"/>
          <p:cNvSpPr txBox="1">
            <a:spLocks noChangeArrowheads="1"/>
          </p:cNvSpPr>
          <p:nvPr/>
        </p:nvSpPr>
        <p:spPr bwMode="auto">
          <a:xfrm>
            <a:off x="592138" y="3549650"/>
            <a:ext cx="376237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n</a:t>
            </a:r>
            <a:r>
              <a:rPr lang="en-US" altLang="en-US" sz="2000" b="0" baseline="-25000">
                <a:solidFill>
                  <a:schemeClr val="accent2"/>
                </a:solidFill>
                <a:latin typeface="Chalkboard" charset="0"/>
              </a:rPr>
              <a:t>1</a:t>
            </a:r>
            <a:endParaRPr lang="en-US" altLang="en-US" sz="20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22274" name="Text Box 34"/>
          <p:cNvSpPr txBox="1">
            <a:spLocks noChangeArrowheads="1"/>
          </p:cNvSpPr>
          <p:nvPr/>
        </p:nvSpPr>
        <p:spPr bwMode="auto">
          <a:xfrm>
            <a:off x="3990975" y="3962400"/>
            <a:ext cx="1227138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Cover glass</a:t>
            </a:r>
          </a:p>
        </p:txBody>
      </p:sp>
      <p:sp>
        <p:nvSpPr>
          <p:cNvPr id="522275" name="Line 35"/>
          <p:cNvSpPr>
            <a:spLocks noChangeShapeType="1"/>
          </p:cNvSpPr>
          <p:nvPr/>
        </p:nvSpPr>
        <p:spPr bwMode="auto">
          <a:xfrm flipV="1">
            <a:off x="3200400" y="3657600"/>
            <a:ext cx="6858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6" name="Line 36"/>
          <p:cNvSpPr>
            <a:spLocks noChangeShapeType="1"/>
          </p:cNvSpPr>
          <p:nvPr/>
        </p:nvSpPr>
        <p:spPr bwMode="auto">
          <a:xfrm flipH="1" flipV="1">
            <a:off x="4953000" y="3581400"/>
            <a:ext cx="381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7" name="Line 37"/>
          <p:cNvSpPr>
            <a:spLocks noChangeShapeType="1"/>
          </p:cNvSpPr>
          <p:nvPr/>
        </p:nvSpPr>
        <p:spPr bwMode="auto">
          <a:xfrm flipV="1">
            <a:off x="3454400" y="3124200"/>
            <a:ext cx="3810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8" name="Line 38"/>
          <p:cNvSpPr>
            <a:spLocks noChangeShapeType="1"/>
          </p:cNvSpPr>
          <p:nvPr/>
        </p:nvSpPr>
        <p:spPr bwMode="auto">
          <a:xfrm flipH="1" flipV="1">
            <a:off x="5029200" y="3124200"/>
            <a:ext cx="3810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9" name="Line 39"/>
          <p:cNvSpPr>
            <a:spLocks noChangeShapeType="1"/>
          </p:cNvSpPr>
          <p:nvPr/>
        </p:nvSpPr>
        <p:spPr bwMode="auto">
          <a:xfrm flipH="1">
            <a:off x="5105400" y="3886200"/>
            <a:ext cx="228600" cy="152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80" name="Line 40"/>
          <p:cNvSpPr>
            <a:spLocks noChangeShapeType="1"/>
          </p:cNvSpPr>
          <p:nvPr/>
        </p:nvSpPr>
        <p:spPr bwMode="auto">
          <a:xfrm flipH="1">
            <a:off x="3810000" y="4191000"/>
            <a:ext cx="2286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81" name="Line 41"/>
          <p:cNvSpPr>
            <a:spLocks noChangeShapeType="1"/>
          </p:cNvSpPr>
          <p:nvPr/>
        </p:nvSpPr>
        <p:spPr bwMode="auto">
          <a:xfrm flipV="1">
            <a:off x="3581400" y="4800600"/>
            <a:ext cx="6096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82" name="Line 42"/>
          <p:cNvSpPr>
            <a:spLocks noChangeShapeType="1"/>
          </p:cNvSpPr>
          <p:nvPr/>
        </p:nvSpPr>
        <p:spPr bwMode="auto">
          <a:xfrm flipV="1">
            <a:off x="4953000" y="4724400"/>
            <a:ext cx="6096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83" name="Text Box 43"/>
          <p:cNvSpPr txBox="1">
            <a:spLocks noChangeArrowheads="1"/>
          </p:cNvSpPr>
          <p:nvPr/>
        </p:nvSpPr>
        <p:spPr bwMode="auto">
          <a:xfrm>
            <a:off x="593725" y="4572000"/>
            <a:ext cx="407988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n</a:t>
            </a:r>
            <a:r>
              <a:rPr lang="en-US" altLang="en-US" sz="2000" b="0" baseline="-25000">
                <a:solidFill>
                  <a:schemeClr val="accent2"/>
                </a:solidFill>
                <a:latin typeface="Chalkboard" charset="0"/>
              </a:rPr>
              <a:t>2</a:t>
            </a:r>
            <a:endParaRPr lang="en-US" altLang="en-US" sz="20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22284" name="Text Box 44"/>
          <p:cNvSpPr txBox="1">
            <a:spLocks noChangeArrowheads="1"/>
          </p:cNvSpPr>
          <p:nvPr/>
        </p:nvSpPr>
        <p:spPr bwMode="auto">
          <a:xfrm>
            <a:off x="4159250" y="4611688"/>
            <a:ext cx="836613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Sample</a:t>
            </a:r>
          </a:p>
        </p:txBody>
      </p:sp>
      <p:grpSp>
        <p:nvGrpSpPr>
          <p:cNvPr id="522285" name="Group 45"/>
          <p:cNvGrpSpPr>
            <a:grpSpLocks/>
          </p:cNvGrpSpPr>
          <p:nvPr/>
        </p:nvGrpSpPr>
        <p:grpSpPr bwMode="auto">
          <a:xfrm>
            <a:off x="6515100" y="3733800"/>
            <a:ext cx="2400300" cy="2687638"/>
            <a:chOff x="4104" y="2352"/>
            <a:chExt cx="1512" cy="1693"/>
          </a:xfrm>
        </p:grpSpPr>
        <p:sp>
          <p:nvSpPr>
            <p:cNvPr id="522286" name="Oval 46"/>
            <p:cNvSpPr>
              <a:spLocks noChangeArrowheads="1"/>
            </p:cNvSpPr>
            <p:nvPr/>
          </p:nvSpPr>
          <p:spPr bwMode="auto">
            <a:xfrm>
              <a:off x="4176" y="2352"/>
              <a:ext cx="576" cy="5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87" name="AutoShape 47"/>
            <p:cNvSpPr>
              <a:spLocks noChangeArrowheads="1"/>
            </p:cNvSpPr>
            <p:nvPr/>
          </p:nvSpPr>
          <p:spPr bwMode="auto">
            <a:xfrm>
              <a:off x="4104" y="3577"/>
              <a:ext cx="1512" cy="468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169863" indent="-169863" algn="ctr" eaLnBrk="0" hangingPunct="0"/>
              <a:r>
                <a:rPr lang="en-US" altLang="en-US" sz="1800" b="0">
                  <a:solidFill>
                    <a:srgbClr val="FF0000"/>
                  </a:solidFill>
                  <a:latin typeface="Chalkboard" charset="0"/>
                </a:rPr>
                <a:t>Spherical aberration</a:t>
              </a:r>
            </a:p>
            <a:p>
              <a:pPr marL="169863" indent="-169863" algn="ctr" eaLnBrk="0" hangingPunct="0"/>
              <a:r>
                <a:rPr lang="en-US" altLang="en-US" sz="1800" b="0">
                  <a:solidFill>
                    <a:srgbClr val="FF0000"/>
                  </a:solidFill>
                  <a:latin typeface="Chalkboard" charset="0"/>
                </a:rPr>
                <a:t>unless n</a:t>
              </a:r>
              <a:r>
                <a:rPr lang="en-US" altLang="en-US" sz="1800" b="0" baseline="-25000">
                  <a:solidFill>
                    <a:srgbClr val="FF0000"/>
                  </a:solidFill>
                  <a:latin typeface="Chalkboard" charset="0"/>
                </a:rPr>
                <a:t>2</a:t>
              </a:r>
              <a:r>
                <a:rPr lang="en-US" altLang="en-US" sz="1800" b="0">
                  <a:solidFill>
                    <a:srgbClr val="FF0000"/>
                  </a:solidFill>
                  <a:latin typeface="Chalkboard" charset="0"/>
                </a:rPr>
                <a:t> = n</a:t>
              </a:r>
              <a:r>
                <a:rPr lang="en-US" altLang="en-US" sz="1800" b="0" baseline="-25000">
                  <a:solidFill>
                    <a:srgbClr val="FF0000"/>
                  </a:solidFill>
                  <a:latin typeface="Chalkboard" charset="0"/>
                </a:rPr>
                <a:t>1</a:t>
              </a:r>
              <a:endParaRPr lang="en-US" altLang="en-US" sz="1800" b="0">
                <a:solidFill>
                  <a:srgbClr val="FF0000"/>
                </a:solidFill>
                <a:latin typeface="Chalkboard" charset="0"/>
              </a:endParaRPr>
            </a:p>
          </p:txBody>
        </p:sp>
        <p:sp>
          <p:nvSpPr>
            <p:cNvPr id="522288" name="Line 48"/>
            <p:cNvSpPr>
              <a:spLocks noChangeShapeType="1"/>
            </p:cNvSpPr>
            <p:nvPr/>
          </p:nvSpPr>
          <p:spPr bwMode="auto">
            <a:xfrm>
              <a:off x="4560" y="2905"/>
              <a:ext cx="144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22289" name="Text Box 49"/>
          <p:cNvSpPr txBox="1">
            <a:spLocks noChangeArrowheads="1"/>
          </p:cNvSpPr>
          <p:nvPr/>
        </p:nvSpPr>
        <p:spPr bwMode="auto">
          <a:xfrm>
            <a:off x="4819650" y="5405438"/>
            <a:ext cx="13684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>
              <a:lnSpc>
                <a:spcPct val="60000"/>
              </a:lnSpc>
            </a:pPr>
            <a:r>
              <a:rPr lang="en-US" altLang="en-US" sz="1800" b="0">
                <a:latin typeface="Chalkboard" charset="0"/>
              </a:rPr>
              <a:t>Focus</a:t>
            </a:r>
          </a:p>
          <a:p>
            <a:pPr marL="169863" indent="-169863" algn="ctr" eaLnBrk="0" hangingPunct="0">
              <a:lnSpc>
                <a:spcPct val="60000"/>
              </a:lnSpc>
            </a:pPr>
            <a:r>
              <a:rPr lang="en-US" altLang="en-US" sz="1800" b="0">
                <a:latin typeface="Chalkboard" charset="0"/>
              </a:rPr>
              <a:t>into sample</a:t>
            </a:r>
          </a:p>
        </p:txBody>
      </p:sp>
      <p:sp>
        <p:nvSpPr>
          <p:cNvPr id="522290" name="Text Box 50"/>
          <p:cNvSpPr txBox="1">
            <a:spLocks noChangeArrowheads="1"/>
          </p:cNvSpPr>
          <p:nvPr/>
        </p:nvSpPr>
        <p:spPr bwMode="auto">
          <a:xfrm>
            <a:off x="941388" y="5378450"/>
            <a:ext cx="214947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1800" b="0">
                <a:latin typeface="Chalkboard" charset="0"/>
              </a:rPr>
              <a:t>Focus at cover slip</a:t>
            </a:r>
          </a:p>
        </p:txBody>
      </p:sp>
      <p:sp>
        <p:nvSpPr>
          <p:cNvPr id="522291" name="Line 51"/>
          <p:cNvSpPr>
            <a:spLocks noChangeShapeType="1"/>
          </p:cNvSpPr>
          <p:nvPr/>
        </p:nvSpPr>
        <p:spPr bwMode="auto">
          <a:xfrm flipV="1">
            <a:off x="5486400" y="4997450"/>
            <a:ext cx="0" cy="3365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92" name="Line 52"/>
          <p:cNvSpPr>
            <a:spLocks noChangeShapeType="1"/>
          </p:cNvSpPr>
          <p:nvPr/>
        </p:nvSpPr>
        <p:spPr bwMode="auto">
          <a:xfrm>
            <a:off x="3810000" y="5341938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0" name="Freeform 2"/>
          <p:cNvSpPr>
            <a:spLocks/>
          </p:cNvSpPr>
          <p:nvPr/>
        </p:nvSpPr>
        <p:spPr bwMode="auto">
          <a:xfrm>
            <a:off x="415925" y="2371725"/>
            <a:ext cx="3335338" cy="617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736" y="0"/>
              </a:cxn>
              <a:cxn ang="0">
                <a:pos x="2736" y="240"/>
              </a:cxn>
              <a:cxn ang="0">
                <a:pos x="0" y="240"/>
              </a:cxn>
              <a:cxn ang="0">
                <a:pos x="0" y="0"/>
              </a:cxn>
            </a:cxnLst>
            <a:rect l="0" t="0" r="r" b="b"/>
            <a:pathLst>
              <a:path w="2736" h="240">
                <a:moveTo>
                  <a:pt x="0" y="0"/>
                </a:moveTo>
                <a:cubicBezTo>
                  <a:pt x="1368" y="0"/>
                  <a:pt x="2736" y="0"/>
                  <a:pt x="2736" y="0"/>
                </a:cubicBezTo>
                <a:cubicBezTo>
                  <a:pt x="2656" y="117"/>
                  <a:pt x="2709" y="165"/>
                  <a:pt x="2736" y="240"/>
                </a:cubicBezTo>
                <a:cubicBezTo>
                  <a:pt x="2736" y="240"/>
                  <a:pt x="1368" y="240"/>
                  <a:pt x="0" y="240"/>
                </a:cubicBezTo>
                <a:cubicBezTo>
                  <a:pt x="43" y="133"/>
                  <a:pt x="37" y="69"/>
                  <a:pt x="0" y="0"/>
                </a:cubicBezTo>
                <a:close/>
              </a:path>
            </a:pathLst>
          </a:custGeom>
          <a:solidFill>
            <a:srgbClr val="C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291" name="Freeform 3"/>
          <p:cNvSpPr>
            <a:spLocks/>
          </p:cNvSpPr>
          <p:nvPr/>
        </p:nvSpPr>
        <p:spPr bwMode="auto">
          <a:xfrm>
            <a:off x="271463" y="1431925"/>
            <a:ext cx="3675062" cy="947738"/>
          </a:xfrm>
          <a:custGeom>
            <a:avLst/>
            <a:gdLst/>
            <a:ahLst/>
            <a:cxnLst>
              <a:cxn ang="0">
                <a:pos x="2949" y="955"/>
              </a:cxn>
              <a:cxn ang="0">
                <a:pos x="0" y="955"/>
              </a:cxn>
              <a:cxn ang="0">
                <a:pos x="2949" y="955"/>
              </a:cxn>
            </a:cxnLst>
            <a:rect l="0" t="0" r="r" b="b"/>
            <a:pathLst>
              <a:path w="2949" h="955">
                <a:moveTo>
                  <a:pt x="2949" y="955"/>
                </a:moveTo>
                <a:cubicBezTo>
                  <a:pt x="1755" y="0"/>
                  <a:pt x="671" y="324"/>
                  <a:pt x="0" y="955"/>
                </a:cubicBezTo>
                <a:cubicBezTo>
                  <a:pt x="0" y="955"/>
                  <a:pt x="2949" y="955"/>
                  <a:pt x="2949" y="955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4292" name="Freeform 4"/>
          <p:cNvSpPr>
            <a:spLocks/>
          </p:cNvSpPr>
          <p:nvPr/>
        </p:nvSpPr>
        <p:spPr bwMode="auto">
          <a:xfrm>
            <a:off x="279400" y="3089275"/>
            <a:ext cx="3852863" cy="2244725"/>
          </a:xfrm>
          <a:custGeom>
            <a:avLst/>
            <a:gdLst/>
            <a:ahLst/>
            <a:cxnLst>
              <a:cxn ang="0">
                <a:pos x="40" y="59"/>
              </a:cxn>
              <a:cxn ang="0">
                <a:pos x="2270" y="59"/>
              </a:cxn>
              <a:cxn ang="0">
                <a:pos x="2251" y="416"/>
              </a:cxn>
              <a:cxn ang="0">
                <a:pos x="2299" y="700"/>
              </a:cxn>
              <a:cxn ang="0">
                <a:pos x="40" y="700"/>
              </a:cxn>
              <a:cxn ang="0">
                <a:pos x="70" y="444"/>
              </a:cxn>
              <a:cxn ang="0">
                <a:pos x="11" y="315"/>
              </a:cxn>
              <a:cxn ang="0">
                <a:pos x="70" y="187"/>
              </a:cxn>
              <a:cxn ang="0">
                <a:pos x="40" y="59"/>
              </a:cxn>
            </a:cxnLst>
            <a:rect l="0" t="0" r="r" b="b"/>
            <a:pathLst>
              <a:path w="2427" h="700">
                <a:moveTo>
                  <a:pt x="40" y="59"/>
                </a:moveTo>
                <a:cubicBezTo>
                  <a:pt x="40" y="59"/>
                  <a:pt x="1902" y="0"/>
                  <a:pt x="2270" y="59"/>
                </a:cubicBezTo>
                <a:cubicBezTo>
                  <a:pt x="2427" y="384"/>
                  <a:pt x="2256" y="262"/>
                  <a:pt x="2251" y="416"/>
                </a:cubicBezTo>
                <a:cubicBezTo>
                  <a:pt x="2246" y="570"/>
                  <a:pt x="2331" y="549"/>
                  <a:pt x="2299" y="700"/>
                </a:cubicBezTo>
                <a:cubicBezTo>
                  <a:pt x="2299" y="700"/>
                  <a:pt x="1169" y="700"/>
                  <a:pt x="40" y="700"/>
                </a:cubicBezTo>
                <a:cubicBezTo>
                  <a:pt x="0" y="539"/>
                  <a:pt x="75" y="508"/>
                  <a:pt x="70" y="444"/>
                </a:cubicBezTo>
                <a:cubicBezTo>
                  <a:pt x="65" y="380"/>
                  <a:pt x="11" y="358"/>
                  <a:pt x="11" y="315"/>
                </a:cubicBezTo>
                <a:cubicBezTo>
                  <a:pt x="11" y="272"/>
                  <a:pt x="65" y="230"/>
                  <a:pt x="70" y="187"/>
                </a:cubicBezTo>
                <a:cubicBezTo>
                  <a:pt x="75" y="144"/>
                  <a:pt x="46" y="86"/>
                  <a:pt x="40" y="59"/>
                </a:cubicBezTo>
                <a:close/>
              </a:path>
            </a:pathLst>
          </a:custGeom>
          <a:solidFill>
            <a:srgbClr val="E3CFB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293" name="Rectangle 5"/>
          <p:cNvSpPr>
            <a:spLocks noChangeArrowheads="1"/>
          </p:cNvSpPr>
          <p:nvPr/>
        </p:nvSpPr>
        <p:spPr bwMode="auto">
          <a:xfrm>
            <a:off x="271463" y="2989263"/>
            <a:ext cx="3733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294" name="Text Box 6"/>
          <p:cNvSpPr txBox="1">
            <a:spLocks noChangeArrowheads="1"/>
          </p:cNvSpPr>
          <p:nvPr/>
        </p:nvSpPr>
        <p:spPr bwMode="auto">
          <a:xfrm>
            <a:off x="2620963" y="152400"/>
            <a:ext cx="3948112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Index Mismatch</a:t>
            </a:r>
          </a:p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&amp; Spherical Aberration</a:t>
            </a:r>
          </a:p>
        </p:txBody>
      </p:sp>
      <p:sp>
        <p:nvSpPr>
          <p:cNvPr id="524295" name="Text Box 7"/>
          <p:cNvSpPr txBox="1">
            <a:spLocks noChangeArrowheads="1"/>
          </p:cNvSpPr>
          <p:nvPr/>
        </p:nvSpPr>
        <p:spPr bwMode="auto">
          <a:xfrm>
            <a:off x="606425" y="2474913"/>
            <a:ext cx="1577975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n</a:t>
            </a:r>
            <a:r>
              <a:rPr lang="en-US" altLang="en-US" sz="2000" b="0" baseline="-25000">
                <a:solidFill>
                  <a:schemeClr val="accent2"/>
                </a:solidFill>
                <a:latin typeface="Chalkboard" charset="0"/>
              </a:rPr>
              <a:t>1</a:t>
            </a:r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=1.515 (oil)</a:t>
            </a:r>
          </a:p>
        </p:txBody>
      </p:sp>
      <p:sp>
        <p:nvSpPr>
          <p:cNvPr id="524296" name="Text Box 8"/>
          <p:cNvSpPr txBox="1">
            <a:spLocks noChangeArrowheads="1"/>
          </p:cNvSpPr>
          <p:nvPr/>
        </p:nvSpPr>
        <p:spPr bwMode="auto">
          <a:xfrm>
            <a:off x="331788" y="4157663"/>
            <a:ext cx="1668462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n</a:t>
            </a:r>
            <a:r>
              <a:rPr lang="en-US" altLang="en-US" sz="2000" b="0" baseline="-25000">
                <a:solidFill>
                  <a:schemeClr val="accent2"/>
                </a:solidFill>
                <a:latin typeface="Chalkboard" charset="0"/>
              </a:rPr>
              <a:t>2</a:t>
            </a:r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=1.44</a:t>
            </a:r>
          </a:p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(Vectashield)</a:t>
            </a:r>
          </a:p>
        </p:txBody>
      </p:sp>
      <p:sp>
        <p:nvSpPr>
          <p:cNvPr id="524297" name="Oval 9"/>
          <p:cNvSpPr>
            <a:spLocks noChangeArrowheads="1"/>
          </p:cNvSpPr>
          <p:nvPr/>
        </p:nvSpPr>
        <p:spPr bwMode="auto">
          <a:xfrm>
            <a:off x="2090738" y="3302000"/>
            <a:ext cx="50800" cy="50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298" name="Oval 10"/>
          <p:cNvSpPr>
            <a:spLocks noChangeArrowheads="1"/>
          </p:cNvSpPr>
          <p:nvPr/>
        </p:nvSpPr>
        <p:spPr bwMode="auto">
          <a:xfrm>
            <a:off x="2090738" y="4106863"/>
            <a:ext cx="50800" cy="50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299" name="Oval 11"/>
          <p:cNvSpPr>
            <a:spLocks noChangeArrowheads="1"/>
          </p:cNvSpPr>
          <p:nvPr/>
        </p:nvSpPr>
        <p:spPr bwMode="auto">
          <a:xfrm>
            <a:off x="2090738" y="4911725"/>
            <a:ext cx="50800" cy="50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300" name="Text Box 12"/>
          <p:cNvSpPr txBox="1">
            <a:spLocks noChangeArrowheads="1"/>
          </p:cNvSpPr>
          <p:nvPr/>
        </p:nvSpPr>
        <p:spPr bwMode="auto">
          <a:xfrm>
            <a:off x="7319963" y="1973263"/>
            <a:ext cx="1049337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z=0 µm</a:t>
            </a:r>
          </a:p>
        </p:txBody>
      </p:sp>
      <p:sp>
        <p:nvSpPr>
          <p:cNvPr id="524301" name="Text Box 13"/>
          <p:cNvSpPr txBox="1">
            <a:spLocks noChangeArrowheads="1"/>
          </p:cNvSpPr>
          <p:nvPr/>
        </p:nvSpPr>
        <p:spPr bwMode="auto">
          <a:xfrm>
            <a:off x="7319963" y="3806825"/>
            <a:ext cx="1193800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z=25 µm</a:t>
            </a:r>
          </a:p>
        </p:txBody>
      </p:sp>
      <p:sp>
        <p:nvSpPr>
          <p:cNvPr id="524302" name="Text Box 14"/>
          <p:cNvSpPr txBox="1">
            <a:spLocks noChangeArrowheads="1"/>
          </p:cNvSpPr>
          <p:nvPr/>
        </p:nvSpPr>
        <p:spPr bwMode="auto">
          <a:xfrm>
            <a:off x="7319963" y="5565775"/>
            <a:ext cx="1193800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z=50 µm</a:t>
            </a:r>
          </a:p>
        </p:txBody>
      </p:sp>
      <p:sp>
        <p:nvSpPr>
          <p:cNvPr id="524303" name="Freeform 15"/>
          <p:cNvSpPr>
            <a:spLocks/>
          </p:cNvSpPr>
          <p:nvPr/>
        </p:nvSpPr>
        <p:spPr bwMode="auto">
          <a:xfrm>
            <a:off x="2184400" y="2852738"/>
            <a:ext cx="3319463" cy="746125"/>
          </a:xfrm>
          <a:custGeom>
            <a:avLst/>
            <a:gdLst/>
            <a:ahLst/>
            <a:cxnLst>
              <a:cxn ang="0">
                <a:pos x="0" y="299"/>
              </a:cxn>
              <a:cxn ang="0">
                <a:pos x="2091" y="0"/>
              </a:cxn>
            </a:cxnLst>
            <a:rect l="0" t="0" r="r" b="b"/>
            <a:pathLst>
              <a:path w="2091" h="470">
                <a:moveTo>
                  <a:pt x="0" y="299"/>
                </a:moveTo>
                <a:cubicBezTo>
                  <a:pt x="1072" y="470"/>
                  <a:pt x="1456" y="262"/>
                  <a:pt x="2091" y="0"/>
                </a:cubicBezTo>
              </a:path>
            </a:pathLst>
          </a:custGeom>
          <a:noFill/>
          <a:ln w="9525">
            <a:solidFill>
              <a:srgbClr val="FF8000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304" name="Freeform 16"/>
          <p:cNvSpPr>
            <a:spLocks/>
          </p:cNvSpPr>
          <p:nvPr/>
        </p:nvSpPr>
        <p:spPr bwMode="auto">
          <a:xfrm>
            <a:off x="2201863" y="4030663"/>
            <a:ext cx="3284537" cy="177800"/>
          </a:xfrm>
          <a:custGeom>
            <a:avLst/>
            <a:gdLst/>
            <a:ahLst/>
            <a:cxnLst>
              <a:cxn ang="0">
                <a:pos x="0" y="69"/>
              </a:cxn>
              <a:cxn ang="0">
                <a:pos x="2069" y="0"/>
              </a:cxn>
            </a:cxnLst>
            <a:rect l="0" t="0" r="r" b="b"/>
            <a:pathLst>
              <a:path w="2069" h="112">
                <a:moveTo>
                  <a:pt x="0" y="69"/>
                </a:moveTo>
                <a:cubicBezTo>
                  <a:pt x="954" y="48"/>
                  <a:pt x="1381" y="112"/>
                  <a:pt x="2069" y="0"/>
                </a:cubicBezTo>
              </a:path>
            </a:pathLst>
          </a:custGeom>
          <a:noFill/>
          <a:ln w="9525">
            <a:solidFill>
              <a:srgbClr val="FF8000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305" name="Freeform 17"/>
          <p:cNvSpPr>
            <a:spLocks/>
          </p:cNvSpPr>
          <p:nvPr/>
        </p:nvSpPr>
        <p:spPr bwMode="auto">
          <a:xfrm>
            <a:off x="2219325" y="4876800"/>
            <a:ext cx="3267075" cy="322263"/>
          </a:xfrm>
          <a:custGeom>
            <a:avLst/>
            <a:gdLst/>
            <a:ahLst/>
            <a:cxnLst>
              <a:cxn ang="0">
                <a:pos x="0" y="48"/>
              </a:cxn>
              <a:cxn ang="0">
                <a:pos x="2058" y="203"/>
              </a:cxn>
            </a:cxnLst>
            <a:rect l="0" t="0" r="r" b="b"/>
            <a:pathLst>
              <a:path w="2058" h="203">
                <a:moveTo>
                  <a:pt x="0" y="48"/>
                </a:moveTo>
                <a:cubicBezTo>
                  <a:pt x="1162" y="128"/>
                  <a:pt x="1370" y="0"/>
                  <a:pt x="2058" y="203"/>
                </a:cubicBezTo>
              </a:path>
            </a:pathLst>
          </a:custGeom>
          <a:noFill/>
          <a:ln w="9525">
            <a:solidFill>
              <a:srgbClr val="FF8000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524306" name="Picture 1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7363" y="4884738"/>
            <a:ext cx="1785937" cy="1785937"/>
          </a:xfrm>
          <a:prstGeom prst="rect">
            <a:avLst/>
          </a:prstGeom>
          <a:noFill/>
        </p:spPr>
      </p:pic>
      <p:pic>
        <p:nvPicPr>
          <p:cNvPr id="524307" name="Picture 1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67363" y="3101975"/>
            <a:ext cx="1785937" cy="1785938"/>
          </a:xfrm>
          <a:prstGeom prst="rect">
            <a:avLst/>
          </a:prstGeom>
          <a:noFill/>
        </p:spPr>
      </p:pic>
      <p:pic>
        <p:nvPicPr>
          <p:cNvPr id="524308" name="Picture 2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568950" y="1320800"/>
            <a:ext cx="1785938" cy="17859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762000"/>
          </a:xfrm>
        </p:spPr>
        <p:txBody>
          <a:bodyPr/>
          <a:lstStyle/>
          <a:p>
            <a:r>
              <a:rPr lang="en-US"/>
              <a:t> How to recognize spherical aberration</a:t>
            </a:r>
          </a:p>
        </p:txBody>
      </p:sp>
      <p:sp>
        <p:nvSpPr>
          <p:cNvPr id="397318" name="Text Box 6"/>
          <p:cNvSpPr txBox="1">
            <a:spLocks noChangeArrowheads="1"/>
          </p:cNvSpPr>
          <p:nvPr/>
        </p:nvSpPr>
        <p:spPr bwMode="auto">
          <a:xfrm>
            <a:off x="838200" y="914400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Arial" charset="0"/>
              </a:rPr>
              <a:t>Unaberrated</a:t>
            </a:r>
            <a:endParaRPr lang="en-US"/>
          </a:p>
        </p:txBody>
      </p:sp>
      <p:sp>
        <p:nvSpPr>
          <p:cNvPr id="397319" name="Text Box 7"/>
          <p:cNvSpPr txBox="1">
            <a:spLocks noChangeArrowheads="1"/>
          </p:cNvSpPr>
          <p:nvPr/>
        </p:nvSpPr>
        <p:spPr bwMode="auto">
          <a:xfrm>
            <a:off x="7010400" y="990600"/>
            <a:ext cx="162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Arial" charset="0"/>
              </a:rPr>
              <a:t>Aberrated</a:t>
            </a:r>
            <a:endParaRPr lang="en-US"/>
          </a:p>
        </p:txBody>
      </p:sp>
      <p:pic>
        <p:nvPicPr>
          <p:cNvPr id="397333" name="Picture 2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0200" y="31242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34" name="Picture 2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05400" y="23622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35" name="Picture 2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00600" y="15240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36" name="Picture 2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495800" y="7620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37" name="Picture 2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715000" y="39624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38" name="Picture 2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019800" y="48006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39" name="Picture 27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324600" y="56388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46" name="Picture 3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981200" y="32004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47" name="Picture 35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362200" y="40386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48" name="Picture 36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743200" y="48768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49" name="Picture 37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676400" y="23622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50" name="Picture 38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295400" y="15240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97351" name="Text Box 39"/>
          <p:cNvSpPr txBox="1">
            <a:spLocks noChangeArrowheads="1"/>
          </p:cNvSpPr>
          <p:nvPr/>
        </p:nvSpPr>
        <p:spPr bwMode="auto">
          <a:xfrm>
            <a:off x="2590800" y="6300788"/>
            <a:ext cx="15605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Arial" charset="0"/>
              </a:rPr>
              <a:t>0.5 </a:t>
            </a:r>
            <a:r>
              <a:rPr lang="en-US" sz="1800">
                <a:latin typeface="Symbol" pitchFamily="18" charset="2"/>
              </a:rPr>
              <a:t>m</a:t>
            </a:r>
            <a:r>
              <a:rPr lang="en-US" sz="1800">
                <a:latin typeface="Arial" charset="0"/>
              </a:rPr>
              <a:t>m steps</a:t>
            </a:r>
          </a:p>
        </p:txBody>
      </p:sp>
      <p:sp>
        <p:nvSpPr>
          <p:cNvPr id="397352" name="Text Box 40"/>
          <p:cNvSpPr txBox="1">
            <a:spLocks noChangeArrowheads="1"/>
          </p:cNvSpPr>
          <p:nvPr/>
        </p:nvSpPr>
        <p:spPr bwMode="auto">
          <a:xfrm>
            <a:off x="7543800" y="6248400"/>
            <a:ext cx="13700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Arial" charset="0"/>
              </a:rPr>
              <a:t>1 </a:t>
            </a:r>
            <a:r>
              <a:rPr lang="en-US" sz="1800">
                <a:latin typeface="Symbol" pitchFamily="18" charset="2"/>
              </a:rPr>
              <a:t>m</a:t>
            </a:r>
            <a:r>
              <a:rPr lang="en-US" sz="1800">
                <a:latin typeface="Arial" charset="0"/>
              </a:rPr>
              <a:t>m steps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/>
              <a:t>What can you do about spherical aberration?</a:t>
            </a:r>
          </a:p>
        </p:txBody>
      </p:sp>
      <p:sp>
        <p:nvSpPr>
          <p:cNvPr id="41984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7772400" cy="49530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Use 0.17 mm </a:t>
            </a:r>
            <a:r>
              <a:rPr lang="en-US" sz="2400" dirty="0" err="1">
                <a:latin typeface="Chalkboard"/>
              </a:rPr>
              <a:t>coverslips</a:t>
            </a:r>
            <a:r>
              <a:rPr lang="en-US" sz="2400" dirty="0">
                <a:latin typeface="Chalkboard"/>
              </a:rPr>
              <a:t> (~ #1.5)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Work close to the </a:t>
            </a:r>
            <a:r>
              <a:rPr lang="en-US" sz="2400" dirty="0" err="1">
                <a:latin typeface="Chalkboard"/>
              </a:rPr>
              <a:t>coverslip</a:t>
            </a:r>
            <a:endParaRPr lang="en-US" sz="2400" dirty="0">
              <a:latin typeface="Chalkboard"/>
            </a:endParaRPr>
          </a:p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Match lenses to the refractive index of your samples, and vice versa</a:t>
            </a:r>
          </a:p>
          <a:p>
            <a:pPr lvl="1">
              <a:spcBef>
                <a:spcPct val="50000"/>
              </a:spcBef>
            </a:pPr>
            <a:r>
              <a:rPr lang="en-US" sz="2400" dirty="0">
                <a:latin typeface="Chalkboard"/>
              </a:rPr>
              <a:t>For aqueous samples, use water immersion / water dipping lenses</a:t>
            </a:r>
          </a:p>
          <a:p>
            <a:pPr lvl="1">
              <a:spcBef>
                <a:spcPct val="50000"/>
              </a:spcBef>
            </a:pPr>
            <a:r>
              <a:rPr lang="en-US" sz="2400" dirty="0">
                <a:latin typeface="Chalkboard"/>
              </a:rPr>
              <a:t>For fixed samples and oil immersion lenses, mount your sample in a medium with n = 1.515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Adjust objective correction collar when available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Use lower NA lenses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/>
              <a:t>Correction collars</a:t>
            </a:r>
          </a:p>
        </p:txBody>
      </p:sp>
      <p:pic>
        <p:nvPicPr>
          <p:cNvPr id="420869" name="Picture 5" descr="48 CFI60_PlanApo"/>
          <p:cNvPicPr>
            <a:picLocks noChangeAspect="1" noChangeArrowheads="1"/>
          </p:cNvPicPr>
          <p:nvPr/>
        </p:nvPicPr>
        <p:blipFill>
          <a:blip r:embed="rId3" cstate="print"/>
          <a:srcRect l="55640" t="35255" r="30911" b="9312"/>
          <a:stretch>
            <a:fillRect/>
          </a:stretch>
        </p:blipFill>
        <p:spPr bwMode="auto">
          <a:xfrm>
            <a:off x="6705600" y="1828800"/>
            <a:ext cx="1527175" cy="3078163"/>
          </a:xfrm>
          <a:prstGeom prst="rect">
            <a:avLst/>
          </a:prstGeom>
          <a:noFill/>
        </p:spPr>
      </p:pic>
      <p:sp>
        <p:nvSpPr>
          <p:cNvPr id="6" name="Freeform 18"/>
          <p:cNvSpPr>
            <a:spLocks/>
          </p:cNvSpPr>
          <p:nvPr/>
        </p:nvSpPr>
        <p:spPr bwMode="auto">
          <a:xfrm>
            <a:off x="779462" y="3725863"/>
            <a:ext cx="3716338" cy="312737"/>
          </a:xfrm>
          <a:custGeom>
            <a:avLst/>
            <a:gdLst/>
            <a:ahLst/>
            <a:cxnLst>
              <a:cxn ang="0">
                <a:pos x="37" y="0"/>
              </a:cxn>
              <a:cxn ang="0">
                <a:pos x="2293" y="0"/>
              </a:cxn>
              <a:cxn ang="0">
                <a:pos x="2293" y="197"/>
              </a:cxn>
              <a:cxn ang="0">
                <a:pos x="37" y="197"/>
              </a:cxn>
              <a:cxn ang="0">
                <a:pos x="37" y="0"/>
              </a:cxn>
            </a:cxnLst>
            <a:rect l="0" t="0" r="r" b="b"/>
            <a:pathLst>
              <a:path w="2341" h="197">
                <a:moveTo>
                  <a:pt x="37" y="0"/>
                </a:moveTo>
                <a:cubicBezTo>
                  <a:pt x="1165" y="0"/>
                  <a:pt x="2293" y="0"/>
                  <a:pt x="2293" y="0"/>
                </a:cubicBezTo>
                <a:cubicBezTo>
                  <a:pt x="2330" y="90"/>
                  <a:pt x="2341" y="117"/>
                  <a:pt x="2293" y="197"/>
                </a:cubicBezTo>
                <a:cubicBezTo>
                  <a:pt x="2293" y="197"/>
                  <a:pt x="1165" y="197"/>
                  <a:pt x="37" y="197"/>
                </a:cubicBezTo>
                <a:cubicBezTo>
                  <a:pt x="0" y="101"/>
                  <a:pt x="0" y="64"/>
                  <a:pt x="37" y="0"/>
                </a:cubicBezTo>
                <a:close/>
              </a:path>
            </a:pathLst>
          </a:custGeom>
          <a:solidFill>
            <a:srgbClr val="C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Freeform 19"/>
          <p:cNvSpPr>
            <a:spLocks/>
          </p:cNvSpPr>
          <p:nvPr/>
        </p:nvSpPr>
        <p:spPr bwMode="auto">
          <a:xfrm>
            <a:off x="762000" y="2786063"/>
            <a:ext cx="3675062" cy="947737"/>
          </a:xfrm>
          <a:custGeom>
            <a:avLst/>
            <a:gdLst/>
            <a:ahLst/>
            <a:cxnLst>
              <a:cxn ang="0">
                <a:pos x="2949" y="955"/>
              </a:cxn>
              <a:cxn ang="0">
                <a:pos x="0" y="955"/>
              </a:cxn>
              <a:cxn ang="0">
                <a:pos x="2949" y="955"/>
              </a:cxn>
            </a:cxnLst>
            <a:rect l="0" t="0" r="r" b="b"/>
            <a:pathLst>
              <a:path w="2949" h="955">
                <a:moveTo>
                  <a:pt x="2949" y="955"/>
                </a:moveTo>
                <a:cubicBezTo>
                  <a:pt x="1755" y="0"/>
                  <a:pt x="671" y="324"/>
                  <a:pt x="0" y="955"/>
                </a:cubicBezTo>
                <a:cubicBezTo>
                  <a:pt x="0" y="955"/>
                  <a:pt x="2949" y="955"/>
                  <a:pt x="2949" y="955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Freeform 20"/>
          <p:cNvSpPr>
            <a:spLocks/>
          </p:cNvSpPr>
          <p:nvPr/>
        </p:nvSpPr>
        <p:spPr bwMode="auto">
          <a:xfrm>
            <a:off x="762000" y="4191000"/>
            <a:ext cx="3852862" cy="1111250"/>
          </a:xfrm>
          <a:custGeom>
            <a:avLst/>
            <a:gdLst/>
            <a:ahLst/>
            <a:cxnLst>
              <a:cxn ang="0">
                <a:pos x="40" y="59"/>
              </a:cxn>
              <a:cxn ang="0">
                <a:pos x="2270" y="59"/>
              </a:cxn>
              <a:cxn ang="0">
                <a:pos x="2251" y="416"/>
              </a:cxn>
              <a:cxn ang="0">
                <a:pos x="2299" y="700"/>
              </a:cxn>
              <a:cxn ang="0">
                <a:pos x="40" y="700"/>
              </a:cxn>
              <a:cxn ang="0">
                <a:pos x="70" y="444"/>
              </a:cxn>
              <a:cxn ang="0">
                <a:pos x="11" y="315"/>
              </a:cxn>
              <a:cxn ang="0">
                <a:pos x="70" y="187"/>
              </a:cxn>
              <a:cxn ang="0">
                <a:pos x="40" y="59"/>
              </a:cxn>
            </a:cxnLst>
            <a:rect l="0" t="0" r="r" b="b"/>
            <a:pathLst>
              <a:path w="2427" h="700">
                <a:moveTo>
                  <a:pt x="40" y="59"/>
                </a:moveTo>
                <a:cubicBezTo>
                  <a:pt x="40" y="59"/>
                  <a:pt x="1902" y="0"/>
                  <a:pt x="2270" y="59"/>
                </a:cubicBezTo>
                <a:cubicBezTo>
                  <a:pt x="2427" y="384"/>
                  <a:pt x="2256" y="262"/>
                  <a:pt x="2251" y="416"/>
                </a:cubicBezTo>
                <a:cubicBezTo>
                  <a:pt x="2246" y="570"/>
                  <a:pt x="2331" y="549"/>
                  <a:pt x="2299" y="700"/>
                </a:cubicBezTo>
                <a:cubicBezTo>
                  <a:pt x="2299" y="700"/>
                  <a:pt x="1169" y="700"/>
                  <a:pt x="40" y="700"/>
                </a:cubicBezTo>
                <a:cubicBezTo>
                  <a:pt x="0" y="539"/>
                  <a:pt x="75" y="508"/>
                  <a:pt x="70" y="444"/>
                </a:cubicBezTo>
                <a:cubicBezTo>
                  <a:pt x="65" y="380"/>
                  <a:pt x="11" y="358"/>
                  <a:pt x="11" y="315"/>
                </a:cubicBezTo>
                <a:cubicBezTo>
                  <a:pt x="11" y="272"/>
                  <a:pt x="65" y="230"/>
                  <a:pt x="70" y="187"/>
                </a:cubicBezTo>
                <a:cubicBezTo>
                  <a:pt x="75" y="144"/>
                  <a:pt x="46" y="86"/>
                  <a:pt x="40" y="59"/>
                </a:cubicBezTo>
                <a:close/>
              </a:path>
            </a:pathLst>
          </a:custGeom>
          <a:solidFill>
            <a:srgbClr val="E3CFB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21"/>
          <p:cNvSpPr>
            <a:spLocks noChangeArrowheads="1"/>
          </p:cNvSpPr>
          <p:nvPr/>
        </p:nvSpPr>
        <p:spPr bwMode="auto">
          <a:xfrm>
            <a:off x="762000" y="4038600"/>
            <a:ext cx="3733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Freeform 22"/>
          <p:cNvSpPr>
            <a:spLocks/>
          </p:cNvSpPr>
          <p:nvPr/>
        </p:nvSpPr>
        <p:spPr bwMode="auto">
          <a:xfrm>
            <a:off x="1295400" y="1905000"/>
            <a:ext cx="1643062" cy="2649538"/>
          </a:xfrm>
          <a:custGeom>
            <a:avLst/>
            <a:gdLst/>
            <a:ahLst/>
            <a:cxnLst>
              <a:cxn ang="0">
                <a:pos x="1035" y="1669"/>
              </a:cxn>
              <a:cxn ang="0">
                <a:pos x="543" y="1531"/>
              </a:cxn>
              <a:cxn ang="0">
                <a:pos x="0" y="1056"/>
              </a:cxn>
              <a:cxn ang="0">
                <a:pos x="0" y="0"/>
              </a:cxn>
            </a:cxnLst>
            <a:rect l="0" t="0" r="r" b="b"/>
            <a:pathLst>
              <a:path w="1035" h="1669">
                <a:moveTo>
                  <a:pt x="1035" y="1669"/>
                </a:moveTo>
                <a:lnTo>
                  <a:pt x="543" y="1531"/>
                </a:lnTo>
                <a:lnTo>
                  <a:pt x="0" y="105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Freeform 23"/>
          <p:cNvSpPr>
            <a:spLocks/>
          </p:cNvSpPr>
          <p:nvPr/>
        </p:nvSpPr>
        <p:spPr bwMode="auto">
          <a:xfrm>
            <a:off x="2209800" y="1905000"/>
            <a:ext cx="330200" cy="2743200"/>
          </a:xfrm>
          <a:custGeom>
            <a:avLst/>
            <a:gdLst/>
            <a:ahLst/>
            <a:cxnLst>
              <a:cxn ang="0">
                <a:pos x="208" y="1728"/>
              </a:cxn>
              <a:cxn ang="0">
                <a:pos x="135" y="1530"/>
              </a:cxn>
              <a:cxn ang="0">
                <a:pos x="0" y="1056"/>
              </a:cxn>
              <a:cxn ang="0">
                <a:pos x="0" y="0"/>
              </a:cxn>
            </a:cxnLst>
            <a:rect l="0" t="0" r="r" b="b"/>
            <a:pathLst>
              <a:path w="208" h="1728">
                <a:moveTo>
                  <a:pt x="208" y="1728"/>
                </a:moveTo>
                <a:lnTo>
                  <a:pt x="135" y="1530"/>
                </a:lnTo>
                <a:lnTo>
                  <a:pt x="0" y="105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Freeform 27"/>
          <p:cNvSpPr>
            <a:spLocks/>
          </p:cNvSpPr>
          <p:nvPr/>
        </p:nvSpPr>
        <p:spPr bwMode="auto">
          <a:xfrm>
            <a:off x="2141537" y="1905000"/>
            <a:ext cx="1592263" cy="2633663"/>
          </a:xfrm>
          <a:custGeom>
            <a:avLst/>
            <a:gdLst/>
            <a:ahLst/>
            <a:cxnLst>
              <a:cxn ang="0">
                <a:pos x="0" y="1659"/>
              </a:cxn>
              <a:cxn ang="0">
                <a:pos x="456" y="1534"/>
              </a:cxn>
              <a:cxn ang="0">
                <a:pos x="1003" y="1056"/>
              </a:cxn>
              <a:cxn ang="0">
                <a:pos x="1003" y="0"/>
              </a:cxn>
            </a:cxnLst>
            <a:rect l="0" t="0" r="r" b="b"/>
            <a:pathLst>
              <a:path w="1003" h="1659">
                <a:moveTo>
                  <a:pt x="0" y="1659"/>
                </a:moveTo>
                <a:lnTo>
                  <a:pt x="456" y="1534"/>
                </a:lnTo>
                <a:lnTo>
                  <a:pt x="1003" y="1056"/>
                </a:lnTo>
                <a:lnTo>
                  <a:pt x="1003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Freeform 28"/>
          <p:cNvSpPr>
            <a:spLocks/>
          </p:cNvSpPr>
          <p:nvPr/>
        </p:nvSpPr>
        <p:spPr bwMode="auto">
          <a:xfrm>
            <a:off x="2489200" y="1905000"/>
            <a:ext cx="330200" cy="2760663"/>
          </a:xfrm>
          <a:custGeom>
            <a:avLst/>
            <a:gdLst/>
            <a:ahLst/>
            <a:cxnLst>
              <a:cxn ang="0">
                <a:pos x="0" y="1739"/>
              </a:cxn>
              <a:cxn ang="0">
                <a:pos x="72" y="1531"/>
              </a:cxn>
              <a:cxn ang="0">
                <a:pos x="208" y="1056"/>
              </a:cxn>
              <a:cxn ang="0">
                <a:pos x="208" y="0"/>
              </a:cxn>
            </a:cxnLst>
            <a:rect l="0" t="0" r="r" b="b"/>
            <a:pathLst>
              <a:path w="208" h="1739">
                <a:moveTo>
                  <a:pt x="0" y="1739"/>
                </a:moveTo>
                <a:lnTo>
                  <a:pt x="72" y="1531"/>
                </a:lnTo>
                <a:lnTo>
                  <a:pt x="208" y="1056"/>
                </a:lnTo>
                <a:lnTo>
                  <a:pt x="208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dirty="0"/>
              <a:t>Correction collars</a:t>
            </a:r>
          </a:p>
        </p:txBody>
      </p:sp>
      <p:pic>
        <p:nvPicPr>
          <p:cNvPr id="420869" name="Picture 5" descr="48 CFI60_PlanApo"/>
          <p:cNvPicPr>
            <a:picLocks noChangeAspect="1" noChangeArrowheads="1"/>
          </p:cNvPicPr>
          <p:nvPr/>
        </p:nvPicPr>
        <p:blipFill>
          <a:blip r:embed="rId3" cstate="print"/>
          <a:srcRect l="55640" t="35255" r="30911" b="9312"/>
          <a:stretch>
            <a:fillRect/>
          </a:stretch>
        </p:blipFill>
        <p:spPr bwMode="auto">
          <a:xfrm>
            <a:off x="6705600" y="1828800"/>
            <a:ext cx="1527175" cy="3078163"/>
          </a:xfrm>
          <a:prstGeom prst="rect">
            <a:avLst/>
          </a:prstGeom>
          <a:noFill/>
        </p:spPr>
      </p:pic>
      <p:sp>
        <p:nvSpPr>
          <p:cNvPr id="420870" name="Text Box 6"/>
          <p:cNvSpPr txBox="1">
            <a:spLocks noChangeArrowheads="1"/>
          </p:cNvSpPr>
          <p:nvPr/>
        </p:nvSpPr>
        <p:spPr bwMode="auto">
          <a:xfrm>
            <a:off x="533400" y="5562600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0" dirty="0">
                <a:latin typeface="Chalkboard"/>
              </a:rPr>
              <a:t>A correction collar can only eliminate spherical aberration at a single focal plane</a:t>
            </a:r>
          </a:p>
        </p:txBody>
      </p:sp>
      <p:sp>
        <p:nvSpPr>
          <p:cNvPr id="6" name="Freeform 18"/>
          <p:cNvSpPr>
            <a:spLocks/>
          </p:cNvSpPr>
          <p:nvPr/>
        </p:nvSpPr>
        <p:spPr bwMode="auto">
          <a:xfrm>
            <a:off x="779462" y="3725863"/>
            <a:ext cx="3716338" cy="312737"/>
          </a:xfrm>
          <a:custGeom>
            <a:avLst/>
            <a:gdLst/>
            <a:ahLst/>
            <a:cxnLst>
              <a:cxn ang="0">
                <a:pos x="37" y="0"/>
              </a:cxn>
              <a:cxn ang="0">
                <a:pos x="2293" y="0"/>
              </a:cxn>
              <a:cxn ang="0">
                <a:pos x="2293" y="197"/>
              </a:cxn>
              <a:cxn ang="0">
                <a:pos x="37" y="197"/>
              </a:cxn>
              <a:cxn ang="0">
                <a:pos x="37" y="0"/>
              </a:cxn>
            </a:cxnLst>
            <a:rect l="0" t="0" r="r" b="b"/>
            <a:pathLst>
              <a:path w="2341" h="197">
                <a:moveTo>
                  <a:pt x="37" y="0"/>
                </a:moveTo>
                <a:cubicBezTo>
                  <a:pt x="1165" y="0"/>
                  <a:pt x="2293" y="0"/>
                  <a:pt x="2293" y="0"/>
                </a:cubicBezTo>
                <a:cubicBezTo>
                  <a:pt x="2330" y="90"/>
                  <a:pt x="2341" y="117"/>
                  <a:pt x="2293" y="197"/>
                </a:cubicBezTo>
                <a:cubicBezTo>
                  <a:pt x="2293" y="197"/>
                  <a:pt x="1165" y="197"/>
                  <a:pt x="37" y="197"/>
                </a:cubicBezTo>
                <a:cubicBezTo>
                  <a:pt x="0" y="101"/>
                  <a:pt x="0" y="64"/>
                  <a:pt x="37" y="0"/>
                </a:cubicBezTo>
                <a:close/>
              </a:path>
            </a:pathLst>
          </a:custGeom>
          <a:solidFill>
            <a:srgbClr val="C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Freeform 19"/>
          <p:cNvSpPr>
            <a:spLocks/>
          </p:cNvSpPr>
          <p:nvPr/>
        </p:nvSpPr>
        <p:spPr bwMode="auto">
          <a:xfrm>
            <a:off x="762000" y="2786063"/>
            <a:ext cx="3675062" cy="947737"/>
          </a:xfrm>
          <a:custGeom>
            <a:avLst/>
            <a:gdLst/>
            <a:ahLst/>
            <a:cxnLst>
              <a:cxn ang="0">
                <a:pos x="2949" y="955"/>
              </a:cxn>
              <a:cxn ang="0">
                <a:pos x="0" y="955"/>
              </a:cxn>
              <a:cxn ang="0">
                <a:pos x="2949" y="955"/>
              </a:cxn>
            </a:cxnLst>
            <a:rect l="0" t="0" r="r" b="b"/>
            <a:pathLst>
              <a:path w="2949" h="955">
                <a:moveTo>
                  <a:pt x="2949" y="955"/>
                </a:moveTo>
                <a:cubicBezTo>
                  <a:pt x="1755" y="0"/>
                  <a:pt x="671" y="324"/>
                  <a:pt x="0" y="955"/>
                </a:cubicBezTo>
                <a:cubicBezTo>
                  <a:pt x="0" y="955"/>
                  <a:pt x="2949" y="955"/>
                  <a:pt x="2949" y="955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Freeform 20"/>
          <p:cNvSpPr>
            <a:spLocks/>
          </p:cNvSpPr>
          <p:nvPr/>
        </p:nvSpPr>
        <p:spPr bwMode="auto">
          <a:xfrm>
            <a:off x="762000" y="4191000"/>
            <a:ext cx="3852862" cy="1111250"/>
          </a:xfrm>
          <a:custGeom>
            <a:avLst/>
            <a:gdLst/>
            <a:ahLst/>
            <a:cxnLst>
              <a:cxn ang="0">
                <a:pos x="40" y="59"/>
              </a:cxn>
              <a:cxn ang="0">
                <a:pos x="2270" y="59"/>
              </a:cxn>
              <a:cxn ang="0">
                <a:pos x="2251" y="416"/>
              </a:cxn>
              <a:cxn ang="0">
                <a:pos x="2299" y="700"/>
              </a:cxn>
              <a:cxn ang="0">
                <a:pos x="40" y="700"/>
              </a:cxn>
              <a:cxn ang="0">
                <a:pos x="70" y="444"/>
              </a:cxn>
              <a:cxn ang="0">
                <a:pos x="11" y="315"/>
              </a:cxn>
              <a:cxn ang="0">
                <a:pos x="70" y="187"/>
              </a:cxn>
              <a:cxn ang="0">
                <a:pos x="40" y="59"/>
              </a:cxn>
            </a:cxnLst>
            <a:rect l="0" t="0" r="r" b="b"/>
            <a:pathLst>
              <a:path w="2427" h="700">
                <a:moveTo>
                  <a:pt x="40" y="59"/>
                </a:moveTo>
                <a:cubicBezTo>
                  <a:pt x="40" y="59"/>
                  <a:pt x="1902" y="0"/>
                  <a:pt x="2270" y="59"/>
                </a:cubicBezTo>
                <a:cubicBezTo>
                  <a:pt x="2427" y="384"/>
                  <a:pt x="2256" y="262"/>
                  <a:pt x="2251" y="416"/>
                </a:cubicBezTo>
                <a:cubicBezTo>
                  <a:pt x="2246" y="570"/>
                  <a:pt x="2331" y="549"/>
                  <a:pt x="2299" y="700"/>
                </a:cubicBezTo>
                <a:cubicBezTo>
                  <a:pt x="2299" y="700"/>
                  <a:pt x="1169" y="700"/>
                  <a:pt x="40" y="700"/>
                </a:cubicBezTo>
                <a:cubicBezTo>
                  <a:pt x="0" y="539"/>
                  <a:pt x="75" y="508"/>
                  <a:pt x="70" y="444"/>
                </a:cubicBezTo>
                <a:cubicBezTo>
                  <a:pt x="65" y="380"/>
                  <a:pt x="11" y="358"/>
                  <a:pt x="11" y="315"/>
                </a:cubicBezTo>
                <a:cubicBezTo>
                  <a:pt x="11" y="272"/>
                  <a:pt x="65" y="230"/>
                  <a:pt x="70" y="187"/>
                </a:cubicBezTo>
                <a:cubicBezTo>
                  <a:pt x="75" y="144"/>
                  <a:pt x="46" y="86"/>
                  <a:pt x="40" y="59"/>
                </a:cubicBezTo>
                <a:close/>
              </a:path>
            </a:pathLst>
          </a:custGeom>
          <a:solidFill>
            <a:srgbClr val="E3CFB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21"/>
          <p:cNvSpPr>
            <a:spLocks noChangeArrowheads="1"/>
          </p:cNvSpPr>
          <p:nvPr/>
        </p:nvSpPr>
        <p:spPr bwMode="auto">
          <a:xfrm>
            <a:off x="762000" y="4038600"/>
            <a:ext cx="3733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Freeform 22"/>
          <p:cNvSpPr>
            <a:spLocks/>
          </p:cNvSpPr>
          <p:nvPr/>
        </p:nvSpPr>
        <p:spPr bwMode="auto">
          <a:xfrm>
            <a:off x="990612" y="1905000"/>
            <a:ext cx="1676416" cy="2743332"/>
          </a:xfrm>
          <a:custGeom>
            <a:avLst/>
            <a:gdLst>
              <a:gd name="connsiteX0" fmla="*/ 11855 w 11855"/>
              <a:gd name="connsiteY0" fmla="*/ 10000 h 10000"/>
              <a:gd name="connsiteX1" fmla="*/ 7101 w 11855"/>
              <a:gd name="connsiteY1" fmla="*/ 9173 h 10000"/>
              <a:gd name="connsiteX2" fmla="*/ 1855 w 11855"/>
              <a:gd name="connsiteY2" fmla="*/ 6327 h 10000"/>
              <a:gd name="connsiteX3" fmla="*/ 0 w 11855"/>
              <a:gd name="connsiteY3" fmla="*/ 0 h 10000"/>
              <a:gd name="connsiteX0" fmla="*/ 11855 w 11855"/>
              <a:gd name="connsiteY0" fmla="*/ 10000 h 10000"/>
              <a:gd name="connsiteX1" fmla="*/ 5565 w 11855"/>
              <a:gd name="connsiteY1" fmla="*/ 9203 h 10000"/>
              <a:gd name="connsiteX2" fmla="*/ 1855 w 11855"/>
              <a:gd name="connsiteY2" fmla="*/ 6327 h 10000"/>
              <a:gd name="connsiteX3" fmla="*/ 0 w 11855"/>
              <a:gd name="connsiteY3" fmla="*/ 0 h 10000"/>
              <a:gd name="connsiteX0" fmla="*/ 10203 w 10203"/>
              <a:gd name="connsiteY0" fmla="*/ 10354 h 10354"/>
              <a:gd name="connsiteX1" fmla="*/ 5565 w 10203"/>
              <a:gd name="connsiteY1" fmla="*/ 9203 h 10354"/>
              <a:gd name="connsiteX2" fmla="*/ 1855 w 10203"/>
              <a:gd name="connsiteY2" fmla="*/ 6327 h 10354"/>
              <a:gd name="connsiteX3" fmla="*/ 0 w 10203"/>
              <a:gd name="connsiteY3" fmla="*/ 0 h 10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03" h="10354">
                <a:moveTo>
                  <a:pt x="10203" y="10354"/>
                </a:moveTo>
                <a:lnTo>
                  <a:pt x="5565" y="9203"/>
                </a:lnTo>
                <a:lnTo>
                  <a:pt x="1855" y="632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Freeform 23"/>
          <p:cNvSpPr>
            <a:spLocks/>
          </p:cNvSpPr>
          <p:nvPr/>
        </p:nvSpPr>
        <p:spPr bwMode="auto">
          <a:xfrm>
            <a:off x="2209800" y="1905000"/>
            <a:ext cx="330200" cy="2743200"/>
          </a:xfrm>
          <a:custGeom>
            <a:avLst/>
            <a:gdLst/>
            <a:ahLst/>
            <a:cxnLst>
              <a:cxn ang="0">
                <a:pos x="208" y="1728"/>
              </a:cxn>
              <a:cxn ang="0">
                <a:pos x="135" y="1530"/>
              </a:cxn>
              <a:cxn ang="0">
                <a:pos x="0" y="1056"/>
              </a:cxn>
              <a:cxn ang="0">
                <a:pos x="0" y="0"/>
              </a:cxn>
            </a:cxnLst>
            <a:rect l="0" t="0" r="r" b="b"/>
            <a:pathLst>
              <a:path w="208" h="1728">
                <a:moveTo>
                  <a:pt x="208" y="1728"/>
                </a:moveTo>
                <a:lnTo>
                  <a:pt x="135" y="1530"/>
                </a:lnTo>
                <a:lnTo>
                  <a:pt x="0" y="105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Freeform 27"/>
          <p:cNvSpPr>
            <a:spLocks/>
          </p:cNvSpPr>
          <p:nvPr/>
        </p:nvSpPr>
        <p:spPr bwMode="auto">
          <a:xfrm>
            <a:off x="2362226" y="1905000"/>
            <a:ext cx="1828714" cy="2743223"/>
          </a:xfrm>
          <a:custGeom>
            <a:avLst/>
            <a:gdLst>
              <a:gd name="connsiteX0" fmla="*/ 0 w 12871"/>
              <a:gd name="connsiteY0" fmla="*/ 10000 h 10000"/>
              <a:gd name="connsiteX1" fmla="*/ 4546 w 12871"/>
              <a:gd name="connsiteY1" fmla="*/ 9247 h 10000"/>
              <a:gd name="connsiteX2" fmla="*/ 10000 w 12871"/>
              <a:gd name="connsiteY2" fmla="*/ 6365 h 10000"/>
              <a:gd name="connsiteX3" fmla="*/ 12871 w 12871"/>
              <a:gd name="connsiteY3" fmla="*/ 0 h 10000"/>
              <a:gd name="connsiteX0" fmla="*/ 0 w 12871"/>
              <a:gd name="connsiteY0" fmla="*/ 10000 h 10000"/>
              <a:gd name="connsiteX1" fmla="*/ 5693 w 12871"/>
              <a:gd name="connsiteY1" fmla="*/ 9259 h 10000"/>
              <a:gd name="connsiteX2" fmla="*/ 10000 w 12871"/>
              <a:gd name="connsiteY2" fmla="*/ 6365 h 10000"/>
              <a:gd name="connsiteX3" fmla="*/ 12871 w 12871"/>
              <a:gd name="connsiteY3" fmla="*/ 0 h 10000"/>
              <a:gd name="connsiteX0" fmla="*/ 0 w 11485"/>
              <a:gd name="connsiteY0" fmla="*/ 10416 h 10416"/>
              <a:gd name="connsiteX1" fmla="*/ 4307 w 11485"/>
              <a:gd name="connsiteY1" fmla="*/ 9259 h 10416"/>
              <a:gd name="connsiteX2" fmla="*/ 8614 w 11485"/>
              <a:gd name="connsiteY2" fmla="*/ 6365 h 10416"/>
              <a:gd name="connsiteX3" fmla="*/ 11485 w 11485"/>
              <a:gd name="connsiteY3" fmla="*/ 0 h 10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85" h="10416">
                <a:moveTo>
                  <a:pt x="0" y="10416"/>
                </a:moveTo>
                <a:lnTo>
                  <a:pt x="4307" y="9259"/>
                </a:lnTo>
                <a:lnTo>
                  <a:pt x="8614" y="6365"/>
                </a:lnTo>
                <a:lnTo>
                  <a:pt x="11485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Freeform 28"/>
          <p:cNvSpPr>
            <a:spLocks/>
          </p:cNvSpPr>
          <p:nvPr/>
        </p:nvSpPr>
        <p:spPr bwMode="auto">
          <a:xfrm>
            <a:off x="2489200" y="1905000"/>
            <a:ext cx="330200" cy="2760663"/>
          </a:xfrm>
          <a:custGeom>
            <a:avLst/>
            <a:gdLst/>
            <a:ahLst/>
            <a:cxnLst>
              <a:cxn ang="0">
                <a:pos x="0" y="1739"/>
              </a:cxn>
              <a:cxn ang="0">
                <a:pos x="72" y="1531"/>
              </a:cxn>
              <a:cxn ang="0">
                <a:pos x="208" y="1056"/>
              </a:cxn>
              <a:cxn ang="0">
                <a:pos x="208" y="0"/>
              </a:cxn>
            </a:cxnLst>
            <a:rect l="0" t="0" r="r" b="b"/>
            <a:pathLst>
              <a:path w="208" h="1739">
                <a:moveTo>
                  <a:pt x="0" y="1739"/>
                </a:moveTo>
                <a:lnTo>
                  <a:pt x="72" y="1531"/>
                </a:lnTo>
                <a:lnTo>
                  <a:pt x="208" y="1056"/>
                </a:lnTo>
                <a:lnTo>
                  <a:pt x="208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7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422917" name="Text Box 5"/>
          <p:cNvSpPr txBox="1">
            <a:spLocks noChangeArrowheads="1"/>
          </p:cNvSpPr>
          <p:nvPr/>
        </p:nvSpPr>
        <p:spPr bwMode="auto">
          <a:xfrm>
            <a:off x="685800" y="21336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0">
                <a:latin typeface="Arial" charset="0"/>
              </a:rPr>
              <a:t>Aberrated</a:t>
            </a:r>
          </a:p>
        </p:txBody>
      </p:sp>
      <p:sp>
        <p:nvSpPr>
          <p:cNvPr id="422918" name="Text Box 6"/>
          <p:cNvSpPr txBox="1">
            <a:spLocks noChangeArrowheads="1"/>
          </p:cNvSpPr>
          <p:nvPr/>
        </p:nvSpPr>
        <p:spPr bwMode="auto">
          <a:xfrm>
            <a:off x="5257800" y="21336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0">
                <a:latin typeface="Arial" charset="0"/>
              </a:rPr>
              <a:t>Unaberrated</a:t>
            </a:r>
          </a:p>
        </p:txBody>
      </p:sp>
      <p:pic>
        <p:nvPicPr>
          <p:cNvPr id="422919" name="Picture 7"/>
          <p:cNvPicPr>
            <a:picLocks noChangeAspect="1" noChangeArrowheads="1"/>
          </p:cNvPicPr>
          <p:nvPr/>
        </p:nvPicPr>
        <p:blipFill>
          <a:blip r:embed="rId3" cstate="print"/>
          <a:srcRect l="23351"/>
          <a:stretch>
            <a:fillRect/>
          </a:stretch>
        </p:blipFill>
        <p:spPr bwMode="auto">
          <a:xfrm>
            <a:off x="341313" y="2590800"/>
            <a:ext cx="4002087" cy="411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22920" name="Picture 8"/>
          <p:cNvPicPr>
            <a:picLocks noChangeAspect="1" noChangeArrowheads="1"/>
          </p:cNvPicPr>
          <p:nvPr/>
        </p:nvPicPr>
        <p:blipFill>
          <a:blip r:embed="rId4" cstate="print"/>
          <a:srcRect l="21892"/>
          <a:stretch>
            <a:fillRect/>
          </a:stretch>
        </p:blipFill>
        <p:spPr bwMode="auto">
          <a:xfrm>
            <a:off x="4724400" y="2514600"/>
            <a:ext cx="4078288" cy="416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Freeform 2"/>
          <p:cNvSpPr>
            <a:spLocks/>
          </p:cNvSpPr>
          <p:nvPr/>
        </p:nvSpPr>
        <p:spPr bwMode="auto">
          <a:xfrm>
            <a:off x="482600" y="2463800"/>
            <a:ext cx="2870200" cy="14557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736" y="0"/>
              </a:cxn>
              <a:cxn ang="0">
                <a:pos x="2736" y="240"/>
              </a:cxn>
              <a:cxn ang="0">
                <a:pos x="0" y="240"/>
              </a:cxn>
              <a:cxn ang="0">
                <a:pos x="0" y="0"/>
              </a:cxn>
            </a:cxnLst>
            <a:rect l="0" t="0" r="r" b="b"/>
            <a:pathLst>
              <a:path w="2736" h="240">
                <a:moveTo>
                  <a:pt x="0" y="0"/>
                </a:moveTo>
                <a:cubicBezTo>
                  <a:pt x="1368" y="0"/>
                  <a:pt x="2736" y="0"/>
                  <a:pt x="2736" y="0"/>
                </a:cubicBezTo>
                <a:cubicBezTo>
                  <a:pt x="2656" y="117"/>
                  <a:pt x="2709" y="165"/>
                  <a:pt x="2736" y="240"/>
                </a:cubicBezTo>
                <a:cubicBezTo>
                  <a:pt x="2736" y="240"/>
                  <a:pt x="1368" y="240"/>
                  <a:pt x="0" y="240"/>
                </a:cubicBezTo>
                <a:cubicBezTo>
                  <a:pt x="43" y="133"/>
                  <a:pt x="37" y="69"/>
                  <a:pt x="0" y="0"/>
                </a:cubicBezTo>
                <a:close/>
              </a:path>
            </a:pathLst>
          </a:custGeom>
          <a:solidFill>
            <a:srgbClr val="C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39" name="Freeform 3"/>
          <p:cNvSpPr>
            <a:spLocks/>
          </p:cNvSpPr>
          <p:nvPr/>
        </p:nvSpPr>
        <p:spPr bwMode="auto">
          <a:xfrm>
            <a:off x="152400" y="4064000"/>
            <a:ext cx="3852863" cy="1566863"/>
          </a:xfrm>
          <a:custGeom>
            <a:avLst/>
            <a:gdLst/>
            <a:ahLst/>
            <a:cxnLst>
              <a:cxn ang="0">
                <a:pos x="40" y="59"/>
              </a:cxn>
              <a:cxn ang="0">
                <a:pos x="2270" y="59"/>
              </a:cxn>
              <a:cxn ang="0">
                <a:pos x="2251" y="416"/>
              </a:cxn>
              <a:cxn ang="0">
                <a:pos x="2299" y="700"/>
              </a:cxn>
              <a:cxn ang="0">
                <a:pos x="40" y="700"/>
              </a:cxn>
              <a:cxn ang="0">
                <a:pos x="70" y="444"/>
              </a:cxn>
              <a:cxn ang="0">
                <a:pos x="11" y="315"/>
              </a:cxn>
              <a:cxn ang="0">
                <a:pos x="70" y="187"/>
              </a:cxn>
              <a:cxn ang="0">
                <a:pos x="40" y="59"/>
              </a:cxn>
            </a:cxnLst>
            <a:rect l="0" t="0" r="r" b="b"/>
            <a:pathLst>
              <a:path w="2427" h="700">
                <a:moveTo>
                  <a:pt x="40" y="59"/>
                </a:moveTo>
                <a:cubicBezTo>
                  <a:pt x="40" y="59"/>
                  <a:pt x="1902" y="0"/>
                  <a:pt x="2270" y="59"/>
                </a:cubicBezTo>
                <a:cubicBezTo>
                  <a:pt x="2427" y="384"/>
                  <a:pt x="2256" y="262"/>
                  <a:pt x="2251" y="416"/>
                </a:cubicBezTo>
                <a:cubicBezTo>
                  <a:pt x="2246" y="570"/>
                  <a:pt x="2331" y="549"/>
                  <a:pt x="2299" y="700"/>
                </a:cubicBezTo>
                <a:cubicBezTo>
                  <a:pt x="2299" y="700"/>
                  <a:pt x="1169" y="700"/>
                  <a:pt x="40" y="700"/>
                </a:cubicBezTo>
                <a:cubicBezTo>
                  <a:pt x="0" y="539"/>
                  <a:pt x="75" y="508"/>
                  <a:pt x="70" y="444"/>
                </a:cubicBezTo>
                <a:cubicBezTo>
                  <a:pt x="65" y="380"/>
                  <a:pt x="11" y="358"/>
                  <a:pt x="11" y="315"/>
                </a:cubicBezTo>
                <a:cubicBezTo>
                  <a:pt x="11" y="272"/>
                  <a:pt x="65" y="230"/>
                  <a:pt x="70" y="187"/>
                </a:cubicBezTo>
                <a:cubicBezTo>
                  <a:pt x="75" y="144"/>
                  <a:pt x="46" y="86"/>
                  <a:pt x="40" y="59"/>
                </a:cubicBezTo>
                <a:close/>
              </a:path>
            </a:pathLst>
          </a:custGeom>
          <a:solidFill>
            <a:srgbClr val="E3CFB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40" name="Rectangle 4"/>
          <p:cNvSpPr>
            <a:spLocks noChangeArrowheads="1"/>
          </p:cNvSpPr>
          <p:nvPr/>
        </p:nvSpPr>
        <p:spPr bwMode="auto">
          <a:xfrm>
            <a:off x="152400" y="3895725"/>
            <a:ext cx="3733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41" name="Freeform 5"/>
          <p:cNvSpPr>
            <a:spLocks/>
          </p:cNvSpPr>
          <p:nvPr/>
        </p:nvSpPr>
        <p:spPr bwMode="auto">
          <a:xfrm>
            <a:off x="152400" y="1524000"/>
            <a:ext cx="3675063" cy="947738"/>
          </a:xfrm>
          <a:custGeom>
            <a:avLst/>
            <a:gdLst/>
            <a:ahLst/>
            <a:cxnLst>
              <a:cxn ang="0">
                <a:pos x="2949" y="955"/>
              </a:cxn>
              <a:cxn ang="0">
                <a:pos x="0" y="955"/>
              </a:cxn>
              <a:cxn ang="0">
                <a:pos x="2949" y="955"/>
              </a:cxn>
            </a:cxnLst>
            <a:rect l="0" t="0" r="r" b="b"/>
            <a:pathLst>
              <a:path w="2949" h="955">
                <a:moveTo>
                  <a:pt x="2949" y="955"/>
                </a:moveTo>
                <a:cubicBezTo>
                  <a:pt x="1755" y="0"/>
                  <a:pt x="671" y="324"/>
                  <a:pt x="0" y="955"/>
                </a:cubicBezTo>
                <a:cubicBezTo>
                  <a:pt x="0" y="955"/>
                  <a:pt x="2949" y="955"/>
                  <a:pt x="2949" y="955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6342" name="Freeform 6"/>
          <p:cNvSpPr>
            <a:spLocks/>
          </p:cNvSpPr>
          <p:nvPr/>
        </p:nvSpPr>
        <p:spPr bwMode="auto">
          <a:xfrm>
            <a:off x="5308600" y="2463800"/>
            <a:ext cx="3716338" cy="312738"/>
          </a:xfrm>
          <a:custGeom>
            <a:avLst/>
            <a:gdLst/>
            <a:ahLst/>
            <a:cxnLst>
              <a:cxn ang="0">
                <a:pos x="37" y="0"/>
              </a:cxn>
              <a:cxn ang="0">
                <a:pos x="2293" y="0"/>
              </a:cxn>
              <a:cxn ang="0">
                <a:pos x="2293" y="197"/>
              </a:cxn>
              <a:cxn ang="0">
                <a:pos x="37" y="197"/>
              </a:cxn>
              <a:cxn ang="0">
                <a:pos x="37" y="0"/>
              </a:cxn>
            </a:cxnLst>
            <a:rect l="0" t="0" r="r" b="b"/>
            <a:pathLst>
              <a:path w="2341" h="197">
                <a:moveTo>
                  <a:pt x="37" y="0"/>
                </a:moveTo>
                <a:cubicBezTo>
                  <a:pt x="1165" y="0"/>
                  <a:pt x="2293" y="0"/>
                  <a:pt x="2293" y="0"/>
                </a:cubicBezTo>
                <a:cubicBezTo>
                  <a:pt x="2330" y="90"/>
                  <a:pt x="2341" y="117"/>
                  <a:pt x="2293" y="197"/>
                </a:cubicBezTo>
                <a:cubicBezTo>
                  <a:pt x="2293" y="197"/>
                  <a:pt x="1165" y="197"/>
                  <a:pt x="37" y="197"/>
                </a:cubicBezTo>
                <a:cubicBezTo>
                  <a:pt x="0" y="101"/>
                  <a:pt x="0" y="64"/>
                  <a:pt x="37" y="0"/>
                </a:cubicBezTo>
                <a:close/>
              </a:path>
            </a:pathLst>
          </a:custGeom>
          <a:solidFill>
            <a:srgbClr val="C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43" name="Freeform 7"/>
          <p:cNvSpPr>
            <a:spLocks/>
          </p:cNvSpPr>
          <p:nvPr/>
        </p:nvSpPr>
        <p:spPr bwMode="auto">
          <a:xfrm>
            <a:off x="5291138" y="1524000"/>
            <a:ext cx="3675062" cy="947738"/>
          </a:xfrm>
          <a:custGeom>
            <a:avLst/>
            <a:gdLst/>
            <a:ahLst/>
            <a:cxnLst>
              <a:cxn ang="0">
                <a:pos x="2949" y="955"/>
              </a:cxn>
              <a:cxn ang="0">
                <a:pos x="0" y="955"/>
              </a:cxn>
              <a:cxn ang="0">
                <a:pos x="2949" y="955"/>
              </a:cxn>
            </a:cxnLst>
            <a:rect l="0" t="0" r="r" b="b"/>
            <a:pathLst>
              <a:path w="2949" h="955">
                <a:moveTo>
                  <a:pt x="2949" y="955"/>
                </a:moveTo>
                <a:cubicBezTo>
                  <a:pt x="1755" y="0"/>
                  <a:pt x="671" y="324"/>
                  <a:pt x="0" y="955"/>
                </a:cubicBezTo>
                <a:cubicBezTo>
                  <a:pt x="0" y="955"/>
                  <a:pt x="2949" y="955"/>
                  <a:pt x="2949" y="955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6344" name="Freeform 8"/>
          <p:cNvSpPr>
            <a:spLocks/>
          </p:cNvSpPr>
          <p:nvPr/>
        </p:nvSpPr>
        <p:spPr bwMode="auto">
          <a:xfrm>
            <a:off x="5291138" y="2928938"/>
            <a:ext cx="3852862" cy="1566862"/>
          </a:xfrm>
          <a:custGeom>
            <a:avLst/>
            <a:gdLst/>
            <a:ahLst/>
            <a:cxnLst>
              <a:cxn ang="0">
                <a:pos x="40" y="59"/>
              </a:cxn>
              <a:cxn ang="0">
                <a:pos x="2270" y="59"/>
              </a:cxn>
              <a:cxn ang="0">
                <a:pos x="2251" y="416"/>
              </a:cxn>
              <a:cxn ang="0">
                <a:pos x="2299" y="700"/>
              </a:cxn>
              <a:cxn ang="0">
                <a:pos x="40" y="700"/>
              </a:cxn>
              <a:cxn ang="0">
                <a:pos x="70" y="444"/>
              </a:cxn>
              <a:cxn ang="0">
                <a:pos x="11" y="315"/>
              </a:cxn>
              <a:cxn ang="0">
                <a:pos x="70" y="187"/>
              </a:cxn>
              <a:cxn ang="0">
                <a:pos x="40" y="59"/>
              </a:cxn>
            </a:cxnLst>
            <a:rect l="0" t="0" r="r" b="b"/>
            <a:pathLst>
              <a:path w="2427" h="700">
                <a:moveTo>
                  <a:pt x="40" y="59"/>
                </a:moveTo>
                <a:cubicBezTo>
                  <a:pt x="40" y="59"/>
                  <a:pt x="1902" y="0"/>
                  <a:pt x="2270" y="59"/>
                </a:cubicBezTo>
                <a:cubicBezTo>
                  <a:pt x="2427" y="384"/>
                  <a:pt x="2256" y="262"/>
                  <a:pt x="2251" y="416"/>
                </a:cubicBezTo>
                <a:cubicBezTo>
                  <a:pt x="2246" y="570"/>
                  <a:pt x="2331" y="549"/>
                  <a:pt x="2299" y="700"/>
                </a:cubicBezTo>
                <a:cubicBezTo>
                  <a:pt x="2299" y="700"/>
                  <a:pt x="1169" y="700"/>
                  <a:pt x="40" y="700"/>
                </a:cubicBezTo>
                <a:cubicBezTo>
                  <a:pt x="0" y="539"/>
                  <a:pt x="75" y="508"/>
                  <a:pt x="70" y="444"/>
                </a:cubicBezTo>
                <a:cubicBezTo>
                  <a:pt x="65" y="380"/>
                  <a:pt x="11" y="358"/>
                  <a:pt x="11" y="315"/>
                </a:cubicBezTo>
                <a:cubicBezTo>
                  <a:pt x="11" y="272"/>
                  <a:pt x="65" y="230"/>
                  <a:pt x="70" y="187"/>
                </a:cubicBezTo>
                <a:cubicBezTo>
                  <a:pt x="75" y="144"/>
                  <a:pt x="46" y="86"/>
                  <a:pt x="40" y="59"/>
                </a:cubicBezTo>
                <a:close/>
              </a:path>
            </a:pathLst>
          </a:custGeom>
          <a:solidFill>
            <a:srgbClr val="E3CFB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45" name="Rectangle 9"/>
          <p:cNvSpPr>
            <a:spLocks noChangeArrowheads="1"/>
          </p:cNvSpPr>
          <p:nvPr/>
        </p:nvSpPr>
        <p:spPr bwMode="auto">
          <a:xfrm>
            <a:off x="5291138" y="2776538"/>
            <a:ext cx="3733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46" name="Text Box 10"/>
          <p:cNvSpPr txBox="1">
            <a:spLocks noChangeArrowheads="1"/>
          </p:cNvSpPr>
          <p:nvPr/>
        </p:nvSpPr>
        <p:spPr bwMode="auto">
          <a:xfrm>
            <a:off x="592138" y="2592388"/>
            <a:ext cx="376237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n</a:t>
            </a:r>
            <a:r>
              <a:rPr lang="en-US" altLang="en-US" sz="2000" b="0" baseline="-25000">
                <a:solidFill>
                  <a:schemeClr val="accent2"/>
                </a:solidFill>
                <a:latin typeface="Chalkboard" charset="0"/>
              </a:rPr>
              <a:t>1</a:t>
            </a:r>
            <a:endParaRPr lang="en-US" altLang="en-US" sz="20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26347" name="Text Box 11"/>
          <p:cNvSpPr txBox="1">
            <a:spLocks noChangeArrowheads="1"/>
          </p:cNvSpPr>
          <p:nvPr/>
        </p:nvSpPr>
        <p:spPr bwMode="auto">
          <a:xfrm>
            <a:off x="4073525" y="4251325"/>
            <a:ext cx="1330325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800" b="0">
                <a:latin typeface="Chalkboard" charset="0"/>
              </a:rPr>
              <a:t>Mechanical</a:t>
            </a:r>
          </a:p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800" b="0">
                <a:latin typeface="Chalkboard" charset="0"/>
              </a:rPr>
              <a:t>focus</a:t>
            </a:r>
          </a:p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800" b="0">
                <a:latin typeface="Chalkboard" charset="0"/>
              </a:rPr>
              <a:t>step </a:t>
            </a:r>
            <a:r>
              <a:rPr lang="en-US" altLang="en-US" sz="1800" b="0">
                <a:latin typeface="Chalkboard" charset="0"/>
                <a:sym typeface="Symbol" pitchFamily="18" charset="2"/>
              </a:rPr>
              <a:t></a:t>
            </a:r>
            <a:r>
              <a:rPr lang="en-US" altLang="en-US" sz="1800" b="0">
                <a:latin typeface="Chalkboard" charset="0"/>
              </a:rPr>
              <a:t>z</a:t>
            </a:r>
            <a:r>
              <a:rPr lang="en-US" altLang="en-US" sz="1800" b="0" baseline="-25000">
                <a:latin typeface="Chalkboard" charset="0"/>
              </a:rPr>
              <a:t>m</a:t>
            </a:r>
            <a:endParaRPr lang="en-US" altLang="en-US" sz="1800" b="0">
              <a:latin typeface="Chalkboard" charset="0"/>
            </a:endParaRPr>
          </a:p>
        </p:txBody>
      </p:sp>
      <p:sp>
        <p:nvSpPr>
          <p:cNvPr id="526348" name="Text Box 12"/>
          <p:cNvSpPr txBox="1">
            <a:spLocks noChangeArrowheads="1"/>
          </p:cNvSpPr>
          <p:nvPr/>
        </p:nvSpPr>
        <p:spPr bwMode="auto">
          <a:xfrm>
            <a:off x="533400" y="4300538"/>
            <a:ext cx="407988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n</a:t>
            </a:r>
            <a:r>
              <a:rPr lang="en-US" altLang="en-US" sz="2000" b="0" baseline="-25000">
                <a:solidFill>
                  <a:schemeClr val="accent2"/>
                </a:solidFill>
                <a:latin typeface="Chalkboard" charset="0"/>
              </a:rPr>
              <a:t>2</a:t>
            </a:r>
            <a:endParaRPr lang="en-US" altLang="en-US" sz="20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26349" name="Line 13"/>
          <p:cNvSpPr>
            <a:spLocks noChangeShapeType="1"/>
          </p:cNvSpPr>
          <p:nvPr/>
        </p:nvSpPr>
        <p:spPr bwMode="auto">
          <a:xfrm flipV="1">
            <a:off x="4613275" y="3065463"/>
            <a:ext cx="0" cy="1143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50" name="Line 14"/>
          <p:cNvSpPr>
            <a:spLocks noChangeShapeType="1"/>
          </p:cNvSpPr>
          <p:nvPr/>
        </p:nvSpPr>
        <p:spPr bwMode="auto">
          <a:xfrm>
            <a:off x="4122738" y="3078163"/>
            <a:ext cx="143986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26351" name="Group 15"/>
          <p:cNvGrpSpPr>
            <a:grpSpLocks/>
          </p:cNvGrpSpPr>
          <p:nvPr/>
        </p:nvGrpSpPr>
        <p:grpSpPr bwMode="auto">
          <a:xfrm>
            <a:off x="685800" y="609600"/>
            <a:ext cx="1227138" cy="3598863"/>
            <a:chOff x="432" y="384"/>
            <a:chExt cx="773" cy="2267"/>
          </a:xfrm>
        </p:grpSpPr>
        <p:sp>
          <p:nvSpPr>
            <p:cNvPr id="526352" name="Freeform 16"/>
            <p:cNvSpPr>
              <a:spLocks/>
            </p:cNvSpPr>
            <p:nvPr/>
          </p:nvSpPr>
          <p:spPr bwMode="auto">
            <a:xfrm>
              <a:off x="432" y="384"/>
              <a:ext cx="773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53" name="Freeform 17"/>
            <p:cNvSpPr>
              <a:spLocks/>
            </p:cNvSpPr>
            <p:nvPr/>
          </p:nvSpPr>
          <p:spPr bwMode="auto">
            <a:xfrm>
              <a:off x="624" y="384"/>
              <a:ext cx="581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54" name="Freeform 18"/>
            <p:cNvSpPr>
              <a:spLocks/>
            </p:cNvSpPr>
            <p:nvPr/>
          </p:nvSpPr>
          <p:spPr bwMode="auto">
            <a:xfrm>
              <a:off x="816" y="384"/>
              <a:ext cx="389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55" name="Freeform 19"/>
            <p:cNvSpPr>
              <a:spLocks/>
            </p:cNvSpPr>
            <p:nvPr/>
          </p:nvSpPr>
          <p:spPr bwMode="auto">
            <a:xfrm>
              <a:off x="1008" y="384"/>
              <a:ext cx="197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26356" name="Group 20"/>
          <p:cNvGrpSpPr>
            <a:grpSpLocks/>
          </p:cNvGrpSpPr>
          <p:nvPr/>
        </p:nvGrpSpPr>
        <p:grpSpPr bwMode="auto">
          <a:xfrm flipH="1">
            <a:off x="1912938" y="609600"/>
            <a:ext cx="1211262" cy="3598863"/>
            <a:chOff x="432" y="384"/>
            <a:chExt cx="773" cy="2267"/>
          </a:xfrm>
        </p:grpSpPr>
        <p:sp>
          <p:nvSpPr>
            <p:cNvPr id="526357" name="Freeform 21"/>
            <p:cNvSpPr>
              <a:spLocks/>
            </p:cNvSpPr>
            <p:nvPr/>
          </p:nvSpPr>
          <p:spPr bwMode="auto">
            <a:xfrm>
              <a:off x="432" y="384"/>
              <a:ext cx="773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58" name="Freeform 22"/>
            <p:cNvSpPr>
              <a:spLocks/>
            </p:cNvSpPr>
            <p:nvPr/>
          </p:nvSpPr>
          <p:spPr bwMode="auto">
            <a:xfrm>
              <a:off x="624" y="384"/>
              <a:ext cx="581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59" name="Freeform 23"/>
            <p:cNvSpPr>
              <a:spLocks/>
            </p:cNvSpPr>
            <p:nvPr/>
          </p:nvSpPr>
          <p:spPr bwMode="auto">
            <a:xfrm>
              <a:off x="816" y="384"/>
              <a:ext cx="389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60" name="Freeform 24"/>
            <p:cNvSpPr>
              <a:spLocks/>
            </p:cNvSpPr>
            <p:nvPr/>
          </p:nvSpPr>
          <p:spPr bwMode="auto">
            <a:xfrm>
              <a:off x="1008" y="384"/>
              <a:ext cx="197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26361" name="Line 25"/>
          <p:cNvSpPr>
            <a:spLocks noChangeShapeType="1"/>
          </p:cNvSpPr>
          <p:nvPr/>
        </p:nvSpPr>
        <p:spPr bwMode="auto">
          <a:xfrm flipV="1">
            <a:off x="1905000" y="609600"/>
            <a:ext cx="0" cy="3581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26362" name="Group 26"/>
          <p:cNvGrpSpPr>
            <a:grpSpLocks/>
          </p:cNvGrpSpPr>
          <p:nvPr/>
        </p:nvGrpSpPr>
        <p:grpSpPr bwMode="auto">
          <a:xfrm>
            <a:off x="5859463" y="609600"/>
            <a:ext cx="1209675" cy="3022600"/>
            <a:chOff x="3691" y="384"/>
            <a:chExt cx="762" cy="1904"/>
          </a:xfrm>
        </p:grpSpPr>
        <p:sp>
          <p:nvSpPr>
            <p:cNvPr id="526363" name="Freeform 27"/>
            <p:cNvSpPr>
              <a:spLocks/>
            </p:cNvSpPr>
            <p:nvPr/>
          </p:nvSpPr>
          <p:spPr bwMode="auto">
            <a:xfrm>
              <a:off x="3691" y="384"/>
              <a:ext cx="762" cy="1899"/>
            </a:xfrm>
            <a:custGeom>
              <a:avLst/>
              <a:gdLst/>
              <a:ahLst/>
              <a:cxnLst>
                <a:cxn ang="0">
                  <a:pos x="762" y="1899"/>
                </a:cxn>
                <a:cxn ang="0">
                  <a:pos x="317" y="1553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2" h="1899">
                  <a:moveTo>
                    <a:pt x="762" y="1899"/>
                  </a:moveTo>
                  <a:lnTo>
                    <a:pt x="317" y="1553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64" name="Freeform 28"/>
            <p:cNvSpPr>
              <a:spLocks/>
            </p:cNvSpPr>
            <p:nvPr/>
          </p:nvSpPr>
          <p:spPr bwMode="auto">
            <a:xfrm>
              <a:off x="3883" y="384"/>
              <a:ext cx="570" cy="1899"/>
            </a:xfrm>
            <a:custGeom>
              <a:avLst/>
              <a:gdLst/>
              <a:ahLst/>
              <a:cxnLst>
                <a:cxn ang="0">
                  <a:pos x="570" y="1899"/>
                </a:cxn>
                <a:cxn ang="0">
                  <a:pos x="239" y="1554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570" h="1899">
                  <a:moveTo>
                    <a:pt x="570" y="1899"/>
                  </a:moveTo>
                  <a:lnTo>
                    <a:pt x="239" y="1554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65" name="Freeform 29"/>
            <p:cNvSpPr>
              <a:spLocks/>
            </p:cNvSpPr>
            <p:nvPr/>
          </p:nvSpPr>
          <p:spPr bwMode="auto">
            <a:xfrm>
              <a:off x="4075" y="384"/>
              <a:ext cx="378" cy="1904"/>
            </a:xfrm>
            <a:custGeom>
              <a:avLst/>
              <a:gdLst/>
              <a:ahLst/>
              <a:cxnLst>
                <a:cxn ang="0">
                  <a:pos x="378" y="1904"/>
                </a:cxn>
                <a:cxn ang="0">
                  <a:pos x="159" y="1553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378" h="1904">
                  <a:moveTo>
                    <a:pt x="378" y="1904"/>
                  </a:moveTo>
                  <a:lnTo>
                    <a:pt x="159" y="1553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66" name="Freeform 30"/>
            <p:cNvSpPr>
              <a:spLocks/>
            </p:cNvSpPr>
            <p:nvPr/>
          </p:nvSpPr>
          <p:spPr bwMode="auto">
            <a:xfrm>
              <a:off x="4267" y="384"/>
              <a:ext cx="186" cy="1904"/>
            </a:xfrm>
            <a:custGeom>
              <a:avLst/>
              <a:gdLst/>
              <a:ahLst/>
              <a:cxnLst>
                <a:cxn ang="0">
                  <a:pos x="186" y="1904"/>
                </a:cxn>
                <a:cxn ang="0">
                  <a:pos x="81" y="155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186" h="1904">
                  <a:moveTo>
                    <a:pt x="186" y="1904"/>
                  </a:moveTo>
                  <a:lnTo>
                    <a:pt x="81" y="1558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26367" name="Group 31"/>
          <p:cNvGrpSpPr>
            <a:grpSpLocks/>
          </p:cNvGrpSpPr>
          <p:nvPr/>
        </p:nvGrpSpPr>
        <p:grpSpPr bwMode="auto">
          <a:xfrm flipH="1">
            <a:off x="7077075" y="609600"/>
            <a:ext cx="1228725" cy="3022600"/>
            <a:chOff x="3691" y="384"/>
            <a:chExt cx="762" cy="1904"/>
          </a:xfrm>
        </p:grpSpPr>
        <p:sp>
          <p:nvSpPr>
            <p:cNvPr id="526368" name="Freeform 32"/>
            <p:cNvSpPr>
              <a:spLocks/>
            </p:cNvSpPr>
            <p:nvPr/>
          </p:nvSpPr>
          <p:spPr bwMode="auto">
            <a:xfrm>
              <a:off x="3691" y="384"/>
              <a:ext cx="762" cy="1899"/>
            </a:xfrm>
            <a:custGeom>
              <a:avLst/>
              <a:gdLst/>
              <a:ahLst/>
              <a:cxnLst>
                <a:cxn ang="0">
                  <a:pos x="762" y="1899"/>
                </a:cxn>
                <a:cxn ang="0">
                  <a:pos x="317" y="1553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2" h="1899">
                  <a:moveTo>
                    <a:pt x="762" y="1899"/>
                  </a:moveTo>
                  <a:lnTo>
                    <a:pt x="317" y="1553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69" name="Freeform 33"/>
            <p:cNvSpPr>
              <a:spLocks/>
            </p:cNvSpPr>
            <p:nvPr/>
          </p:nvSpPr>
          <p:spPr bwMode="auto">
            <a:xfrm>
              <a:off x="3883" y="384"/>
              <a:ext cx="570" cy="1899"/>
            </a:xfrm>
            <a:custGeom>
              <a:avLst/>
              <a:gdLst/>
              <a:ahLst/>
              <a:cxnLst>
                <a:cxn ang="0">
                  <a:pos x="570" y="1899"/>
                </a:cxn>
                <a:cxn ang="0">
                  <a:pos x="239" y="1554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570" h="1899">
                  <a:moveTo>
                    <a:pt x="570" y="1899"/>
                  </a:moveTo>
                  <a:lnTo>
                    <a:pt x="239" y="1554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70" name="Freeform 34"/>
            <p:cNvSpPr>
              <a:spLocks/>
            </p:cNvSpPr>
            <p:nvPr/>
          </p:nvSpPr>
          <p:spPr bwMode="auto">
            <a:xfrm>
              <a:off x="4075" y="384"/>
              <a:ext cx="378" cy="1904"/>
            </a:xfrm>
            <a:custGeom>
              <a:avLst/>
              <a:gdLst/>
              <a:ahLst/>
              <a:cxnLst>
                <a:cxn ang="0">
                  <a:pos x="378" y="1904"/>
                </a:cxn>
                <a:cxn ang="0">
                  <a:pos x="159" y="1553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378" h="1904">
                  <a:moveTo>
                    <a:pt x="378" y="1904"/>
                  </a:moveTo>
                  <a:lnTo>
                    <a:pt x="159" y="1553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71" name="Freeform 35"/>
            <p:cNvSpPr>
              <a:spLocks/>
            </p:cNvSpPr>
            <p:nvPr/>
          </p:nvSpPr>
          <p:spPr bwMode="auto">
            <a:xfrm>
              <a:off x="4267" y="384"/>
              <a:ext cx="186" cy="1904"/>
            </a:xfrm>
            <a:custGeom>
              <a:avLst/>
              <a:gdLst/>
              <a:ahLst/>
              <a:cxnLst>
                <a:cxn ang="0">
                  <a:pos x="186" y="1904"/>
                </a:cxn>
                <a:cxn ang="0">
                  <a:pos x="81" y="155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186" h="1904">
                  <a:moveTo>
                    <a:pt x="186" y="1904"/>
                  </a:moveTo>
                  <a:lnTo>
                    <a:pt x="81" y="1558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26372" name="Line 36"/>
          <p:cNvSpPr>
            <a:spLocks noChangeShapeType="1"/>
          </p:cNvSpPr>
          <p:nvPr/>
        </p:nvSpPr>
        <p:spPr bwMode="auto">
          <a:xfrm flipV="1">
            <a:off x="7072313" y="571500"/>
            <a:ext cx="0" cy="3048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73" name="Text Box 37"/>
          <p:cNvSpPr txBox="1">
            <a:spLocks noChangeArrowheads="1"/>
          </p:cNvSpPr>
          <p:nvPr/>
        </p:nvSpPr>
        <p:spPr bwMode="auto">
          <a:xfrm>
            <a:off x="7515225" y="3725863"/>
            <a:ext cx="1138238" cy="696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800" b="0">
                <a:latin typeface="Chalkboard" charset="0"/>
              </a:rPr>
              <a:t>Optical</a:t>
            </a:r>
          </a:p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800" b="0">
                <a:latin typeface="Chalkboard" charset="0"/>
              </a:rPr>
              <a:t>focus</a:t>
            </a:r>
          </a:p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800" b="0">
                <a:latin typeface="Chalkboard" charset="0"/>
              </a:rPr>
              <a:t>step </a:t>
            </a:r>
            <a:r>
              <a:rPr lang="en-US" altLang="en-US" sz="1800" b="0">
                <a:latin typeface="Chalkboard" charset="0"/>
                <a:sym typeface="Symbol" pitchFamily="18" charset="2"/>
              </a:rPr>
              <a:t></a:t>
            </a:r>
            <a:r>
              <a:rPr lang="en-US" altLang="en-US" sz="1800" b="0">
                <a:latin typeface="Chalkboard" charset="0"/>
              </a:rPr>
              <a:t>z</a:t>
            </a:r>
            <a:r>
              <a:rPr lang="en-US" altLang="en-US" sz="1800" b="0" baseline="-25000">
                <a:latin typeface="Chalkboard" charset="0"/>
              </a:rPr>
              <a:t>o</a:t>
            </a:r>
          </a:p>
        </p:txBody>
      </p:sp>
      <p:sp>
        <p:nvSpPr>
          <p:cNvPr id="526374" name="Line 38"/>
          <p:cNvSpPr>
            <a:spLocks noChangeShapeType="1"/>
          </p:cNvSpPr>
          <p:nvPr/>
        </p:nvSpPr>
        <p:spPr bwMode="auto">
          <a:xfrm flipV="1">
            <a:off x="8093075" y="3090863"/>
            <a:ext cx="0" cy="5508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75" name="Line 39"/>
          <p:cNvSpPr>
            <a:spLocks noChangeShapeType="1"/>
          </p:cNvSpPr>
          <p:nvPr/>
        </p:nvSpPr>
        <p:spPr bwMode="auto">
          <a:xfrm>
            <a:off x="6713538" y="36449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76" name="Rectangle 40"/>
          <p:cNvSpPr>
            <a:spLocks noChangeArrowheads="1"/>
          </p:cNvSpPr>
          <p:nvPr/>
        </p:nvSpPr>
        <p:spPr bwMode="auto">
          <a:xfrm>
            <a:off x="406400" y="515938"/>
            <a:ext cx="8323263" cy="9572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77" name="Text Box 41"/>
          <p:cNvSpPr txBox="1">
            <a:spLocks noChangeArrowheads="1"/>
          </p:cNvSpPr>
          <p:nvPr/>
        </p:nvSpPr>
        <p:spPr bwMode="auto">
          <a:xfrm>
            <a:off x="1219200" y="386090"/>
            <a:ext cx="67516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 eaLnBrk="0" hangingPunct="0"/>
            <a:r>
              <a:rPr lang="en-US" altLang="en-US" sz="2800" b="0" dirty="0">
                <a:solidFill>
                  <a:schemeClr val="tx2"/>
                </a:solidFill>
                <a:latin typeface="Chalkboard" charset="0"/>
              </a:rPr>
              <a:t>Index </a:t>
            </a:r>
            <a:r>
              <a:rPr lang="en-US" altLang="en-US" sz="2800" b="0" dirty="0" smtClean="0">
                <a:solidFill>
                  <a:schemeClr val="tx2"/>
                </a:solidFill>
                <a:latin typeface="Chalkboard" charset="0"/>
              </a:rPr>
              <a:t>Mismatch &amp; </a:t>
            </a:r>
            <a:r>
              <a:rPr lang="en-US" altLang="en-US" sz="2800" b="0" dirty="0">
                <a:solidFill>
                  <a:schemeClr val="tx2"/>
                </a:solidFill>
                <a:latin typeface="Chalkboard" charset="0"/>
              </a:rPr>
              <a:t>Axial Scaling</a:t>
            </a:r>
          </a:p>
        </p:txBody>
      </p:sp>
      <p:grpSp>
        <p:nvGrpSpPr>
          <p:cNvPr id="526378" name="Group 42"/>
          <p:cNvGrpSpPr>
            <a:grpSpLocks/>
          </p:cNvGrpSpPr>
          <p:nvPr/>
        </p:nvGrpSpPr>
        <p:grpSpPr bwMode="auto">
          <a:xfrm>
            <a:off x="2347913" y="5100638"/>
            <a:ext cx="6251575" cy="1525587"/>
            <a:chOff x="1479" y="3213"/>
            <a:chExt cx="3938" cy="961"/>
          </a:xfrm>
        </p:grpSpPr>
        <p:sp>
          <p:nvSpPr>
            <p:cNvPr id="526379" name="AutoShape 43"/>
            <p:cNvSpPr>
              <a:spLocks noChangeArrowheads="1"/>
            </p:cNvSpPr>
            <p:nvPr/>
          </p:nvSpPr>
          <p:spPr bwMode="auto">
            <a:xfrm>
              <a:off x="1479" y="3822"/>
              <a:ext cx="3254" cy="352"/>
            </a:xfrm>
            <a:prstGeom prst="roundRect">
              <a:avLst>
                <a:gd name="adj" fmla="val 16667"/>
              </a:avLst>
            </a:prstGeom>
            <a:solidFill>
              <a:srgbClr val="E8FA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169863" indent="-169863" algn="ctr" eaLnBrk="0" hangingPunct="0">
                <a:lnSpc>
                  <a:spcPct val="70000"/>
                </a:lnSpc>
              </a:pPr>
              <a:r>
                <a:rPr lang="en-US" altLang="en-US" sz="1800" b="0">
                  <a:solidFill>
                    <a:srgbClr val="FF0000"/>
                  </a:solidFill>
                  <a:latin typeface="Chalkboard" charset="0"/>
                </a:rPr>
                <a:t>If there is index mismatch,</a:t>
              </a:r>
            </a:p>
            <a:p>
              <a:pPr marL="169863" indent="-169863" algn="ctr" eaLnBrk="0" hangingPunct="0">
                <a:lnSpc>
                  <a:spcPct val="70000"/>
                </a:lnSpc>
              </a:pPr>
              <a:r>
                <a:rPr lang="en-US" altLang="en-US" sz="1800" b="0">
                  <a:solidFill>
                    <a:srgbClr val="FF0000"/>
                  </a:solidFill>
                  <a:latin typeface="Chalkboard" charset="0"/>
                </a:rPr>
                <a:t>your z pixel size is not what you think</a:t>
              </a:r>
              <a:endParaRPr lang="en-US" sz="1800" b="0">
                <a:latin typeface="Chalkboard" charset="0"/>
              </a:endParaRPr>
            </a:p>
          </p:txBody>
        </p:sp>
        <p:sp>
          <p:nvSpPr>
            <p:cNvPr id="526380" name="AutoShape 44"/>
            <p:cNvSpPr>
              <a:spLocks noChangeArrowheads="1"/>
            </p:cNvSpPr>
            <p:nvPr/>
          </p:nvSpPr>
          <p:spPr bwMode="auto">
            <a:xfrm>
              <a:off x="4140" y="3213"/>
              <a:ext cx="1277" cy="493"/>
            </a:xfrm>
            <a:prstGeom prst="roundRect">
              <a:avLst>
                <a:gd name="adj" fmla="val 16667"/>
              </a:avLst>
            </a:prstGeom>
            <a:solidFill>
              <a:srgbClr val="E8FA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169863" indent="-169863" algn="ctr" eaLnBrk="0" hangingPunct="0">
                <a:lnSpc>
                  <a:spcPct val="70000"/>
                </a:lnSpc>
              </a:pPr>
              <a:endParaRPr lang="en-US" sz="1800" b="0">
                <a:latin typeface="Chalkboard" charset="0"/>
              </a:endParaRPr>
            </a:p>
            <a:p>
              <a:pPr marL="169863" indent="-169863" algn="ctr" eaLnBrk="0" hangingPunct="0">
                <a:lnSpc>
                  <a:spcPct val="70000"/>
                </a:lnSpc>
              </a:pPr>
              <a:endParaRPr lang="en-US" sz="1800" b="0">
                <a:latin typeface="Chalkboard" charset="0"/>
              </a:endParaRPr>
            </a:p>
            <a:p>
              <a:pPr marL="169863" indent="-169863" algn="ctr" eaLnBrk="0" hangingPunct="0">
                <a:lnSpc>
                  <a:spcPct val="70000"/>
                </a:lnSpc>
              </a:pPr>
              <a:endParaRPr lang="en-US" sz="1800" b="0">
                <a:latin typeface="Chalkboard" charset="0"/>
              </a:endParaRPr>
            </a:p>
          </p:txBody>
        </p:sp>
        <p:graphicFrame>
          <p:nvGraphicFramePr>
            <p:cNvPr id="526381" name="Object 45"/>
            <p:cNvGraphicFramePr>
              <a:graphicFrameLocks noChangeAspect="1"/>
            </p:cNvGraphicFramePr>
            <p:nvPr/>
          </p:nvGraphicFramePr>
          <p:xfrm>
            <a:off x="4295" y="3243"/>
            <a:ext cx="901" cy="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6384" name="Equation" r:id="rId4" imgW="876300" imgH="406400" progId="Equation.3">
                    <p:embed/>
                  </p:oleObj>
                </mc:Choice>
                <mc:Fallback>
                  <p:oleObj name="Equation" r:id="rId4" imgW="876300" imgH="406400" progId="Equation.3">
                    <p:embed/>
                    <p:pic>
                      <p:nvPicPr>
                        <p:cNvPr id="0" name="Picture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5" y="3243"/>
                          <a:ext cx="901" cy="4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6382" name="Line 46"/>
          <p:cNvSpPr>
            <a:spLocks noChangeShapeType="1"/>
          </p:cNvSpPr>
          <p:nvPr/>
        </p:nvSpPr>
        <p:spPr bwMode="auto">
          <a:xfrm>
            <a:off x="3479800" y="4195763"/>
            <a:ext cx="1481138" cy="79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 Mismatch &amp; Axial Scaling</a:t>
            </a:r>
            <a:endParaRPr lang="en-US" dirty="0"/>
          </a:p>
        </p:txBody>
      </p:sp>
      <p:pic>
        <p:nvPicPr>
          <p:cNvPr id="60825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64" t="21626" r="17158" b="20372"/>
          <a:stretch/>
        </p:blipFill>
        <p:spPr bwMode="auto">
          <a:xfrm>
            <a:off x="533400" y="2514600"/>
            <a:ext cx="1435681" cy="1414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8259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48" r="16413"/>
          <a:stretch/>
        </p:blipFill>
        <p:spPr bwMode="auto">
          <a:xfrm>
            <a:off x="1905000" y="2057400"/>
            <a:ext cx="1615172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447800" y="914400"/>
            <a:ext cx="624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dirty="0" smtClean="0">
                <a:latin typeface="+mj-lt"/>
              </a:rPr>
              <a:t>2 </a:t>
            </a:r>
            <a:r>
              <a:rPr lang="en-US" b="0" dirty="0" smtClean="0">
                <a:latin typeface="Symbol" pitchFamily="18" charset="2"/>
                <a:sym typeface="Symbol"/>
              </a:rPr>
              <a:t></a:t>
            </a:r>
            <a:r>
              <a:rPr lang="en-US" b="0" dirty="0" smtClean="0">
                <a:latin typeface="+mj-lt"/>
              </a:rPr>
              <a:t>m beads</a:t>
            </a:r>
            <a:endParaRPr lang="en-US" b="0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4572000"/>
            <a:ext cx="2834372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dirty="0" smtClean="0">
                <a:latin typeface="+mn-lt"/>
              </a:rPr>
              <a:t>n = 1.32</a:t>
            </a:r>
            <a:endParaRPr lang="en-US" b="0" dirty="0">
              <a:latin typeface="+mn-lt"/>
            </a:endParaRPr>
          </a:p>
        </p:txBody>
      </p:sp>
      <p:pic>
        <p:nvPicPr>
          <p:cNvPr id="608260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12" t="32608" r="32316" b="30418"/>
          <a:stretch/>
        </p:blipFill>
        <p:spPr bwMode="auto">
          <a:xfrm>
            <a:off x="5093292" y="2580830"/>
            <a:ext cx="1700615" cy="180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8261" name="Picture 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77" t="6323" r="33352" b="13537"/>
          <a:stretch/>
        </p:blipFill>
        <p:spPr bwMode="auto">
          <a:xfrm>
            <a:off x="6759724" y="1518302"/>
            <a:ext cx="1632246" cy="3908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16354" y="19812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 err="1" smtClean="0">
                <a:latin typeface="+mn-lt"/>
              </a:rPr>
              <a:t>xy</a:t>
            </a:r>
            <a:endParaRPr lang="en-US" b="0" dirty="0"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66364" y="151830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latin typeface="+mn-lt"/>
              </a:rPr>
              <a:t>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97377" y="2057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 err="1" smtClean="0">
                <a:latin typeface="+mn-lt"/>
              </a:rPr>
              <a:t>xy</a:t>
            </a:r>
            <a:endParaRPr lang="en-US" b="0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06694" y="105450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latin typeface="+mn-lt"/>
              </a:rPr>
              <a:t>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6721" y="5426579"/>
            <a:ext cx="2834372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dirty="0" smtClean="0">
                <a:latin typeface="+mn-lt"/>
              </a:rPr>
              <a:t>n = 1.52</a:t>
            </a:r>
            <a:endParaRPr lang="en-US" b="0" dirty="0"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97377" y="6488668"/>
            <a:ext cx="3446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0" dirty="0" smtClean="0">
                <a:latin typeface="+mn-lt"/>
              </a:rPr>
              <a:t>Mark Chan</a:t>
            </a:r>
            <a:endParaRPr lang="en-US" sz="18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69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Text Box 2"/>
          <p:cNvSpPr txBox="1">
            <a:spLocks noChangeArrowheads="1"/>
          </p:cNvSpPr>
          <p:nvPr/>
        </p:nvSpPr>
        <p:spPr bwMode="auto">
          <a:xfrm>
            <a:off x="404813" y="1143000"/>
            <a:ext cx="50355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en-US" dirty="0">
                <a:solidFill>
                  <a:schemeClr val="accent2"/>
                </a:solidFill>
                <a:latin typeface="Chalkboard" charset="0"/>
              </a:rPr>
              <a:t>Off-axis   (edges of field of view)</a:t>
            </a:r>
          </a:p>
        </p:txBody>
      </p:sp>
      <p:sp>
        <p:nvSpPr>
          <p:cNvPr id="534531" name="Text Box 3"/>
          <p:cNvSpPr txBox="1">
            <a:spLocks noChangeArrowheads="1"/>
          </p:cNvSpPr>
          <p:nvPr/>
        </p:nvSpPr>
        <p:spPr bwMode="auto">
          <a:xfrm>
            <a:off x="1911350" y="109538"/>
            <a:ext cx="5370513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Sources of Astigmatism &amp; Coma</a:t>
            </a:r>
          </a:p>
        </p:txBody>
      </p:sp>
      <p:sp>
        <p:nvSpPr>
          <p:cNvPr id="534532" name="Text Box 4"/>
          <p:cNvSpPr txBox="1">
            <a:spLocks noChangeArrowheads="1"/>
          </p:cNvSpPr>
          <p:nvPr/>
        </p:nvSpPr>
        <p:spPr bwMode="auto">
          <a:xfrm>
            <a:off x="381000" y="3352800"/>
            <a:ext cx="50577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en-US" dirty="0">
                <a:solidFill>
                  <a:schemeClr val="accent2"/>
                </a:solidFill>
                <a:latin typeface="Chalkboard" charset="0"/>
              </a:rPr>
              <a:t>On-axis   (center of field of view)</a:t>
            </a:r>
          </a:p>
        </p:txBody>
      </p:sp>
      <p:sp>
        <p:nvSpPr>
          <p:cNvPr id="534533" name="Text Box 5"/>
          <p:cNvSpPr txBox="1">
            <a:spLocks noChangeArrowheads="1"/>
          </p:cNvSpPr>
          <p:nvPr/>
        </p:nvSpPr>
        <p:spPr bwMode="auto">
          <a:xfrm>
            <a:off x="403225" y="1595438"/>
            <a:ext cx="3144838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228600" indent="-228600" eaLnBrk="0" hangingPunct="0">
              <a:buFontTx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All objectives have some</a:t>
            </a:r>
          </a:p>
          <a:p>
            <a:pPr marL="228600" indent="-228600" eaLnBrk="0" hangingPunct="0">
              <a:buFontTx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Present in the design</a:t>
            </a:r>
          </a:p>
          <a:p>
            <a:pPr marL="228600" indent="-228600" eaLnBrk="0" hangingPunct="0">
              <a:buFontTx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You get what you pay for</a:t>
            </a:r>
          </a:p>
        </p:txBody>
      </p:sp>
      <p:sp>
        <p:nvSpPr>
          <p:cNvPr id="534534" name="Text Box 6"/>
          <p:cNvSpPr txBox="1">
            <a:spLocks noChangeArrowheads="1"/>
          </p:cNvSpPr>
          <p:nvPr/>
        </p:nvSpPr>
        <p:spPr bwMode="auto">
          <a:xfrm>
            <a:off x="381000" y="3803213"/>
            <a:ext cx="6973704" cy="258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Should be none, by symmetry.</a:t>
            </a:r>
          </a:p>
          <a:p>
            <a:pPr eaLnBrk="0" hangingPunct="0"/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If they are there, they could be from:</a:t>
            </a:r>
          </a:p>
          <a:p>
            <a:pPr marL="627063" lvl="1" indent="-169863" eaLnBrk="0" hangingPunct="0">
              <a:buFontTx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manufacturing or assembly tolerances</a:t>
            </a:r>
          </a:p>
          <a:p>
            <a:pPr marL="627063" lvl="1" indent="-169863" eaLnBrk="0" hangingPunct="0">
              <a:buFontTx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dirt or abuse</a:t>
            </a:r>
          </a:p>
          <a:p>
            <a:pPr marL="627063" lvl="1" indent="-169863" eaLnBrk="0" hangingPunct="0">
              <a:buFontTx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Misalignment (tilt, off-axis shift of something)</a:t>
            </a:r>
          </a:p>
          <a:p>
            <a:pPr marL="627063" lvl="1" indent="-169863" eaLnBrk="0" hangingPunct="0">
              <a:buFontTx/>
              <a:buChar char="•"/>
            </a:pPr>
            <a:r>
              <a:rPr lang="en-US" altLang="en-US" sz="1800" dirty="0">
                <a:solidFill>
                  <a:schemeClr val="tx2"/>
                </a:solidFill>
                <a:latin typeface="Chalkboard" charset="0"/>
              </a:rPr>
              <a:t>bad downstream components </a:t>
            </a: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(mirrors, </a:t>
            </a:r>
            <a:r>
              <a:rPr lang="en-US" altLang="en-US" sz="1800" b="0" dirty="0" err="1">
                <a:solidFill>
                  <a:schemeClr val="tx2"/>
                </a:solidFill>
                <a:latin typeface="Chalkboard" charset="0"/>
              </a:rPr>
              <a:t>dichroics</a:t>
            </a: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, filters…)</a:t>
            </a:r>
          </a:p>
          <a:p>
            <a:pPr marL="627063" lvl="1" indent="-169863" eaLnBrk="0" hangingPunct="0">
              <a:buFontTx/>
              <a:buChar char="•"/>
            </a:pPr>
            <a:r>
              <a:rPr lang="en-US" altLang="en-US" sz="1800" dirty="0">
                <a:solidFill>
                  <a:schemeClr val="tx2"/>
                </a:solidFill>
                <a:latin typeface="Chalkboard" charset="0"/>
              </a:rPr>
              <a:t>Air bubble</a:t>
            </a: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 in the immersion fluid or sample</a:t>
            </a:r>
          </a:p>
          <a:p>
            <a:pPr marL="627063" lvl="1" indent="-169863" eaLnBrk="0" hangingPunct="0">
              <a:buFontTx/>
              <a:buChar char="•"/>
            </a:pPr>
            <a:r>
              <a:rPr lang="en-US" altLang="en-US" sz="1800" dirty="0">
                <a:solidFill>
                  <a:schemeClr val="tx2"/>
                </a:solidFill>
                <a:latin typeface="Chalkboard" charset="0"/>
              </a:rPr>
              <a:t>Tilted cover slip</a:t>
            </a:r>
            <a:endParaRPr lang="en-US" altLang="en-US" sz="1800" b="0" dirty="0">
              <a:solidFill>
                <a:schemeClr val="tx2"/>
              </a:solidFill>
              <a:latin typeface="Chalkboard" charset="0"/>
            </a:endParaRPr>
          </a:p>
          <a:p>
            <a:pPr lvl="2" eaLnBrk="0" hangingPunct="0"/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(dry and water-immersion high-NA lenses)</a:t>
            </a:r>
          </a:p>
        </p:txBody>
      </p:sp>
      <p:sp>
        <p:nvSpPr>
          <p:cNvPr id="534535" name="Freeform 7"/>
          <p:cNvSpPr>
            <a:spLocks/>
          </p:cNvSpPr>
          <p:nvPr/>
        </p:nvSpPr>
        <p:spPr bwMode="auto">
          <a:xfrm rot="-16200000">
            <a:off x="7777956" y="2717007"/>
            <a:ext cx="119063" cy="819150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36" name="Freeform 8"/>
          <p:cNvSpPr>
            <a:spLocks/>
          </p:cNvSpPr>
          <p:nvPr/>
        </p:nvSpPr>
        <p:spPr bwMode="auto">
          <a:xfrm rot="-16200000">
            <a:off x="7797801" y="977900"/>
            <a:ext cx="120650" cy="136842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37" name="Freeform 9"/>
          <p:cNvSpPr>
            <a:spLocks/>
          </p:cNvSpPr>
          <p:nvPr/>
        </p:nvSpPr>
        <p:spPr bwMode="auto">
          <a:xfrm rot="16200000" flipV="1">
            <a:off x="7794626" y="1925637"/>
            <a:ext cx="95250" cy="12604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38" name="Line 10"/>
          <p:cNvSpPr>
            <a:spLocks noChangeShapeType="1"/>
          </p:cNvSpPr>
          <p:nvPr/>
        </p:nvSpPr>
        <p:spPr bwMode="auto">
          <a:xfrm>
            <a:off x="7612063" y="3370263"/>
            <a:ext cx="463550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39" name="Freeform 11"/>
          <p:cNvSpPr>
            <a:spLocks/>
          </p:cNvSpPr>
          <p:nvPr/>
        </p:nvSpPr>
        <p:spPr bwMode="auto">
          <a:xfrm>
            <a:off x="7259638" y="741363"/>
            <a:ext cx="1141412" cy="2614612"/>
          </a:xfrm>
          <a:custGeom>
            <a:avLst/>
            <a:gdLst/>
            <a:ahLst/>
            <a:cxnLst>
              <a:cxn ang="0">
                <a:pos x="255" y="2887"/>
              </a:cxn>
              <a:cxn ang="0">
                <a:pos x="396" y="2671"/>
              </a:cxn>
              <a:cxn ang="0">
                <a:pos x="719" y="1965"/>
              </a:cxn>
              <a:cxn ang="0">
                <a:pos x="335" y="1037"/>
              </a:cxn>
              <a:cxn ang="0">
                <a:pos x="0" y="0"/>
              </a:cxn>
            </a:cxnLst>
            <a:rect l="0" t="0" r="r" b="b"/>
            <a:pathLst>
              <a:path w="719" h="2887">
                <a:moveTo>
                  <a:pt x="255" y="2887"/>
                </a:moveTo>
                <a:lnTo>
                  <a:pt x="396" y="2671"/>
                </a:lnTo>
                <a:lnTo>
                  <a:pt x="719" y="1965"/>
                </a:lnTo>
                <a:lnTo>
                  <a:pt x="335" y="103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0" name="Freeform 12"/>
          <p:cNvSpPr>
            <a:spLocks/>
          </p:cNvSpPr>
          <p:nvPr/>
        </p:nvSpPr>
        <p:spPr bwMode="auto">
          <a:xfrm>
            <a:off x="7251700" y="739775"/>
            <a:ext cx="1193800" cy="2625725"/>
          </a:xfrm>
          <a:custGeom>
            <a:avLst/>
            <a:gdLst/>
            <a:ahLst/>
            <a:cxnLst>
              <a:cxn ang="0">
                <a:pos x="260" y="2899"/>
              </a:cxn>
              <a:cxn ang="0">
                <a:pos x="113" y="2667"/>
              </a:cxn>
              <a:cxn ang="0">
                <a:pos x="424" y="1971"/>
              </a:cxn>
              <a:cxn ang="0">
                <a:pos x="752" y="1067"/>
              </a:cxn>
              <a:cxn ang="0">
                <a:pos x="0" y="0"/>
              </a:cxn>
            </a:cxnLst>
            <a:rect l="0" t="0" r="r" b="b"/>
            <a:pathLst>
              <a:path w="752" h="2899">
                <a:moveTo>
                  <a:pt x="260" y="2899"/>
                </a:moveTo>
                <a:lnTo>
                  <a:pt x="113" y="2667"/>
                </a:lnTo>
                <a:lnTo>
                  <a:pt x="424" y="1971"/>
                </a:lnTo>
                <a:lnTo>
                  <a:pt x="752" y="106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1" name="Line 13"/>
          <p:cNvSpPr>
            <a:spLocks noChangeShapeType="1"/>
          </p:cNvSpPr>
          <p:nvPr/>
        </p:nvSpPr>
        <p:spPr bwMode="auto">
          <a:xfrm>
            <a:off x="7335838" y="2935288"/>
            <a:ext cx="228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2" name="Line 14"/>
          <p:cNvSpPr>
            <a:spLocks noChangeShapeType="1"/>
          </p:cNvSpPr>
          <p:nvPr/>
        </p:nvSpPr>
        <p:spPr bwMode="auto">
          <a:xfrm>
            <a:off x="8105775" y="2935288"/>
            <a:ext cx="228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3" name="Rectangle 15"/>
          <p:cNvSpPr>
            <a:spLocks noChangeArrowheads="1"/>
          </p:cNvSpPr>
          <p:nvPr/>
        </p:nvSpPr>
        <p:spPr bwMode="auto">
          <a:xfrm>
            <a:off x="7162800" y="685800"/>
            <a:ext cx="1308100" cy="5873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4" name="Freeform 16"/>
          <p:cNvSpPr>
            <a:spLocks/>
          </p:cNvSpPr>
          <p:nvPr/>
        </p:nvSpPr>
        <p:spPr bwMode="auto">
          <a:xfrm>
            <a:off x="7343775" y="2873375"/>
            <a:ext cx="990600" cy="304800"/>
          </a:xfrm>
          <a:custGeom>
            <a:avLst/>
            <a:gdLst/>
            <a:ahLst/>
            <a:cxnLst>
              <a:cxn ang="0">
                <a:pos x="48" y="336"/>
              </a:cxn>
              <a:cxn ang="0">
                <a:pos x="0" y="288"/>
              </a:cxn>
              <a:cxn ang="0">
                <a:pos x="0" y="0"/>
              </a:cxn>
              <a:cxn ang="0">
                <a:pos x="672" y="0"/>
              </a:cxn>
              <a:cxn ang="0">
                <a:pos x="672" y="288"/>
              </a:cxn>
              <a:cxn ang="0">
                <a:pos x="624" y="336"/>
              </a:cxn>
            </a:cxnLst>
            <a:rect l="0" t="0" r="r" b="b"/>
            <a:pathLst>
              <a:path w="672" h="336">
                <a:moveTo>
                  <a:pt x="48" y="336"/>
                </a:moveTo>
                <a:lnTo>
                  <a:pt x="0" y="288"/>
                </a:lnTo>
                <a:lnTo>
                  <a:pt x="0" y="0"/>
                </a:lnTo>
                <a:lnTo>
                  <a:pt x="672" y="0"/>
                </a:lnTo>
                <a:lnTo>
                  <a:pt x="672" y="288"/>
                </a:lnTo>
                <a:lnTo>
                  <a:pt x="624" y="3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5" name="Freeform 17"/>
          <p:cNvSpPr>
            <a:spLocks/>
          </p:cNvSpPr>
          <p:nvPr/>
        </p:nvSpPr>
        <p:spPr bwMode="auto">
          <a:xfrm rot="-16200000">
            <a:off x="7777956" y="5917407"/>
            <a:ext cx="119063" cy="819150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6" name="Freeform 18"/>
          <p:cNvSpPr>
            <a:spLocks/>
          </p:cNvSpPr>
          <p:nvPr/>
        </p:nvSpPr>
        <p:spPr bwMode="auto">
          <a:xfrm rot="-16200000">
            <a:off x="7797801" y="4178300"/>
            <a:ext cx="120650" cy="136842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7" name="Freeform 19"/>
          <p:cNvSpPr>
            <a:spLocks/>
          </p:cNvSpPr>
          <p:nvPr/>
        </p:nvSpPr>
        <p:spPr bwMode="auto">
          <a:xfrm rot="16200000" flipV="1">
            <a:off x="7794626" y="5126037"/>
            <a:ext cx="95250" cy="12604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8" name="Line 20"/>
          <p:cNvSpPr>
            <a:spLocks noChangeShapeType="1"/>
          </p:cNvSpPr>
          <p:nvPr/>
        </p:nvSpPr>
        <p:spPr bwMode="auto">
          <a:xfrm>
            <a:off x="7612063" y="6570663"/>
            <a:ext cx="463550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9" name="Freeform 21"/>
          <p:cNvSpPr>
            <a:spLocks/>
          </p:cNvSpPr>
          <p:nvPr/>
        </p:nvSpPr>
        <p:spPr bwMode="auto">
          <a:xfrm>
            <a:off x="7607300" y="3946525"/>
            <a:ext cx="533400" cy="2608263"/>
          </a:xfrm>
          <a:custGeom>
            <a:avLst/>
            <a:gdLst/>
            <a:ahLst/>
            <a:cxnLst>
              <a:cxn ang="0">
                <a:pos x="141" y="2879"/>
              </a:cxn>
              <a:cxn ang="0">
                <a:pos x="0" y="2663"/>
              </a:cxn>
              <a:cxn ang="0">
                <a:pos x="0" y="1991"/>
              </a:cxn>
              <a:cxn ang="0">
                <a:pos x="336" y="1031"/>
              </a:cxn>
              <a:cxn ang="0">
                <a:pos x="149" y="0"/>
              </a:cxn>
            </a:cxnLst>
            <a:rect l="0" t="0" r="r" b="b"/>
            <a:pathLst>
              <a:path w="336" h="2879">
                <a:moveTo>
                  <a:pt x="141" y="2879"/>
                </a:moveTo>
                <a:lnTo>
                  <a:pt x="0" y="2663"/>
                </a:lnTo>
                <a:lnTo>
                  <a:pt x="0" y="1991"/>
                </a:lnTo>
                <a:lnTo>
                  <a:pt x="336" y="1031"/>
                </a:lnTo>
                <a:lnTo>
                  <a:pt x="149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50" name="Freeform 22"/>
          <p:cNvSpPr>
            <a:spLocks/>
          </p:cNvSpPr>
          <p:nvPr/>
        </p:nvSpPr>
        <p:spPr bwMode="auto">
          <a:xfrm>
            <a:off x="7531100" y="3941763"/>
            <a:ext cx="533400" cy="2627312"/>
          </a:xfrm>
          <a:custGeom>
            <a:avLst/>
            <a:gdLst/>
            <a:ahLst/>
            <a:cxnLst>
              <a:cxn ang="0">
                <a:pos x="189" y="2901"/>
              </a:cxn>
              <a:cxn ang="0">
                <a:pos x="336" y="2669"/>
              </a:cxn>
              <a:cxn ang="0">
                <a:pos x="336" y="1997"/>
              </a:cxn>
              <a:cxn ang="0">
                <a:pos x="0" y="1037"/>
              </a:cxn>
              <a:cxn ang="0">
                <a:pos x="197" y="0"/>
              </a:cxn>
            </a:cxnLst>
            <a:rect l="0" t="0" r="r" b="b"/>
            <a:pathLst>
              <a:path w="336" h="2901">
                <a:moveTo>
                  <a:pt x="189" y="2901"/>
                </a:moveTo>
                <a:lnTo>
                  <a:pt x="336" y="2669"/>
                </a:lnTo>
                <a:lnTo>
                  <a:pt x="336" y="1997"/>
                </a:lnTo>
                <a:lnTo>
                  <a:pt x="0" y="1037"/>
                </a:lnTo>
                <a:lnTo>
                  <a:pt x="197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51" name="Line 23"/>
          <p:cNvSpPr>
            <a:spLocks noChangeShapeType="1"/>
          </p:cNvSpPr>
          <p:nvPr/>
        </p:nvSpPr>
        <p:spPr bwMode="auto">
          <a:xfrm>
            <a:off x="7335838" y="6135688"/>
            <a:ext cx="228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52" name="Line 24"/>
          <p:cNvSpPr>
            <a:spLocks noChangeShapeType="1"/>
          </p:cNvSpPr>
          <p:nvPr/>
        </p:nvSpPr>
        <p:spPr bwMode="auto">
          <a:xfrm>
            <a:off x="8105775" y="6135688"/>
            <a:ext cx="228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53" name="Rectangle 25"/>
          <p:cNvSpPr>
            <a:spLocks noChangeArrowheads="1"/>
          </p:cNvSpPr>
          <p:nvPr/>
        </p:nvSpPr>
        <p:spPr bwMode="auto">
          <a:xfrm>
            <a:off x="7162800" y="3886200"/>
            <a:ext cx="1308100" cy="5873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54" name="Freeform 26"/>
          <p:cNvSpPr>
            <a:spLocks/>
          </p:cNvSpPr>
          <p:nvPr/>
        </p:nvSpPr>
        <p:spPr bwMode="auto">
          <a:xfrm>
            <a:off x="7343775" y="6073775"/>
            <a:ext cx="990600" cy="304800"/>
          </a:xfrm>
          <a:custGeom>
            <a:avLst/>
            <a:gdLst/>
            <a:ahLst/>
            <a:cxnLst>
              <a:cxn ang="0">
                <a:pos x="48" y="336"/>
              </a:cxn>
              <a:cxn ang="0">
                <a:pos x="0" y="288"/>
              </a:cxn>
              <a:cxn ang="0">
                <a:pos x="0" y="0"/>
              </a:cxn>
              <a:cxn ang="0">
                <a:pos x="672" y="0"/>
              </a:cxn>
              <a:cxn ang="0">
                <a:pos x="672" y="288"/>
              </a:cxn>
              <a:cxn ang="0">
                <a:pos x="624" y="336"/>
              </a:cxn>
            </a:cxnLst>
            <a:rect l="0" t="0" r="r" b="b"/>
            <a:pathLst>
              <a:path w="672" h="336">
                <a:moveTo>
                  <a:pt x="48" y="336"/>
                </a:moveTo>
                <a:lnTo>
                  <a:pt x="0" y="288"/>
                </a:lnTo>
                <a:lnTo>
                  <a:pt x="0" y="0"/>
                </a:lnTo>
                <a:lnTo>
                  <a:pt x="672" y="0"/>
                </a:lnTo>
                <a:lnTo>
                  <a:pt x="672" y="288"/>
                </a:lnTo>
                <a:lnTo>
                  <a:pt x="624" y="3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/>
          <p:cNvSpPr txBox="1">
            <a:spLocks noChangeArrowheads="1"/>
          </p:cNvSpPr>
          <p:nvPr/>
        </p:nvSpPr>
        <p:spPr bwMode="auto">
          <a:xfrm>
            <a:off x="1679575" y="1119188"/>
            <a:ext cx="5364163" cy="143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More about</a:t>
            </a:r>
          </a:p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Spatial frequencies &amp; the</a:t>
            </a:r>
          </a:p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Optical Transfer Function (OTF)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247650" y="23813"/>
            <a:ext cx="8731250" cy="6564312"/>
            <a:chOff x="156" y="15"/>
            <a:chExt cx="5500" cy="4135"/>
          </a:xfrm>
        </p:grpSpPr>
        <p:sp>
          <p:nvSpPr>
            <p:cNvPr id="62466" name="Text Box 2"/>
            <p:cNvSpPr txBox="1">
              <a:spLocks noChangeArrowheads="1"/>
            </p:cNvSpPr>
            <p:nvPr/>
          </p:nvSpPr>
          <p:spPr bwMode="auto">
            <a:xfrm>
              <a:off x="156" y="15"/>
              <a:ext cx="5352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en-US" sz="2800">
                  <a:solidFill>
                    <a:schemeClr val="tx2"/>
                  </a:solidFill>
                  <a:latin typeface="Chalkboard" charset="0"/>
                </a:rPr>
                <a:t>The response to pure waves is well-defined by the</a:t>
              </a:r>
            </a:p>
            <a:p>
              <a:pPr algn="ctr"/>
              <a:r>
                <a:rPr lang="en-US" altLang="en-US" sz="2800">
                  <a:solidFill>
                    <a:schemeClr val="tx2"/>
                  </a:solidFill>
                  <a:latin typeface="Chalkboard" charset="0"/>
                </a:rPr>
                <a:t>Optical Transfer Function (OTF)</a:t>
              </a:r>
            </a:p>
          </p:txBody>
        </p:sp>
        <p:sp>
          <p:nvSpPr>
            <p:cNvPr id="62467" name="Text Box 3"/>
            <p:cNvSpPr txBox="1">
              <a:spLocks noChangeArrowheads="1"/>
            </p:cNvSpPr>
            <p:nvPr/>
          </p:nvSpPr>
          <p:spPr bwMode="auto">
            <a:xfrm>
              <a:off x="544" y="3578"/>
              <a:ext cx="644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altLang="en-US" sz="1800">
                  <a:solidFill>
                    <a:srgbClr val="660066"/>
                  </a:solidFill>
                  <a:latin typeface="Chalkboard" charset="0"/>
                </a:rPr>
                <a:t>Object</a:t>
              </a:r>
            </a:p>
          </p:txBody>
        </p:sp>
        <p:pic>
          <p:nvPicPr>
            <p:cNvPr id="62468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273" y="3309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2469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276" y="3309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2470" name="Picture 6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280" y="3310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458" y="2403"/>
              <a:ext cx="3663" cy="840"/>
              <a:chOff x="458" y="2403"/>
              <a:chExt cx="3663" cy="840"/>
            </a:xfrm>
          </p:grpSpPr>
          <p:sp>
            <p:nvSpPr>
              <p:cNvPr id="62472" name="Text Box 8"/>
              <p:cNvSpPr txBox="1">
                <a:spLocks noChangeArrowheads="1"/>
              </p:cNvSpPr>
              <p:nvPr/>
            </p:nvSpPr>
            <p:spPr bwMode="auto">
              <a:xfrm>
                <a:off x="458" y="2686"/>
                <a:ext cx="764" cy="3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en-US" sz="1800">
                    <a:solidFill>
                      <a:srgbClr val="660066"/>
                    </a:solidFill>
                    <a:latin typeface="Chalkboard" charset="0"/>
                  </a:rPr>
                  <a:t>Observed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en-US" sz="1800">
                    <a:solidFill>
                      <a:srgbClr val="660066"/>
                    </a:solidFill>
                    <a:latin typeface="Chalkboard" charset="0"/>
                  </a:rPr>
                  <a:t>image</a:t>
                </a:r>
              </a:p>
            </p:txBody>
          </p:sp>
          <p:pic>
            <p:nvPicPr>
              <p:cNvPr id="62473" name="Picture 9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1274" y="2403"/>
                <a:ext cx="840" cy="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62474" name="Picture 10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2277" y="2403"/>
                <a:ext cx="840" cy="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62475" name="Picture 11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3281" y="2403"/>
                <a:ext cx="840" cy="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grpSp>
          <p:nvGrpSpPr>
            <p:cNvPr id="4" name="Group 12"/>
            <p:cNvGrpSpPr>
              <a:grpSpLocks/>
            </p:cNvGrpSpPr>
            <p:nvPr/>
          </p:nvGrpSpPr>
          <p:grpSpPr bwMode="auto">
            <a:xfrm>
              <a:off x="454" y="686"/>
              <a:ext cx="5202" cy="1725"/>
              <a:chOff x="454" y="686"/>
              <a:chExt cx="5202" cy="1725"/>
            </a:xfrm>
          </p:grpSpPr>
          <p:pic>
            <p:nvPicPr>
              <p:cNvPr id="62477" name="Picture 13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529" y="874"/>
                <a:ext cx="3025" cy="10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62478" name="Rectangle 14"/>
              <p:cNvSpPr>
                <a:spLocks noChangeArrowheads="1"/>
              </p:cNvSpPr>
              <p:nvPr/>
            </p:nvSpPr>
            <p:spPr bwMode="auto">
              <a:xfrm>
                <a:off x="454" y="816"/>
                <a:ext cx="1572" cy="112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79" name="Rectangle 15"/>
              <p:cNvSpPr>
                <a:spLocks noChangeArrowheads="1"/>
              </p:cNvSpPr>
              <p:nvPr/>
            </p:nvSpPr>
            <p:spPr bwMode="auto">
              <a:xfrm>
                <a:off x="4473" y="1958"/>
                <a:ext cx="1183" cy="3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(Spatial frequency,</a:t>
                </a:r>
              </a:p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periods/meter)</a:t>
                </a:r>
              </a:p>
            </p:txBody>
          </p:sp>
          <p:sp>
            <p:nvSpPr>
              <p:cNvPr id="62480" name="Freeform 16"/>
              <p:cNvSpPr>
                <a:spLocks/>
              </p:cNvSpPr>
              <p:nvPr/>
            </p:nvSpPr>
            <p:spPr bwMode="auto">
              <a:xfrm>
                <a:off x="3952" y="2005"/>
                <a:ext cx="560" cy="129"/>
              </a:xfrm>
              <a:custGeom>
                <a:avLst/>
                <a:gdLst/>
                <a:ahLst/>
                <a:cxnLst>
                  <a:cxn ang="0">
                    <a:pos x="560" y="86"/>
                  </a:cxn>
                  <a:cxn ang="0">
                    <a:pos x="0" y="17"/>
                  </a:cxn>
                </a:cxnLst>
                <a:rect l="0" t="0" r="r" b="b"/>
                <a:pathLst>
                  <a:path w="560" h="129">
                    <a:moveTo>
                      <a:pt x="560" y="86"/>
                    </a:moveTo>
                    <a:cubicBezTo>
                      <a:pt x="415" y="129"/>
                      <a:pt x="219" y="0"/>
                      <a:pt x="0" y="17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1" name="Freeform 17"/>
              <p:cNvSpPr>
                <a:spLocks/>
              </p:cNvSpPr>
              <p:nvPr/>
            </p:nvSpPr>
            <p:spPr bwMode="auto">
              <a:xfrm>
                <a:off x="1685" y="1910"/>
                <a:ext cx="641" cy="490"/>
              </a:xfrm>
              <a:custGeom>
                <a:avLst/>
                <a:gdLst/>
                <a:ahLst/>
                <a:cxnLst>
                  <a:cxn ang="0">
                    <a:pos x="0" y="549"/>
                  </a:cxn>
                  <a:cxn ang="0">
                    <a:pos x="1014" y="0"/>
                  </a:cxn>
                </a:cxnLst>
                <a:rect l="0" t="0" r="r" b="b"/>
                <a:pathLst>
                  <a:path w="1014" h="549">
                    <a:moveTo>
                      <a:pt x="0" y="549"/>
                    </a:moveTo>
                    <a:cubicBezTo>
                      <a:pt x="11" y="341"/>
                      <a:pt x="1008" y="448"/>
                      <a:pt x="1014" y="0"/>
                    </a:cubicBezTo>
                  </a:path>
                </a:pathLst>
              </a:custGeom>
              <a:noFill/>
              <a:ln w="9525" cap="flat" cmpd="sng">
                <a:solidFill>
                  <a:srgbClr val="0000CC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2" name="Freeform 18"/>
              <p:cNvSpPr>
                <a:spLocks/>
              </p:cNvSpPr>
              <p:nvPr/>
            </p:nvSpPr>
            <p:spPr bwMode="auto">
              <a:xfrm>
                <a:off x="2704" y="1896"/>
                <a:ext cx="240" cy="515"/>
              </a:xfrm>
              <a:custGeom>
                <a:avLst/>
                <a:gdLst/>
                <a:ahLst/>
                <a:cxnLst>
                  <a:cxn ang="0">
                    <a:pos x="0" y="571"/>
                  </a:cxn>
                  <a:cxn ang="0">
                    <a:pos x="453" y="0"/>
                  </a:cxn>
                </a:cxnLst>
                <a:rect l="0" t="0" r="r" b="b"/>
                <a:pathLst>
                  <a:path w="453" h="571">
                    <a:moveTo>
                      <a:pt x="0" y="571"/>
                    </a:moveTo>
                    <a:cubicBezTo>
                      <a:pt x="11" y="363"/>
                      <a:pt x="453" y="464"/>
                      <a:pt x="453" y="0"/>
                    </a:cubicBezTo>
                  </a:path>
                </a:pathLst>
              </a:custGeom>
              <a:noFill/>
              <a:ln w="9525" cap="flat" cmpd="sng">
                <a:solidFill>
                  <a:srgbClr val="0000CC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3" name="Freeform 19"/>
              <p:cNvSpPr>
                <a:spLocks/>
              </p:cNvSpPr>
              <p:nvPr/>
            </p:nvSpPr>
            <p:spPr bwMode="auto">
              <a:xfrm>
                <a:off x="3504" y="1898"/>
                <a:ext cx="187" cy="507"/>
              </a:xfrm>
              <a:custGeom>
                <a:avLst/>
                <a:gdLst/>
                <a:ahLst/>
                <a:cxnLst>
                  <a:cxn ang="0">
                    <a:pos x="91" y="539"/>
                  </a:cxn>
                  <a:cxn ang="0">
                    <a:pos x="0" y="0"/>
                  </a:cxn>
                </a:cxnLst>
                <a:rect l="0" t="0" r="r" b="b"/>
                <a:pathLst>
                  <a:path w="91" h="539">
                    <a:moveTo>
                      <a:pt x="91" y="539"/>
                    </a:moveTo>
                    <a:cubicBezTo>
                      <a:pt x="80" y="336"/>
                      <a:pt x="0" y="464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rgbClr val="0000CC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4" name="Line 20"/>
              <p:cNvSpPr>
                <a:spLocks noChangeShapeType="1"/>
              </p:cNvSpPr>
              <p:nvPr/>
            </p:nvSpPr>
            <p:spPr bwMode="auto">
              <a:xfrm>
                <a:off x="1933" y="1900"/>
                <a:ext cx="192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5" name="Line 21"/>
              <p:cNvSpPr>
                <a:spLocks noChangeShapeType="1"/>
              </p:cNvSpPr>
              <p:nvPr/>
            </p:nvSpPr>
            <p:spPr bwMode="auto">
              <a:xfrm flipV="1">
                <a:off x="2330" y="1238"/>
                <a:ext cx="0" cy="659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6" name="Line 22"/>
              <p:cNvSpPr>
                <a:spLocks noChangeShapeType="1"/>
              </p:cNvSpPr>
              <p:nvPr/>
            </p:nvSpPr>
            <p:spPr bwMode="auto">
              <a:xfrm flipV="1">
                <a:off x="2939" y="1744"/>
                <a:ext cx="0" cy="133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7" name="Line 23"/>
              <p:cNvSpPr>
                <a:spLocks noChangeShapeType="1"/>
              </p:cNvSpPr>
              <p:nvPr/>
            </p:nvSpPr>
            <p:spPr bwMode="auto">
              <a:xfrm flipH="1">
                <a:off x="3259" y="1898"/>
                <a:ext cx="320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8" name="Text Box 24"/>
              <p:cNvSpPr txBox="1">
                <a:spLocks noChangeArrowheads="1"/>
              </p:cNvSpPr>
              <p:nvPr/>
            </p:nvSpPr>
            <p:spPr bwMode="auto">
              <a:xfrm>
                <a:off x="3766" y="1924"/>
                <a:ext cx="180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en-US" sz="1600" i="1">
                    <a:solidFill>
                      <a:srgbClr val="000000"/>
                    </a:solidFill>
                    <a:latin typeface="Helvetica" charset="0"/>
                  </a:rPr>
                  <a:t>k</a:t>
                </a:r>
                <a:endParaRPr lang="en-US" altLang="en-US" sz="1600">
                  <a:solidFill>
                    <a:srgbClr val="000000"/>
                  </a:solidFill>
                  <a:latin typeface="Helvetica" charset="0"/>
                </a:endParaRPr>
              </a:p>
            </p:txBody>
          </p:sp>
          <p:sp>
            <p:nvSpPr>
              <p:cNvPr id="62489" name="Line 25"/>
              <p:cNvSpPr>
                <a:spLocks noChangeShapeType="1"/>
              </p:cNvSpPr>
              <p:nvPr/>
            </p:nvSpPr>
            <p:spPr bwMode="auto">
              <a:xfrm flipV="1">
                <a:off x="2034" y="686"/>
                <a:ext cx="0" cy="12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90" name="Text Box 26"/>
              <p:cNvSpPr txBox="1">
                <a:spLocks noChangeArrowheads="1"/>
              </p:cNvSpPr>
              <p:nvPr/>
            </p:nvSpPr>
            <p:spPr bwMode="auto">
              <a:xfrm>
                <a:off x="2272" y="919"/>
                <a:ext cx="522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OTF(</a:t>
                </a:r>
                <a:r>
                  <a:rPr lang="en-US" altLang="en-US" sz="1600" i="1">
                    <a:solidFill>
                      <a:srgbClr val="000000"/>
                    </a:solidFill>
                    <a:latin typeface="Helvetica" charset="0"/>
                  </a:rPr>
                  <a:t>k</a:t>
                </a:r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)</a:t>
                </a:r>
                <a:endParaRPr lang="en-US" altLang="en-US" sz="1600" b="1">
                  <a:solidFill>
                    <a:srgbClr val="000000"/>
                  </a:solidFill>
                  <a:latin typeface="Helvetica" charset="0"/>
                </a:endParaRPr>
              </a:p>
            </p:txBody>
          </p:sp>
          <p:sp>
            <p:nvSpPr>
              <p:cNvPr id="62491" name="Text Box 27"/>
              <p:cNvSpPr txBox="1">
                <a:spLocks noChangeArrowheads="1"/>
              </p:cNvSpPr>
              <p:nvPr/>
            </p:nvSpPr>
            <p:spPr bwMode="auto">
              <a:xfrm>
                <a:off x="1758" y="793"/>
                <a:ext cx="187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1</a:t>
                </a:r>
              </a:p>
            </p:txBody>
          </p:sp>
          <p:sp>
            <p:nvSpPr>
              <p:cNvPr id="62492" name="Line 28"/>
              <p:cNvSpPr>
                <a:spLocks noChangeShapeType="1"/>
              </p:cNvSpPr>
              <p:nvPr/>
            </p:nvSpPr>
            <p:spPr bwMode="auto">
              <a:xfrm>
                <a:off x="1955" y="912"/>
                <a:ext cx="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93" name="Rectangle 29"/>
              <p:cNvSpPr>
                <a:spLocks noChangeArrowheads="1"/>
              </p:cNvSpPr>
              <p:nvPr/>
            </p:nvSpPr>
            <p:spPr bwMode="auto">
              <a:xfrm>
                <a:off x="1321" y="1131"/>
                <a:ext cx="615" cy="3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(Image</a:t>
                </a:r>
              </a:p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contrast)</a:t>
                </a:r>
              </a:p>
            </p:txBody>
          </p:sp>
          <p:grpSp>
            <p:nvGrpSpPr>
              <p:cNvPr id="5" name="Group 30"/>
              <p:cNvGrpSpPr>
                <a:grpSpLocks/>
              </p:cNvGrpSpPr>
              <p:nvPr/>
            </p:nvGrpSpPr>
            <p:grpSpPr bwMode="auto">
              <a:xfrm>
                <a:off x="3350" y="994"/>
                <a:ext cx="2092" cy="877"/>
                <a:chOff x="3398" y="989"/>
                <a:chExt cx="2092" cy="877"/>
              </a:xfrm>
            </p:grpSpPr>
            <p:sp>
              <p:nvSpPr>
                <p:cNvPr id="62495" name="Rectangle 31"/>
                <p:cNvSpPr>
                  <a:spLocks noChangeArrowheads="1"/>
                </p:cNvSpPr>
                <p:nvPr/>
              </p:nvSpPr>
              <p:spPr bwMode="auto">
                <a:xfrm>
                  <a:off x="4244" y="989"/>
                  <a:ext cx="1246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>
                      <a:latin typeface="Helvetica" charset="0"/>
                    </a:rPr>
                    <a:t>Resolution limit:</a:t>
                  </a:r>
                  <a:endParaRPr lang="en-US" altLang="en-US" sz="2000">
                    <a:solidFill>
                      <a:srgbClr val="FF0000"/>
                    </a:solidFill>
                    <a:latin typeface="Helvetica" charset="0"/>
                  </a:endParaRPr>
                </a:p>
                <a:p>
                  <a:pPr algn="ctr"/>
                  <a:r>
                    <a:rPr lang="en-US" altLang="en-US" sz="2000" i="1">
                      <a:solidFill>
                        <a:srgbClr val="FF0000"/>
                      </a:solidFill>
                      <a:latin typeface="Helvetica" charset="0"/>
                    </a:rPr>
                    <a:t>k</a:t>
                  </a:r>
                  <a:r>
                    <a:rPr lang="en-US" altLang="en-US" sz="2000" baseline="-25000">
                      <a:solidFill>
                        <a:srgbClr val="FF0000"/>
                      </a:solidFill>
                      <a:latin typeface="Helvetica" charset="0"/>
                    </a:rPr>
                    <a:t>max 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Helvetica" charset="0"/>
                    </a:rPr>
                    <a:t>= 2 </a:t>
                  </a:r>
                  <a:r>
                    <a:rPr lang="en-US" altLang="en-US" sz="2000" i="1">
                      <a:solidFill>
                        <a:srgbClr val="FF0000"/>
                      </a:solidFill>
                      <a:latin typeface="Helvetica" charset="0"/>
                    </a:rPr>
                    <a:t>NA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Symbol" charset="2"/>
                    </a:rPr>
                    <a:t> / l</a:t>
                  </a:r>
                  <a:endParaRPr lang="en-US" sz="2000">
                    <a:solidFill>
                      <a:srgbClr val="FF0000"/>
                    </a:solidFill>
                    <a:latin typeface="Symbol" charset="2"/>
                  </a:endParaRPr>
                </a:p>
              </p:txBody>
            </p:sp>
            <p:sp>
              <p:nvSpPr>
                <p:cNvPr id="62496" name="Freeform 32"/>
                <p:cNvSpPr>
                  <a:spLocks/>
                </p:cNvSpPr>
                <p:nvPr/>
              </p:nvSpPr>
              <p:spPr bwMode="auto">
                <a:xfrm>
                  <a:off x="3398" y="1205"/>
                  <a:ext cx="847" cy="661"/>
                </a:xfrm>
                <a:custGeom>
                  <a:avLst/>
                  <a:gdLst/>
                  <a:ahLst/>
                  <a:cxnLst>
                    <a:cxn ang="0">
                      <a:pos x="847" y="0"/>
                    </a:cxn>
                    <a:cxn ang="0">
                      <a:pos x="0" y="661"/>
                    </a:cxn>
                  </a:cxnLst>
                  <a:rect l="0" t="0" r="r" b="b"/>
                  <a:pathLst>
                    <a:path w="847" h="661">
                      <a:moveTo>
                        <a:pt x="847" y="0"/>
                      </a:moveTo>
                      <a:cubicBezTo>
                        <a:pt x="666" y="22"/>
                        <a:pt x="106" y="182"/>
                        <a:pt x="0" y="661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269" name="Picture 13"/>
          <p:cNvPicPr>
            <a:picLocks noChangeAspect="1" noChangeArrowheads="1"/>
          </p:cNvPicPr>
          <p:nvPr/>
        </p:nvPicPr>
        <p:blipFill>
          <a:blip r:embed="rId3" cstate="print"/>
          <a:srcRect l="18912" t="8442" r="20984" b="16234"/>
          <a:stretch>
            <a:fillRect/>
          </a:stretch>
        </p:blipFill>
        <p:spPr bwMode="auto">
          <a:xfrm>
            <a:off x="1676400" y="4495800"/>
            <a:ext cx="2209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8268" name="Picture 12"/>
          <p:cNvPicPr>
            <a:picLocks noChangeAspect="1" noChangeArrowheads="1"/>
          </p:cNvPicPr>
          <p:nvPr/>
        </p:nvPicPr>
        <p:blipFill>
          <a:blip r:embed="rId4" cstate="print"/>
          <a:srcRect l="18912" t="8442" r="18912" b="17533"/>
          <a:stretch>
            <a:fillRect/>
          </a:stretch>
        </p:blipFill>
        <p:spPr bwMode="auto">
          <a:xfrm>
            <a:off x="3429000" y="1714500"/>
            <a:ext cx="2286000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8267" name="Picture 11"/>
          <p:cNvPicPr>
            <a:picLocks noChangeAspect="1" noChangeArrowheads="1"/>
          </p:cNvPicPr>
          <p:nvPr/>
        </p:nvPicPr>
        <p:blipFill>
          <a:blip r:embed="rId5" cstate="print"/>
          <a:srcRect l="20725" t="7792" r="19171" b="15585"/>
          <a:stretch>
            <a:fillRect/>
          </a:stretch>
        </p:blipFill>
        <p:spPr bwMode="auto">
          <a:xfrm>
            <a:off x="609600" y="1714500"/>
            <a:ext cx="2209800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8266" name="Picture 10"/>
          <p:cNvPicPr>
            <a:picLocks noChangeAspect="1" noChangeArrowheads="1"/>
          </p:cNvPicPr>
          <p:nvPr/>
        </p:nvPicPr>
        <p:blipFill>
          <a:blip r:embed="rId6" cstate="print"/>
          <a:srcRect l="20725" t="7792" r="19171" b="16883"/>
          <a:stretch>
            <a:fillRect/>
          </a:stretch>
        </p:blipFill>
        <p:spPr bwMode="auto">
          <a:xfrm>
            <a:off x="6400800" y="1714500"/>
            <a:ext cx="2209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8263" name="Picture 7"/>
          <p:cNvPicPr>
            <a:picLocks noChangeAspect="1" noChangeArrowheads="1"/>
          </p:cNvPicPr>
          <p:nvPr/>
        </p:nvPicPr>
        <p:blipFill>
          <a:blip r:embed="rId7" cstate="print"/>
          <a:srcRect l="20725" t="10390" r="23316" b="16883"/>
          <a:stretch>
            <a:fillRect/>
          </a:stretch>
        </p:blipFill>
        <p:spPr bwMode="auto">
          <a:xfrm>
            <a:off x="5715000" y="4533900"/>
            <a:ext cx="20574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82" name="Text Box 10"/>
          <p:cNvSpPr txBox="1">
            <a:spLocks noChangeArrowheads="1"/>
          </p:cNvSpPr>
          <p:nvPr/>
        </p:nvSpPr>
        <p:spPr bwMode="auto">
          <a:xfrm>
            <a:off x="1616075" y="109538"/>
            <a:ext cx="5919788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Think of Images as Sums of Waves</a:t>
            </a:r>
          </a:p>
        </p:txBody>
      </p:sp>
      <p:sp>
        <p:nvSpPr>
          <p:cNvPr id="28683" name="Text Box 11"/>
          <p:cNvSpPr txBox="1">
            <a:spLocks noChangeArrowheads="1"/>
          </p:cNvSpPr>
          <p:nvPr/>
        </p:nvSpPr>
        <p:spPr bwMode="auto">
          <a:xfrm>
            <a:off x="3581400" y="1295400"/>
            <a:ext cx="19018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another wave</a:t>
            </a:r>
          </a:p>
        </p:txBody>
      </p:sp>
      <p:sp>
        <p:nvSpPr>
          <p:cNvPr id="28724" name="Text Box 52"/>
          <p:cNvSpPr txBox="1">
            <a:spLocks noChangeArrowheads="1"/>
          </p:cNvSpPr>
          <p:nvPr/>
        </p:nvSpPr>
        <p:spPr bwMode="auto">
          <a:xfrm>
            <a:off x="784225" y="1295400"/>
            <a:ext cx="19018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one wave</a:t>
            </a:r>
          </a:p>
        </p:txBody>
      </p:sp>
      <p:sp>
        <p:nvSpPr>
          <p:cNvPr id="28725" name="Text Box 53"/>
          <p:cNvSpPr txBox="1">
            <a:spLocks noChangeArrowheads="1"/>
          </p:cNvSpPr>
          <p:nvPr/>
        </p:nvSpPr>
        <p:spPr bwMode="auto">
          <a:xfrm>
            <a:off x="6530975" y="1295400"/>
            <a:ext cx="19018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(2 waves)</a:t>
            </a:r>
          </a:p>
        </p:txBody>
      </p:sp>
      <p:sp>
        <p:nvSpPr>
          <p:cNvPr id="28730" name="Text Box 58"/>
          <p:cNvSpPr txBox="1">
            <a:spLocks noChangeArrowheads="1"/>
          </p:cNvSpPr>
          <p:nvPr/>
        </p:nvSpPr>
        <p:spPr bwMode="auto">
          <a:xfrm>
            <a:off x="2819400" y="2613025"/>
            <a:ext cx="522287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 dirty="0">
                <a:latin typeface="Chalkboard" charset="0"/>
              </a:rPr>
              <a:t>+</a:t>
            </a:r>
          </a:p>
        </p:txBody>
      </p:sp>
      <p:sp>
        <p:nvSpPr>
          <p:cNvPr id="28731" name="Text Box 59"/>
          <p:cNvSpPr txBox="1">
            <a:spLocks noChangeArrowheads="1"/>
          </p:cNvSpPr>
          <p:nvPr/>
        </p:nvSpPr>
        <p:spPr bwMode="auto">
          <a:xfrm>
            <a:off x="5791200" y="2613025"/>
            <a:ext cx="522288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 dirty="0">
                <a:latin typeface="Chalkboard" charset="0"/>
              </a:rPr>
              <a:t>=</a:t>
            </a:r>
          </a:p>
        </p:txBody>
      </p:sp>
      <p:sp>
        <p:nvSpPr>
          <p:cNvPr id="28726" name="Text Box 54"/>
          <p:cNvSpPr txBox="1">
            <a:spLocks noChangeArrowheads="1"/>
          </p:cNvSpPr>
          <p:nvPr/>
        </p:nvSpPr>
        <p:spPr bwMode="auto">
          <a:xfrm>
            <a:off x="5749925" y="4114800"/>
            <a:ext cx="2165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 smtClean="0">
                <a:solidFill>
                  <a:srgbClr val="660066"/>
                </a:solidFill>
                <a:latin typeface="Chalkboard" charset="0"/>
              </a:rPr>
              <a:t>(10000 waves</a:t>
            </a:r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)</a:t>
            </a:r>
          </a:p>
        </p:txBody>
      </p:sp>
      <p:sp>
        <p:nvSpPr>
          <p:cNvPr id="28733" name="Text Box 61"/>
          <p:cNvSpPr txBox="1">
            <a:spLocks noChangeArrowheads="1"/>
          </p:cNvSpPr>
          <p:nvPr/>
        </p:nvSpPr>
        <p:spPr bwMode="auto">
          <a:xfrm>
            <a:off x="4235450" y="5394325"/>
            <a:ext cx="1250950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 dirty="0">
                <a:latin typeface="Chalkboard" charset="0"/>
              </a:rPr>
              <a:t>+ (…) =</a:t>
            </a:r>
          </a:p>
        </p:txBody>
      </p:sp>
      <p:sp>
        <p:nvSpPr>
          <p:cNvPr id="28734" name="Text Box 62"/>
          <p:cNvSpPr txBox="1">
            <a:spLocks noChangeArrowheads="1"/>
          </p:cNvSpPr>
          <p:nvPr/>
        </p:nvSpPr>
        <p:spPr bwMode="auto">
          <a:xfrm>
            <a:off x="2244725" y="612775"/>
            <a:ext cx="465296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… or “spatial frequency components”</a:t>
            </a:r>
          </a:p>
        </p:txBody>
      </p:sp>
      <p:sp>
        <p:nvSpPr>
          <p:cNvPr id="28727" name="Text Box 55"/>
          <p:cNvSpPr txBox="1">
            <a:spLocks noChangeArrowheads="1"/>
          </p:cNvSpPr>
          <p:nvPr/>
        </p:nvSpPr>
        <p:spPr bwMode="auto">
          <a:xfrm>
            <a:off x="1905000" y="4114800"/>
            <a:ext cx="19018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(25 waves)</a:t>
            </a:r>
          </a:p>
        </p:txBody>
      </p:sp>
      <p:sp>
        <p:nvSpPr>
          <p:cNvPr id="28732" name="Text Box 60"/>
          <p:cNvSpPr txBox="1">
            <a:spLocks noChangeArrowheads="1"/>
          </p:cNvSpPr>
          <p:nvPr/>
        </p:nvSpPr>
        <p:spPr bwMode="auto">
          <a:xfrm>
            <a:off x="533400" y="5394325"/>
            <a:ext cx="1250950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 dirty="0">
                <a:latin typeface="Chalkboard" charset="0"/>
              </a:rPr>
              <a:t>+ (…) =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26" grpId="0"/>
      <p:bldP spid="28733" grpId="0"/>
      <p:bldP spid="28727" grpId="0"/>
      <p:bldP spid="2873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60" name="Text Box 12"/>
          <p:cNvSpPr txBox="1">
            <a:spLocks noChangeArrowheads="1"/>
          </p:cNvSpPr>
          <p:nvPr/>
        </p:nvSpPr>
        <p:spPr bwMode="auto">
          <a:xfrm>
            <a:off x="3062288" y="109538"/>
            <a:ext cx="2906712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Frequency Space</a:t>
            </a:r>
          </a:p>
        </p:txBody>
      </p:sp>
      <p:sp>
        <p:nvSpPr>
          <p:cNvPr id="53261" name="Text Box 13"/>
          <p:cNvSpPr txBox="1">
            <a:spLocks noChangeArrowheads="1"/>
          </p:cNvSpPr>
          <p:nvPr/>
        </p:nvSpPr>
        <p:spPr bwMode="auto">
          <a:xfrm>
            <a:off x="355600" y="1695450"/>
            <a:ext cx="5138738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marL="169863" indent="-169863">
              <a:lnSpc>
                <a:spcPct val="90000"/>
              </a:lnSpc>
              <a:buFontTx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Frequency </a:t>
            </a:r>
            <a:r>
              <a:rPr lang="en-US" altLang="en-US" sz="1600">
                <a:latin typeface="Chalkboard" charset="0"/>
              </a:rPr>
              <a:t>(how many periods/meter?)</a:t>
            </a:r>
          </a:p>
          <a:p>
            <a:pPr marL="169863" indent="-169863">
              <a:buFontTx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Direction</a:t>
            </a:r>
          </a:p>
          <a:p>
            <a:pPr marL="169863" indent="-169863">
              <a:buFontTx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Amplitude </a:t>
            </a:r>
            <a:r>
              <a:rPr lang="en-US" altLang="en-US" sz="1600">
                <a:latin typeface="Chalkboard" charset="0"/>
              </a:rPr>
              <a:t>(how strong is it?)</a:t>
            </a:r>
          </a:p>
          <a:p>
            <a:pPr marL="169863" indent="-169863">
              <a:buFontTx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Phase </a:t>
            </a:r>
            <a:r>
              <a:rPr lang="en-US" altLang="en-US" sz="1600">
                <a:latin typeface="Chalkboard" charset="0"/>
              </a:rPr>
              <a:t>(where are the peaks &amp; troughs?)</a:t>
            </a:r>
            <a:endParaRPr lang="en-US" altLang="en-US" sz="1800">
              <a:solidFill>
                <a:srgbClr val="660066"/>
              </a:solidFill>
              <a:latin typeface="Chalkboard" charset="0"/>
            </a:endParaRPr>
          </a:p>
        </p:txBody>
      </p:sp>
      <p:pic>
        <p:nvPicPr>
          <p:cNvPr id="53310" name="Picture 6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3200" y="4310063"/>
            <a:ext cx="1790700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3311" name="Line 63"/>
          <p:cNvSpPr>
            <a:spLocks noChangeShapeType="1"/>
          </p:cNvSpPr>
          <p:nvPr/>
        </p:nvSpPr>
        <p:spPr bwMode="auto">
          <a:xfrm flipV="1">
            <a:off x="2547938" y="4927600"/>
            <a:ext cx="1135062" cy="2365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317" name="Line 69"/>
          <p:cNvSpPr>
            <a:spLocks noChangeShapeType="1"/>
          </p:cNvSpPr>
          <p:nvPr/>
        </p:nvSpPr>
        <p:spPr bwMode="auto">
          <a:xfrm>
            <a:off x="2684463" y="5884863"/>
            <a:ext cx="109537" cy="5080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318" name="Line 70"/>
          <p:cNvSpPr>
            <a:spLocks noChangeShapeType="1"/>
          </p:cNvSpPr>
          <p:nvPr/>
        </p:nvSpPr>
        <p:spPr bwMode="auto">
          <a:xfrm>
            <a:off x="2819400" y="5842000"/>
            <a:ext cx="109538" cy="5080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319" name="Line 71"/>
          <p:cNvSpPr>
            <a:spLocks noChangeShapeType="1"/>
          </p:cNvSpPr>
          <p:nvPr/>
        </p:nvSpPr>
        <p:spPr bwMode="auto">
          <a:xfrm flipV="1">
            <a:off x="2479675" y="6265863"/>
            <a:ext cx="254000" cy="50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320" name="Line 72"/>
          <p:cNvSpPr>
            <a:spLocks noChangeShapeType="1"/>
          </p:cNvSpPr>
          <p:nvPr/>
        </p:nvSpPr>
        <p:spPr bwMode="auto">
          <a:xfrm flipV="1">
            <a:off x="2913063" y="6156325"/>
            <a:ext cx="254000" cy="50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321" name="Rectangle 73"/>
          <p:cNvSpPr>
            <a:spLocks noChangeArrowheads="1"/>
          </p:cNvSpPr>
          <p:nvPr/>
        </p:nvSpPr>
        <p:spPr bwMode="auto">
          <a:xfrm rot="-638058">
            <a:off x="2540000" y="6315075"/>
            <a:ext cx="741363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rgbClr val="0A0666"/>
                </a:solidFill>
                <a:latin typeface="Chalkboard" charset="0"/>
              </a:rPr>
              <a:t>period</a:t>
            </a:r>
            <a:endParaRPr lang="en-US" sz="160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53322" name="Rectangle 74"/>
          <p:cNvSpPr>
            <a:spLocks noChangeArrowheads="1"/>
          </p:cNvSpPr>
          <p:nvPr/>
        </p:nvSpPr>
        <p:spPr bwMode="auto">
          <a:xfrm rot="-638058">
            <a:off x="3208338" y="4929188"/>
            <a:ext cx="981075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rgbClr val="0A0666"/>
                </a:solidFill>
                <a:latin typeface="Chalkboard" charset="0"/>
              </a:rPr>
              <a:t>direction</a:t>
            </a:r>
            <a:endParaRPr lang="en-US" sz="160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53326" name="Rectangle 78"/>
          <p:cNvSpPr>
            <a:spLocks noChangeArrowheads="1"/>
          </p:cNvSpPr>
          <p:nvPr/>
        </p:nvSpPr>
        <p:spPr bwMode="auto">
          <a:xfrm>
            <a:off x="1325563" y="1069975"/>
            <a:ext cx="2598737" cy="67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en-US" sz="1800">
                <a:latin typeface="Chalkboard" charset="0"/>
              </a:rPr>
              <a:t>To </a:t>
            </a:r>
            <a:r>
              <a:rPr lang="en-US" altLang="en-US" sz="1800" b="1" i="1">
                <a:latin typeface="Chalkboard" charset="0"/>
              </a:rPr>
              <a:t>describe</a:t>
            </a:r>
            <a:r>
              <a:rPr lang="en-US" altLang="en-US" sz="1800">
                <a:latin typeface="Chalkboard" charset="0"/>
              </a:rPr>
              <a:t> a wave,</a:t>
            </a:r>
          </a:p>
          <a:p>
            <a:pPr algn="ctr">
              <a:lnSpc>
                <a:spcPct val="80000"/>
              </a:lnSpc>
              <a:spcAft>
                <a:spcPct val="30000"/>
              </a:spcAft>
            </a:pPr>
            <a:r>
              <a:rPr lang="en-US" altLang="en-US" sz="1800">
                <a:latin typeface="Chalkboard" charset="0"/>
              </a:rPr>
              <a:t>we need to specify its:</a:t>
            </a:r>
            <a:endParaRPr lang="en-US" sz="1800">
              <a:latin typeface="Chalkboard" charset="0"/>
            </a:endParaRPr>
          </a:p>
        </p:txBody>
      </p:sp>
      <p:grpSp>
        <p:nvGrpSpPr>
          <p:cNvPr id="2" name="Group 83"/>
          <p:cNvGrpSpPr>
            <a:grpSpLocks/>
          </p:cNvGrpSpPr>
          <p:nvPr/>
        </p:nvGrpSpPr>
        <p:grpSpPr bwMode="auto">
          <a:xfrm>
            <a:off x="1622425" y="1041400"/>
            <a:ext cx="7023100" cy="5224463"/>
            <a:chOff x="1022" y="656"/>
            <a:chExt cx="4424" cy="3291"/>
          </a:xfrm>
        </p:grpSpPr>
        <p:grpSp>
          <p:nvGrpSpPr>
            <p:cNvPr id="3" name="Group 81"/>
            <p:cNvGrpSpPr>
              <a:grpSpLocks/>
            </p:cNvGrpSpPr>
            <p:nvPr/>
          </p:nvGrpSpPr>
          <p:grpSpPr bwMode="auto">
            <a:xfrm>
              <a:off x="1022" y="656"/>
              <a:ext cx="4377" cy="3291"/>
              <a:chOff x="1022" y="656"/>
              <a:chExt cx="4377" cy="3291"/>
            </a:xfrm>
          </p:grpSpPr>
          <p:sp>
            <p:nvSpPr>
              <p:cNvPr id="53253" name="Line 5"/>
              <p:cNvSpPr>
                <a:spLocks noChangeShapeType="1"/>
              </p:cNvSpPr>
              <p:nvPr/>
            </p:nvSpPr>
            <p:spPr bwMode="auto">
              <a:xfrm flipV="1">
                <a:off x="4020" y="2470"/>
                <a:ext cx="0" cy="147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54" name="Line 6"/>
              <p:cNvSpPr>
                <a:spLocks noChangeShapeType="1"/>
              </p:cNvSpPr>
              <p:nvPr/>
            </p:nvSpPr>
            <p:spPr bwMode="auto">
              <a:xfrm>
                <a:off x="2980" y="3267"/>
                <a:ext cx="22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58" name="Text Box 10"/>
              <p:cNvSpPr txBox="1">
                <a:spLocks noChangeArrowheads="1"/>
              </p:cNvSpPr>
              <p:nvPr/>
            </p:nvSpPr>
            <p:spPr bwMode="auto">
              <a:xfrm>
                <a:off x="3717" y="2508"/>
                <a:ext cx="22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k</a:t>
                </a:r>
                <a:r>
                  <a:rPr lang="en-US" altLang="en-US" sz="1600" baseline="-25000">
                    <a:solidFill>
                      <a:srgbClr val="000000"/>
                    </a:solidFill>
                    <a:latin typeface="Helvetica" charset="0"/>
                  </a:rPr>
                  <a:t>y</a:t>
                </a:r>
                <a:endParaRPr lang="en-US" altLang="en-US" sz="1600" b="1">
                  <a:solidFill>
                    <a:srgbClr val="000000"/>
                  </a:solidFill>
                  <a:latin typeface="Helvetica" charset="0"/>
                </a:endParaRPr>
              </a:p>
            </p:txBody>
          </p:sp>
          <p:sp>
            <p:nvSpPr>
              <p:cNvPr id="53259" name="Text Box 11"/>
              <p:cNvSpPr txBox="1">
                <a:spLocks noChangeArrowheads="1"/>
              </p:cNvSpPr>
              <p:nvPr/>
            </p:nvSpPr>
            <p:spPr bwMode="auto">
              <a:xfrm>
                <a:off x="4965" y="3273"/>
                <a:ext cx="22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k</a:t>
                </a:r>
                <a:r>
                  <a:rPr lang="en-US" altLang="en-US" sz="1600" baseline="-25000">
                    <a:solidFill>
                      <a:srgbClr val="000000"/>
                    </a:solidFill>
                    <a:latin typeface="Helvetica" charset="0"/>
                  </a:rPr>
                  <a:t>x</a:t>
                </a:r>
                <a:endParaRPr lang="en-US" altLang="en-US" sz="1600" b="1">
                  <a:solidFill>
                    <a:srgbClr val="000000"/>
                  </a:solidFill>
                  <a:latin typeface="Helvetica" charset="0"/>
                </a:endParaRPr>
              </a:p>
            </p:txBody>
          </p:sp>
          <p:sp>
            <p:nvSpPr>
              <p:cNvPr id="53292" name="Oval 44"/>
              <p:cNvSpPr>
                <a:spLocks noChangeArrowheads="1"/>
              </p:cNvSpPr>
              <p:nvPr/>
            </p:nvSpPr>
            <p:spPr bwMode="auto">
              <a:xfrm>
                <a:off x="4733" y="3086"/>
                <a:ext cx="48" cy="48"/>
              </a:xfrm>
              <a:prstGeom prst="ellipse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93" name="Text Box 45"/>
              <p:cNvSpPr txBox="1">
                <a:spLocks noChangeArrowheads="1"/>
              </p:cNvSpPr>
              <p:nvPr/>
            </p:nvSpPr>
            <p:spPr bwMode="auto">
              <a:xfrm>
                <a:off x="3661" y="1049"/>
                <a:ext cx="1738" cy="7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marL="169863" indent="-169863"/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Distance from origin</a:t>
                </a:r>
              </a:p>
              <a:p>
                <a:pPr marL="169863" indent="-169863"/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Direction from origin</a:t>
                </a:r>
              </a:p>
              <a:p>
                <a:pPr marL="169863" indent="-169863"/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Magnitude of value</a:t>
                </a:r>
              </a:p>
              <a:p>
                <a:pPr marL="169863" indent="-169863"/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Phase of value</a:t>
                </a:r>
              </a:p>
            </p:txBody>
          </p:sp>
          <p:sp>
            <p:nvSpPr>
              <p:cNvPr id="53312" name="Line 64"/>
              <p:cNvSpPr>
                <a:spLocks noChangeShapeType="1"/>
              </p:cNvSpPr>
              <p:nvPr/>
            </p:nvSpPr>
            <p:spPr bwMode="auto">
              <a:xfrm flipV="1">
                <a:off x="4014" y="3115"/>
                <a:ext cx="715" cy="149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" name="Group 79"/>
              <p:cNvGrpSpPr>
                <a:grpSpLocks/>
              </p:cNvGrpSpPr>
              <p:nvPr/>
            </p:nvGrpSpPr>
            <p:grpSpPr bwMode="auto">
              <a:xfrm>
                <a:off x="1022" y="656"/>
                <a:ext cx="4030" cy="1081"/>
                <a:chOff x="1028" y="656"/>
                <a:chExt cx="4030" cy="1081"/>
              </a:xfrm>
            </p:grpSpPr>
            <p:sp>
              <p:nvSpPr>
                <p:cNvPr id="53313" name="Line 65"/>
                <p:cNvSpPr>
                  <a:spLocks noChangeShapeType="1"/>
                </p:cNvSpPr>
                <p:nvPr/>
              </p:nvSpPr>
              <p:spPr bwMode="auto">
                <a:xfrm>
                  <a:off x="2730" y="1168"/>
                  <a:ext cx="922" cy="6"/>
                </a:xfrm>
                <a:prstGeom prst="line">
                  <a:avLst/>
                </a:prstGeom>
                <a:noFill/>
                <a:ln w="9525">
                  <a:solidFill>
                    <a:srgbClr val="0A0666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314" name="Line 66"/>
                <p:cNvSpPr>
                  <a:spLocks noChangeShapeType="1"/>
                </p:cNvSpPr>
                <p:nvPr/>
              </p:nvSpPr>
              <p:spPr bwMode="auto">
                <a:xfrm>
                  <a:off x="1028" y="1370"/>
                  <a:ext cx="2619" cy="2"/>
                </a:xfrm>
                <a:prstGeom prst="line">
                  <a:avLst/>
                </a:prstGeom>
                <a:noFill/>
                <a:ln w="9525">
                  <a:solidFill>
                    <a:srgbClr val="0A0666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315" name="Line 67"/>
                <p:cNvSpPr>
                  <a:spLocks noChangeShapeType="1"/>
                </p:cNvSpPr>
                <p:nvPr/>
              </p:nvSpPr>
              <p:spPr bwMode="auto">
                <a:xfrm>
                  <a:off x="2186" y="1546"/>
                  <a:ext cx="1461" cy="3"/>
                </a:xfrm>
                <a:prstGeom prst="line">
                  <a:avLst/>
                </a:prstGeom>
                <a:noFill/>
                <a:ln w="9525">
                  <a:solidFill>
                    <a:srgbClr val="0A0666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316" name="Line 68"/>
                <p:cNvSpPr>
                  <a:spLocks noChangeShapeType="1"/>
                </p:cNvSpPr>
                <p:nvPr/>
              </p:nvSpPr>
              <p:spPr bwMode="auto">
                <a:xfrm flipV="1">
                  <a:off x="2874" y="1713"/>
                  <a:ext cx="769" cy="24"/>
                </a:xfrm>
                <a:prstGeom prst="line">
                  <a:avLst/>
                </a:prstGeom>
                <a:noFill/>
                <a:ln w="9525">
                  <a:solidFill>
                    <a:srgbClr val="0A0666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323" name="Rectangle 75"/>
                <p:cNvSpPr>
                  <a:spLocks noChangeArrowheads="1"/>
                </p:cNvSpPr>
                <p:nvPr/>
              </p:nvSpPr>
              <p:spPr bwMode="auto">
                <a:xfrm>
                  <a:off x="3728" y="656"/>
                  <a:ext cx="1330" cy="38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 sz="1800">
                      <a:latin typeface="Chalkboard" charset="0"/>
                    </a:rPr>
                    <a:t>Can describe it by</a:t>
                  </a:r>
                </a:p>
                <a:p>
                  <a:pPr>
                    <a:lnSpc>
                      <a:spcPct val="80000"/>
                    </a:lnSpc>
                  </a:pPr>
                  <a:r>
                    <a:rPr lang="en-US" altLang="en-US" sz="1800">
                      <a:solidFill>
                        <a:srgbClr val="0A0666"/>
                      </a:solidFill>
                      <a:latin typeface="Chalkboard" charset="0"/>
                    </a:rPr>
                    <a:t>a </a:t>
                  </a:r>
                  <a:r>
                    <a:rPr lang="en-US" altLang="en-US" sz="1800" i="1">
                      <a:solidFill>
                        <a:srgbClr val="0A0666"/>
                      </a:solidFill>
                      <a:latin typeface="Chalkboard" charset="0"/>
                    </a:rPr>
                    <a:t>value</a:t>
                  </a:r>
                  <a:r>
                    <a:rPr lang="en-US" altLang="en-US" sz="1800">
                      <a:solidFill>
                        <a:srgbClr val="0A0666"/>
                      </a:solidFill>
                      <a:latin typeface="Chalkboard" charset="0"/>
                    </a:rPr>
                    <a:t> at a </a:t>
                  </a:r>
                  <a:r>
                    <a:rPr lang="en-US" altLang="en-US" sz="1800" i="1">
                      <a:solidFill>
                        <a:srgbClr val="0A0666"/>
                      </a:solidFill>
                      <a:latin typeface="Chalkboard" charset="0"/>
                    </a:rPr>
                    <a:t>point</a:t>
                  </a:r>
                  <a:endParaRPr lang="en-US" sz="1800">
                    <a:latin typeface="Chalkboard" charset="0"/>
                  </a:endParaRPr>
                </a:p>
              </p:txBody>
            </p:sp>
          </p:grpSp>
          <p:grpSp>
            <p:nvGrpSpPr>
              <p:cNvPr id="5" name="Group 80"/>
              <p:cNvGrpSpPr>
                <a:grpSpLocks/>
              </p:cNvGrpSpPr>
              <p:nvPr/>
            </p:nvGrpSpPr>
            <p:grpSpPr bwMode="auto">
              <a:xfrm>
                <a:off x="4001" y="1699"/>
                <a:ext cx="638" cy="337"/>
                <a:chOff x="4007" y="1699"/>
                <a:chExt cx="638" cy="337"/>
              </a:xfrm>
            </p:grpSpPr>
            <p:sp>
              <p:nvSpPr>
                <p:cNvPr id="53324" name="Rectangle 76"/>
                <p:cNvSpPr>
                  <a:spLocks noChangeArrowheads="1"/>
                </p:cNvSpPr>
                <p:nvPr/>
              </p:nvSpPr>
              <p:spPr bwMode="auto">
                <a:xfrm>
                  <a:off x="4007" y="1796"/>
                  <a:ext cx="638" cy="24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 sz="1800">
                      <a:solidFill>
                        <a:srgbClr val="660066"/>
                      </a:solidFill>
                      <a:latin typeface="Chalkboard" charset="0"/>
                    </a:rPr>
                    <a:t>complex</a:t>
                  </a:r>
                  <a:endParaRPr lang="en-US" sz="1800">
                    <a:solidFill>
                      <a:srgbClr val="660066"/>
                    </a:solidFill>
                    <a:latin typeface="Chalkboard" charset="0"/>
                  </a:endParaRPr>
                </a:p>
              </p:txBody>
            </p:sp>
            <p:sp>
              <p:nvSpPr>
                <p:cNvPr id="53325" name="Freeform 77"/>
                <p:cNvSpPr>
                  <a:spLocks/>
                </p:cNvSpPr>
                <p:nvPr/>
              </p:nvSpPr>
              <p:spPr bwMode="auto">
                <a:xfrm rot="5400000">
                  <a:off x="4203" y="1534"/>
                  <a:ext cx="240" cy="570"/>
                </a:xfrm>
                <a:custGeom>
                  <a:avLst/>
                  <a:gdLst/>
                  <a:ahLst/>
                  <a:cxnLst>
                    <a:cxn ang="0">
                      <a:pos x="272" y="0"/>
                    </a:cxn>
                    <a:cxn ang="0">
                      <a:pos x="112" y="944"/>
                    </a:cxn>
                    <a:cxn ang="0">
                      <a:pos x="272" y="1920"/>
                    </a:cxn>
                  </a:cxnLst>
                  <a:rect l="0" t="0" r="r" b="b"/>
                  <a:pathLst>
                    <a:path w="272" h="1920">
                      <a:moveTo>
                        <a:pt x="272" y="0"/>
                      </a:moveTo>
                      <a:cubicBezTo>
                        <a:pt x="11" y="0"/>
                        <a:pt x="267" y="896"/>
                        <a:pt x="112" y="944"/>
                      </a:cubicBezTo>
                      <a:cubicBezTo>
                        <a:pt x="267" y="987"/>
                        <a:pt x="0" y="1920"/>
                        <a:pt x="272" y="1920"/>
                      </a:cubicBezTo>
                    </a:path>
                  </a:pathLst>
                </a:custGeom>
                <a:noFill/>
                <a:ln w="9525">
                  <a:solidFill>
                    <a:srgbClr val="660066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53330" name="Rectangle 82"/>
            <p:cNvSpPr>
              <a:spLocks noChangeArrowheads="1"/>
            </p:cNvSpPr>
            <p:nvPr/>
          </p:nvSpPr>
          <p:spPr bwMode="auto">
            <a:xfrm>
              <a:off x="4726" y="2934"/>
              <a:ext cx="72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sz="1600" b="1">
                  <a:solidFill>
                    <a:srgbClr val="000000"/>
                  </a:solidFill>
                  <a:latin typeface="Helvetica" charset="0"/>
                </a:rPr>
                <a:t>k </a:t>
              </a:r>
              <a:r>
                <a:rPr lang="en-US" altLang="en-US" sz="1600">
                  <a:solidFill>
                    <a:srgbClr val="000000"/>
                  </a:solidFill>
                  <a:latin typeface="Helvetica" charset="0"/>
                </a:rPr>
                <a:t>= (k</a:t>
              </a:r>
              <a:r>
                <a:rPr lang="en-US" altLang="en-US" sz="1600" baseline="-25000">
                  <a:solidFill>
                    <a:srgbClr val="000000"/>
                  </a:solidFill>
                  <a:latin typeface="Helvetica" charset="0"/>
                </a:rPr>
                <a:t>x </a:t>
              </a:r>
              <a:r>
                <a:rPr lang="en-US" altLang="en-US" sz="1600">
                  <a:solidFill>
                    <a:srgbClr val="000000"/>
                  </a:solidFill>
                  <a:latin typeface="Helvetica" charset="0"/>
                </a:rPr>
                <a:t>,</a:t>
              </a:r>
              <a:r>
                <a:rPr lang="en-US" altLang="en-US" sz="1600" baseline="-25000">
                  <a:solidFill>
                    <a:srgbClr val="000000"/>
                  </a:solidFill>
                  <a:latin typeface="Helvetica" charset="0"/>
                </a:rPr>
                <a:t> </a:t>
              </a:r>
              <a:r>
                <a:rPr lang="en-US" altLang="en-US" sz="1600">
                  <a:solidFill>
                    <a:srgbClr val="000000"/>
                  </a:solidFill>
                  <a:latin typeface="Helvetica" charset="0"/>
                </a:rPr>
                <a:t>k</a:t>
              </a:r>
              <a:r>
                <a:rPr lang="en-US" altLang="en-US" sz="1600" baseline="-25000">
                  <a:solidFill>
                    <a:srgbClr val="000000"/>
                  </a:solidFill>
                  <a:latin typeface="Helvetica" charset="0"/>
                </a:rPr>
                <a:t>y</a:t>
              </a:r>
              <a:r>
                <a:rPr lang="en-US" altLang="en-US" sz="1600">
                  <a:solidFill>
                    <a:srgbClr val="000000"/>
                  </a:solidFill>
                  <a:latin typeface="Helvetica" charset="0"/>
                </a:rPr>
                <a:t>)</a:t>
              </a:r>
              <a:endParaRPr lang="en-US" sz="1600" baseline="-25000">
                <a:solidFill>
                  <a:srgbClr val="000000"/>
                </a:solidFill>
                <a:latin typeface="Helvetica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3" cstate="print"/>
          <a:srcRect l="20725" t="7792" r="21244" b="16883"/>
          <a:stretch>
            <a:fillRect/>
          </a:stretch>
        </p:blipFill>
        <p:spPr bwMode="auto">
          <a:xfrm>
            <a:off x="6269736" y="4364736"/>
            <a:ext cx="2133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Picture 7"/>
          <p:cNvPicPr>
            <a:picLocks noChangeAspect="1" noChangeArrowheads="1"/>
          </p:cNvPicPr>
          <p:nvPr/>
        </p:nvPicPr>
        <p:blipFill>
          <a:blip r:embed="rId4" cstate="print"/>
          <a:srcRect l="20725" t="10390" r="23316" b="16883"/>
          <a:stretch>
            <a:fillRect/>
          </a:stretch>
        </p:blipFill>
        <p:spPr bwMode="auto">
          <a:xfrm>
            <a:off x="6180137" y="914400"/>
            <a:ext cx="20574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301" name="Line 5"/>
          <p:cNvSpPr>
            <a:spLocks noChangeShapeType="1"/>
          </p:cNvSpPr>
          <p:nvPr/>
        </p:nvSpPr>
        <p:spPr bwMode="auto">
          <a:xfrm flipV="1">
            <a:off x="1701800" y="3378200"/>
            <a:ext cx="0" cy="3302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02" name="Line 6"/>
          <p:cNvSpPr>
            <a:spLocks noChangeShapeType="1"/>
          </p:cNvSpPr>
          <p:nvPr/>
        </p:nvSpPr>
        <p:spPr bwMode="auto">
          <a:xfrm>
            <a:off x="220663" y="5092700"/>
            <a:ext cx="34496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03" name="Oval 7"/>
          <p:cNvSpPr>
            <a:spLocks noChangeArrowheads="1"/>
          </p:cNvSpPr>
          <p:nvPr/>
        </p:nvSpPr>
        <p:spPr bwMode="auto">
          <a:xfrm>
            <a:off x="2016125" y="498792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04" name="Oval 8"/>
          <p:cNvSpPr>
            <a:spLocks noChangeArrowheads="1"/>
          </p:cNvSpPr>
          <p:nvPr/>
        </p:nvSpPr>
        <p:spPr bwMode="auto">
          <a:xfrm>
            <a:off x="2720975" y="485457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05" name="Oval 9"/>
          <p:cNvSpPr>
            <a:spLocks noChangeArrowheads="1"/>
          </p:cNvSpPr>
          <p:nvPr/>
        </p:nvSpPr>
        <p:spPr bwMode="auto">
          <a:xfrm>
            <a:off x="3425825" y="472122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06" name="Text Box 10"/>
          <p:cNvSpPr txBox="1">
            <a:spLocks noChangeArrowheads="1"/>
          </p:cNvSpPr>
          <p:nvPr/>
        </p:nvSpPr>
        <p:spPr bwMode="auto">
          <a:xfrm>
            <a:off x="1220788" y="3311525"/>
            <a:ext cx="355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i="1" baseline="-25000">
                <a:solidFill>
                  <a:srgbClr val="000000"/>
                </a:solidFill>
                <a:latin typeface="Helvetica" charset="0"/>
              </a:rPr>
              <a:t>y</a:t>
            </a:r>
            <a:endParaRPr lang="en-US" altLang="en-US" sz="1600" b="1" i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5307" name="Text Box 11"/>
          <p:cNvSpPr txBox="1">
            <a:spLocks noChangeArrowheads="1"/>
          </p:cNvSpPr>
          <p:nvPr/>
        </p:nvSpPr>
        <p:spPr bwMode="auto">
          <a:xfrm>
            <a:off x="3201988" y="5102225"/>
            <a:ext cx="355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i="1" baseline="-25000">
                <a:solidFill>
                  <a:srgbClr val="000000"/>
                </a:solidFill>
                <a:latin typeface="Helvetica" charset="0"/>
              </a:rPr>
              <a:t>x</a:t>
            </a:r>
            <a:endParaRPr lang="en-US" altLang="en-US" sz="1600" b="1" i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5308" name="Text Box 12"/>
          <p:cNvSpPr txBox="1">
            <a:spLocks noChangeArrowheads="1"/>
          </p:cNvSpPr>
          <p:nvPr/>
        </p:nvSpPr>
        <p:spPr bwMode="auto">
          <a:xfrm>
            <a:off x="2968625" y="109538"/>
            <a:ext cx="2906713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Frequency Space</a:t>
            </a:r>
          </a:p>
        </p:txBody>
      </p:sp>
      <p:sp>
        <p:nvSpPr>
          <p:cNvPr id="55310" name="Freeform 14"/>
          <p:cNvSpPr>
            <a:spLocks/>
          </p:cNvSpPr>
          <p:nvPr/>
        </p:nvSpPr>
        <p:spPr bwMode="auto">
          <a:xfrm>
            <a:off x="990600" y="2438400"/>
            <a:ext cx="1531938" cy="2506663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677" y="1579"/>
              </a:cxn>
            </a:cxnLst>
            <a:rect l="0" t="0" r="r" b="b"/>
            <a:pathLst>
              <a:path w="965" h="1579">
                <a:moveTo>
                  <a:pt x="11" y="0"/>
                </a:moveTo>
                <a:cubicBezTo>
                  <a:pt x="0" y="277"/>
                  <a:pt x="965" y="267"/>
                  <a:pt x="677" y="1579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12" name="Freeform 16"/>
          <p:cNvSpPr>
            <a:spLocks/>
          </p:cNvSpPr>
          <p:nvPr/>
        </p:nvSpPr>
        <p:spPr bwMode="auto">
          <a:xfrm>
            <a:off x="2735263" y="2438400"/>
            <a:ext cx="1887537" cy="4114800"/>
          </a:xfrm>
          <a:custGeom>
            <a:avLst/>
            <a:gdLst/>
            <a:ahLst/>
            <a:cxnLst>
              <a:cxn ang="0">
                <a:pos x="1189" y="0"/>
              </a:cxn>
              <a:cxn ang="0">
                <a:pos x="0" y="2592"/>
              </a:cxn>
            </a:cxnLst>
            <a:rect l="0" t="0" r="r" b="b"/>
            <a:pathLst>
              <a:path w="1189" h="2592">
                <a:moveTo>
                  <a:pt x="1189" y="0"/>
                </a:moveTo>
                <a:cubicBezTo>
                  <a:pt x="1109" y="1398"/>
                  <a:pt x="752" y="2264"/>
                  <a:pt x="0" y="2592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15" name="Arc 19"/>
          <p:cNvSpPr>
            <a:spLocks/>
          </p:cNvSpPr>
          <p:nvPr/>
        </p:nvSpPr>
        <p:spPr bwMode="auto">
          <a:xfrm>
            <a:off x="1700213" y="5019675"/>
            <a:ext cx="360362" cy="68263"/>
          </a:xfrm>
          <a:custGeom>
            <a:avLst/>
            <a:gdLst>
              <a:gd name="G0" fmla="+- 0 0 0"/>
              <a:gd name="G1" fmla="+- 4124 0 0"/>
              <a:gd name="G2" fmla="+- 21600 0 0"/>
              <a:gd name="T0" fmla="*/ 21202 w 21600"/>
              <a:gd name="T1" fmla="*/ 0 h 4124"/>
              <a:gd name="T2" fmla="*/ 21600 w 21600"/>
              <a:gd name="T3" fmla="*/ 4124 h 4124"/>
              <a:gd name="T4" fmla="*/ 0 w 21600"/>
              <a:gd name="T5" fmla="*/ 4124 h 4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124" fill="none" extrusionOk="0">
                <a:moveTo>
                  <a:pt x="21202" y="-1"/>
                </a:moveTo>
                <a:cubicBezTo>
                  <a:pt x="21466" y="1358"/>
                  <a:pt x="21600" y="2739"/>
                  <a:pt x="21600" y="4124"/>
                </a:cubicBezTo>
              </a:path>
              <a:path w="21600" h="4124" stroke="0" extrusionOk="0">
                <a:moveTo>
                  <a:pt x="21202" y="-1"/>
                </a:moveTo>
                <a:cubicBezTo>
                  <a:pt x="21466" y="1358"/>
                  <a:pt x="21600" y="2739"/>
                  <a:pt x="21600" y="4124"/>
                </a:cubicBezTo>
                <a:lnTo>
                  <a:pt x="0" y="4124"/>
                </a:lnTo>
                <a:close/>
              </a:path>
            </a:pathLst>
          </a:custGeom>
          <a:noFill/>
          <a:ln w="9525">
            <a:solidFill>
              <a:srgbClr val="FF99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55329" name="Picture 3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2113" y="1292225"/>
            <a:ext cx="115570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330" name="Picture 3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597025" y="1293813"/>
            <a:ext cx="115570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331" name="Picture 3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803525" y="1292225"/>
            <a:ext cx="115570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332" name="Picture 3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010025" y="1293813"/>
            <a:ext cx="115570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5340" name="Oval 44"/>
          <p:cNvSpPr>
            <a:spLocks noChangeArrowheads="1"/>
          </p:cNvSpPr>
          <p:nvPr/>
        </p:nvSpPr>
        <p:spPr bwMode="auto">
          <a:xfrm>
            <a:off x="2625725" y="6564313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41" name="Freeform 45"/>
          <p:cNvSpPr>
            <a:spLocks/>
          </p:cNvSpPr>
          <p:nvPr/>
        </p:nvSpPr>
        <p:spPr bwMode="auto">
          <a:xfrm>
            <a:off x="2155825" y="2438400"/>
            <a:ext cx="895350" cy="2362200"/>
          </a:xfrm>
          <a:custGeom>
            <a:avLst/>
            <a:gdLst/>
            <a:ahLst/>
            <a:cxnLst>
              <a:cxn ang="0">
                <a:pos x="7" y="0"/>
              </a:cxn>
              <a:cxn ang="0">
                <a:pos x="381" y="1488"/>
              </a:cxn>
            </a:cxnLst>
            <a:rect l="0" t="0" r="r" b="b"/>
            <a:pathLst>
              <a:path w="564" h="1488">
                <a:moveTo>
                  <a:pt x="7" y="0"/>
                </a:moveTo>
                <a:cubicBezTo>
                  <a:pt x="0" y="262"/>
                  <a:pt x="564" y="248"/>
                  <a:pt x="381" y="1488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42" name="Freeform 46"/>
          <p:cNvSpPr>
            <a:spLocks/>
          </p:cNvSpPr>
          <p:nvPr/>
        </p:nvSpPr>
        <p:spPr bwMode="auto">
          <a:xfrm>
            <a:off x="3349625" y="2438400"/>
            <a:ext cx="357188" cy="2260600"/>
          </a:xfrm>
          <a:custGeom>
            <a:avLst/>
            <a:gdLst/>
            <a:ahLst/>
            <a:cxnLst>
              <a:cxn ang="0">
                <a:pos x="7" y="0"/>
              </a:cxn>
              <a:cxn ang="0">
                <a:pos x="71" y="1424"/>
              </a:cxn>
            </a:cxnLst>
            <a:rect l="0" t="0" r="r" b="b"/>
            <a:pathLst>
              <a:path w="225" h="1424">
                <a:moveTo>
                  <a:pt x="7" y="0"/>
                </a:moveTo>
                <a:cubicBezTo>
                  <a:pt x="0" y="262"/>
                  <a:pt x="225" y="491"/>
                  <a:pt x="71" y="1424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45" name="Line 49"/>
          <p:cNvSpPr>
            <a:spLocks noChangeShapeType="1"/>
          </p:cNvSpPr>
          <p:nvPr/>
        </p:nvSpPr>
        <p:spPr bwMode="auto">
          <a:xfrm flipV="1">
            <a:off x="7348538" y="3978275"/>
            <a:ext cx="0" cy="271938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46" name="Line 50"/>
          <p:cNvSpPr>
            <a:spLocks noChangeShapeType="1"/>
          </p:cNvSpPr>
          <p:nvPr/>
        </p:nvSpPr>
        <p:spPr bwMode="auto">
          <a:xfrm>
            <a:off x="6019800" y="5465763"/>
            <a:ext cx="27590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47" name="Text Box 51"/>
          <p:cNvSpPr txBox="1">
            <a:spLocks noChangeArrowheads="1"/>
          </p:cNvSpPr>
          <p:nvPr/>
        </p:nvSpPr>
        <p:spPr bwMode="auto">
          <a:xfrm>
            <a:off x="6985000" y="4013200"/>
            <a:ext cx="355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i="1" dirty="0" err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i="1" baseline="-25000" dirty="0" err="1">
                <a:solidFill>
                  <a:srgbClr val="000000"/>
                </a:solidFill>
                <a:latin typeface="Helvetica" charset="0"/>
              </a:rPr>
              <a:t>y</a:t>
            </a:r>
            <a:endParaRPr lang="en-US" altLang="en-US" sz="1600" b="1" i="1" dirty="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5348" name="Text Box 52"/>
          <p:cNvSpPr txBox="1">
            <a:spLocks noChangeArrowheads="1"/>
          </p:cNvSpPr>
          <p:nvPr/>
        </p:nvSpPr>
        <p:spPr bwMode="auto">
          <a:xfrm>
            <a:off x="8426450" y="5453063"/>
            <a:ext cx="355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i="1" baseline="-25000">
                <a:solidFill>
                  <a:srgbClr val="000000"/>
                </a:solidFill>
                <a:latin typeface="Helvetica" charset="0"/>
              </a:rPr>
              <a:t>x</a:t>
            </a:r>
            <a:endParaRPr lang="en-US" altLang="en-US" sz="1600" b="1" i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5351" name="Text Box 55"/>
          <p:cNvSpPr txBox="1">
            <a:spLocks noChangeArrowheads="1"/>
          </p:cNvSpPr>
          <p:nvPr/>
        </p:nvSpPr>
        <p:spPr bwMode="auto">
          <a:xfrm>
            <a:off x="2022475" y="558800"/>
            <a:ext cx="4476750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 dirty="0">
                <a:solidFill>
                  <a:srgbClr val="660066"/>
                </a:solidFill>
                <a:latin typeface="Chalkboard" charset="0"/>
              </a:rPr>
              <a:t>and the </a:t>
            </a:r>
            <a:r>
              <a:rPr lang="en-US" altLang="en-US" sz="2800" i="1" dirty="0">
                <a:solidFill>
                  <a:srgbClr val="660066"/>
                </a:solidFill>
                <a:latin typeface="Chalkboard" charset="0"/>
              </a:rPr>
              <a:t>Fourier Transform</a:t>
            </a:r>
            <a:endParaRPr lang="en-US" altLang="en-US" sz="2800" dirty="0">
              <a:solidFill>
                <a:schemeClr val="tx2"/>
              </a:solidFill>
              <a:latin typeface="Chalkboard" charset="0"/>
            </a:endParaRPr>
          </a:p>
        </p:txBody>
      </p:sp>
      <p:sp>
        <p:nvSpPr>
          <p:cNvPr id="55356" name="Freeform 60"/>
          <p:cNvSpPr>
            <a:spLocks/>
          </p:cNvSpPr>
          <p:nvPr/>
        </p:nvSpPr>
        <p:spPr bwMode="auto">
          <a:xfrm>
            <a:off x="7086600" y="3200400"/>
            <a:ext cx="508000" cy="1109663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299" y="779"/>
              </a:cxn>
            </a:cxnLst>
            <a:rect l="0" t="0" r="r" b="b"/>
            <a:pathLst>
              <a:path w="320" h="779">
                <a:moveTo>
                  <a:pt x="11" y="0"/>
                </a:moveTo>
                <a:cubicBezTo>
                  <a:pt x="0" y="379"/>
                  <a:pt x="320" y="272"/>
                  <a:pt x="299" y="779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58" name="Rectangle 62"/>
          <p:cNvSpPr>
            <a:spLocks noChangeArrowheads="1"/>
          </p:cNvSpPr>
          <p:nvPr/>
        </p:nvSpPr>
        <p:spPr bwMode="auto">
          <a:xfrm>
            <a:off x="7431088" y="3324225"/>
            <a:ext cx="1230313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 i="1">
                <a:solidFill>
                  <a:schemeClr val="accent2"/>
                </a:solidFill>
                <a:latin typeface="Chalkboard" charset="0"/>
              </a:rPr>
              <a:t>Fourier</a:t>
            </a:r>
          </a:p>
          <a:p>
            <a:pPr algn="ctr"/>
            <a:r>
              <a:rPr lang="en-US" altLang="en-US" sz="1800" i="1">
                <a:solidFill>
                  <a:schemeClr val="accent2"/>
                </a:solidFill>
                <a:latin typeface="Chalkboard" charset="0"/>
              </a:rPr>
              <a:t>Transform</a:t>
            </a:r>
            <a:endParaRPr lang="en-US" sz="1800" i="1">
              <a:solidFill>
                <a:schemeClr val="accent2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45" grpId="0" animBg="1"/>
      <p:bldP spid="55346" grpId="0" animBg="1"/>
      <p:bldP spid="55347" grpId="0"/>
      <p:bldP spid="55348" grpId="0"/>
      <p:bldP spid="55351" grpId="0"/>
      <p:bldP spid="55356" grpId="0" animBg="1"/>
      <p:bldP spid="5535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235" name="Picture 3"/>
          <p:cNvPicPr>
            <a:picLocks noChangeAspect="1" noChangeArrowheads="1"/>
          </p:cNvPicPr>
          <p:nvPr/>
        </p:nvPicPr>
        <p:blipFill>
          <a:blip r:embed="rId4" cstate="print"/>
          <a:srcRect l="20725" t="7792" r="21244" b="16883"/>
          <a:stretch>
            <a:fillRect/>
          </a:stretch>
        </p:blipFill>
        <p:spPr bwMode="auto">
          <a:xfrm>
            <a:off x="5562600" y="4495800"/>
            <a:ext cx="2133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422" name="Text Box 30"/>
          <p:cNvSpPr txBox="1">
            <a:spLocks noChangeArrowheads="1"/>
          </p:cNvSpPr>
          <p:nvPr/>
        </p:nvSpPr>
        <p:spPr bwMode="auto">
          <a:xfrm>
            <a:off x="1238250" y="195263"/>
            <a:ext cx="6054725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rgbClr val="660066"/>
                </a:solidFill>
                <a:latin typeface="Chalkboard" charset="0"/>
              </a:rPr>
              <a:t>Properties of the Fourier Transform</a:t>
            </a:r>
            <a:endParaRPr lang="en-US" altLang="en-US" sz="2800">
              <a:solidFill>
                <a:schemeClr val="tx2"/>
              </a:solidFill>
              <a:latin typeface="Chalkboard" charset="0"/>
            </a:endParaRPr>
          </a:p>
        </p:txBody>
      </p:sp>
      <p:sp>
        <p:nvSpPr>
          <p:cNvPr id="59424" name="Rectangle 32"/>
          <p:cNvSpPr>
            <a:spLocks noChangeArrowheads="1"/>
          </p:cNvSpPr>
          <p:nvPr/>
        </p:nvSpPr>
        <p:spPr bwMode="auto">
          <a:xfrm>
            <a:off x="1022350" y="3182938"/>
            <a:ext cx="6915150" cy="124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dirty="0">
                <a:latin typeface="Chalkboard" charset="0"/>
              </a:rPr>
              <a:t>Symmetry:</a:t>
            </a:r>
            <a:endParaRPr lang="en-US" altLang="en-US" dirty="0">
              <a:solidFill>
                <a:schemeClr val="accent2"/>
              </a:solidFill>
              <a:latin typeface="Chalkboard" charset="0"/>
            </a:endParaRPr>
          </a:p>
          <a:p>
            <a:r>
              <a:rPr lang="en-US" altLang="en-US" dirty="0">
                <a:solidFill>
                  <a:schemeClr val="accent2"/>
                </a:solidFill>
                <a:latin typeface="Chalkboard" charset="0"/>
              </a:rPr>
              <a:t>The Fourier Transform of the Fourier Transform</a:t>
            </a:r>
          </a:p>
          <a:p>
            <a:r>
              <a:rPr lang="en-US" altLang="en-US" dirty="0">
                <a:solidFill>
                  <a:schemeClr val="accent2"/>
                </a:solidFill>
                <a:latin typeface="Chalkboard" charset="0"/>
              </a:rPr>
              <a:t>is the original image</a:t>
            </a:r>
          </a:p>
        </p:txBody>
      </p:sp>
      <p:sp>
        <p:nvSpPr>
          <p:cNvPr id="59426" name="Rectangle 34"/>
          <p:cNvSpPr>
            <a:spLocks noChangeArrowheads="1"/>
          </p:cNvSpPr>
          <p:nvPr/>
        </p:nvSpPr>
        <p:spPr bwMode="auto">
          <a:xfrm>
            <a:off x="1047750" y="1716088"/>
            <a:ext cx="7043738" cy="122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latin typeface="Chalkboard" charset="0"/>
              </a:rPr>
              <a:t>Completeness:</a:t>
            </a:r>
          </a:p>
          <a:p>
            <a:r>
              <a:rPr lang="en-US" altLang="en-US">
                <a:solidFill>
                  <a:schemeClr val="accent2"/>
                </a:solidFill>
                <a:latin typeface="Chalkboard" charset="0"/>
              </a:rPr>
              <a:t>The Fourier Transform</a:t>
            </a:r>
            <a:r>
              <a:rPr lang="en-US" altLang="en-US">
                <a:solidFill>
                  <a:schemeClr val="accent2"/>
                </a:solidFill>
                <a:latin typeface="Helvetica" charset="0"/>
              </a:rPr>
              <a:t> contains </a:t>
            </a:r>
            <a:r>
              <a:rPr lang="en-US" altLang="en-US" b="1">
                <a:solidFill>
                  <a:schemeClr val="accent2"/>
                </a:solidFill>
                <a:latin typeface="Helvetica" charset="0"/>
              </a:rPr>
              <a:t>all</a:t>
            </a:r>
            <a:r>
              <a:rPr lang="en-US" altLang="en-US">
                <a:solidFill>
                  <a:schemeClr val="accent2"/>
                </a:solidFill>
                <a:latin typeface="Helvetica" charset="0"/>
              </a:rPr>
              <a:t> the information</a:t>
            </a:r>
          </a:p>
          <a:p>
            <a:r>
              <a:rPr lang="en-US" altLang="en-US">
                <a:solidFill>
                  <a:schemeClr val="accent2"/>
                </a:solidFill>
                <a:latin typeface="Helvetica" charset="0"/>
              </a:rPr>
              <a:t>of the original image</a:t>
            </a:r>
            <a:endParaRPr lang="en-US">
              <a:solidFill>
                <a:schemeClr val="accent2"/>
              </a:solidFill>
              <a:latin typeface="Helvetica" charset="0"/>
            </a:endParaRPr>
          </a:p>
        </p:txBody>
      </p:sp>
      <p:sp>
        <p:nvSpPr>
          <p:cNvPr id="59438" name="Freeform 46"/>
          <p:cNvSpPr>
            <a:spLocks/>
          </p:cNvSpPr>
          <p:nvPr/>
        </p:nvSpPr>
        <p:spPr bwMode="auto">
          <a:xfrm>
            <a:off x="4132263" y="5824538"/>
            <a:ext cx="1285875" cy="93662"/>
          </a:xfrm>
          <a:custGeom>
            <a:avLst/>
            <a:gdLst/>
            <a:ahLst/>
            <a:cxnLst>
              <a:cxn ang="0">
                <a:pos x="0" y="117"/>
              </a:cxn>
              <a:cxn ang="0">
                <a:pos x="432" y="0"/>
              </a:cxn>
            </a:cxnLst>
            <a:rect l="0" t="0" r="r" b="b"/>
            <a:pathLst>
              <a:path w="432" h="117">
                <a:moveTo>
                  <a:pt x="0" y="117"/>
                </a:moveTo>
                <a:cubicBezTo>
                  <a:pt x="208" y="111"/>
                  <a:pt x="171" y="5"/>
                  <a:pt x="432" y="0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9439" name="Rectangle 47"/>
          <p:cNvSpPr>
            <a:spLocks noChangeArrowheads="1"/>
          </p:cNvSpPr>
          <p:nvPr/>
        </p:nvSpPr>
        <p:spPr bwMode="auto">
          <a:xfrm>
            <a:off x="4202113" y="5145088"/>
            <a:ext cx="1204912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 i="1" dirty="0">
                <a:solidFill>
                  <a:schemeClr val="accent2"/>
                </a:solidFill>
                <a:latin typeface="Chalkboard" charset="0"/>
              </a:rPr>
              <a:t>Fourier</a:t>
            </a:r>
          </a:p>
          <a:p>
            <a:pPr algn="ctr"/>
            <a:r>
              <a:rPr lang="en-US" altLang="en-US" sz="1800" i="1" dirty="0">
                <a:solidFill>
                  <a:schemeClr val="accent2"/>
                </a:solidFill>
                <a:latin typeface="Chalkboard" charset="0"/>
              </a:rPr>
              <a:t>transform</a:t>
            </a:r>
            <a:endParaRPr lang="en-US" sz="1800" i="1" dirty="0">
              <a:solidFill>
                <a:schemeClr val="accent2"/>
              </a:solidFill>
              <a:latin typeface="Chalkboard" charset="0"/>
            </a:endParaRPr>
          </a:p>
        </p:txBody>
      </p:sp>
      <p:graphicFrame>
        <p:nvGraphicFramePr>
          <p:cNvPr id="59440" name="Object 48"/>
          <p:cNvGraphicFramePr>
            <a:graphicFrameLocks noChangeAspect="1"/>
          </p:cNvGraphicFramePr>
          <p:nvPr/>
        </p:nvGraphicFramePr>
        <p:xfrm>
          <a:off x="1130300" y="931863"/>
          <a:ext cx="2671763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237" name="Equation" r:id="rId5" imgW="1295400" imgH="254000" progId="Equation.3">
                  <p:embed/>
                </p:oleObj>
              </mc:Choice>
              <mc:Fallback>
                <p:oleObj name="Equation" r:id="rId5" imgW="1295400" imgH="2540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0300" y="931863"/>
                        <a:ext cx="2671763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7" cstate="print"/>
          <a:srcRect l="20725" t="10390" r="23316" b="16883"/>
          <a:stretch>
            <a:fillRect/>
          </a:stretch>
        </p:blipFill>
        <p:spPr bwMode="auto">
          <a:xfrm>
            <a:off x="1981200" y="4572000"/>
            <a:ext cx="20574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308" name="Picture 4"/>
          <p:cNvPicPr>
            <a:picLocks noChangeAspect="1" noChangeArrowheads="1"/>
          </p:cNvPicPr>
          <p:nvPr/>
        </p:nvPicPr>
        <p:blipFill>
          <a:blip r:embed="rId3" cstate="print"/>
          <a:srcRect l="19171" t="7792" r="20725" b="16883"/>
          <a:stretch>
            <a:fillRect/>
          </a:stretch>
        </p:blipFill>
        <p:spPr bwMode="auto">
          <a:xfrm>
            <a:off x="6172200" y="4495800"/>
            <a:ext cx="2209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4" cstate="print"/>
          <a:srcRect l="20725" t="7792" r="21244" b="16883"/>
          <a:stretch>
            <a:fillRect/>
          </a:stretch>
        </p:blipFill>
        <p:spPr bwMode="auto">
          <a:xfrm>
            <a:off x="533400" y="4495800"/>
            <a:ext cx="2133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030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67350" y="1219200"/>
            <a:ext cx="3676650" cy="293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0306" name="Picture 2"/>
          <p:cNvPicPr>
            <a:picLocks noChangeAspect="1" noChangeArrowheads="1"/>
          </p:cNvPicPr>
          <p:nvPr/>
        </p:nvPicPr>
        <p:blipFill>
          <a:blip r:embed="rId6" cstate="print"/>
          <a:srcRect l="20725" t="7792" r="19171" b="16884"/>
          <a:stretch>
            <a:fillRect/>
          </a:stretch>
        </p:blipFill>
        <p:spPr bwMode="auto">
          <a:xfrm>
            <a:off x="3429000" y="4495800"/>
            <a:ext cx="2209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391" name="Text Box 71"/>
          <p:cNvSpPr txBox="1">
            <a:spLocks noChangeArrowheads="1"/>
          </p:cNvSpPr>
          <p:nvPr/>
        </p:nvSpPr>
        <p:spPr bwMode="auto">
          <a:xfrm>
            <a:off x="2728913" y="0"/>
            <a:ext cx="3656012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The OTF and Imaging</a:t>
            </a:r>
          </a:p>
        </p:txBody>
      </p:sp>
      <p:sp>
        <p:nvSpPr>
          <p:cNvPr id="56350" name="Text Box 30"/>
          <p:cNvSpPr txBox="1">
            <a:spLocks noChangeArrowheads="1"/>
          </p:cNvSpPr>
          <p:nvPr/>
        </p:nvSpPr>
        <p:spPr bwMode="auto">
          <a:xfrm>
            <a:off x="4168775" y="685800"/>
            <a:ext cx="184150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endParaRPr lang="en-US" altLang="en-US" sz="2800">
              <a:solidFill>
                <a:schemeClr val="tx2"/>
              </a:solidFill>
              <a:latin typeface="Chalkboard" charset="0"/>
            </a:endParaRPr>
          </a:p>
        </p:txBody>
      </p:sp>
      <p:sp>
        <p:nvSpPr>
          <p:cNvPr id="56351" name="Freeform 31"/>
          <p:cNvSpPr>
            <a:spLocks/>
          </p:cNvSpPr>
          <p:nvPr/>
        </p:nvSpPr>
        <p:spPr bwMode="auto">
          <a:xfrm>
            <a:off x="7281863" y="3733800"/>
            <a:ext cx="152400" cy="720725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299" y="779"/>
              </a:cxn>
            </a:cxnLst>
            <a:rect l="0" t="0" r="r" b="b"/>
            <a:pathLst>
              <a:path w="320" h="779">
                <a:moveTo>
                  <a:pt x="11" y="0"/>
                </a:moveTo>
                <a:cubicBezTo>
                  <a:pt x="0" y="379"/>
                  <a:pt x="320" y="272"/>
                  <a:pt x="299" y="779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6352" name="Rectangle 32"/>
          <p:cNvSpPr>
            <a:spLocks noChangeArrowheads="1"/>
          </p:cNvSpPr>
          <p:nvPr/>
        </p:nvSpPr>
        <p:spPr bwMode="auto">
          <a:xfrm>
            <a:off x="700088" y="3808413"/>
            <a:ext cx="1230312" cy="58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Fourier</a:t>
            </a:r>
          </a:p>
          <a:p>
            <a:pPr algn="ctr">
              <a:lnSpc>
                <a:spcPct val="70000"/>
              </a:lnSpc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Transform</a:t>
            </a:r>
            <a:endParaRPr lang="en-US" sz="18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6358" name="Freeform 38"/>
          <p:cNvSpPr>
            <a:spLocks/>
          </p:cNvSpPr>
          <p:nvPr/>
        </p:nvSpPr>
        <p:spPr bwMode="auto">
          <a:xfrm>
            <a:off x="1795463" y="3759200"/>
            <a:ext cx="152400" cy="720725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299" y="779"/>
              </a:cxn>
            </a:cxnLst>
            <a:rect l="0" t="0" r="r" b="b"/>
            <a:pathLst>
              <a:path w="320" h="779">
                <a:moveTo>
                  <a:pt x="11" y="0"/>
                </a:moveTo>
                <a:cubicBezTo>
                  <a:pt x="0" y="379"/>
                  <a:pt x="320" y="272"/>
                  <a:pt x="299" y="779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6362" name="Rectangle 42"/>
          <p:cNvSpPr>
            <a:spLocks noChangeArrowheads="1"/>
          </p:cNvSpPr>
          <p:nvPr/>
        </p:nvSpPr>
        <p:spPr bwMode="auto">
          <a:xfrm>
            <a:off x="1363663" y="1020763"/>
            <a:ext cx="906462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True</a:t>
            </a:r>
          </a:p>
          <a:p>
            <a:pPr algn="ctr">
              <a:lnSpc>
                <a:spcPct val="80000"/>
              </a:lnSpc>
            </a:pPr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Object</a:t>
            </a:r>
            <a:endParaRPr lang="en-US" sz="180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56363" name="Rectangle 43"/>
          <p:cNvSpPr>
            <a:spLocks noChangeArrowheads="1"/>
          </p:cNvSpPr>
          <p:nvPr/>
        </p:nvSpPr>
        <p:spPr bwMode="auto">
          <a:xfrm>
            <a:off x="6753225" y="995363"/>
            <a:ext cx="1143000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Observed</a:t>
            </a:r>
          </a:p>
          <a:p>
            <a:pPr algn="ctr">
              <a:lnSpc>
                <a:spcPct val="80000"/>
              </a:lnSpc>
            </a:pPr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Image</a:t>
            </a:r>
            <a:endParaRPr lang="en-US" sz="180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56365" name="Rectangle 45"/>
          <p:cNvSpPr>
            <a:spLocks noChangeArrowheads="1"/>
          </p:cNvSpPr>
          <p:nvPr/>
        </p:nvSpPr>
        <p:spPr bwMode="auto">
          <a:xfrm>
            <a:off x="4340225" y="4173538"/>
            <a:ext cx="59531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 dirty="0">
                <a:solidFill>
                  <a:srgbClr val="0A0666"/>
                </a:solidFill>
                <a:latin typeface="Chalkboard" charset="0"/>
              </a:rPr>
              <a:t>OTF</a:t>
            </a:r>
            <a:endParaRPr lang="en-US" sz="1800" dirty="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56366" name="Rectangle 46"/>
          <p:cNvSpPr>
            <a:spLocks noChangeArrowheads="1"/>
          </p:cNvSpPr>
          <p:nvPr/>
        </p:nvSpPr>
        <p:spPr bwMode="auto">
          <a:xfrm>
            <a:off x="3073400" y="5381625"/>
            <a:ext cx="323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accent2"/>
                </a:solidFill>
                <a:latin typeface="Chalkboard" charset="0"/>
                <a:sym typeface="Symbol" charset="2"/>
              </a:rPr>
              <a:t></a:t>
            </a:r>
            <a:endParaRPr lang="en-US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6367" name="Rectangle 47"/>
          <p:cNvSpPr>
            <a:spLocks noChangeArrowheads="1"/>
          </p:cNvSpPr>
          <p:nvPr/>
        </p:nvSpPr>
        <p:spPr bwMode="auto">
          <a:xfrm>
            <a:off x="5772150" y="5314950"/>
            <a:ext cx="3333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accent2"/>
                </a:solidFill>
                <a:latin typeface="Chalkboard" charset="0"/>
                <a:sym typeface="Symbol" charset="2"/>
              </a:rPr>
              <a:t>=</a:t>
            </a:r>
            <a:endParaRPr lang="en-US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6368" name="Rectangle 48"/>
          <p:cNvSpPr>
            <a:spLocks noChangeArrowheads="1"/>
          </p:cNvSpPr>
          <p:nvPr/>
        </p:nvSpPr>
        <p:spPr bwMode="auto">
          <a:xfrm>
            <a:off x="5789613" y="2427288"/>
            <a:ext cx="3333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accent2"/>
                </a:solidFill>
                <a:latin typeface="Chalkboard" charset="0"/>
                <a:sym typeface="Symbol" charset="2"/>
              </a:rPr>
              <a:t>=</a:t>
            </a:r>
            <a:endParaRPr lang="en-US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6359" name="Freeform 39"/>
          <p:cNvSpPr>
            <a:spLocks/>
          </p:cNvSpPr>
          <p:nvPr/>
        </p:nvSpPr>
        <p:spPr bwMode="auto">
          <a:xfrm>
            <a:off x="4130676" y="3759200"/>
            <a:ext cx="152400" cy="720725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299" y="779"/>
              </a:cxn>
            </a:cxnLst>
            <a:rect l="0" t="0" r="r" b="b"/>
            <a:pathLst>
              <a:path w="320" h="779">
                <a:moveTo>
                  <a:pt x="11" y="0"/>
                </a:moveTo>
                <a:cubicBezTo>
                  <a:pt x="0" y="379"/>
                  <a:pt x="320" y="272"/>
                  <a:pt x="299" y="779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0" name="Group 39"/>
          <p:cNvGrpSpPr/>
          <p:nvPr/>
        </p:nvGrpSpPr>
        <p:grpSpPr>
          <a:xfrm>
            <a:off x="3429000" y="1524000"/>
            <a:ext cx="2184400" cy="2166937"/>
            <a:chOff x="3502026" y="1595438"/>
            <a:chExt cx="2184400" cy="2166937"/>
          </a:xfrm>
        </p:grpSpPr>
        <p:sp>
          <p:nvSpPr>
            <p:cNvPr id="56360" name="Rectangle 40"/>
            <p:cNvSpPr>
              <a:spLocks noChangeArrowheads="1"/>
            </p:cNvSpPr>
            <p:nvPr/>
          </p:nvSpPr>
          <p:spPr bwMode="auto">
            <a:xfrm>
              <a:off x="3502026" y="1595438"/>
              <a:ext cx="2184400" cy="21669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61" name="Rectangle 41"/>
            <p:cNvSpPr>
              <a:spLocks noChangeArrowheads="1"/>
            </p:cNvSpPr>
            <p:nvPr/>
          </p:nvSpPr>
          <p:spPr bwMode="auto">
            <a:xfrm>
              <a:off x="4402138" y="2427288"/>
              <a:ext cx="320675" cy="476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i="1" dirty="0">
                  <a:solidFill>
                    <a:schemeClr val="accent2"/>
                  </a:solidFill>
                  <a:latin typeface="Chalkboard" charset="0"/>
                </a:rPr>
                <a:t>?</a:t>
              </a:r>
              <a:endParaRPr lang="en-US" i="1" dirty="0">
                <a:solidFill>
                  <a:schemeClr val="accent2"/>
                </a:solidFill>
                <a:latin typeface="Chalkboard" charset="0"/>
              </a:endParaRPr>
            </a:p>
          </p:txBody>
        </p:sp>
      </p:grpSp>
      <p:sp>
        <p:nvSpPr>
          <p:cNvPr id="56370" name="Rectangle 50"/>
          <p:cNvSpPr>
            <a:spLocks noChangeArrowheads="1"/>
          </p:cNvSpPr>
          <p:nvPr/>
        </p:nvSpPr>
        <p:spPr bwMode="auto">
          <a:xfrm>
            <a:off x="3081338" y="2427288"/>
            <a:ext cx="3206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accent2"/>
                </a:solidFill>
                <a:latin typeface="Chalkboard" charset="0"/>
              </a:rPr>
              <a:t>?</a:t>
            </a:r>
            <a:endParaRPr lang="en-US" dirty="0">
              <a:solidFill>
                <a:schemeClr val="accent2"/>
              </a:solidFill>
              <a:latin typeface="Chalkboard" charset="0"/>
            </a:endParaRPr>
          </a:p>
        </p:txBody>
      </p:sp>
      <p:pic>
        <p:nvPicPr>
          <p:cNvPr id="35" name="Picture 7"/>
          <p:cNvPicPr>
            <a:picLocks noChangeAspect="1" noChangeArrowheads="1"/>
          </p:cNvPicPr>
          <p:nvPr/>
        </p:nvPicPr>
        <p:blipFill>
          <a:blip r:embed="rId7" cstate="print"/>
          <a:srcRect l="20725" t="10390" r="23316" b="16883"/>
          <a:stretch>
            <a:fillRect/>
          </a:stretch>
        </p:blipFill>
        <p:spPr bwMode="auto">
          <a:xfrm>
            <a:off x="609600" y="1524000"/>
            <a:ext cx="20574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0309" name="Picture 5"/>
          <p:cNvPicPr>
            <a:picLocks noChangeAspect="1" noChangeArrowheads="1"/>
          </p:cNvPicPr>
          <p:nvPr/>
        </p:nvPicPr>
        <p:blipFill>
          <a:blip r:embed="rId8" cstate="print"/>
          <a:srcRect l="18912" t="8442" r="20984" b="16234"/>
          <a:stretch>
            <a:fillRect/>
          </a:stretch>
        </p:blipFill>
        <p:spPr bwMode="auto">
          <a:xfrm>
            <a:off x="3429000" y="1524000"/>
            <a:ext cx="2209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" name="Rectangle 53"/>
          <p:cNvSpPr>
            <a:spLocks noChangeArrowheads="1"/>
          </p:cNvSpPr>
          <p:nvPr/>
        </p:nvSpPr>
        <p:spPr bwMode="auto">
          <a:xfrm>
            <a:off x="3055938" y="2425701"/>
            <a:ext cx="417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accent2"/>
                </a:solidFill>
                <a:latin typeface="Chalkboard" charset="0"/>
                <a:sym typeface="Symbol" charset="2"/>
              </a:rPr>
              <a:t></a:t>
            </a:r>
            <a:endParaRPr lang="en-US" dirty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46" name="Freeform 67"/>
          <p:cNvSpPr>
            <a:spLocks/>
          </p:cNvSpPr>
          <p:nvPr/>
        </p:nvSpPr>
        <p:spPr bwMode="auto">
          <a:xfrm>
            <a:off x="3149600" y="1252538"/>
            <a:ext cx="109538" cy="12112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9" y="763"/>
              </a:cxn>
            </a:cxnLst>
            <a:rect l="0" t="0" r="r" b="b"/>
            <a:pathLst>
              <a:path w="69" h="763">
                <a:moveTo>
                  <a:pt x="0" y="0"/>
                </a:moveTo>
                <a:cubicBezTo>
                  <a:pt x="6" y="267"/>
                  <a:pt x="57" y="407"/>
                  <a:pt x="69" y="763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Rectangle 68"/>
          <p:cNvSpPr>
            <a:spLocks noChangeArrowheads="1"/>
          </p:cNvSpPr>
          <p:nvPr/>
        </p:nvSpPr>
        <p:spPr bwMode="auto">
          <a:xfrm>
            <a:off x="2565400" y="955675"/>
            <a:ext cx="13223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convolution</a:t>
            </a:r>
            <a:endParaRPr lang="en-US" sz="180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48" name="Rectangle 45"/>
          <p:cNvSpPr>
            <a:spLocks noChangeArrowheads="1"/>
          </p:cNvSpPr>
          <p:nvPr/>
        </p:nvSpPr>
        <p:spPr bwMode="auto">
          <a:xfrm>
            <a:off x="4400502" y="1143000"/>
            <a:ext cx="63350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 dirty="0" smtClean="0">
                <a:solidFill>
                  <a:srgbClr val="0A0666"/>
                </a:solidFill>
                <a:latin typeface="Chalkboard" charset="0"/>
              </a:rPr>
              <a:t>PSF</a:t>
            </a:r>
            <a:endParaRPr lang="en-US" sz="1800" dirty="0">
              <a:solidFill>
                <a:srgbClr val="0A0666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70" grpId="0"/>
      <p:bldP spid="45" grpId="0"/>
      <p:bldP spid="46" grpId="0" animBg="1"/>
      <p:bldP spid="47" grpId="0"/>
      <p:bldP spid="4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3402013" y="134938"/>
            <a:ext cx="2155825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800" b="1">
                <a:latin typeface="Chalkboard" charset="0"/>
              </a:rPr>
              <a:t>Convolutions</a:t>
            </a:r>
            <a:endParaRPr lang="en-US" altLang="en-US">
              <a:solidFill>
                <a:srgbClr val="CC0000"/>
              </a:solidFill>
              <a:latin typeface="Chalkboard" charset="0"/>
            </a:endParaRPr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2806700" y="825500"/>
            <a:ext cx="30099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000" b="1">
                <a:solidFill>
                  <a:srgbClr val="CC0000"/>
                </a:solidFill>
                <a:latin typeface="Helvetica" charset="0"/>
              </a:rPr>
              <a:t>(f </a:t>
            </a:r>
            <a:r>
              <a:rPr lang="en-US" altLang="en-US" sz="1800" b="1">
                <a:solidFill>
                  <a:srgbClr val="CC0000"/>
                </a:solidFill>
                <a:latin typeface="Helvetica" charset="0"/>
                <a:sym typeface="Symbol" charset="2"/>
              </a:rPr>
              <a:t></a:t>
            </a:r>
            <a:r>
              <a:rPr lang="en-US" altLang="en-US" sz="2000" b="1">
                <a:solidFill>
                  <a:srgbClr val="CC0000"/>
                </a:solidFill>
                <a:latin typeface="Helvetica" charset="0"/>
              </a:rPr>
              <a:t> g)(r) =  f(a) g(r-a) da</a:t>
            </a:r>
          </a:p>
        </p:txBody>
      </p:sp>
      <p:sp>
        <p:nvSpPr>
          <p:cNvPr id="7180" name="Freeform 12"/>
          <p:cNvSpPr>
            <a:spLocks/>
          </p:cNvSpPr>
          <p:nvPr/>
        </p:nvSpPr>
        <p:spPr bwMode="auto">
          <a:xfrm>
            <a:off x="4032250" y="625475"/>
            <a:ext cx="269875" cy="815975"/>
          </a:xfrm>
          <a:custGeom>
            <a:avLst/>
            <a:gdLst/>
            <a:ahLst/>
            <a:cxnLst>
              <a:cxn ang="0">
                <a:pos x="42" y="570"/>
              </a:cxn>
              <a:cxn ang="0">
                <a:pos x="136" y="100"/>
              </a:cxn>
            </a:cxnLst>
            <a:rect l="0" t="0" r="r" b="b"/>
            <a:pathLst>
              <a:path w="170" h="702">
                <a:moveTo>
                  <a:pt x="42" y="570"/>
                </a:moveTo>
                <a:cubicBezTo>
                  <a:pt x="170" y="702"/>
                  <a:pt x="0" y="0"/>
                  <a:pt x="136" y="100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466725" y="1254125"/>
            <a:ext cx="3001963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169863" indent="-169863"/>
            <a:r>
              <a:rPr lang="en-US" altLang="en-US" sz="1800">
                <a:latin typeface="Chalkboard" charset="0"/>
              </a:rPr>
              <a:t>Why do we care?</a:t>
            </a:r>
          </a:p>
          <a:p>
            <a:pPr marL="169863" indent="-169863">
              <a:buSzPct val="90000"/>
              <a:buFont typeface="Times" charset="0"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They are everywhere…</a:t>
            </a:r>
          </a:p>
          <a:p>
            <a:pPr marL="169863" indent="-169863">
              <a:buSzPct val="90000"/>
              <a:buFont typeface="Times" charset="0"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The </a:t>
            </a:r>
            <a:r>
              <a:rPr lang="en-US" altLang="en-US" sz="1800" b="1" u="sng">
                <a:solidFill>
                  <a:srgbClr val="660066"/>
                </a:solidFill>
                <a:latin typeface="Chalkboard" charset="0"/>
              </a:rPr>
              <a:t>convolution theorem</a:t>
            </a: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:</a:t>
            </a:r>
            <a:endParaRPr lang="en-US" altLang="en-US" sz="1800">
              <a:latin typeface="Chalkboard" charset="0"/>
            </a:endParaRPr>
          </a:p>
        </p:txBody>
      </p:sp>
      <p:sp>
        <p:nvSpPr>
          <p:cNvPr id="7182" name="Text Box 14"/>
          <p:cNvSpPr txBox="1">
            <a:spLocks noChangeArrowheads="1"/>
          </p:cNvSpPr>
          <p:nvPr/>
        </p:nvSpPr>
        <p:spPr bwMode="auto">
          <a:xfrm>
            <a:off x="676275" y="2063750"/>
            <a:ext cx="650875" cy="900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70000"/>
              </a:lnSpc>
            </a:pPr>
            <a:r>
              <a:rPr lang="en-US" altLang="en-US" sz="1800">
                <a:latin typeface="Chalkboard" charset="0"/>
              </a:rPr>
              <a:t>If</a:t>
            </a:r>
          </a:p>
          <a:p>
            <a:pPr>
              <a:lnSpc>
                <a:spcPct val="110000"/>
              </a:lnSpc>
            </a:pPr>
            <a:r>
              <a:rPr lang="en-US" altLang="en-US" sz="1800">
                <a:latin typeface="Chalkboard" charset="0"/>
              </a:rPr>
              <a:t>then</a:t>
            </a:r>
          </a:p>
        </p:txBody>
      </p:sp>
      <p:sp>
        <p:nvSpPr>
          <p:cNvPr id="7183" name="Text Box 15"/>
          <p:cNvSpPr txBox="1">
            <a:spLocks noChangeArrowheads="1"/>
          </p:cNvSpPr>
          <p:nvPr/>
        </p:nvSpPr>
        <p:spPr bwMode="auto">
          <a:xfrm>
            <a:off x="1600200" y="2101850"/>
            <a:ext cx="2408238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h(</a:t>
            </a:r>
            <a:r>
              <a:rPr lang="en-US" altLang="en-US" sz="1800" b="1">
                <a:solidFill>
                  <a:srgbClr val="CC0000"/>
                </a:solidFill>
                <a:latin typeface="Courier" charset="0"/>
              </a:rPr>
              <a:t>r</a:t>
            </a: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) = (f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  <a:sym typeface="Symbol" charset="2"/>
              </a:rPr>
              <a:t></a:t>
            </a: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g)(</a:t>
            </a:r>
            <a:r>
              <a:rPr lang="en-US" altLang="en-US" sz="1800" b="1">
                <a:solidFill>
                  <a:srgbClr val="CC0000"/>
                </a:solidFill>
                <a:latin typeface="Courier" charset="0"/>
              </a:rPr>
              <a:t>r</a:t>
            </a: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),</a:t>
            </a:r>
          </a:p>
          <a:p>
            <a:pPr>
              <a:lnSpc>
                <a:spcPct val="120000"/>
              </a:lnSpc>
            </a:pP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h(</a:t>
            </a:r>
            <a:r>
              <a:rPr lang="en-US" altLang="en-US" sz="1800" b="1">
                <a:solidFill>
                  <a:srgbClr val="CC0000"/>
                </a:solidFill>
                <a:latin typeface="Courier" charset="0"/>
              </a:rPr>
              <a:t>k</a:t>
            </a: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) = f(k) g(</a:t>
            </a:r>
            <a:r>
              <a:rPr lang="en-US" altLang="en-US" sz="1800" b="1">
                <a:solidFill>
                  <a:srgbClr val="CC0000"/>
                </a:solidFill>
                <a:latin typeface="Courier" charset="0"/>
              </a:rPr>
              <a:t>k</a:t>
            </a: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)</a:t>
            </a:r>
            <a:endParaRPr lang="en-US" altLang="en-US" sz="1800" b="1">
              <a:solidFill>
                <a:srgbClr val="CC0000"/>
              </a:solidFill>
              <a:latin typeface="Courier" charset="0"/>
            </a:endParaRPr>
          </a:p>
        </p:txBody>
      </p:sp>
      <p:sp>
        <p:nvSpPr>
          <p:cNvPr id="7188" name="Freeform 20"/>
          <p:cNvSpPr>
            <a:spLocks/>
          </p:cNvSpPr>
          <p:nvPr/>
        </p:nvSpPr>
        <p:spPr bwMode="auto">
          <a:xfrm>
            <a:off x="1655763" y="2592388"/>
            <a:ext cx="222250" cy="74612"/>
          </a:xfrm>
          <a:custGeom>
            <a:avLst/>
            <a:gdLst/>
            <a:ahLst/>
            <a:cxnLst>
              <a:cxn ang="0">
                <a:pos x="0" y="82"/>
              </a:cxn>
              <a:cxn ang="0">
                <a:pos x="128" y="2"/>
              </a:cxn>
              <a:cxn ang="0">
                <a:pos x="232" y="74"/>
              </a:cxn>
              <a:cxn ang="0">
                <a:pos x="336" y="18"/>
              </a:cxn>
            </a:cxnLst>
            <a:rect l="0" t="0" r="r" b="b"/>
            <a:pathLst>
              <a:path w="336" h="82">
                <a:moveTo>
                  <a:pt x="0" y="82"/>
                </a:moveTo>
                <a:cubicBezTo>
                  <a:pt x="44" y="42"/>
                  <a:pt x="89" y="3"/>
                  <a:pt x="128" y="2"/>
                </a:cubicBezTo>
                <a:cubicBezTo>
                  <a:pt x="166" y="0"/>
                  <a:pt x="197" y="71"/>
                  <a:pt x="232" y="74"/>
                </a:cubicBezTo>
                <a:cubicBezTo>
                  <a:pt x="266" y="76"/>
                  <a:pt x="301" y="47"/>
                  <a:pt x="336" y="18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9" name="Freeform 21"/>
          <p:cNvSpPr>
            <a:spLocks/>
          </p:cNvSpPr>
          <p:nvPr/>
        </p:nvSpPr>
        <p:spPr bwMode="auto">
          <a:xfrm>
            <a:off x="2632075" y="2586038"/>
            <a:ext cx="222250" cy="74612"/>
          </a:xfrm>
          <a:custGeom>
            <a:avLst/>
            <a:gdLst/>
            <a:ahLst/>
            <a:cxnLst>
              <a:cxn ang="0">
                <a:pos x="0" y="82"/>
              </a:cxn>
              <a:cxn ang="0">
                <a:pos x="128" y="2"/>
              </a:cxn>
              <a:cxn ang="0">
                <a:pos x="232" y="74"/>
              </a:cxn>
              <a:cxn ang="0">
                <a:pos x="336" y="18"/>
              </a:cxn>
            </a:cxnLst>
            <a:rect l="0" t="0" r="r" b="b"/>
            <a:pathLst>
              <a:path w="336" h="82">
                <a:moveTo>
                  <a:pt x="0" y="82"/>
                </a:moveTo>
                <a:cubicBezTo>
                  <a:pt x="44" y="42"/>
                  <a:pt x="89" y="3"/>
                  <a:pt x="128" y="2"/>
                </a:cubicBezTo>
                <a:cubicBezTo>
                  <a:pt x="166" y="0"/>
                  <a:pt x="197" y="71"/>
                  <a:pt x="232" y="74"/>
                </a:cubicBezTo>
                <a:cubicBezTo>
                  <a:pt x="266" y="76"/>
                  <a:pt x="301" y="47"/>
                  <a:pt x="336" y="18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0" name="Freeform 22"/>
          <p:cNvSpPr>
            <a:spLocks/>
          </p:cNvSpPr>
          <p:nvPr/>
        </p:nvSpPr>
        <p:spPr bwMode="auto">
          <a:xfrm>
            <a:off x="3298825" y="2614613"/>
            <a:ext cx="222250" cy="74612"/>
          </a:xfrm>
          <a:custGeom>
            <a:avLst/>
            <a:gdLst/>
            <a:ahLst/>
            <a:cxnLst>
              <a:cxn ang="0">
                <a:pos x="0" y="82"/>
              </a:cxn>
              <a:cxn ang="0">
                <a:pos x="128" y="2"/>
              </a:cxn>
              <a:cxn ang="0">
                <a:pos x="232" y="74"/>
              </a:cxn>
              <a:cxn ang="0">
                <a:pos x="336" y="18"/>
              </a:cxn>
            </a:cxnLst>
            <a:rect l="0" t="0" r="r" b="b"/>
            <a:pathLst>
              <a:path w="336" h="82">
                <a:moveTo>
                  <a:pt x="0" y="82"/>
                </a:moveTo>
                <a:cubicBezTo>
                  <a:pt x="44" y="42"/>
                  <a:pt x="89" y="3"/>
                  <a:pt x="128" y="2"/>
                </a:cubicBezTo>
                <a:cubicBezTo>
                  <a:pt x="166" y="0"/>
                  <a:pt x="197" y="71"/>
                  <a:pt x="232" y="74"/>
                </a:cubicBezTo>
                <a:cubicBezTo>
                  <a:pt x="266" y="76"/>
                  <a:pt x="301" y="47"/>
                  <a:pt x="336" y="18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1" name="AutoShape 23"/>
          <p:cNvSpPr>
            <a:spLocks noChangeArrowheads="1"/>
          </p:cNvSpPr>
          <p:nvPr/>
        </p:nvSpPr>
        <p:spPr bwMode="auto">
          <a:xfrm>
            <a:off x="4321175" y="2043113"/>
            <a:ext cx="4748213" cy="762000"/>
          </a:xfrm>
          <a:prstGeom prst="roundRect">
            <a:avLst>
              <a:gd name="adj" fmla="val 16667"/>
            </a:avLst>
          </a:prstGeom>
          <a:solidFill>
            <a:srgbClr val="C8FAFF"/>
          </a:solidFill>
          <a:ln w="28575">
            <a:solidFill>
              <a:srgbClr val="CC0000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800">
                <a:latin typeface="Chalkboard" charset="0"/>
              </a:rPr>
              <a:t>A convolution in real space becomes</a:t>
            </a:r>
          </a:p>
          <a:p>
            <a:r>
              <a:rPr lang="en-US" altLang="en-US" sz="1800">
                <a:latin typeface="Chalkboard" charset="0"/>
              </a:rPr>
              <a:t>a product in frequency space &amp; vice versa</a:t>
            </a:r>
          </a:p>
        </p:txBody>
      </p:sp>
      <p:sp>
        <p:nvSpPr>
          <p:cNvPr id="7192" name="Text Box 24"/>
          <p:cNvSpPr txBox="1">
            <a:spLocks noChangeArrowheads="1"/>
          </p:cNvSpPr>
          <p:nvPr/>
        </p:nvSpPr>
        <p:spPr bwMode="auto">
          <a:xfrm>
            <a:off x="517525" y="3187700"/>
            <a:ext cx="4041775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119063" indent="-119063"/>
            <a:r>
              <a:rPr lang="en-US" altLang="en-US" sz="1800">
                <a:latin typeface="Chalkboard" charset="0"/>
              </a:rPr>
              <a:t>So what</a:t>
            </a:r>
            <a:r>
              <a:rPr lang="en-US" altLang="en-US" sz="1800" b="1" u="sng">
                <a:latin typeface="Chalkboard" charset="0"/>
              </a:rPr>
              <a:t> is</a:t>
            </a:r>
            <a:r>
              <a:rPr lang="en-US" altLang="en-US" sz="1800">
                <a:latin typeface="Chalkboard" charset="0"/>
              </a:rPr>
              <a:t> a convolution, intuitively?</a:t>
            </a:r>
          </a:p>
          <a:p>
            <a:pPr marL="119063" indent="-119063">
              <a:buSzPct val="90000"/>
              <a:buFont typeface="Times" charset="0"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“Blurring”</a:t>
            </a:r>
          </a:p>
          <a:p>
            <a:pPr marL="119063" indent="-119063">
              <a:buSzPct val="90000"/>
              <a:buFont typeface="Times" charset="0"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“Drag and stamp”</a:t>
            </a:r>
            <a:endParaRPr lang="en-US" altLang="en-US" sz="1800">
              <a:latin typeface="Chalkboard" charset="0"/>
            </a:endParaRPr>
          </a:p>
        </p:txBody>
      </p:sp>
      <p:sp>
        <p:nvSpPr>
          <p:cNvPr id="7193" name="Freeform 25"/>
          <p:cNvSpPr>
            <a:spLocks/>
          </p:cNvSpPr>
          <p:nvPr/>
        </p:nvSpPr>
        <p:spPr bwMode="auto">
          <a:xfrm>
            <a:off x="4064000" y="4410075"/>
            <a:ext cx="488950" cy="5207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240" y="0"/>
              </a:cxn>
              <a:cxn ang="0">
                <a:pos x="480" y="432"/>
              </a:cxn>
            </a:cxnLst>
            <a:rect l="0" t="0" r="r" b="b"/>
            <a:pathLst>
              <a:path w="480" h="432">
                <a:moveTo>
                  <a:pt x="0" y="432"/>
                </a:moveTo>
                <a:cubicBezTo>
                  <a:pt x="96" y="430"/>
                  <a:pt x="114" y="0"/>
                  <a:pt x="240" y="0"/>
                </a:cubicBezTo>
                <a:cubicBezTo>
                  <a:pt x="366" y="0"/>
                  <a:pt x="380" y="426"/>
                  <a:pt x="480" y="432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4" name="Line 26"/>
          <p:cNvSpPr>
            <a:spLocks noChangeShapeType="1"/>
          </p:cNvSpPr>
          <p:nvPr/>
        </p:nvSpPr>
        <p:spPr bwMode="auto">
          <a:xfrm flipV="1">
            <a:off x="666750" y="4183063"/>
            <a:ext cx="3175" cy="804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5" name="Line 27"/>
          <p:cNvSpPr>
            <a:spLocks noChangeShapeType="1"/>
          </p:cNvSpPr>
          <p:nvPr/>
        </p:nvSpPr>
        <p:spPr bwMode="auto">
          <a:xfrm>
            <a:off x="609600" y="4930775"/>
            <a:ext cx="2571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0" name="Line 32"/>
          <p:cNvSpPr>
            <a:spLocks noChangeShapeType="1"/>
          </p:cNvSpPr>
          <p:nvPr/>
        </p:nvSpPr>
        <p:spPr bwMode="auto">
          <a:xfrm flipV="1">
            <a:off x="4300538" y="4191000"/>
            <a:ext cx="3175" cy="796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1" name="Line 33"/>
          <p:cNvSpPr>
            <a:spLocks noChangeShapeType="1"/>
          </p:cNvSpPr>
          <p:nvPr/>
        </p:nvSpPr>
        <p:spPr bwMode="auto">
          <a:xfrm>
            <a:off x="3851275" y="4930775"/>
            <a:ext cx="9255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2" name="Text Box 34"/>
          <p:cNvSpPr txBox="1">
            <a:spLocks noChangeArrowheads="1"/>
          </p:cNvSpPr>
          <p:nvPr/>
        </p:nvSpPr>
        <p:spPr bwMode="auto">
          <a:xfrm>
            <a:off x="5000625" y="4397375"/>
            <a:ext cx="3571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b="1">
                <a:solidFill>
                  <a:schemeClr val="bg2"/>
                </a:solidFill>
              </a:rPr>
              <a:t>=</a:t>
            </a:r>
          </a:p>
        </p:txBody>
      </p:sp>
      <p:sp>
        <p:nvSpPr>
          <p:cNvPr id="7203" name="Line 35"/>
          <p:cNvSpPr>
            <a:spLocks noChangeShapeType="1"/>
          </p:cNvSpPr>
          <p:nvPr/>
        </p:nvSpPr>
        <p:spPr bwMode="auto">
          <a:xfrm flipV="1">
            <a:off x="5943600" y="4178300"/>
            <a:ext cx="0" cy="809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4" name="Line 36"/>
          <p:cNvSpPr>
            <a:spLocks noChangeShapeType="1"/>
          </p:cNvSpPr>
          <p:nvPr/>
        </p:nvSpPr>
        <p:spPr bwMode="auto">
          <a:xfrm>
            <a:off x="5862638" y="4930775"/>
            <a:ext cx="2747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5" name="Freeform 37"/>
          <p:cNvSpPr>
            <a:spLocks/>
          </p:cNvSpPr>
          <p:nvPr/>
        </p:nvSpPr>
        <p:spPr bwMode="auto">
          <a:xfrm>
            <a:off x="7077075" y="3937000"/>
            <a:ext cx="1411288" cy="995363"/>
          </a:xfrm>
          <a:custGeom>
            <a:avLst/>
            <a:gdLst/>
            <a:ahLst/>
            <a:cxnLst>
              <a:cxn ang="0">
                <a:pos x="0" y="434"/>
              </a:cxn>
              <a:cxn ang="0">
                <a:pos x="240" y="2"/>
              </a:cxn>
              <a:cxn ang="0">
                <a:pos x="480" y="2"/>
              </a:cxn>
              <a:cxn ang="0">
                <a:pos x="720" y="434"/>
              </a:cxn>
            </a:cxnLst>
            <a:rect l="0" t="0" r="r" b="b"/>
            <a:pathLst>
              <a:path w="720" h="434">
                <a:moveTo>
                  <a:pt x="0" y="434"/>
                </a:moveTo>
                <a:cubicBezTo>
                  <a:pt x="96" y="434"/>
                  <a:pt x="132" y="4"/>
                  <a:pt x="240" y="2"/>
                </a:cubicBezTo>
                <a:cubicBezTo>
                  <a:pt x="334" y="2"/>
                  <a:pt x="382" y="2"/>
                  <a:pt x="480" y="2"/>
                </a:cubicBezTo>
                <a:cubicBezTo>
                  <a:pt x="587" y="0"/>
                  <a:pt x="622" y="434"/>
                  <a:pt x="720" y="434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6" name="Freeform 38"/>
          <p:cNvSpPr>
            <a:spLocks/>
          </p:cNvSpPr>
          <p:nvPr/>
        </p:nvSpPr>
        <p:spPr bwMode="auto">
          <a:xfrm>
            <a:off x="5976938" y="4549775"/>
            <a:ext cx="490537" cy="3810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240" y="0"/>
              </a:cxn>
              <a:cxn ang="0">
                <a:pos x="480" y="432"/>
              </a:cxn>
            </a:cxnLst>
            <a:rect l="0" t="0" r="r" b="b"/>
            <a:pathLst>
              <a:path w="480" h="432">
                <a:moveTo>
                  <a:pt x="0" y="432"/>
                </a:moveTo>
                <a:cubicBezTo>
                  <a:pt x="96" y="430"/>
                  <a:pt x="114" y="0"/>
                  <a:pt x="240" y="0"/>
                </a:cubicBezTo>
                <a:cubicBezTo>
                  <a:pt x="366" y="0"/>
                  <a:pt x="380" y="426"/>
                  <a:pt x="480" y="432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7" name="Freeform 39"/>
          <p:cNvSpPr>
            <a:spLocks/>
          </p:cNvSpPr>
          <p:nvPr/>
        </p:nvSpPr>
        <p:spPr bwMode="auto">
          <a:xfrm>
            <a:off x="6529388" y="4732338"/>
            <a:ext cx="487362" cy="198437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240" y="0"/>
              </a:cxn>
              <a:cxn ang="0">
                <a:pos x="480" y="432"/>
              </a:cxn>
            </a:cxnLst>
            <a:rect l="0" t="0" r="r" b="b"/>
            <a:pathLst>
              <a:path w="480" h="432">
                <a:moveTo>
                  <a:pt x="0" y="432"/>
                </a:moveTo>
                <a:cubicBezTo>
                  <a:pt x="96" y="430"/>
                  <a:pt x="114" y="0"/>
                  <a:pt x="240" y="0"/>
                </a:cubicBezTo>
                <a:cubicBezTo>
                  <a:pt x="366" y="0"/>
                  <a:pt x="380" y="426"/>
                  <a:pt x="480" y="432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8" name="Text Box 40"/>
          <p:cNvSpPr txBox="1">
            <a:spLocks noChangeArrowheads="1"/>
          </p:cNvSpPr>
          <p:nvPr/>
        </p:nvSpPr>
        <p:spPr bwMode="auto">
          <a:xfrm>
            <a:off x="636588" y="4097338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Courier" charset="0"/>
              </a:rPr>
              <a:t>f</a:t>
            </a:r>
          </a:p>
        </p:txBody>
      </p:sp>
      <p:sp>
        <p:nvSpPr>
          <p:cNvPr id="7209" name="Text Box 41"/>
          <p:cNvSpPr txBox="1">
            <a:spLocks noChangeArrowheads="1"/>
          </p:cNvSpPr>
          <p:nvPr/>
        </p:nvSpPr>
        <p:spPr bwMode="auto">
          <a:xfrm>
            <a:off x="4368800" y="4075113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Courier" charset="0"/>
              </a:rPr>
              <a:t>g</a:t>
            </a:r>
          </a:p>
        </p:txBody>
      </p:sp>
      <p:sp>
        <p:nvSpPr>
          <p:cNvPr id="7210" name="Text Box 42"/>
          <p:cNvSpPr txBox="1">
            <a:spLocks noChangeArrowheads="1"/>
          </p:cNvSpPr>
          <p:nvPr/>
        </p:nvSpPr>
        <p:spPr bwMode="auto">
          <a:xfrm>
            <a:off x="6024563" y="4076700"/>
            <a:ext cx="6334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Courier" charset="0"/>
              </a:rPr>
              <a:t>f</a:t>
            </a:r>
            <a:r>
              <a:rPr lang="en-US" altLang="en-US" sz="1800">
                <a:latin typeface="Helvetica" charset="0"/>
                <a:sym typeface="Symbol" charset="2"/>
              </a:rPr>
              <a:t></a:t>
            </a:r>
            <a:r>
              <a:rPr lang="en-US" altLang="en-US" sz="1800">
                <a:latin typeface="Courier" charset="0"/>
              </a:rPr>
              <a:t>g</a:t>
            </a:r>
          </a:p>
        </p:txBody>
      </p:sp>
      <p:sp>
        <p:nvSpPr>
          <p:cNvPr id="7215" name="Line 47"/>
          <p:cNvSpPr>
            <a:spLocks noChangeShapeType="1"/>
          </p:cNvSpPr>
          <p:nvPr/>
        </p:nvSpPr>
        <p:spPr bwMode="auto">
          <a:xfrm flipV="1">
            <a:off x="3467100" y="52705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16" name="Line 48"/>
          <p:cNvSpPr>
            <a:spLocks noChangeShapeType="1"/>
          </p:cNvSpPr>
          <p:nvPr/>
        </p:nvSpPr>
        <p:spPr bwMode="auto">
          <a:xfrm rot="5400000" flipV="1">
            <a:off x="3505200" y="53086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23" name="Text Box 55"/>
          <p:cNvSpPr txBox="1">
            <a:spLocks noChangeArrowheads="1"/>
          </p:cNvSpPr>
          <p:nvPr/>
        </p:nvSpPr>
        <p:spPr bwMode="auto">
          <a:xfrm>
            <a:off x="4429125" y="5641975"/>
            <a:ext cx="3571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b="1"/>
              <a:t>=</a:t>
            </a:r>
          </a:p>
        </p:txBody>
      </p:sp>
      <p:sp>
        <p:nvSpPr>
          <p:cNvPr id="7224" name="Text Box 56"/>
          <p:cNvSpPr txBox="1">
            <a:spLocks noChangeArrowheads="1"/>
          </p:cNvSpPr>
          <p:nvPr/>
        </p:nvSpPr>
        <p:spPr bwMode="auto">
          <a:xfrm>
            <a:off x="1762125" y="58832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x</a:t>
            </a:r>
            <a:endParaRPr lang="en-US" altLang="en-US" sz="1200"/>
          </a:p>
        </p:txBody>
      </p:sp>
      <p:sp>
        <p:nvSpPr>
          <p:cNvPr id="7225" name="Text Box 57"/>
          <p:cNvSpPr txBox="1">
            <a:spLocks noChangeArrowheads="1"/>
          </p:cNvSpPr>
          <p:nvPr/>
        </p:nvSpPr>
        <p:spPr bwMode="auto">
          <a:xfrm>
            <a:off x="3794125" y="58832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x</a:t>
            </a:r>
            <a:endParaRPr lang="en-US" altLang="en-US" sz="1200"/>
          </a:p>
        </p:txBody>
      </p:sp>
      <p:sp>
        <p:nvSpPr>
          <p:cNvPr id="7226" name="Text Box 58"/>
          <p:cNvSpPr txBox="1">
            <a:spLocks noChangeArrowheads="1"/>
          </p:cNvSpPr>
          <p:nvPr/>
        </p:nvSpPr>
        <p:spPr bwMode="auto">
          <a:xfrm>
            <a:off x="3489325" y="52228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y</a:t>
            </a:r>
            <a:endParaRPr lang="en-US" altLang="en-US" sz="1200"/>
          </a:p>
        </p:txBody>
      </p:sp>
      <p:sp>
        <p:nvSpPr>
          <p:cNvPr id="7227" name="Text Box 59"/>
          <p:cNvSpPr txBox="1">
            <a:spLocks noChangeArrowheads="1"/>
          </p:cNvSpPr>
          <p:nvPr/>
        </p:nvSpPr>
        <p:spPr bwMode="auto">
          <a:xfrm>
            <a:off x="6359525" y="58832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x</a:t>
            </a:r>
            <a:endParaRPr lang="en-US" altLang="en-US" sz="1200"/>
          </a:p>
        </p:txBody>
      </p:sp>
      <p:sp>
        <p:nvSpPr>
          <p:cNvPr id="7228" name="Text Box 60"/>
          <p:cNvSpPr txBox="1">
            <a:spLocks noChangeArrowheads="1"/>
          </p:cNvSpPr>
          <p:nvPr/>
        </p:nvSpPr>
        <p:spPr bwMode="auto">
          <a:xfrm>
            <a:off x="5813425" y="52228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y</a:t>
            </a:r>
            <a:endParaRPr lang="en-US" altLang="en-US" sz="1200"/>
          </a:p>
        </p:txBody>
      </p:sp>
      <p:sp>
        <p:nvSpPr>
          <p:cNvPr id="7229" name="Line 61"/>
          <p:cNvSpPr>
            <a:spLocks noChangeShapeType="1"/>
          </p:cNvSpPr>
          <p:nvPr/>
        </p:nvSpPr>
        <p:spPr bwMode="auto">
          <a:xfrm rot="5400000" flipV="1">
            <a:off x="5927725" y="5168900"/>
            <a:ext cx="0" cy="146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0" name="Line 62"/>
          <p:cNvSpPr>
            <a:spLocks noChangeShapeType="1"/>
          </p:cNvSpPr>
          <p:nvPr/>
        </p:nvSpPr>
        <p:spPr bwMode="auto">
          <a:xfrm flipV="1">
            <a:off x="5803900" y="52959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1" name="Text Box 63"/>
          <p:cNvSpPr txBox="1">
            <a:spLocks noChangeArrowheads="1"/>
          </p:cNvSpPr>
          <p:nvPr/>
        </p:nvSpPr>
        <p:spPr bwMode="auto">
          <a:xfrm>
            <a:off x="1457325" y="52228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y</a:t>
            </a:r>
            <a:endParaRPr lang="en-US" altLang="en-US" sz="1200"/>
          </a:p>
        </p:txBody>
      </p:sp>
      <p:sp>
        <p:nvSpPr>
          <p:cNvPr id="7233" name="Line 65"/>
          <p:cNvSpPr>
            <a:spLocks noChangeShapeType="1"/>
          </p:cNvSpPr>
          <p:nvPr/>
        </p:nvSpPr>
        <p:spPr bwMode="auto">
          <a:xfrm flipV="1">
            <a:off x="1447800" y="52705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4" name="Line 66"/>
          <p:cNvSpPr>
            <a:spLocks noChangeShapeType="1"/>
          </p:cNvSpPr>
          <p:nvPr/>
        </p:nvSpPr>
        <p:spPr bwMode="auto">
          <a:xfrm rot="5400000" flipV="1">
            <a:off x="1485900" y="53086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5" name="Text Box 67"/>
          <p:cNvSpPr txBox="1">
            <a:spLocks noChangeArrowheads="1"/>
          </p:cNvSpPr>
          <p:nvPr/>
        </p:nvSpPr>
        <p:spPr bwMode="auto">
          <a:xfrm>
            <a:off x="5454650" y="2898775"/>
            <a:ext cx="2917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Symmetry:</a:t>
            </a:r>
            <a:r>
              <a:rPr lang="en-US" altLang="en-US">
                <a:latin typeface="Helvetica" charset="0"/>
              </a:rPr>
              <a:t>   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</a:rPr>
              <a:t>g  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  <a:sym typeface="Symbol" charset="2"/>
              </a:rPr>
              <a:t>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</a:rPr>
              <a:t>  f = f 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  <a:sym typeface="Symbol" charset="2"/>
              </a:rPr>
              <a:t>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</a:rPr>
              <a:t> g</a:t>
            </a:r>
          </a:p>
        </p:txBody>
      </p:sp>
      <p:sp>
        <p:nvSpPr>
          <p:cNvPr id="7244" name="Freeform 76"/>
          <p:cNvSpPr>
            <a:spLocks/>
          </p:cNvSpPr>
          <p:nvPr/>
        </p:nvSpPr>
        <p:spPr bwMode="auto">
          <a:xfrm>
            <a:off x="952500" y="4413250"/>
            <a:ext cx="30163" cy="519113"/>
          </a:xfrm>
          <a:custGeom>
            <a:avLst/>
            <a:gdLst/>
            <a:ahLst/>
            <a:cxnLst>
              <a:cxn ang="0">
                <a:pos x="0" y="312"/>
              </a:cxn>
              <a:cxn ang="0">
                <a:pos x="0" y="0"/>
              </a:cxn>
              <a:cxn ang="0">
                <a:pos x="36" y="0"/>
              </a:cxn>
              <a:cxn ang="0">
                <a:pos x="36" y="308"/>
              </a:cxn>
            </a:cxnLst>
            <a:rect l="0" t="0" r="r" b="b"/>
            <a:pathLst>
              <a:path w="36" h="312">
                <a:moveTo>
                  <a:pt x="0" y="312"/>
                </a:moveTo>
                <a:lnTo>
                  <a:pt x="0" y="0"/>
                </a:lnTo>
                <a:lnTo>
                  <a:pt x="36" y="0"/>
                </a:lnTo>
                <a:lnTo>
                  <a:pt x="36" y="308"/>
                </a:lnTo>
              </a:path>
            </a:pathLst>
          </a:custGeom>
          <a:noFill/>
          <a:ln w="19050" cap="flat" cmpd="sng">
            <a:solidFill>
              <a:srgbClr val="CC0000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45" name="Freeform 77"/>
          <p:cNvSpPr>
            <a:spLocks/>
          </p:cNvSpPr>
          <p:nvPr/>
        </p:nvSpPr>
        <p:spPr bwMode="auto">
          <a:xfrm>
            <a:off x="1517650" y="4662488"/>
            <a:ext cx="30163" cy="265112"/>
          </a:xfrm>
          <a:custGeom>
            <a:avLst/>
            <a:gdLst/>
            <a:ahLst/>
            <a:cxnLst>
              <a:cxn ang="0">
                <a:pos x="0" y="312"/>
              </a:cxn>
              <a:cxn ang="0">
                <a:pos x="0" y="0"/>
              </a:cxn>
              <a:cxn ang="0">
                <a:pos x="36" y="0"/>
              </a:cxn>
              <a:cxn ang="0">
                <a:pos x="36" y="308"/>
              </a:cxn>
            </a:cxnLst>
            <a:rect l="0" t="0" r="r" b="b"/>
            <a:pathLst>
              <a:path w="36" h="312">
                <a:moveTo>
                  <a:pt x="0" y="312"/>
                </a:moveTo>
                <a:lnTo>
                  <a:pt x="0" y="0"/>
                </a:lnTo>
                <a:lnTo>
                  <a:pt x="36" y="0"/>
                </a:lnTo>
                <a:lnTo>
                  <a:pt x="36" y="308"/>
                </a:lnTo>
              </a:path>
            </a:pathLst>
          </a:custGeom>
          <a:noFill/>
          <a:ln w="19050" cap="flat" cmpd="sng">
            <a:solidFill>
              <a:srgbClr val="CC0000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46" name="Freeform 78"/>
          <p:cNvSpPr>
            <a:spLocks/>
          </p:cNvSpPr>
          <p:nvPr/>
        </p:nvSpPr>
        <p:spPr bwMode="auto">
          <a:xfrm>
            <a:off x="2203450" y="4414838"/>
            <a:ext cx="652463" cy="512762"/>
          </a:xfrm>
          <a:custGeom>
            <a:avLst/>
            <a:gdLst/>
            <a:ahLst/>
            <a:cxnLst>
              <a:cxn ang="0">
                <a:pos x="0" y="312"/>
              </a:cxn>
              <a:cxn ang="0">
                <a:pos x="0" y="0"/>
              </a:cxn>
              <a:cxn ang="0">
                <a:pos x="36" y="0"/>
              </a:cxn>
              <a:cxn ang="0">
                <a:pos x="36" y="308"/>
              </a:cxn>
            </a:cxnLst>
            <a:rect l="0" t="0" r="r" b="b"/>
            <a:pathLst>
              <a:path w="36" h="312">
                <a:moveTo>
                  <a:pt x="0" y="312"/>
                </a:moveTo>
                <a:lnTo>
                  <a:pt x="0" y="0"/>
                </a:lnTo>
                <a:lnTo>
                  <a:pt x="36" y="0"/>
                </a:lnTo>
                <a:lnTo>
                  <a:pt x="36" y="308"/>
                </a:lnTo>
              </a:path>
            </a:pathLst>
          </a:custGeom>
          <a:noFill/>
          <a:ln w="19050" cap="flat" cmpd="sng">
            <a:solidFill>
              <a:srgbClr val="CC0000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47" name="Rectangle 79"/>
          <p:cNvSpPr>
            <a:spLocks noChangeArrowheads="1"/>
          </p:cNvSpPr>
          <p:nvPr/>
        </p:nvSpPr>
        <p:spPr bwMode="auto">
          <a:xfrm>
            <a:off x="2320925" y="5710238"/>
            <a:ext cx="3603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800" b="1">
                <a:latin typeface="Helvetica" charset="0"/>
                <a:sym typeface="Symbol" charset="2"/>
              </a:rPr>
              <a:t></a:t>
            </a:r>
            <a:endParaRPr lang="en-US" sz="1800" b="1">
              <a:latin typeface="Helvetica" charset="0"/>
              <a:sym typeface="Symbol" charset="2"/>
            </a:endParaRPr>
          </a:p>
        </p:txBody>
      </p:sp>
      <p:sp>
        <p:nvSpPr>
          <p:cNvPr id="7248" name="Rectangle 80"/>
          <p:cNvSpPr>
            <a:spLocks noChangeArrowheads="1"/>
          </p:cNvSpPr>
          <p:nvPr/>
        </p:nvSpPr>
        <p:spPr bwMode="auto">
          <a:xfrm>
            <a:off x="3378200" y="4448175"/>
            <a:ext cx="3603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800" b="1">
                <a:latin typeface="Helvetica" charset="0"/>
                <a:sym typeface="Symbol" charset="2"/>
              </a:rPr>
              <a:t></a:t>
            </a:r>
            <a:endParaRPr lang="en-US" sz="1800" b="1">
              <a:latin typeface="Helvetica" charset="0"/>
              <a:sym typeface="Symbol" charset="2"/>
            </a:endParaRPr>
          </a:p>
        </p:txBody>
      </p:sp>
      <p:sp>
        <p:nvSpPr>
          <p:cNvPr id="7171" name="Freeform 3"/>
          <p:cNvSpPr>
            <a:spLocks/>
          </p:cNvSpPr>
          <p:nvPr/>
        </p:nvSpPr>
        <p:spPr bwMode="auto">
          <a:xfrm>
            <a:off x="5724525" y="5740400"/>
            <a:ext cx="536575" cy="612775"/>
          </a:xfrm>
          <a:custGeom>
            <a:avLst/>
            <a:gdLst/>
            <a:ahLst/>
            <a:cxnLst>
              <a:cxn ang="0">
                <a:pos x="0" y="386"/>
              </a:cxn>
              <a:cxn ang="0">
                <a:pos x="0" y="244"/>
              </a:cxn>
              <a:cxn ang="0">
                <a:pos x="196" y="0"/>
              </a:cxn>
              <a:cxn ang="0">
                <a:pos x="338" y="0"/>
              </a:cxn>
              <a:cxn ang="0">
                <a:pos x="338" y="386"/>
              </a:cxn>
              <a:cxn ang="0">
                <a:pos x="0" y="386"/>
              </a:cxn>
            </a:cxnLst>
            <a:rect l="0" t="0" r="r" b="b"/>
            <a:pathLst>
              <a:path w="338" h="386">
                <a:moveTo>
                  <a:pt x="0" y="386"/>
                </a:moveTo>
                <a:lnTo>
                  <a:pt x="0" y="244"/>
                </a:lnTo>
                <a:lnTo>
                  <a:pt x="196" y="0"/>
                </a:lnTo>
                <a:lnTo>
                  <a:pt x="338" y="0"/>
                </a:lnTo>
                <a:lnTo>
                  <a:pt x="338" y="386"/>
                </a:lnTo>
                <a:lnTo>
                  <a:pt x="0" y="386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2" name="Freeform 4"/>
          <p:cNvSpPr>
            <a:spLocks/>
          </p:cNvSpPr>
          <p:nvPr/>
        </p:nvSpPr>
        <p:spPr bwMode="auto">
          <a:xfrm>
            <a:off x="5321300" y="5330825"/>
            <a:ext cx="355600" cy="430213"/>
          </a:xfrm>
          <a:custGeom>
            <a:avLst/>
            <a:gdLst/>
            <a:ahLst/>
            <a:cxnLst>
              <a:cxn ang="0">
                <a:pos x="16" y="266"/>
              </a:cxn>
              <a:cxn ang="0">
                <a:pos x="188" y="268"/>
              </a:cxn>
              <a:cxn ang="0">
                <a:pos x="222" y="234"/>
              </a:cxn>
              <a:cxn ang="0">
                <a:pos x="222" y="42"/>
              </a:cxn>
              <a:cxn ang="0">
                <a:pos x="178" y="26"/>
              </a:cxn>
              <a:cxn ang="0">
                <a:pos x="10" y="228"/>
              </a:cxn>
              <a:cxn ang="0">
                <a:pos x="16" y="266"/>
              </a:cxn>
            </a:cxnLst>
            <a:rect l="0" t="0" r="r" b="b"/>
            <a:pathLst>
              <a:path w="224" h="271">
                <a:moveTo>
                  <a:pt x="16" y="266"/>
                </a:moveTo>
                <a:cubicBezTo>
                  <a:pt x="49" y="271"/>
                  <a:pt x="120" y="268"/>
                  <a:pt x="188" y="268"/>
                </a:cubicBezTo>
                <a:cubicBezTo>
                  <a:pt x="212" y="266"/>
                  <a:pt x="222" y="258"/>
                  <a:pt x="222" y="234"/>
                </a:cubicBezTo>
                <a:cubicBezTo>
                  <a:pt x="220" y="124"/>
                  <a:pt x="224" y="144"/>
                  <a:pt x="222" y="42"/>
                </a:cubicBezTo>
                <a:cubicBezTo>
                  <a:pt x="222" y="13"/>
                  <a:pt x="194" y="0"/>
                  <a:pt x="178" y="26"/>
                </a:cubicBezTo>
                <a:cubicBezTo>
                  <a:pt x="178" y="26"/>
                  <a:pt x="10" y="228"/>
                  <a:pt x="10" y="228"/>
                </a:cubicBezTo>
                <a:cubicBezTo>
                  <a:pt x="0" y="236"/>
                  <a:pt x="2" y="264"/>
                  <a:pt x="16" y="266"/>
                </a:cubicBez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17" name="Rectangle 49"/>
          <p:cNvSpPr>
            <a:spLocks noChangeArrowheads="1"/>
          </p:cNvSpPr>
          <p:nvPr/>
        </p:nvSpPr>
        <p:spPr bwMode="auto">
          <a:xfrm>
            <a:off x="3619500" y="6032500"/>
            <a:ext cx="228600" cy="2286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18" name="Oval 50"/>
          <p:cNvSpPr>
            <a:spLocks noChangeArrowheads="1"/>
          </p:cNvSpPr>
          <p:nvPr/>
        </p:nvSpPr>
        <p:spPr bwMode="auto">
          <a:xfrm>
            <a:off x="3162300" y="55753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2" name="Freeform 64"/>
          <p:cNvSpPr>
            <a:spLocks/>
          </p:cNvSpPr>
          <p:nvPr/>
        </p:nvSpPr>
        <p:spPr bwMode="auto">
          <a:xfrm>
            <a:off x="1219200" y="5603875"/>
            <a:ext cx="304800" cy="381000"/>
          </a:xfrm>
          <a:custGeom>
            <a:avLst/>
            <a:gdLst/>
            <a:ahLst/>
            <a:cxnLst>
              <a:cxn ang="0">
                <a:pos x="0" y="336"/>
              </a:cxn>
              <a:cxn ang="0">
                <a:pos x="288" y="336"/>
              </a:cxn>
              <a:cxn ang="0">
                <a:pos x="288" y="0"/>
              </a:cxn>
              <a:cxn ang="0">
                <a:pos x="0" y="336"/>
              </a:cxn>
            </a:cxnLst>
            <a:rect l="0" t="0" r="r" b="b"/>
            <a:pathLst>
              <a:path w="288" h="336">
                <a:moveTo>
                  <a:pt x="0" y="336"/>
                </a:moveTo>
                <a:lnTo>
                  <a:pt x="288" y="336"/>
                </a:lnTo>
                <a:lnTo>
                  <a:pt x="288" y="0"/>
                </a:lnTo>
                <a:lnTo>
                  <a:pt x="0" y="336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11200" y="3619500"/>
            <a:ext cx="2895600" cy="2895600"/>
            <a:chOff x="448" y="2280"/>
            <a:chExt cx="1824" cy="1824"/>
          </a:xfrm>
        </p:grpSpPr>
        <p:sp>
          <p:nvSpPr>
            <p:cNvPr id="52227" name="Oval 3"/>
            <p:cNvSpPr>
              <a:spLocks noChangeArrowheads="1"/>
            </p:cNvSpPr>
            <p:nvPr/>
          </p:nvSpPr>
          <p:spPr bwMode="auto">
            <a:xfrm>
              <a:off x="448" y="2280"/>
              <a:ext cx="1824" cy="1824"/>
            </a:xfrm>
            <a:prstGeom prst="ellipse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8" name="Rectangle 4"/>
            <p:cNvSpPr>
              <a:spLocks noChangeArrowheads="1"/>
            </p:cNvSpPr>
            <p:nvPr/>
          </p:nvSpPr>
          <p:spPr bwMode="auto">
            <a:xfrm>
              <a:off x="496" y="3245"/>
              <a:ext cx="847" cy="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en-US" sz="1800">
                  <a:solidFill>
                    <a:srgbClr val="660066"/>
                  </a:solidFill>
                  <a:latin typeface="Chalkboard" charset="0"/>
                </a:rPr>
                <a:t>Observable</a:t>
              </a:r>
            </a:p>
            <a:p>
              <a:pPr algn="ctr"/>
              <a:r>
                <a:rPr lang="en-US" altLang="en-US" sz="1800">
                  <a:solidFill>
                    <a:srgbClr val="660066"/>
                  </a:solidFill>
                  <a:latin typeface="Chalkboard" charset="0"/>
                </a:rPr>
                <a:t>Region</a:t>
              </a:r>
            </a:p>
          </p:txBody>
        </p:sp>
      </p:grpSp>
      <p:sp>
        <p:nvSpPr>
          <p:cNvPr id="52229" name="Line 5"/>
          <p:cNvSpPr>
            <a:spLocks noChangeShapeType="1"/>
          </p:cNvSpPr>
          <p:nvPr/>
        </p:nvSpPr>
        <p:spPr bwMode="auto">
          <a:xfrm flipV="1">
            <a:off x="2159000" y="3352800"/>
            <a:ext cx="0" cy="3302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0" name="Line 6"/>
          <p:cNvSpPr>
            <a:spLocks noChangeShapeType="1"/>
          </p:cNvSpPr>
          <p:nvPr/>
        </p:nvSpPr>
        <p:spPr bwMode="auto">
          <a:xfrm>
            <a:off x="508000" y="5067300"/>
            <a:ext cx="3619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1" name="Oval 7"/>
          <p:cNvSpPr>
            <a:spLocks noChangeArrowheads="1"/>
          </p:cNvSpPr>
          <p:nvPr/>
        </p:nvSpPr>
        <p:spPr bwMode="auto">
          <a:xfrm>
            <a:off x="2473325" y="496252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2" name="Oval 8"/>
          <p:cNvSpPr>
            <a:spLocks noChangeArrowheads="1"/>
          </p:cNvSpPr>
          <p:nvPr/>
        </p:nvSpPr>
        <p:spPr bwMode="auto">
          <a:xfrm>
            <a:off x="3178175" y="482917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3" name="Oval 9"/>
          <p:cNvSpPr>
            <a:spLocks noChangeArrowheads="1"/>
          </p:cNvSpPr>
          <p:nvPr/>
        </p:nvSpPr>
        <p:spPr bwMode="auto">
          <a:xfrm>
            <a:off x="3883025" y="469582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4" name="Text Box 10"/>
          <p:cNvSpPr txBox="1">
            <a:spLocks noChangeArrowheads="1"/>
          </p:cNvSpPr>
          <p:nvPr/>
        </p:nvSpPr>
        <p:spPr bwMode="auto">
          <a:xfrm>
            <a:off x="1668463" y="3286125"/>
            <a:ext cx="3746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b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b="1" baseline="-25000">
                <a:solidFill>
                  <a:srgbClr val="000000"/>
                </a:solidFill>
                <a:latin typeface="Helvetica" charset="0"/>
              </a:rPr>
              <a:t>y</a:t>
            </a:r>
            <a:endParaRPr lang="en-US" altLang="en-US" sz="1600" b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2235" name="Text Box 11"/>
          <p:cNvSpPr txBox="1">
            <a:spLocks noChangeArrowheads="1"/>
          </p:cNvSpPr>
          <p:nvPr/>
        </p:nvSpPr>
        <p:spPr bwMode="auto">
          <a:xfrm>
            <a:off x="3649663" y="5076825"/>
            <a:ext cx="3746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b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b="1" baseline="-25000">
                <a:solidFill>
                  <a:srgbClr val="000000"/>
                </a:solidFill>
                <a:latin typeface="Helvetica" charset="0"/>
              </a:rPr>
              <a:t>x</a:t>
            </a:r>
            <a:endParaRPr lang="en-US" altLang="en-US" sz="1600" b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2236" name="Text Box 12"/>
          <p:cNvSpPr txBox="1">
            <a:spLocks noChangeArrowheads="1"/>
          </p:cNvSpPr>
          <p:nvPr/>
        </p:nvSpPr>
        <p:spPr bwMode="auto">
          <a:xfrm>
            <a:off x="531813" y="109538"/>
            <a:ext cx="7981950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The Transfer Function Lives in Frequency Space</a:t>
            </a:r>
          </a:p>
        </p:txBody>
      </p:sp>
      <p:sp>
        <p:nvSpPr>
          <p:cNvPr id="52237" name="Text Box 13"/>
          <p:cNvSpPr txBox="1">
            <a:spLocks noChangeArrowheads="1"/>
          </p:cNvSpPr>
          <p:nvPr/>
        </p:nvSpPr>
        <p:spPr bwMode="auto">
          <a:xfrm>
            <a:off x="6181725" y="776288"/>
            <a:ext cx="1022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Object</a:t>
            </a:r>
          </a:p>
        </p:txBody>
      </p:sp>
      <p:sp>
        <p:nvSpPr>
          <p:cNvPr id="52238" name="Freeform 14"/>
          <p:cNvSpPr>
            <a:spLocks/>
          </p:cNvSpPr>
          <p:nvPr/>
        </p:nvSpPr>
        <p:spPr bwMode="auto">
          <a:xfrm>
            <a:off x="2603500" y="2133600"/>
            <a:ext cx="3340100" cy="2806700"/>
          </a:xfrm>
          <a:custGeom>
            <a:avLst/>
            <a:gdLst/>
            <a:ahLst/>
            <a:cxnLst>
              <a:cxn ang="0">
                <a:pos x="2104" y="0"/>
              </a:cxn>
              <a:cxn ang="0">
                <a:pos x="0" y="1768"/>
              </a:cxn>
            </a:cxnLst>
            <a:rect l="0" t="0" r="r" b="b"/>
            <a:pathLst>
              <a:path w="2104" h="1768">
                <a:moveTo>
                  <a:pt x="2104" y="0"/>
                </a:moveTo>
                <a:cubicBezTo>
                  <a:pt x="1554" y="106"/>
                  <a:pt x="704" y="1280"/>
                  <a:pt x="0" y="1768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9" name="Freeform 15"/>
          <p:cNvSpPr>
            <a:spLocks/>
          </p:cNvSpPr>
          <p:nvPr/>
        </p:nvSpPr>
        <p:spPr bwMode="auto">
          <a:xfrm>
            <a:off x="3263900" y="3251200"/>
            <a:ext cx="2679700" cy="1536700"/>
          </a:xfrm>
          <a:custGeom>
            <a:avLst/>
            <a:gdLst/>
            <a:ahLst/>
            <a:cxnLst>
              <a:cxn ang="0">
                <a:pos x="1688" y="0"/>
              </a:cxn>
              <a:cxn ang="0">
                <a:pos x="0" y="968"/>
              </a:cxn>
            </a:cxnLst>
            <a:rect l="0" t="0" r="r" b="b"/>
            <a:pathLst>
              <a:path w="1688" h="968">
                <a:moveTo>
                  <a:pt x="1688" y="0"/>
                </a:moveTo>
                <a:cubicBezTo>
                  <a:pt x="1138" y="106"/>
                  <a:pt x="704" y="480"/>
                  <a:pt x="0" y="968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40" name="Freeform 16"/>
          <p:cNvSpPr>
            <a:spLocks/>
          </p:cNvSpPr>
          <p:nvPr/>
        </p:nvSpPr>
        <p:spPr bwMode="auto">
          <a:xfrm>
            <a:off x="3175000" y="5969000"/>
            <a:ext cx="2781300" cy="577850"/>
          </a:xfrm>
          <a:custGeom>
            <a:avLst/>
            <a:gdLst/>
            <a:ahLst/>
            <a:cxnLst>
              <a:cxn ang="0">
                <a:pos x="1752" y="16"/>
              </a:cxn>
              <a:cxn ang="0">
                <a:pos x="0" y="364"/>
              </a:cxn>
            </a:cxnLst>
            <a:rect l="0" t="0" r="r" b="b"/>
            <a:pathLst>
              <a:path w="1752" h="364">
                <a:moveTo>
                  <a:pt x="1752" y="16"/>
                </a:moveTo>
                <a:cubicBezTo>
                  <a:pt x="1184" y="0"/>
                  <a:pt x="752" y="36"/>
                  <a:pt x="0" y="364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41" name="Freeform 17"/>
          <p:cNvSpPr>
            <a:spLocks/>
          </p:cNvSpPr>
          <p:nvPr/>
        </p:nvSpPr>
        <p:spPr bwMode="auto">
          <a:xfrm>
            <a:off x="4000500" y="4292600"/>
            <a:ext cx="1968500" cy="431800"/>
          </a:xfrm>
          <a:custGeom>
            <a:avLst/>
            <a:gdLst/>
            <a:ahLst/>
            <a:cxnLst>
              <a:cxn ang="0">
                <a:pos x="1272" y="192"/>
              </a:cxn>
              <a:cxn ang="0">
                <a:pos x="0" y="272"/>
              </a:cxn>
            </a:cxnLst>
            <a:rect l="0" t="0" r="r" b="b"/>
            <a:pathLst>
              <a:path w="1272" h="272">
                <a:moveTo>
                  <a:pt x="1272" y="192"/>
                </a:moveTo>
                <a:cubicBezTo>
                  <a:pt x="680" y="184"/>
                  <a:pt x="808" y="0"/>
                  <a:pt x="0" y="272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469900" y="800100"/>
            <a:ext cx="3846513" cy="4270375"/>
            <a:chOff x="296" y="504"/>
            <a:chExt cx="2423" cy="2690"/>
          </a:xfrm>
        </p:grpSpPr>
        <p:sp>
          <p:nvSpPr>
            <p:cNvPr id="52243" name="Arc 19"/>
            <p:cNvSpPr>
              <a:spLocks/>
            </p:cNvSpPr>
            <p:nvPr/>
          </p:nvSpPr>
          <p:spPr bwMode="auto">
            <a:xfrm>
              <a:off x="1359" y="3146"/>
              <a:ext cx="227" cy="43"/>
            </a:xfrm>
            <a:custGeom>
              <a:avLst/>
              <a:gdLst>
                <a:gd name="G0" fmla="+- 0 0 0"/>
                <a:gd name="G1" fmla="+- 4124 0 0"/>
                <a:gd name="G2" fmla="+- 21600 0 0"/>
                <a:gd name="T0" fmla="*/ 21202 w 21600"/>
                <a:gd name="T1" fmla="*/ 0 h 4124"/>
                <a:gd name="T2" fmla="*/ 21600 w 21600"/>
                <a:gd name="T3" fmla="*/ 4124 h 4124"/>
                <a:gd name="T4" fmla="*/ 0 w 21600"/>
                <a:gd name="T5" fmla="*/ 4124 h 4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124" fill="none" extrusionOk="0">
                  <a:moveTo>
                    <a:pt x="21202" y="-1"/>
                  </a:moveTo>
                  <a:cubicBezTo>
                    <a:pt x="21466" y="1358"/>
                    <a:pt x="21600" y="2739"/>
                    <a:pt x="21600" y="4124"/>
                  </a:cubicBezTo>
                </a:path>
                <a:path w="21600" h="4124" stroke="0" extrusionOk="0">
                  <a:moveTo>
                    <a:pt x="21202" y="-1"/>
                  </a:moveTo>
                  <a:cubicBezTo>
                    <a:pt x="21466" y="1358"/>
                    <a:pt x="21600" y="2739"/>
                    <a:pt x="21600" y="4124"/>
                  </a:cubicBezTo>
                  <a:lnTo>
                    <a:pt x="0" y="4124"/>
                  </a:lnTo>
                  <a:close/>
                </a:path>
              </a:pathLst>
            </a:custGeom>
            <a:noFill/>
            <a:ln w="9525">
              <a:solidFill>
                <a:srgbClr val="FF99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" name="Group 20"/>
            <p:cNvGrpSpPr>
              <a:grpSpLocks/>
            </p:cNvGrpSpPr>
            <p:nvPr/>
          </p:nvGrpSpPr>
          <p:grpSpPr bwMode="auto">
            <a:xfrm>
              <a:off x="296" y="504"/>
              <a:ext cx="2423" cy="2690"/>
              <a:chOff x="296" y="504"/>
              <a:chExt cx="2423" cy="2690"/>
            </a:xfrm>
          </p:grpSpPr>
          <p:sp>
            <p:nvSpPr>
              <p:cNvPr id="52245" name="Arc 21"/>
              <p:cNvSpPr>
                <a:spLocks/>
              </p:cNvSpPr>
              <p:nvPr/>
            </p:nvSpPr>
            <p:spPr bwMode="auto">
              <a:xfrm>
                <a:off x="1361" y="3065"/>
                <a:ext cx="679" cy="129"/>
              </a:xfrm>
              <a:custGeom>
                <a:avLst/>
                <a:gdLst>
                  <a:gd name="G0" fmla="+- 0 0 0"/>
                  <a:gd name="G1" fmla="+- 4177 0 0"/>
                  <a:gd name="G2" fmla="+- 21600 0 0"/>
                  <a:gd name="T0" fmla="*/ 21192 w 21598"/>
                  <a:gd name="T1" fmla="*/ 0 h 4177"/>
                  <a:gd name="T2" fmla="*/ 21598 w 21598"/>
                  <a:gd name="T3" fmla="*/ 3887 h 4177"/>
                  <a:gd name="T4" fmla="*/ 0 w 21598"/>
                  <a:gd name="T5" fmla="*/ 4177 h 4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598" h="4177" fill="none" extrusionOk="0">
                    <a:moveTo>
                      <a:pt x="21192" y="-1"/>
                    </a:moveTo>
                    <a:cubicBezTo>
                      <a:pt x="21444" y="1280"/>
                      <a:pt x="21580" y="2581"/>
                      <a:pt x="21598" y="3886"/>
                    </a:cubicBezTo>
                  </a:path>
                  <a:path w="21598" h="4177" stroke="0" extrusionOk="0">
                    <a:moveTo>
                      <a:pt x="21192" y="-1"/>
                    </a:moveTo>
                    <a:cubicBezTo>
                      <a:pt x="21444" y="1280"/>
                      <a:pt x="21580" y="2581"/>
                      <a:pt x="21598" y="3886"/>
                    </a:cubicBezTo>
                    <a:lnTo>
                      <a:pt x="0" y="4177"/>
                    </a:lnTo>
                    <a:close/>
                  </a:path>
                </a:pathLst>
              </a:custGeom>
              <a:noFill/>
              <a:ln w="9525">
                <a:solidFill>
                  <a:srgbClr val="FF99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246" name="Arc 22"/>
              <p:cNvSpPr>
                <a:spLocks/>
              </p:cNvSpPr>
              <p:nvPr/>
            </p:nvSpPr>
            <p:spPr bwMode="auto">
              <a:xfrm>
                <a:off x="1361" y="2981"/>
                <a:ext cx="1132" cy="208"/>
              </a:xfrm>
              <a:custGeom>
                <a:avLst/>
                <a:gdLst>
                  <a:gd name="G0" fmla="+- 0 0 0"/>
                  <a:gd name="G1" fmla="+- 4026 0 0"/>
                  <a:gd name="G2" fmla="+- 21600 0 0"/>
                  <a:gd name="T0" fmla="*/ 21221 w 21600"/>
                  <a:gd name="T1" fmla="*/ 0 h 4045"/>
                  <a:gd name="T2" fmla="*/ 21599 w 21600"/>
                  <a:gd name="T3" fmla="*/ 4045 h 4045"/>
                  <a:gd name="T4" fmla="*/ 0 w 21600"/>
                  <a:gd name="T5" fmla="*/ 4026 h 40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45" fill="none" extrusionOk="0">
                    <a:moveTo>
                      <a:pt x="21221" y="-1"/>
                    </a:moveTo>
                    <a:cubicBezTo>
                      <a:pt x="21473" y="1327"/>
                      <a:pt x="21600" y="2675"/>
                      <a:pt x="21600" y="4026"/>
                    </a:cubicBezTo>
                    <a:cubicBezTo>
                      <a:pt x="21600" y="4032"/>
                      <a:pt x="21599" y="4038"/>
                      <a:pt x="21599" y="4045"/>
                    </a:cubicBezTo>
                  </a:path>
                  <a:path w="21600" h="4045" stroke="0" extrusionOk="0">
                    <a:moveTo>
                      <a:pt x="21221" y="-1"/>
                    </a:moveTo>
                    <a:cubicBezTo>
                      <a:pt x="21473" y="1327"/>
                      <a:pt x="21600" y="2675"/>
                      <a:pt x="21600" y="4026"/>
                    </a:cubicBezTo>
                    <a:cubicBezTo>
                      <a:pt x="21600" y="4032"/>
                      <a:pt x="21599" y="4038"/>
                      <a:pt x="21599" y="4045"/>
                    </a:cubicBezTo>
                    <a:lnTo>
                      <a:pt x="0" y="4026"/>
                    </a:lnTo>
                    <a:close/>
                  </a:path>
                </a:pathLst>
              </a:custGeom>
              <a:noFill/>
              <a:ln w="9525">
                <a:solidFill>
                  <a:srgbClr val="FF99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" name="Group 23"/>
              <p:cNvGrpSpPr>
                <a:grpSpLocks/>
              </p:cNvGrpSpPr>
              <p:nvPr/>
            </p:nvGrpSpPr>
            <p:grpSpPr bwMode="auto">
              <a:xfrm>
                <a:off x="296" y="504"/>
                <a:ext cx="2423" cy="2680"/>
                <a:chOff x="296" y="504"/>
                <a:chExt cx="2423" cy="2680"/>
              </a:xfrm>
            </p:grpSpPr>
            <p:sp>
              <p:nvSpPr>
                <p:cNvPr id="52248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2466" y="1476"/>
                  <a:ext cx="253" cy="2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en-US" sz="1600">
                      <a:solidFill>
                        <a:srgbClr val="000000"/>
                      </a:solidFill>
                      <a:latin typeface="Helvetica" charset="0"/>
                    </a:rPr>
                    <a:t>|</a:t>
                  </a:r>
                  <a:r>
                    <a:rPr lang="en-US" altLang="en-US" sz="1600" b="1" i="1">
                      <a:solidFill>
                        <a:srgbClr val="000000"/>
                      </a:solidFill>
                      <a:latin typeface="Helvetica" charset="0"/>
                    </a:rPr>
                    <a:t>k</a:t>
                  </a:r>
                  <a:r>
                    <a:rPr lang="en-US" altLang="en-US" sz="1600">
                      <a:solidFill>
                        <a:srgbClr val="000000"/>
                      </a:solidFill>
                      <a:latin typeface="Helvetica" charset="0"/>
                    </a:rPr>
                    <a:t>|</a:t>
                  </a:r>
                </a:p>
              </p:txBody>
            </p:sp>
            <p:sp>
              <p:nvSpPr>
                <p:cNvPr id="52249" name="Line 25"/>
                <p:cNvSpPr>
                  <a:spLocks noChangeShapeType="1"/>
                </p:cNvSpPr>
                <p:nvPr/>
              </p:nvSpPr>
              <p:spPr bwMode="auto">
                <a:xfrm>
                  <a:off x="2312" y="1720"/>
                  <a:ext cx="32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pic>
              <p:nvPicPr>
                <p:cNvPr id="52250" name="Picture 26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296" y="692"/>
                  <a:ext cx="2144" cy="108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sp>
              <p:nvSpPr>
                <p:cNvPr id="52251" name="Line 27"/>
                <p:cNvSpPr>
                  <a:spLocks noChangeShapeType="1"/>
                </p:cNvSpPr>
                <p:nvPr/>
              </p:nvSpPr>
              <p:spPr bwMode="auto">
                <a:xfrm flipV="1">
                  <a:off x="1360" y="504"/>
                  <a:ext cx="0" cy="126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252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809" y="556"/>
                  <a:ext cx="529" cy="2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en-US" sz="1600">
                      <a:solidFill>
                        <a:srgbClr val="000000"/>
                      </a:solidFill>
                      <a:latin typeface="Helvetica" charset="0"/>
                    </a:rPr>
                    <a:t>OTF(</a:t>
                  </a:r>
                  <a:r>
                    <a:rPr lang="en-US" altLang="en-US" sz="1600" b="1" i="1">
                      <a:solidFill>
                        <a:srgbClr val="000000"/>
                      </a:solidFill>
                      <a:latin typeface="Helvetica" charset="0"/>
                    </a:rPr>
                    <a:t>k</a:t>
                  </a:r>
                  <a:r>
                    <a:rPr lang="en-US" altLang="en-US" sz="1600">
                      <a:solidFill>
                        <a:srgbClr val="000000"/>
                      </a:solidFill>
                      <a:latin typeface="Helvetica" charset="0"/>
                    </a:rPr>
                    <a:t>)</a:t>
                  </a:r>
                  <a:endParaRPr lang="en-US" altLang="en-US" sz="1600" b="1">
                    <a:solidFill>
                      <a:srgbClr val="000000"/>
                    </a:solidFill>
                    <a:latin typeface="Helvetica" charset="0"/>
                  </a:endParaRPr>
                </a:p>
              </p:txBody>
            </p:sp>
            <p:sp>
              <p:nvSpPr>
                <p:cNvPr id="52253" name="Line 29"/>
                <p:cNvSpPr>
                  <a:spLocks noChangeShapeType="1"/>
                </p:cNvSpPr>
                <p:nvPr/>
              </p:nvSpPr>
              <p:spPr bwMode="auto">
                <a:xfrm flipV="1">
                  <a:off x="1584" y="1056"/>
                  <a:ext cx="0" cy="2126"/>
                </a:xfrm>
                <a:prstGeom prst="line">
                  <a:avLst/>
                </a:prstGeom>
                <a:noFill/>
                <a:ln w="9525">
                  <a:solidFill>
                    <a:srgbClr val="FF9900"/>
                  </a:solidFill>
                  <a:prstDash val="dash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254" name="Line 30"/>
                <p:cNvSpPr>
                  <a:spLocks noChangeShapeType="1"/>
                </p:cNvSpPr>
                <p:nvPr/>
              </p:nvSpPr>
              <p:spPr bwMode="auto">
                <a:xfrm flipV="1">
                  <a:off x="2043" y="1562"/>
                  <a:ext cx="0" cy="1616"/>
                </a:xfrm>
                <a:prstGeom prst="line">
                  <a:avLst/>
                </a:prstGeom>
                <a:noFill/>
                <a:ln w="9525">
                  <a:solidFill>
                    <a:srgbClr val="FF9900"/>
                  </a:solidFill>
                  <a:prstDash val="dash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255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2493" y="1717"/>
                  <a:ext cx="0" cy="1467"/>
                </a:xfrm>
                <a:prstGeom prst="line">
                  <a:avLst/>
                </a:prstGeom>
                <a:noFill/>
                <a:ln w="9525">
                  <a:solidFill>
                    <a:srgbClr val="FF9900"/>
                  </a:solidFill>
                  <a:prstDash val="dash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256" name="Line 32"/>
                <p:cNvSpPr>
                  <a:spLocks noChangeShapeType="1"/>
                </p:cNvSpPr>
                <p:nvPr/>
              </p:nvSpPr>
              <p:spPr bwMode="auto">
                <a:xfrm flipV="1">
                  <a:off x="2277" y="1693"/>
                  <a:ext cx="0" cy="1467"/>
                </a:xfrm>
                <a:prstGeom prst="line">
                  <a:avLst/>
                </a:prstGeom>
                <a:noFill/>
                <a:ln w="9525">
                  <a:solidFill>
                    <a:srgbClr val="CC0000"/>
                  </a:solidFill>
                  <a:prstDash val="dash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pic>
        <p:nvPicPr>
          <p:cNvPr id="52257" name="Picture 3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26150" y="1263650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58" name="Picture 3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26150" y="2617788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59" name="Picture 3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26150" y="3971925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60" name="Picture 3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026150" y="5327650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7315201" y="739775"/>
            <a:ext cx="1450975" cy="5921375"/>
            <a:chOff x="4608" y="466"/>
            <a:chExt cx="914" cy="3730"/>
          </a:xfrm>
        </p:grpSpPr>
        <p:grpSp>
          <p:nvGrpSpPr>
            <p:cNvPr id="7" name="Group 38"/>
            <p:cNvGrpSpPr>
              <a:grpSpLocks/>
            </p:cNvGrpSpPr>
            <p:nvPr/>
          </p:nvGrpSpPr>
          <p:grpSpPr bwMode="auto">
            <a:xfrm>
              <a:off x="4608" y="466"/>
              <a:ext cx="914" cy="2876"/>
              <a:chOff x="4608" y="466"/>
              <a:chExt cx="914" cy="2876"/>
            </a:xfrm>
          </p:grpSpPr>
          <p:sp>
            <p:nvSpPr>
              <p:cNvPr id="52263" name="Text Box 39"/>
              <p:cNvSpPr txBox="1">
                <a:spLocks noChangeArrowheads="1"/>
              </p:cNvSpPr>
              <p:nvPr/>
            </p:nvSpPr>
            <p:spPr bwMode="auto">
              <a:xfrm>
                <a:off x="4608" y="466"/>
                <a:ext cx="914" cy="3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Observed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image</a:t>
                </a:r>
              </a:p>
            </p:txBody>
          </p:sp>
          <p:pic>
            <p:nvPicPr>
              <p:cNvPr id="52264" name="Picture 40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4645" y="796"/>
                <a:ext cx="840" cy="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52265" name="Picture 41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4645" y="1649"/>
                <a:ext cx="840" cy="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52266" name="Picture 42"/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/>
              <a:stretch>
                <a:fillRect/>
              </a:stretch>
            </p:blipFill>
            <p:spPr bwMode="auto">
              <a:xfrm>
                <a:off x="4645" y="2502"/>
                <a:ext cx="840" cy="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pic>
          <p:nvPicPr>
            <p:cNvPr id="52267" name="Picture 43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4645" y="3356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52268" name="Oval 44"/>
          <p:cNvSpPr>
            <a:spLocks noChangeArrowheads="1"/>
          </p:cNvSpPr>
          <p:nvPr/>
        </p:nvSpPr>
        <p:spPr bwMode="auto">
          <a:xfrm>
            <a:off x="3082925" y="6538913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99" name="Line 27"/>
          <p:cNvSpPr>
            <a:spLocks noChangeShapeType="1"/>
          </p:cNvSpPr>
          <p:nvPr/>
        </p:nvSpPr>
        <p:spPr bwMode="auto">
          <a:xfrm flipV="1">
            <a:off x="2225675" y="2052638"/>
            <a:ext cx="0" cy="2006600"/>
          </a:xfrm>
          <a:prstGeom prst="line">
            <a:avLst/>
          </a:prstGeom>
          <a:noFill/>
          <a:ln w="12700">
            <a:solidFill>
              <a:srgbClr val="0E0E0E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22" name="Line 50"/>
          <p:cNvSpPr>
            <a:spLocks noChangeShapeType="1"/>
          </p:cNvSpPr>
          <p:nvPr/>
        </p:nvSpPr>
        <p:spPr bwMode="auto">
          <a:xfrm flipV="1">
            <a:off x="7018338" y="1573213"/>
            <a:ext cx="0" cy="9064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284" name="Text Box 12"/>
          <p:cNvSpPr txBox="1">
            <a:spLocks noChangeArrowheads="1"/>
          </p:cNvSpPr>
          <p:nvPr/>
        </p:nvSpPr>
        <p:spPr bwMode="auto">
          <a:xfrm>
            <a:off x="446088" y="109538"/>
            <a:ext cx="8169275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The 2D In-focus Optical Transfer Function (OTF)</a:t>
            </a:r>
          </a:p>
        </p:txBody>
      </p:sp>
      <p:sp>
        <p:nvSpPr>
          <p:cNvPr id="54296" name="Text Box 24"/>
          <p:cNvSpPr txBox="1">
            <a:spLocks noChangeArrowheads="1"/>
          </p:cNvSpPr>
          <p:nvPr/>
        </p:nvSpPr>
        <p:spPr bwMode="auto">
          <a:xfrm>
            <a:off x="3968750" y="4521200"/>
            <a:ext cx="4286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rgbClr val="000000"/>
                </a:solidFill>
                <a:latin typeface="Helvetica" charset="0"/>
              </a:rPr>
              <a:t>|</a:t>
            </a:r>
            <a:r>
              <a:rPr lang="en-US" altLang="en-US" sz="18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800">
                <a:solidFill>
                  <a:srgbClr val="000000"/>
                </a:solidFill>
                <a:latin typeface="Helvetica" charset="0"/>
              </a:rPr>
              <a:t>|</a:t>
            </a:r>
          </a:p>
        </p:txBody>
      </p:sp>
      <p:pic>
        <p:nvPicPr>
          <p:cNvPr id="54298" name="Picture 2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575" y="2427288"/>
            <a:ext cx="3403600" cy="257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4300" name="Text Box 28"/>
          <p:cNvSpPr txBox="1">
            <a:spLocks noChangeArrowheads="1"/>
          </p:cNvSpPr>
          <p:nvPr/>
        </p:nvSpPr>
        <p:spPr bwMode="auto">
          <a:xfrm>
            <a:off x="1260475" y="2035175"/>
            <a:ext cx="920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rgbClr val="000000"/>
                </a:solidFill>
                <a:latin typeface="Helvetica" charset="0"/>
              </a:rPr>
              <a:t>OTF(</a:t>
            </a:r>
            <a:r>
              <a:rPr lang="en-US" altLang="en-US" sz="18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800">
                <a:solidFill>
                  <a:srgbClr val="000000"/>
                </a:solidFill>
                <a:latin typeface="Helvetica" charset="0"/>
              </a:rPr>
              <a:t>)</a:t>
            </a:r>
            <a:endParaRPr lang="en-US" altLang="en-US" sz="1800" b="1">
              <a:solidFill>
                <a:srgbClr val="000000"/>
              </a:solidFill>
              <a:latin typeface="Helvetica" charset="0"/>
            </a:endParaRPr>
          </a:p>
        </p:txBody>
      </p:sp>
      <p:pic>
        <p:nvPicPr>
          <p:cNvPr id="54317" name="Picture 4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3188" y="1501775"/>
            <a:ext cx="3351212" cy="367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4318" name="Line 46"/>
          <p:cNvSpPr>
            <a:spLocks noChangeShapeType="1"/>
          </p:cNvSpPr>
          <p:nvPr/>
        </p:nvSpPr>
        <p:spPr bwMode="auto">
          <a:xfrm>
            <a:off x="7989888" y="4338638"/>
            <a:ext cx="538162" cy="936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19" name="Text Box 47"/>
          <p:cNvSpPr txBox="1">
            <a:spLocks noChangeArrowheads="1"/>
          </p:cNvSpPr>
          <p:nvPr/>
        </p:nvSpPr>
        <p:spPr bwMode="auto">
          <a:xfrm>
            <a:off x="8559800" y="4310063"/>
            <a:ext cx="3952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800" b="1" i="1" baseline="-25000">
                <a:solidFill>
                  <a:srgbClr val="000000"/>
                </a:solidFill>
                <a:latin typeface="Helvetica" charset="0"/>
              </a:rPr>
              <a:t>y</a:t>
            </a:r>
            <a:endParaRPr lang="en-US" altLang="en-US" sz="180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4320" name="Text Box 48"/>
          <p:cNvSpPr txBox="1">
            <a:spLocks noChangeArrowheads="1"/>
          </p:cNvSpPr>
          <p:nvPr/>
        </p:nvSpPr>
        <p:spPr bwMode="auto">
          <a:xfrm>
            <a:off x="6262688" y="5294313"/>
            <a:ext cx="3952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800" b="1" i="1" baseline="-25000">
                <a:solidFill>
                  <a:srgbClr val="000000"/>
                </a:solidFill>
                <a:latin typeface="Helvetica" charset="0"/>
              </a:rPr>
              <a:t>x</a:t>
            </a:r>
            <a:endParaRPr lang="en-US" altLang="en-US" sz="180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4321" name="Line 49"/>
          <p:cNvSpPr>
            <a:spLocks noChangeShapeType="1"/>
          </p:cNvSpPr>
          <p:nvPr/>
        </p:nvSpPr>
        <p:spPr bwMode="auto">
          <a:xfrm flipH="1">
            <a:off x="6519863" y="4773613"/>
            <a:ext cx="249237" cy="498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23" name="Text Box 51"/>
          <p:cNvSpPr txBox="1">
            <a:spLocks noChangeArrowheads="1"/>
          </p:cNvSpPr>
          <p:nvPr/>
        </p:nvSpPr>
        <p:spPr bwMode="auto">
          <a:xfrm>
            <a:off x="6061075" y="1519238"/>
            <a:ext cx="920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rgbClr val="000000"/>
                </a:solidFill>
                <a:latin typeface="Helvetica" charset="0"/>
              </a:rPr>
              <a:t>OTF(</a:t>
            </a:r>
            <a:r>
              <a:rPr lang="en-US" altLang="en-US" sz="18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800">
                <a:solidFill>
                  <a:srgbClr val="000000"/>
                </a:solidFill>
                <a:latin typeface="Helvetica" charset="0"/>
              </a:rPr>
              <a:t>)</a:t>
            </a:r>
            <a:endParaRPr lang="en-US" altLang="en-US" sz="1800" b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4297" name="Line 25"/>
          <p:cNvSpPr>
            <a:spLocks noChangeShapeType="1"/>
          </p:cNvSpPr>
          <p:nvPr/>
        </p:nvSpPr>
        <p:spPr bwMode="auto">
          <a:xfrm>
            <a:off x="3721100" y="4875213"/>
            <a:ext cx="5207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31" name="Text Box 59"/>
          <p:cNvSpPr txBox="1">
            <a:spLocks noChangeArrowheads="1"/>
          </p:cNvSpPr>
          <p:nvPr/>
        </p:nvSpPr>
        <p:spPr bwMode="auto">
          <a:xfrm>
            <a:off x="1533525" y="5694363"/>
            <a:ext cx="1639888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(Idealized calculations)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90" name="Text Box 38"/>
          <p:cNvSpPr txBox="1">
            <a:spLocks noChangeArrowheads="1"/>
          </p:cNvSpPr>
          <p:nvPr/>
        </p:nvSpPr>
        <p:spPr bwMode="auto">
          <a:xfrm>
            <a:off x="3060700" y="4962525"/>
            <a:ext cx="1049338" cy="4127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?</a:t>
            </a:r>
          </a:p>
        </p:txBody>
      </p:sp>
      <p:sp>
        <p:nvSpPr>
          <p:cNvPr id="49185" name="Text Box 33"/>
          <p:cNvSpPr txBox="1">
            <a:spLocks noChangeArrowheads="1"/>
          </p:cNvSpPr>
          <p:nvPr/>
        </p:nvSpPr>
        <p:spPr bwMode="auto">
          <a:xfrm>
            <a:off x="3938588" y="5033963"/>
            <a:ext cx="2411412" cy="66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3600">
                <a:solidFill>
                  <a:srgbClr val="660066"/>
                </a:solidFill>
                <a:latin typeface="Chalkboard" charset="0"/>
              </a:rPr>
              <a:t>?</a:t>
            </a:r>
          </a:p>
        </p:txBody>
      </p:sp>
      <p:pic>
        <p:nvPicPr>
          <p:cNvPr id="49156" name="Picture 4" descr="psf1det.tiff                                                   0001D14B Mats' Mac                      ABA78158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8813" y="4333875"/>
            <a:ext cx="2197100" cy="2157413"/>
          </a:xfrm>
          <a:prstGeom prst="rect">
            <a:avLst/>
          </a:prstGeom>
          <a:noFill/>
        </p:spPr>
      </p:pic>
      <p:sp>
        <p:nvSpPr>
          <p:cNvPr id="49167" name="Text Box 15"/>
          <p:cNvSpPr txBox="1">
            <a:spLocks noChangeArrowheads="1"/>
          </p:cNvSpPr>
          <p:nvPr/>
        </p:nvSpPr>
        <p:spPr bwMode="auto">
          <a:xfrm>
            <a:off x="485775" y="1081088"/>
            <a:ext cx="2411413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2D PSF</a:t>
            </a:r>
          </a:p>
        </p:txBody>
      </p:sp>
      <p:pic>
        <p:nvPicPr>
          <p:cNvPr id="49169" name="Picture 1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05313" y="1431925"/>
            <a:ext cx="2266950" cy="226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175" name="Picture 2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5788" y="1465263"/>
            <a:ext cx="2266950" cy="226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180" name="Picture 2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627813" y="1198563"/>
            <a:ext cx="2251075" cy="2465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181" name="Text Box 29"/>
          <p:cNvSpPr txBox="1">
            <a:spLocks noChangeArrowheads="1"/>
          </p:cNvSpPr>
          <p:nvPr/>
        </p:nvSpPr>
        <p:spPr bwMode="auto">
          <a:xfrm>
            <a:off x="569913" y="3943350"/>
            <a:ext cx="2411412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3D PSF</a:t>
            </a:r>
          </a:p>
        </p:txBody>
      </p:sp>
      <p:sp>
        <p:nvSpPr>
          <p:cNvPr id="49182" name="Text Box 30"/>
          <p:cNvSpPr txBox="1">
            <a:spLocks noChangeArrowheads="1"/>
          </p:cNvSpPr>
          <p:nvPr/>
        </p:nvSpPr>
        <p:spPr bwMode="auto">
          <a:xfrm>
            <a:off x="5319713" y="1081088"/>
            <a:ext cx="2411412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2D OTF</a:t>
            </a:r>
          </a:p>
        </p:txBody>
      </p:sp>
      <p:sp>
        <p:nvSpPr>
          <p:cNvPr id="49183" name="Line 31"/>
          <p:cNvSpPr>
            <a:spLocks noChangeShapeType="1"/>
          </p:cNvSpPr>
          <p:nvPr/>
        </p:nvSpPr>
        <p:spPr bwMode="auto">
          <a:xfrm>
            <a:off x="3054350" y="2705100"/>
            <a:ext cx="952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84" name="Line 32"/>
          <p:cNvSpPr>
            <a:spLocks noChangeShapeType="1"/>
          </p:cNvSpPr>
          <p:nvPr/>
        </p:nvSpPr>
        <p:spPr bwMode="auto">
          <a:xfrm>
            <a:off x="3059113" y="5370513"/>
            <a:ext cx="952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86" name="Text Box 34"/>
          <p:cNvSpPr txBox="1">
            <a:spLocks noChangeArrowheads="1"/>
          </p:cNvSpPr>
          <p:nvPr/>
        </p:nvSpPr>
        <p:spPr bwMode="auto">
          <a:xfrm>
            <a:off x="3460750" y="109538"/>
            <a:ext cx="2128838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The 3D OTF</a:t>
            </a:r>
          </a:p>
        </p:txBody>
      </p:sp>
      <p:sp>
        <p:nvSpPr>
          <p:cNvPr id="49188" name="Text Box 36"/>
          <p:cNvSpPr txBox="1">
            <a:spLocks noChangeArrowheads="1"/>
          </p:cNvSpPr>
          <p:nvPr/>
        </p:nvSpPr>
        <p:spPr bwMode="auto">
          <a:xfrm>
            <a:off x="2974975" y="2282825"/>
            <a:ext cx="1049338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2D F.T.</a:t>
            </a: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3009900" y="4010025"/>
            <a:ext cx="5434013" cy="2392363"/>
            <a:chOff x="1896" y="2526"/>
            <a:chExt cx="3423" cy="1507"/>
          </a:xfrm>
        </p:grpSpPr>
        <p:grpSp>
          <p:nvGrpSpPr>
            <p:cNvPr id="3" name="Group 35"/>
            <p:cNvGrpSpPr>
              <a:grpSpLocks/>
            </p:cNvGrpSpPr>
            <p:nvPr/>
          </p:nvGrpSpPr>
          <p:grpSpPr bwMode="auto">
            <a:xfrm>
              <a:off x="2775" y="2526"/>
              <a:ext cx="2544" cy="1507"/>
              <a:chOff x="2775" y="2526"/>
              <a:chExt cx="2544" cy="1507"/>
            </a:xfrm>
          </p:grpSpPr>
          <p:pic>
            <p:nvPicPr>
              <p:cNvPr id="49165" name="Picture 13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2775" y="2780"/>
                <a:ext cx="2544" cy="12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49168" name="Text Box 16"/>
              <p:cNvSpPr txBox="1">
                <a:spLocks noChangeArrowheads="1"/>
              </p:cNvSpPr>
              <p:nvPr/>
            </p:nvSpPr>
            <p:spPr bwMode="auto">
              <a:xfrm>
                <a:off x="3200" y="2526"/>
                <a:ext cx="1519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algn="ctr"/>
                <a:r>
                  <a:rPr lang="en-US" altLang="en-US" sz="2000">
                    <a:solidFill>
                      <a:srgbClr val="660066"/>
                    </a:solidFill>
                    <a:latin typeface="Chalkboard" charset="0"/>
                  </a:rPr>
                  <a:t>3D OTF</a:t>
                </a:r>
              </a:p>
            </p:txBody>
          </p:sp>
        </p:grpSp>
        <p:sp>
          <p:nvSpPr>
            <p:cNvPr id="49189" name="Text Box 37"/>
            <p:cNvSpPr txBox="1">
              <a:spLocks noChangeArrowheads="1"/>
            </p:cNvSpPr>
            <p:nvPr/>
          </p:nvSpPr>
          <p:spPr bwMode="auto">
            <a:xfrm>
              <a:off x="1896" y="3083"/>
              <a:ext cx="661" cy="26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altLang="en-US" sz="2000">
                  <a:solidFill>
                    <a:srgbClr val="660066"/>
                  </a:solidFill>
                  <a:latin typeface="Chalkboard" charset="0"/>
                </a:rPr>
                <a:t>3D F.T.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 descr="&#10;otf1det.tiff2                                                  0001D14B Mats' Mac                      ABA78158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4238" y="1014413"/>
            <a:ext cx="7421562" cy="5353050"/>
          </a:xfrm>
          <a:prstGeom prst="rect">
            <a:avLst/>
          </a:prstGeom>
          <a:noFill/>
        </p:spPr>
      </p:pic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455863" y="300038"/>
            <a:ext cx="3798887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800" b="1">
                <a:latin typeface="Chalkboard" charset="0"/>
              </a:rPr>
              <a:t>Values of the 3D OTF</a:t>
            </a:r>
          </a:p>
        </p:txBody>
      </p:sp>
      <p:sp>
        <p:nvSpPr>
          <p:cNvPr id="17413" name="Line 5"/>
          <p:cNvSpPr>
            <a:spLocks noChangeShapeType="1"/>
          </p:cNvSpPr>
          <p:nvPr/>
        </p:nvSpPr>
        <p:spPr bwMode="auto">
          <a:xfrm flipV="1">
            <a:off x="7162800" y="3771900"/>
            <a:ext cx="647700" cy="10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7475538" y="3846513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000" i="1">
                <a:latin typeface="Helvetica" charset="0"/>
              </a:rPr>
              <a:t>k</a:t>
            </a:r>
            <a:r>
              <a:rPr lang="en-US" altLang="en-US" sz="2000" i="1" baseline="-24000">
                <a:latin typeface="Helvetica" charset="0"/>
              </a:rPr>
              <a:t>z</a:t>
            </a:r>
            <a:endParaRPr lang="en-US" altLang="en-US" sz="2000" i="1"/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2967038" y="2792413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000" i="1">
                <a:latin typeface="Helvetica" charset="0"/>
              </a:rPr>
              <a:t>k</a:t>
            </a:r>
            <a:r>
              <a:rPr lang="en-US" altLang="en-US" sz="2000" i="1" baseline="-24000">
                <a:latin typeface="Helvetica" charset="0"/>
              </a:rPr>
              <a:t>x</a:t>
            </a:r>
            <a:endParaRPr lang="en-US" altLang="en-US" sz="2000" i="1"/>
          </a:p>
        </p:txBody>
      </p:sp>
      <p:sp>
        <p:nvSpPr>
          <p:cNvPr id="17416" name="Line 8"/>
          <p:cNvSpPr>
            <a:spLocks noChangeShapeType="1"/>
          </p:cNvSpPr>
          <p:nvPr/>
        </p:nvSpPr>
        <p:spPr bwMode="auto">
          <a:xfrm flipH="1" flipV="1">
            <a:off x="3365500" y="2844800"/>
            <a:ext cx="203200" cy="35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2541588" y="428625"/>
            <a:ext cx="3781425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 b="1">
                <a:latin typeface="Chalkboard" charset="0"/>
              </a:rPr>
              <a:t>3D Observable Region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364163" y="2662238"/>
            <a:ext cx="3027362" cy="1704975"/>
            <a:chOff x="531" y="2117"/>
            <a:chExt cx="1907" cy="1074"/>
          </a:xfrm>
        </p:grpSpPr>
        <p:pic>
          <p:nvPicPr>
            <p:cNvPr id="58372" name="Picture 4" descr="sep donuts 0.jpg                                               000128D6Mats Powerbook                 ABA78158: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31" y="2117"/>
              <a:ext cx="1886" cy="1074"/>
            </a:xfrm>
            <a:prstGeom prst="rect">
              <a:avLst/>
            </a:prstGeom>
            <a:noFill/>
          </p:spPr>
        </p:pic>
        <p:sp>
          <p:nvSpPr>
            <p:cNvPr id="58373" name="Freeform 5"/>
            <p:cNvSpPr>
              <a:spLocks/>
            </p:cNvSpPr>
            <p:nvPr/>
          </p:nvSpPr>
          <p:spPr bwMode="auto">
            <a:xfrm>
              <a:off x="2354" y="2476"/>
              <a:ext cx="84" cy="402"/>
            </a:xfrm>
            <a:custGeom>
              <a:avLst/>
              <a:gdLst/>
              <a:ahLst/>
              <a:cxnLst>
                <a:cxn ang="0">
                  <a:pos x="48" y="252"/>
                </a:cxn>
                <a:cxn ang="0">
                  <a:pos x="60" y="188"/>
                </a:cxn>
                <a:cxn ang="0">
                  <a:pos x="18" y="0"/>
                </a:cxn>
                <a:cxn ang="0">
                  <a:pos x="80" y="0"/>
                </a:cxn>
                <a:cxn ang="0">
                  <a:pos x="84" y="402"/>
                </a:cxn>
                <a:cxn ang="0">
                  <a:pos x="0" y="388"/>
                </a:cxn>
                <a:cxn ang="0">
                  <a:pos x="48" y="252"/>
                </a:cxn>
              </a:cxnLst>
              <a:rect l="0" t="0" r="r" b="b"/>
              <a:pathLst>
                <a:path w="84" h="402">
                  <a:moveTo>
                    <a:pt x="48" y="252"/>
                  </a:moveTo>
                  <a:lnTo>
                    <a:pt x="60" y="188"/>
                  </a:lnTo>
                  <a:lnTo>
                    <a:pt x="18" y="0"/>
                  </a:lnTo>
                  <a:lnTo>
                    <a:pt x="80" y="0"/>
                  </a:lnTo>
                  <a:lnTo>
                    <a:pt x="84" y="402"/>
                  </a:lnTo>
                  <a:lnTo>
                    <a:pt x="0" y="388"/>
                  </a:lnTo>
                  <a:lnTo>
                    <a:pt x="48" y="252"/>
                  </a:lnTo>
                  <a:close/>
                </a:path>
              </a:pathLst>
            </a:custGeom>
            <a:solidFill>
              <a:schemeClr val="bg1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8375" name="Oval 7"/>
          <p:cNvSpPr>
            <a:spLocks noChangeArrowheads="1"/>
          </p:cNvSpPr>
          <p:nvPr/>
        </p:nvSpPr>
        <p:spPr bwMode="auto">
          <a:xfrm>
            <a:off x="727075" y="2503488"/>
            <a:ext cx="2054225" cy="2054225"/>
          </a:xfrm>
          <a:prstGeom prst="ellipse">
            <a:avLst/>
          </a:prstGeom>
          <a:solidFill>
            <a:srgbClr val="008040"/>
          </a:solidFill>
          <a:ln w="1905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76" name="Line 8"/>
          <p:cNvSpPr>
            <a:spLocks noChangeShapeType="1"/>
          </p:cNvSpPr>
          <p:nvPr/>
        </p:nvSpPr>
        <p:spPr bwMode="auto">
          <a:xfrm flipV="1">
            <a:off x="1770063" y="2282825"/>
            <a:ext cx="0" cy="2438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77" name="Line 9"/>
          <p:cNvSpPr>
            <a:spLocks noChangeShapeType="1"/>
          </p:cNvSpPr>
          <p:nvPr/>
        </p:nvSpPr>
        <p:spPr bwMode="auto">
          <a:xfrm>
            <a:off x="584200" y="3543300"/>
            <a:ext cx="2463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78" name="Text Box 10"/>
          <p:cNvSpPr txBox="1">
            <a:spLocks noChangeArrowheads="1"/>
          </p:cNvSpPr>
          <p:nvPr/>
        </p:nvSpPr>
        <p:spPr bwMode="auto">
          <a:xfrm>
            <a:off x="2771775" y="3532188"/>
            <a:ext cx="37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Helvetica" charset="0"/>
              </a:rPr>
              <a:t>k</a:t>
            </a:r>
            <a:r>
              <a:rPr lang="en-US" altLang="en-US" sz="1800" baseline="-25000">
                <a:latin typeface="Helvetica" charset="0"/>
              </a:rPr>
              <a:t>z</a:t>
            </a:r>
            <a:endParaRPr lang="en-US" altLang="en-US">
              <a:latin typeface="Helvetica" charset="0"/>
            </a:endParaRPr>
          </a:p>
        </p:txBody>
      </p:sp>
      <p:sp>
        <p:nvSpPr>
          <p:cNvPr id="58379" name="Text Box 11"/>
          <p:cNvSpPr txBox="1">
            <a:spLocks noChangeArrowheads="1"/>
          </p:cNvSpPr>
          <p:nvPr/>
        </p:nvSpPr>
        <p:spPr bwMode="auto">
          <a:xfrm>
            <a:off x="1774825" y="2127250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Helvetica" charset="0"/>
              </a:rPr>
              <a:t>k</a:t>
            </a:r>
            <a:r>
              <a:rPr lang="en-US" altLang="en-US" sz="1800" baseline="-25000">
                <a:latin typeface="Helvetica" charset="0"/>
              </a:rPr>
              <a:t>y</a:t>
            </a:r>
            <a:endParaRPr lang="en-US" altLang="en-US">
              <a:latin typeface="Helvetica" charset="0"/>
            </a:endParaRP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3806825" y="2606675"/>
            <a:ext cx="631825" cy="1873250"/>
            <a:chOff x="3196" y="1554"/>
            <a:chExt cx="398" cy="1180"/>
          </a:xfrm>
        </p:grpSpPr>
        <p:grpSp>
          <p:nvGrpSpPr>
            <p:cNvPr id="4" name="Group 14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58383" name="Freeform 15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solidFill>
                <a:srgbClr val="008040"/>
              </a:solidFill>
              <a:ln w="19050" cmpd="sng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4" name="Freeform 16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solidFill>
                <a:srgbClr val="008040"/>
              </a:solidFill>
              <a:ln w="19050" cmpd="sng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17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58386" name="Freeform 18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solidFill>
                <a:srgbClr val="008040"/>
              </a:solidFill>
              <a:ln w="19050" cmpd="sng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7" name="Freeform 19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solidFill>
                <a:srgbClr val="008040"/>
              </a:solidFill>
              <a:ln w="19050" cmpd="sng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8388" name="Line 20"/>
          <p:cNvSpPr>
            <a:spLocks noChangeShapeType="1"/>
          </p:cNvSpPr>
          <p:nvPr/>
        </p:nvSpPr>
        <p:spPr bwMode="auto">
          <a:xfrm flipV="1">
            <a:off x="4124325" y="2295525"/>
            <a:ext cx="0" cy="2438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89" name="Line 21"/>
          <p:cNvSpPr>
            <a:spLocks noChangeShapeType="1"/>
          </p:cNvSpPr>
          <p:nvPr/>
        </p:nvSpPr>
        <p:spPr bwMode="auto">
          <a:xfrm>
            <a:off x="3590925" y="3540125"/>
            <a:ext cx="1181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90" name="Text Box 22"/>
          <p:cNvSpPr txBox="1">
            <a:spLocks noChangeArrowheads="1"/>
          </p:cNvSpPr>
          <p:nvPr/>
        </p:nvSpPr>
        <p:spPr bwMode="auto">
          <a:xfrm>
            <a:off x="4425950" y="35528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Helvetica" charset="0"/>
              </a:rPr>
              <a:t>k</a:t>
            </a:r>
            <a:r>
              <a:rPr lang="en-US" altLang="en-US" sz="1800" baseline="-25000">
                <a:latin typeface="Helvetica" charset="0"/>
              </a:rPr>
              <a:t>z</a:t>
            </a:r>
            <a:endParaRPr lang="en-US" altLang="en-US">
              <a:latin typeface="Helvetica" charset="0"/>
            </a:endParaRPr>
          </a:p>
        </p:txBody>
      </p:sp>
      <p:sp>
        <p:nvSpPr>
          <p:cNvPr id="58391" name="Text Box 23"/>
          <p:cNvSpPr txBox="1">
            <a:spLocks noChangeArrowheads="1"/>
          </p:cNvSpPr>
          <p:nvPr/>
        </p:nvSpPr>
        <p:spPr bwMode="auto">
          <a:xfrm>
            <a:off x="4192588" y="23209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Helvetica" charset="0"/>
              </a:rPr>
              <a:t>k</a:t>
            </a:r>
            <a:r>
              <a:rPr lang="en-US" altLang="en-US" sz="1800" baseline="-25000">
                <a:latin typeface="Helvetica" charset="0"/>
              </a:rPr>
              <a:t>y</a:t>
            </a:r>
            <a:endParaRPr lang="en-US" altLang="en-US">
              <a:latin typeface="Helvetica" charset="0"/>
            </a:endParaRPr>
          </a:p>
        </p:txBody>
      </p:sp>
      <p:sp>
        <p:nvSpPr>
          <p:cNvPr id="58392" name="Text Box 24"/>
          <p:cNvSpPr txBox="1">
            <a:spLocks noChangeArrowheads="1"/>
          </p:cNvSpPr>
          <p:nvPr/>
        </p:nvSpPr>
        <p:spPr bwMode="auto">
          <a:xfrm>
            <a:off x="2016125" y="815975"/>
            <a:ext cx="5119688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= OTF support</a:t>
            </a:r>
          </a:p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= Region where the OTF is non-zero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343150" y="1571625"/>
            <a:ext cx="2222500" cy="4587875"/>
            <a:chOff x="4924" y="2702"/>
            <a:chExt cx="744" cy="1536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5060" y="2898"/>
              <a:ext cx="398" cy="1180"/>
              <a:chOff x="3196" y="1554"/>
              <a:chExt cx="398" cy="1180"/>
            </a:xfrm>
          </p:grpSpPr>
          <p:grpSp>
            <p:nvGrpSpPr>
              <p:cNvPr id="4" name="Group 5"/>
              <p:cNvGrpSpPr>
                <a:grpSpLocks/>
              </p:cNvGrpSpPr>
              <p:nvPr/>
            </p:nvGrpSpPr>
            <p:grpSpPr bwMode="auto">
              <a:xfrm>
                <a:off x="3196" y="2142"/>
                <a:ext cx="396" cy="592"/>
                <a:chOff x="3198" y="2140"/>
                <a:chExt cx="396" cy="592"/>
              </a:xfrm>
            </p:grpSpPr>
            <p:sp>
              <p:nvSpPr>
                <p:cNvPr id="15366" name="Freeform 6"/>
                <p:cNvSpPr>
                  <a:spLocks/>
                </p:cNvSpPr>
                <p:nvPr/>
              </p:nvSpPr>
              <p:spPr bwMode="auto">
                <a:xfrm>
                  <a:off x="3396" y="2140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  <p:sp>
              <p:nvSpPr>
                <p:cNvPr id="15367" name="Freeform 7"/>
                <p:cNvSpPr>
                  <a:spLocks/>
                </p:cNvSpPr>
                <p:nvPr/>
              </p:nvSpPr>
              <p:spPr bwMode="auto">
                <a:xfrm flipH="1">
                  <a:off x="3198" y="2142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</p:grpSp>
          <p:grpSp>
            <p:nvGrpSpPr>
              <p:cNvPr id="5" name="Group 8"/>
              <p:cNvGrpSpPr>
                <a:grpSpLocks/>
              </p:cNvGrpSpPr>
              <p:nvPr/>
            </p:nvGrpSpPr>
            <p:grpSpPr bwMode="auto">
              <a:xfrm>
                <a:off x="3198" y="1554"/>
                <a:ext cx="396" cy="592"/>
                <a:chOff x="3198" y="2140"/>
                <a:chExt cx="396" cy="592"/>
              </a:xfrm>
            </p:grpSpPr>
            <p:sp>
              <p:nvSpPr>
                <p:cNvPr id="15369" name="Freeform 9"/>
                <p:cNvSpPr>
                  <a:spLocks/>
                </p:cNvSpPr>
                <p:nvPr/>
              </p:nvSpPr>
              <p:spPr bwMode="auto">
                <a:xfrm>
                  <a:off x="3396" y="2140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  <p:sp>
              <p:nvSpPr>
                <p:cNvPr id="15370" name="Freeform 10"/>
                <p:cNvSpPr>
                  <a:spLocks/>
                </p:cNvSpPr>
                <p:nvPr/>
              </p:nvSpPr>
              <p:spPr bwMode="auto">
                <a:xfrm flipH="1">
                  <a:off x="3198" y="2142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</p:grpSp>
        </p:grpSp>
        <p:sp>
          <p:nvSpPr>
            <p:cNvPr id="15371" name="Line 11"/>
            <p:cNvSpPr>
              <a:spLocks noChangeShapeType="1"/>
            </p:cNvSpPr>
            <p:nvPr/>
          </p:nvSpPr>
          <p:spPr bwMode="auto">
            <a:xfrm flipV="1">
              <a:off x="5260" y="2702"/>
              <a:ext cx="0" cy="15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5372" name="Line 12"/>
            <p:cNvSpPr>
              <a:spLocks noChangeShapeType="1"/>
            </p:cNvSpPr>
            <p:nvPr/>
          </p:nvSpPr>
          <p:spPr bwMode="auto">
            <a:xfrm>
              <a:off x="4924" y="3486"/>
              <a:ext cx="7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b="0"/>
            </a:p>
          </p:txBody>
        </p:sp>
      </p:grp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4016375" y="39592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z</a:t>
            </a:r>
            <a:endParaRPr lang="en-US" altLang="en-US" b="0">
              <a:latin typeface="Helvetica" charset="0"/>
            </a:endParaRPr>
          </a:p>
        </p:txBody>
      </p:sp>
      <p:sp>
        <p:nvSpPr>
          <p:cNvPr id="15374" name="Text Box 14"/>
          <p:cNvSpPr txBox="1">
            <a:spLocks noChangeArrowheads="1"/>
          </p:cNvSpPr>
          <p:nvPr/>
        </p:nvSpPr>
        <p:spPr bwMode="auto">
          <a:xfrm>
            <a:off x="3381375" y="17494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x</a:t>
            </a:r>
            <a:endParaRPr lang="en-US" altLang="en-US" b="0">
              <a:latin typeface="Helvetica" charset="0"/>
            </a:endParaRPr>
          </a:p>
        </p:txBody>
      </p:sp>
      <p:sp>
        <p:nvSpPr>
          <p:cNvPr id="15376" name="Line 16"/>
          <p:cNvSpPr>
            <a:spLocks noChangeShapeType="1"/>
          </p:cNvSpPr>
          <p:nvPr/>
        </p:nvSpPr>
        <p:spPr bwMode="auto">
          <a:xfrm>
            <a:off x="3937000" y="49149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5377" name="Line 17"/>
          <p:cNvSpPr>
            <a:spLocks noChangeShapeType="1"/>
          </p:cNvSpPr>
          <p:nvPr/>
        </p:nvSpPr>
        <p:spPr bwMode="auto">
          <a:xfrm>
            <a:off x="3340100" y="49149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5379" name="Line 19"/>
          <p:cNvSpPr>
            <a:spLocks noChangeShapeType="1"/>
          </p:cNvSpPr>
          <p:nvPr/>
        </p:nvSpPr>
        <p:spPr bwMode="auto">
          <a:xfrm rot="-5400000">
            <a:off x="3450431" y="3024982"/>
            <a:ext cx="17033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5380" name="Line 20"/>
          <p:cNvSpPr>
            <a:spLocks noChangeShapeType="1"/>
          </p:cNvSpPr>
          <p:nvPr/>
        </p:nvSpPr>
        <p:spPr bwMode="auto">
          <a:xfrm rot="-5400000">
            <a:off x="3954463" y="1541463"/>
            <a:ext cx="0" cy="1244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5381" name="Text Box 21"/>
          <p:cNvSpPr txBox="1">
            <a:spLocks noChangeArrowheads="1"/>
          </p:cNvSpPr>
          <p:nvPr/>
        </p:nvSpPr>
        <p:spPr bwMode="auto">
          <a:xfrm>
            <a:off x="4427538" y="2532063"/>
            <a:ext cx="1470025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xy</a:t>
            </a:r>
            <a:r>
              <a:rPr lang="en-US" altLang="en-US" sz="1800" b="0">
                <a:latin typeface="Helvetica" charset="0"/>
              </a:rPr>
              <a:t>max =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2 n sin(</a:t>
            </a:r>
            <a:r>
              <a:rPr lang="en-US" altLang="en-US" sz="1800" b="0">
                <a:latin typeface="Symbol" charset="2"/>
              </a:rPr>
              <a:t>a</a:t>
            </a:r>
            <a:r>
              <a:rPr lang="en-US" altLang="en-US" sz="1800" b="0">
                <a:latin typeface="Helvetica" charset="0"/>
              </a:rPr>
              <a:t>) / </a:t>
            </a:r>
            <a:r>
              <a:rPr lang="en-US" altLang="en-US" sz="1800" b="0">
                <a:latin typeface="Symbol" charset="2"/>
              </a:rPr>
              <a:t>l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= 2 NA /</a:t>
            </a:r>
            <a:r>
              <a:rPr lang="en-US" altLang="en-US" sz="1800" b="0">
                <a:latin typeface="Symbol" charset="2"/>
              </a:rPr>
              <a:t> l</a:t>
            </a:r>
            <a:endParaRPr lang="en-US" altLang="en-US" sz="1800" b="0">
              <a:latin typeface="Helvetica" charset="0"/>
            </a:endParaRPr>
          </a:p>
        </p:txBody>
      </p:sp>
      <p:sp>
        <p:nvSpPr>
          <p:cNvPr id="15389" name="Text Box 29"/>
          <p:cNvSpPr txBox="1">
            <a:spLocks noChangeArrowheads="1"/>
          </p:cNvSpPr>
          <p:nvPr/>
        </p:nvSpPr>
        <p:spPr bwMode="auto">
          <a:xfrm>
            <a:off x="2324100" y="176213"/>
            <a:ext cx="39068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b="1">
                <a:solidFill>
                  <a:srgbClr val="CC0000"/>
                </a:solidFill>
                <a:latin typeface="Chalkboard" charset="0"/>
              </a:rPr>
              <a:t>So what is the resolution?</a:t>
            </a:r>
          </a:p>
        </p:txBody>
      </p:sp>
      <p:sp>
        <p:nvSpPr>
          <p:cNvPr id="15390" name="Text Box 30"/>
          <p:cNvSpPr txBox="1">
            <a:spLocks noChangeArrowheads="1"/>
          </p:cNvSpPr>
          <p:nvPr/>
        </p:nvSpPr>
        <p:spPr bwMode="auto">
          <a:xfrm>
            <a:off x="866775" y="4568825"/>
            <a:ext cx="1349375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“Missing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Cone” of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information</a:t>
            </a:r>
          </a:p>
        </p:txBody>
      </p:sp>
      <p:sp>
        <p:nvSpPr>
          <p:cNvPr id="15391" name="Line 31"/>
          <p:cNvSpPr>
            <a:spLocks noChangeShapeType="1"/>
          </p:cNvSpPr>
          <p:nvPr/>
        </p:nvSpPr>
        <p:spPr bwMode="auto">
          <a:xfrm flipV="1">
            <a:off x="2070100" y="3975100"/>
            <a:ext cx="850900" cy="596900"/>
          </a:xfrm>
          <a:prstGeom prst="line">
            <a:avLst/>
          </a:prstGeom>
          <a:noFill/>
          <a:ln w="19050">
            <a:solidFill>
              <a:srgbClr val="6600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5392" name="Line 32"/>
          <p:cNvSpPr>
            <a:spLocks noChangeShapeType="1"/>
          </p:cNvSpPr>
          <p:nvPr/>
        </p:nvSpPr>
        <p:spPr bwMode="auto">
          <a:xfrm>
            <a:off x="3340100" y="6286500"/>
            <a:ext cx="571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5393" name="Text Box 33"/>
          <p:cNvSpPr txBox="1">
            <a:spLocks noChangeArrowheads="1"/>
          </p:cNvSpPr>
          <p:nvPr/>
        </p:nvSpPr>
        <p:spPr bwMode="auto">
          <a:xfrm>
            <a:off x="4071938" y="5808663"/>
            <a:ext cx="169862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z</a:t>
            </a:r>
            <a:r>
              <a:rPr lang="en-US" altLang="en-US" sz="1800" b="0">
                <a:latin typeface="Helvetica" charset="0"/>
              </a:rPr>
              <a:t>max =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n (1-cos(</a:t>
            </a:r>
            <a:r>
              <a:rPr lang="en-US" altLang="en-US" sz="1800" b="0">
                <a:latin typeface="Symbol" charset="2"/>
              </a:rPr>
              <a:t>a</a:t>
            </a:r>
            <a:r>
              <a:rPr lang="en-US" altLang="en-US" sz="1800" b="0">
                <a:latin typeface="Helvetica" charset="0"/>
              </a:rPr>
              <a:t>)) / </a:t>
            </a:r>
            <a:r>
              <a:rPr lang="en-US" altLang="en-US" sz="1800" b="0">
                <a:latin typeface="Symbol" charset="2"/>
              </a:rPr>
              <a:t>l</a:t>
            </a:r>
            <a:endParaRPr lang="en-US" altLang="en-US" sz="1800" b="0">
              <a:latin typeface="Helvetica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343150" y="1571625"/>
            <a:ext cx="2222500" cy="4587875"/>
            <a:chOff x="4924" y="2702"/>
            <a:chExt cx="744" cy="1536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5060" y="2898"/>
              <a:ext cx="398" cy="1180"/>
              <a:chOff x="3196" y="1554"/>
              <a:chExt cx="398" cy="1180"/>
            </a:xfrm>
          </p:grpSpPr>
          <p:grpSp>
            <p:nvGrpSpPr>
              <p:cNvPr id="4" name="Group 5"/>
              <p:cNvGrpSpPr>
                <a:grpSpLocks/>
              </p:cNvGrpSpPr>
              <p:nvPr/>
            </p:nvGrpSpPr>
            <p:grpSpPr bwMode="auto">
              <a:xfrm>
                <a:off x="3196" y="2142"/>
                <a:ext cx="396" cy="592"/>
                <a:chOff x="3198" y="2140"/>
                <a:chExt cx="396" cy="592"/>
              </a:xfrm>
            </p:grpSpPr>
            <p:sp>
              <p:nvSpPr>
                <p:cNvPr id="16390" name="Freeform 6"/>
                <p:cNvSpPr>
                  <a:spLocks/>
                </p:cNvSpPr>
                <p:nvPr/>
              </p:nvSpPr>
              <p:spPr bwMode="auto">
                <a:xfrm>
                  <a:off x="3396" y="2140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  <p:sp>
              <p:nvSpPr>
                <p:cNvPr id="16391" name="Freeform 7"/>
                <p:cNvSpPr>
                  <a:spLocks/>
                </p:cNvSpPr>
                <p:nvPr/>
              </p:nvSpPr>
              <p:spPr bwMode="auto">
                <a:xfrm flipH="1">
                  <a:off x="3198" y="2142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</p:grpSp>
          <p:grpSp>
            <p:nvGrpSpPr>
              <p:cNvPr id="5" name="Group 8"/>
              <p:cNvGrpSpPr>
                <a:grpSpLocks/>
              </p:cNvGrpSpPr>
              <p:nvPr/>
            </p:nvGrpSpPr>
            <p:grpSpPr bwMode="auto">
              <a:xfrm>
                <a:off x="3198" y="1554"/>
                <a:ext cx="396" cy="592"/>
                <a:chOff x="3198" y="2140"/>
                <a:chExt cx="396" cy="592"/>
              </a:xfrm>
            </p:grpSpPr>
            <p:sp>
              <p:nvSpPr>
                <p:cNvPr id="16393" name="Freeform 9"/>
                <p:cNvSpPr>
                  <a:spLocks/>
                </p:cNvSpPr>
                <p:nvPr/>
              </p:nvSpPr>
              <p:spPr bwMode="auto">
                <a:xfrm>
                  <a:off x="3396" y="2140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  <p:sp>
              <p:nvSpPr>
                <p:cNvPr id="16394" name="Freeform 10"/>
                <p:cNvSpPr>
                  <a:spLocks/>
                </p:cNvSpPr>
                <p:nvPr/>
              </p:nvSpPr>
              <p:spPr bwMode="auto">
                <a:xfrm flipH="1">
                  <a:off x="3198" y="2142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</p:grpSp>
        </p:grpSp>
        <p:sp>
          <p:nvSpPr>
            <p:cNvPr id="16395" name="Line 11"/>
            <p:cNvSpPr>
              <a:spLocks noChangeShapeType="1"/>
            </p:cNvSpPr>
            <p:nvPr/>
          </p:nvSpPr>
          <p:spPr bwMode="auto">
            <a:xfrm flipV="1">
              <a:off x="5260" y="2702"/>
              <a:ext cx="0" cy="15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6396" name="Line 12"/>
            <p:cNvSpPr>
              <a:spLocks noChangeShapeType="1"/>
            </p:cNvSpPr>
            <p:nvPr/>
          </p:nvSpPr>
          <p:spPr bwMode="auto">
            <a:xfrm>
              <a:off x="4924" y="3486"/>
              <a:ext cx="7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b="0"/>
            </a:p>
          </p:txBody>
        </p:sp>
      </p:grpSp>
      <p:sp>
        <p:nvSpPr>
          <p:cNvPr id="16397" name="Text Box 13"/>
          <p:cNvSpPr txBox="1">
            <a:spLocks noChangeArrowheads="1"/>
          </p:cNvSpPr>
          <p:nvPr/>
        </p:nvSpPr>
        <p:spPr bwMode="auto">
          <a:xfrm>
            <a:off x="4016375" y="39592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z</a:t>
            </a:r>
            <a:endParaRPr lang="en-US" altLang="en-US" b="0">
              <a:latin typeface="Helvetica" charset="0"/>
            </a:endParaRPr>
          </a:p>
        </p:txBody>
      </p:sp>
      <p:sp>
        <p:nvSpPr>
          <p:cNvPr id="16398" name="Text Box 14"/>
          <p:cNvSpPr txBox="1">
            <a:spLocks noChangeArrowheads="1"/>
          </p:cNvSpPr>
          <p:nvPr/>
        </p:nvSpPr>
        <p:spPr bwMode="auto">
          <a:xfrm>
            <a:off x="3381375" y="17494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x</a:t>
            </a:r>
            <a:endParaRPr lang="en-US" altLang="en-US" b="0">
              <a:latin typeface="Helvetica" charset="0"/>
            </a:endParaRPr>
          </a:p>
        </p:txBody>
      </p:sp>
      <p:sp>
        <p:nvSpPr>
          <p:cNvPr id="16399" name="Line 15"/>
          <p:cNvSpPr>
            <a:spLocks noChangeShapeType="1"/>
          </p:cNvSpPr>
          <p:nvPr/>
        </p:nvSpPr>
        <p:spPr bwMode="auto">
          <a:xfrm>
            <a:off x="3340100" y="6286500"/>
            <a:ext cx="571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6400" name="Line 16"/>
          <p:cNvSpPr>
            <a:spLocks noChangeShapeType="1"/>
          </p:cNvSpPr>
          <p:nvPr/>
        </p:nvSpPr>
        <p:spPr bwMode="auto">
          <a:xfrm>
            <a:off x="3937000" y="49149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6401" name="Line 17"/>
          <p:cNvSpPr>
            <a:spLocks noChangeShapeType="1"/>
          </p:cNvSpPr>
          <p:nvPr/>
        </p:nvSpPr>
        <p:spPr bwMode="auto">
          <a:xfrm>
            <a:off x="3340100" y="49149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6402" name="Text Box 18"/>
          <p:cNvSpPr txBox="1">
            <a:spLocks noChangeArrowheads="1"/>
          </p:cNvSpPr>
          <p:nvPr/>
        </p:nvSpPr>
        <p:spPr bwMode="auto">
          <a:xfrm>
            <a:off x="4071938" y="5808663"/>
            <a:ext cx="169862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z</a:t>
            </a:r>
            <a:r>
              <a:rPr lang="en-US" altLang="en-US" sz="1800" b="0">
                <a:latin typeface="Helvetica" charset="0"/>
              </a:rPr>
              <a:t>max =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n (1-cos(</a:t>
            </a:r>
            <a:r>
              <a:rPr lang="en-US" altLang="en-US" sz="1800" b="0">
                <a:latin typeface="Symbol" charset="2"/>
              </a:rPr>
              <a:t>a</a:t>
            </a:r>
            <a:r>
              <a:rPr lang="en-US" altLang="en-US" sz="1800" b="0">
                <a:latin typeface="Helvetica" charset="0"/>
              </a:rPr>
              <a:t>)) / </a:t>
            </a:r>
            <a:r>
              <a:rPr lang="en-US" altLang="en-US" sz="1800" b="0">
                <a:latin typeface="Symbol" charset="2"/>
              </a:rPr>
              <a:t>l</a:t>
            </a:r>
            <a:endParaRPr lang="en-US" altLang="en-US" sz="1800" b="0">
              <a:latin typeface="Helvetica" charset="0"/>
            </a:endParaRPr>
          </a:p>
        </p:txBody>
      </p:sp>
      <p:sp>
        <p:nvSpPr>
          <p:cNvPr id="16403" name="Line 19"/>
          <p:cNvSpPr>
            <a:spLocks noChangeShapeType="1"/>
          </p:cNvSpPr>
          <p:nvPr/>
        </p:nvSpPr>
        <p:spPr bwMode="auto">
          <a:xfrm rot="-5400000">
            <a:off x="3450431" y="3024982"/>
            <a:ext cx="17033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6404" name="Line 20"/>
          <p:cNvSpPr>
            <a:spLocks noChangeShapeType="1"/>
          </p:cNvSpPr>
          <p:nvPr/>
        </p:nvSpPr>
        <p:spPr bwMode="auto">
          <a:xfrm rot="-5400000">
            <a:off x="3954463" y="1541463"/>
            <a:ext cx="0" cy="1244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6405" name="Text Box 21"/>
          <p:cNvSpPr txBox="1">
            <a:spLocks noChangeArrowheads="1"/>
          </p:cNvSpPr>
          <p:nvPr/>
        </p:nvSpPr>
        <p:spPr bwMode="auto">
          <a:xfrm>
            <a:off x="4427538" y="2532063"/>
            <a:ext cx="1470025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xy</a:t>
            </a:r>
            <a:r>
              <a:rPr lang="en-US" altLang="en-US" sz="1800" b="0">
                <a:latin typeface="Helvetica" charset="0"/>
              </a:rPr>
              <a:t>max =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2 n sin(</a:t>
            </a:r>
            <a:r>
              <a:rPr lang="en-US" altLang="en-US" sz="1800" b="0">
                <a:latin typeface="Symbol" charset="2"/>
              </a:rPr>
              <a:t>a</a:t>
            </a:r>
            <a:r>
              <a:rPr lang="en-US" altLang="en-US" sz="1800" b="0">
                <a:latin typeface="Helvetica" charset="0"/>
              </a:rPr>
              <a:t>) / </a:t>
            </a:r>
            <a:r>
              <a:rPr lang="en-US" altLang="en-US" sz="1800" b="0">
                <a:latin typeface="Symbol" charset="2"/>
              </a:rPr>
              <a:t>l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= 2 NA /</a:t>
            </a:r>
            <a:r>
              <a:rPr lang="en-US" altLang="en-US" sz="1800" b="0">
                <a:latin typeface="Symbol" charset="2"/>
              </a:rPr>
              <a:t> l</a:t>
            </a:r>
            <a:endParaRPr lang="en-US" altLang="en-US" sz="1800" b="0">
              <a:latin typeface="Helvetica" charset="0"/>
            </a:endParaRPr>
          </a:p>
        </p:txBody>
      </p:sp>
      <p:sp>
        <p:nvSpPr>
          <p:cNvPr id="16415" name="Text Box 31"/>
          <p:cNvSpPr txBox="1">
            <a:spLocks noChangeArrowheads="1"/>
          </p:cNvSpPr>
          <p:nvPr/>
        </p:nvSpPr>
        <p:spPr bwMode="auto">
          <a:xfrm>
            <a:off x="2324100" y="176213"/>
            <a:ext cx="39068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b="1">
                <a:solidFill>
                  <a:srgbClr val="CC0000"/>
                </a:solidFill>
                <a:latin typeface="Chalkboard" charset="0"/>
              </a:rPr>
              <a:t>So what is the resolution?</a:t>
            </a:r>
          </a:p>
        </p:txBody>
      </p:sp>
      <p:sp>
        <p:nvSpPr>
          <p:cNvPr id="16419" name="Text Box 35"/>
          <p:cNvSpPr txBox="1">
            <a:spLocks noChangeArrowheads="1"/>
          </p:cNvSpPr>
          <p:nvPr/>
        </p:nvSpPr>
        <p:spPr bwMode="auto">
          <a:xfrm>
            <a:off x="866775" y="4568825"/>
            <a:ext cx="1349375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 dirty="0">
                <a:solidFill>
                  <a:srgbClr val="660066"/>
                </a:solidFill>
                <a:latin typeface="Chalkboard" charset="0"/>
              </a:rPr>
              <a:t>“Missing</a:t>
            </a:r>
          </a:p>
          <a:p>
            <a:pPr algn="ctr"/>
            <a:r>
              <a:rPr lang="en-US" altLang="en-US" sz="1800" b="0" dirty="0">
                <a:solidFill>
                  <a:srgbClr val="660066"/>
                </a:solidFill>
                <a:latin typeface="Chalkboard" charset="0"/>
              </a:rPr>
              <a:t>Cone” of</a:t>
            </a:r>
          </a:p>
          <a:p>
            <a:pPr algn="ctr"/>
            <a:r>
              <a:rPr lang="en-US" altLang="en-US" sz="1800" b="0" dirty="0">
                <a:solidFill>
                  <a:srgbClr val="660066"/>
                </a:solidFill>
                <a:latin typeface="Chalkboard" charset="0"/>
              </a:rPr>
              <a:t>information</a:t>
            </a:r>
          </a:p>
        </p:txBody>
      </p:sp>
      <p:sp>
        <p:nvSpPr>
          <p:cNvPr id="16420" name="Line 36"/>
          <p:cNvSpPr>
            <a:spLocks noChangeShapeType="1"/>
          </p:cNvSpPr>
          <p:nvPr/>
        </p:nvSpPr>
        <p:spPr bwMode="auto">
          <a:xfrm flipV="1">
            <a:off x="2070100" y="3975100"/>
            <a:ext cx="850900" cy="596900"/>
          </a:xfrm>
          <a:prstGeom prst="line">
            <a:avLst/>
          </a:prstGeom>
          <a:noFill/>
          <a:ln w="19050">
            <a:solidFill>
              <a:srgbClr val="6600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b="0"/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3200400" y="3046413"/>
            <a:ext cx="287338" cy="1755775"/>
            <a:chOff x="3196" y="1554"/>
            <a:chExt cx="398" cy="1180"/>
          </a:xfrm>
        </p:grpSpPr>
        <p:grpSp>
          <p:nvGrpSpPr>
            <p:cNvPr id="7" name="Group 38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16423" name="Freeform 39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16424" name="Freeform 40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  <p:grpSp>
          <p:nvGrpSpPr>
            <p:cNvPr id="8" name="Group 41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16426" name="Freeform 42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16427" name="Freeform 43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</p:grpSp>
      <p:grpSp>
        <p:nvGrpSpPr>
          <p:cNvPr id="9" name="Group 44"/>
          <p:cNvGrpSpPr>
            <a:grpSpLocks/>
          </p:cNvGrpSpPr>
          <p:nvPr/>
        </p:nvGrpSpPr>
        <p:grpSpPr bwMode="auto">
          <a:xfrm>
            <a:off x="3054350" y="2589213"/>
            <a:ext cx="579438" cy="2651125"/>
            <a:chOff x="3196" y="1554"/>
            <a:chExt cx="398" cy="1180"/>
          </a:xfrm>
        </p:grpSpPr>
        <p:grpSp>
          <p:nvGrpSpPr>
            <p:cNvPr id="10" name="Group 45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16430" name="Freeform 46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16431" name="Freeform 47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  <p:grpSp>
          <p:nvGrpSpPr>
            <p:cNvPr id="11" name="Group 48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16433" name="Freeform 49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16434" name="Freeform 50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</p:grpSp>
      <p:grpSp>
        <p:nvGrpSpPr>
          <p:cNvPr id="12" name="Group 51"/>
          <p:cNvGrpSpPr>
            <a:grpSpLocks/>
          </p:cNvGrpSpPr>
          <p:nvPr/>
        </p:nvGrpSpPr>
        <p:grpSpPr bwMode="auto">
          <a:xfrm>
            <a:off x="3311525" y="3471863"/>
            <a:ext cx="74613" cy="892175"/>
            <a:chOff x="3196" y="1554"/>
            <a:chExt cx="398" cy="1180"/>
          </a:xfrm>
        </p:grpSpPr>
        <p:grpSp>
          <p:nvGrpSpPr>
            <p:cNvPr id="13" name="Group 52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16437" name="Freeform 53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16438" name="Freeform 54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  <p:grpSp>
          <p:nvGrpSpPr>
            <p:cNvPr id="14" name="Group 55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16440" name="Freeform 56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16441" name="Freeform 57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</p:grpSp>
      <p:sp>
        <p:nvSpPr>
          <p:cNvPr id="16442" name="Text Box 58"/>
          <p:cNvSpPr txBox="1">
            <a:spLocks noChangeArrowheads="1"/>
          </p:cNvSpPr>
          <p:nvPr/>
        </p:nvSpPr>
        <p:spPr bwMode="auto">
          <a:xfrm>
            <a:off x="6212126" y="2593975"/>
            <a:ext cx="2544286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Lowering the NA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Degrades the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axial resolution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faster than the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lateral resolution</a:t>
            </a:r>
          </a:p>
          <a:p>
            <a:pPr algn="ctr"/>
            <a:endParaRPr lang="en-US" altLang="en-US" sz="1800" b="0">
              <a:solidFill>
                <a:srgbClr val="660066"/>
              </a:solidFill>
              <a:latin typeface="Chalkboard" charset="0"/>
            </a:endParaRP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But low axial resolution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= long </a:t>
            </a:r>
            <a:r>
              <a:rPr lang="en-US" altLang="en-US" sz="1800" b="0" i="1">
                <a:solidFill>
                  <a:srgbClr val="660066"/>
                </a:solidFill>
                <a:latin typeface="Chalkboard" charset="0"/>
              </a:rPr>
              <a:t>depth of field</a:t>
            </a:r>
            <a:endParaRPr lang="en-US" altLang="en-US" sz="1800" b="0">
              <a:solidFill>
                <a:srgbClr val="660066"/>
              </a:solidFill>
              <a:latin typeface="Chalkboard" charset="0"/>
            </a:endParaRP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This is </a:t>
            </a:r>
            <a:r>
              <a:rPr lang="en-US" altLang="en-US" sz="1800" b="0" i="1">
                <a:solidFill>
                  <a:srgbClr val="660066"/>
                </a:solidFill>
                <a:latin typeface="Chalkboard" charset="0"/>
              </a:rPr>
              <a:t>good</a:t>
            </a:r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,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if 2D is enough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343150" y="1571625"/>
            <a:ext cx="2222500" cy="4587875"/>
            <a:chOff x="4924" y="2702"/>
            <a:chExt cx="744" cy="1536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5060" y="2898"/>
              <a:ext cx="398" cy="1180"/>
              <a:chOff x="3196" y="1554"/>
              <a:chExt cx="398" cy="1180"/>
            </a:xfrm>
          </p:grpSpPr>
          <p:grpSp>
            <p:nvGrpSpPr>
              <p:cNvPr id="4" name="Group 4"/>
              <p:cNvGrpSpPr>
                <a:grpSpLocks/>
              </p:cNvGrpSpPr>
              <p:nvPr/>
            </p:nvGrpSpPr>
            <p:grpSpPr bwMode="auto">
              <a:xfrm>
                <a:off x="3196" y="2142"/>
                <a:ext cx="396" cy="592"/>
                <a:chOff x="3198" y="2140"/>
                <a:chExt cx="396" cy="592"/>
              </a:xfrm>
            </p:grpSpPr>
            <p:sp>
              <p:nvSpPr>
                <p:cNvPr id="60421" name="Freeform 5"/>
                <p:cNvSpPr>
                  <a:spLocks/>
                </p:cNvSpPr>
                <p:nvPr/>
              </p:nvSpPr>
              <p:spPr bwMode="auto">
                <a:xfrm>
                  <a:off x="3396" y="2140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  <p:sp>
              <p:nvSpPr>
                <p:cNvPr id="60422" name="Freeform 6"/>
                <p:cNvSpPr>
                  <a:spLocks/>
                </p:cNvSpPr>
                <p:nvPr/>
              </p:nvSpPr>
              <p:spPr bwMode="auto">
                <a:xfrm flipH="1">
                  <a:off x="3198" y="2142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</p:grpSp>
          <p:grpSp>
            <p:nvGrpSpPr>
              <p:cNvPr id="5" name="Group 7"/>
              <p:cNvGrpSpPr>
                <a:grpSpLocks/>
              </p:cNvGrpSpPr>
              <p:nvPr/>
            </p:nvGrpSpPr>
            <p:grpSpPr bwMode="auto">
              <a:xfrm>
                <a:off x="3198" y="1554"/>
                <a:ext cx="396" cy="592"/>
                <a:chOff x="3198" y="2140"/>
                <a:chExt cx="396" cy="592"/>
              </a:xfrm>
            </p:grpSpPr>
            <p:sp>
              <p:nvSpPr>
                <p:cNvPr id="60424" name="Freeform 8"/>
                <p:cNvSpPr>
                  <a:spLocks/>
                </p:cNvSpPr>
                <p:nvPr/>
              </p:nvSpPr>
              <p:spPr bwMode="auto">
                <a:xfrm>
                  <a:off x="3396" y="2140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  <p:sp>
              <p:nvSpPr>
                <p:cNvPr id="60425" name="Freeform 9"/>
                <p:cNvSpPr>
                  <a:spLocks/>
                </p:cNvSpPr>
                <p:nvPr/>
              </p:nvSpPr>
              <p:spPr bwMode="auto">
                <a:xfrm flipH="1">
                  <a:off x="3198" y="2142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</p:grpSp>
        </p:grpSp>
        <p:sp>
          <p:nvSpPr>
            <p:cNvPr id="60426" name="Line 10"/>
            <p:cNvSpPr>
              <a:spLocks noChangeShapeType="1"/>
            </p:cNvSpPr>
            <p:nvPr/>
          </p:nvSpPr>
          <p:spPr bwMode="auto">
            <a:xfrm flipV="1">
              <a:off x="5260" y="2702"/>
              <a:ext cx="0" cy="15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60427" name="Line 11"/>
            <p:cNvSpPr>
              <a:spLocks noChangeShapeType="1"/>
            </p:cNvSpPr>
            <p:nvPr/>
          </p:nvSpPr>
          <p:spPr bwMode="auto">
            <a:xfrm>
              <a:off x="4924" y="3486"/>
              <a:ext cx="7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b="0"/>
            </a:p>
          </p:txBody>
        </p:sp>
      </p:grpSp>
      <p:sp>
        <p:nvSpPr>
          <p:cNvPr id="60428" name="Text Box 12"/>
          <p:cNvSpPr txBox="1">
            <a:spLocks noChangeArrowheads="1"/>
          </p:cNvSpPr>
          <p:nvPr/>
        </p:nvSpPr>
        <p:spPr bwMode="auto">
          <a:xfrm>
            <a:off x="4016375" y="39592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z</a:t>
            </a:r>
            <a:endParaRPr lang="en-US" altLang="en-US" b="0">
              <a:latin typeface="Helvetica" charset="0"/>
            </a:endParaRPr>
          </a:p>
        </p:txBody>
      </p:sp>
      <p:sp>
        <p:nvSpPr>
          <p:cNvPr id="60429" name="Text Box 13"/>
          <p:cNvSpPr txBox="1">
            <a:spLocks noChangeArrowheads="1"/>
          </p:cNvSpPr>
          <p:nvPr/>
        </p:nvSpPr>
        <p:spPr bwMode="auto">
          <a:xfrm>
            <a:off x="3381375" y="17494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x</a:t>
            </a:r>
            <a:endParaRPr lang="en-US" altLang="en-US" b="0">
              <a:latin typeface="Helvetica" charset="0"/>
            </a:endParaRPr>
          </a:p>
        </p:txBody>
      </p:sp>
      <p:sp>
        <p:nvSpPr>
          <p:cNvPr id="60430" name="Line 14"/>
          <p:cNvSpPr>
            <a:spLocks noChangeShapeType="1"/>
          </p:cNvSpPr>
          <p:nvPr/>
        </p:nvSpPr>
        <p:spPr bwMode="auto">
          <a:xfrm>
            <a:off x="3340100" y="6286500"/>
            <a:ext cx="571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31" name="Line 15"/>
          <p:cNvSpPr>
            <a:spLocks noChangeShapeType="1"/>
          </p:cNvSpPr>
          <p:nvPr/>
        </p:nvSpPr>
        <p:spPr bwMode="auto">
          <a:xfrm>
            <a:off x="3937000" y="49149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32" name="Line 16"/>
          <p:cNvSpPr>
            <a:spLocks noChangeShapeType="1"/>
          </p:cNvSpPr>
          <p:nvPr/>
        </p:nvSpPr>
        <p:spPr bwMode="auto">
          <a:xfrm>
            <a:off x="3340100" y="49149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33" name="Text Box 17"/>
          <p:cNvSpPr txBox="1">
            <a:spLocks noChangeArrowheads="1"/>
          </p:cNvSpPr>
          <p:nvPr/>
        </p:nvSpPr>
        <p:spPr bwMode="auto">
          <a:xfrm>
            <a:off x="4071938" y="5808663"/>
            <a:ext cx="169862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z</a:t>
            </a:r>
            <a:r>
              <a:rPr lang="en-US" altLang="en-US" sz="1800" b="0">
                <a:latin typeface="Helvetica" charset="0"/>
              </a:rPr>
              <a:t>max =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n (1-cos(</a:t>
            </a:r>
            <a:r>
              <a:rPr lang="en-US" altLang="en-US" sz="1800" b="0">
                <a:latin typeface="Symbol" charset="2"/>
              </a:rPr>
              <a:t>a</a:t>
            </a:r>
            <a:r>
              <a:rPr lang="en-US" altLang="en-US" sz="1800" b="0">
                <a:latin typeface="Helvetica" charset="0"/>
              </a:rPr>
              <a:t>)) / </a:t>
            </a:r>
            <a:r>
              <a:rPr lang="en-US" altLang="en-US" sz="1800" b="0">
                <a:latin typeface="Symbol" charset="2"/>
              </a:rPr>
              <a:t>l</a:t>
            </a:r>
            <a:endParaRPr lang="en-US" altLang="en-US" sz="1800" b="0">
              <a:latin typeface="Helvetica" charset="0"/>
            </a:endParaRPr>
          </a:p>
        </p:txBody>
      </p:sp>
      <p:sp>
        <p:nvSpPr>
          <p:cNvPr id="60434" name="Line 18"/>
          <p:cNvSpPr>
            <a:spLocks noChangeShapeType="1"/>
          </p:cNvSpPr>
          <p:nvPr/>
        </p:nvSpPr>
        <p:spPr bwMode="auto">
          <a:xfrm rot="-5400000">
            <a:off x="3450431" y="3024982"/>
            <a:ext cx="17033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35" name="Line 19"/>
          <p:cNvSpPr>
            <a:spLocks noChangeShapeType="1"/>
          </p:cNvSpPr>
          <p:nvPr/>
        </p:nvSpPr>
        <p:spPr bwMode="auto">
          <a:xfrm rot="-5400000">
            <a:off x="3954463" y="1541463"/>
            <a:ext cx="0" cy="1244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36" name="Text Box 20"/>
          <p:cNvSpPr txBox="1">
            <a:spLocks noChangeArrowheads="1"/>
          </p:cNvSpPr>
          <p:nvPr/>
        </p:nvSpPr>
        <p:spPr bwMode="auto">
          <a:xfrm>
            <a:off x="4427538" y="2532063"/>
            <a:ext cx="1470025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xy</a:t>
            </a:r>
            <a:r>
              <a:rPr lang="en-US" altLang="en-US" sz="1800" b="0">
                <a:latin typeface="Helvetica" charset="0"/>
              </a:rPr>
              <a:t>max =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2 n sin(</a:t>
            </a:r>
            <a:r>
              <a:rPr lang="en-US" altLang="en-US" sz="1800" b="0">
                <a:latin typeface="Symbol" charset="2"/>
              </a:rPr>
              <a:t>a</a:t>
            </a:r>
            <a:r>
              <a:rPr lang="en-US" altLang="en-US" sz="1800" b="0">
                <a:latin typeface="Helvetica" charset="0"/>
              </a:rPr>
              <a:t>) / </a:t>
            </a:r>
            <a:r>
              <a:rPr lang="en-US" altLang="en-US" sz="1800" b="0">
                <a:latin typeface="Symbol" charset="2"/>
              </a:rPr>
              <a:t>l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= 2 NA /</a:t>
            </a:r>
            <a:r>
              <a:rPr lang="en-US" altLang="en-US" sz="1800" b="0">
                <a:latin typeface="Symbol" charset="2"/>
              </a:rPr>
              <a:t> l</a:t>
            </a:r>
            <a:endParaRPr lang="en-US" altLang="en-US" sz="1800" b="0">
              <a:latin typeface="Helvetica" charset="0"/>
            </a:endParaRPr>
          </a:p>
        </p:txBody>
      </p:sp>
      <p:sp>
        <p:nvSpPr>
          <p:cNvPr id="60444" name="Text Box 28"/>
          <p:cNvSpPr txBox="1">
            <a:spLocks noChangeArrowheads="1"/>
          </p:cNvSpPr>
          <p:nvPr/>
        </p:nvSpPr>
        <p:spPr bwMode="auto">
          <a:xfrm>
            <a:off x="6161088" y="2652713"/>
            <a:ext cx="2905125" cy="3294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NA = 1.4</a:t>
            </a:r>
          </a:p>
          <a:p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n=1.515</a:t>
            </a:r>
          </a:p>
          <a:p>
            <a:r>
              <a:rPr lang="en-US" altLang="en-US" sz="2000" b="0" dirty="0">
                <a:solidFill>
                  <a:srgbClr val="660066"/>
                </a:solidFill>
                <a:latin typeface="Symbol" charset="2"/>
              </a:rPr>
              <a:t>        a </a:t>
            </a:r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= 67.5°</a:t>
            </a:r>
          </a:p>
          <a:p>
            <a:r>
              <a:rPr lang="en-US" altLang="en-US" sz="2000" b="0" dirty="0">
                <a:solidFill>
                  <a:srgbClr val="660066"/>
                </a:solidFill>
                <a:latin typeface="Symbol" charset="2"/>
              </a:rPr>
              <a:t>l</a:t>
            </a:r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 = 600 nm</a:t>
            </a:r>
          </a:p>
          <a:p>
            <a:endParaRPr lang="en-US" altLang="en-US" sz="2000" b="0" dirty="0">
              <a:solidFill>
                <a:srgbClr val="660066"/>
              </a:solidFill>
              <a:latin typeface="Helvetica" charset="0"/>
            </a:endParaRPr>
          </a:p>
          <a:p>
            <a:pPr>
              <a:lnSpc>
                <a:spcPct val="90000"/>
              </a:lnSpc>
            </a:pPr>
            <a:endParaRPr lang="en-US" altLang="en-US" sz="2000" b="0" dirty="0">
              <a:solidFill>
                <a:srgbClr val="660066"/>
              </a:solidFill>
              <a:latin typeface="Helvetica" charset="0"/>
            </a:endParaRPr>
          </a:p>
          <a:p>
            <a:r>
              <a:rPr lang="en-US" altLang="en-US" sz="2000" b="0" dirty="0">
                <a:solidFill>
                  <a:srgbClr val="660066"/>
                </a:solidFill>
                <a:latin typeface="Chalkboard" charset="0"/>
              </a:rPr>
              <a:t>Lateral (XY) resolution:</a:t>
            </a:r>
            <a:endParaRPr lang="en-US" altLang="en-US" sz="2000" b="0" dirty="0">
              <a:solidFill>
                <a:srgbClr val="660066"/>
              </a:solidFill>
              <a:latin typeface="Helvetica" charset="0"/>
            </a:endParaRPr>
          </a:p>
          <a:p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1/ </a:t>
            </a:r>
            <a:r>
              <a:rPr lang="en-US" altLang="en-US" sz="2000" b="0" dirty="0" err="1">
                <a:solidFill>
                  <a:srgbClr val="660066"/>
                </a:solidFill>
                <a:latin typeface="Helvetica" charset="0"/>
              </a:rPr>
              <a:t>K</a:t>
            </a:r>
            <a:r>
              <a:rPr lang="en-US" altLang="en-US" sz="2000" b="0" baseline="-25000" dirty="0" err="1">
                <a:solidFill>
                  <a:srgbClr val="660066"/>
                </a:solidFill>
                <a:latin typeface="Helvetica" charset="0"/>
              </a:rPr>
              <a:t>xy</a:t>
            </a:r>
            <a:r>
              <a:rPr lang="en-US" altLang="en-US" sz="2000" b="0" dirty="0" err="1">
                <a:solidFill>
                  <a:srgbClr val="660066"/>
                </a:solidFill>
                <a:latin typeface="Helvetica" charset="0"/>
              </a:rPr>
              <a:t>max</a:t>
            </a:r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 = 0.21 µm</a:t>
            </a:r>
          </a:p>
          <a:p>
            <a:pPr>
              <a:lnSpc>
                <a:spcPct val="50000"/>
              </a:lnSpc>
            </a:pPr>
            <a:endParaRPr lang="en-US" altLang="en-US" sz="2000" b="0" dirty="0">
              <a:solidFill>
                <a:srgbClr val="660066"/>
              </a:solidFill>
              <a:latin typeface="Helvetica" charset="0"/>
            </a:endParaRPr>
          </a:p>
          <a:p>
            <a:r>
              <a:rPr lang="en-US" altLang="en-US" sz="2000" b="0" dirty="0">
                <a:solidFill>
                  <a:srgbClr val="660066"/>
                </a:solidFill>
                <a:latin typeface="Chalkboard" charset="0"/>
              </a:rPr>
              <a:t>Axial (Z) resolution:</a:t>
            </a:r>
            <a:endParaRPr lang="en-US" altLang="en-US" sz="2000" b="0" dirty="0">
              <a:solidFill>
                <a:srgbClr val="660066"/>
              </a:solidFill>
              <a:latin typeface="Helvetica" charset="0"/>
            </a:endParaRPr>
          </a:p>
          <a:p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1/ </a:t>
            </a:r>
            <a:r>
              <a:rPr lang="en-US" altLang="en-US" sz="2000" b="0" dirty="0" err="1">
                <a:solidFill>
                  <a:srgbClr val="660066"/>
                </a:solidFill>
                <a:latin typeface="Helvetica" charset="0"/>
              </a:rPr>
              <a:t>K</a:t>
            </a:r>
            <a:r>
              <a:rPr lang="en-US" altLang="en-US" sz="2000" b="0" baseline="-25000" dirty="0" err="1">
                <a:solidFill>
                  <a:srgbClr val="660066"/>
                </a:solidFill>
                <a:latin typeface="Helvetica" charset="0"/>
              </a:rPr>
              <a:t>z</a:t>
            </a:r>
            <a:r>
              <a:rPr lang="en-US" altLang="en-US" sz="2000" b="0" dirty="0" err="1">
                <a:solidFill>
                  <a:srgbClr val="660066"/>
                </a:solidFill>
                <a:latin typeface="Helvetica" charset="0"/>
              </a:rPr>
              <a:t>max</a:t>
            </a:r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 = 0.64 µm</a:t>
            </a:r>
          </a:p>
        </p:txBody>
      </p:sp>
      <p:sp>
        <p:nvSpPr>
          <p:cNvPr id="60445" name="AutoShape 29"/>
          <p:cNvSpPr>
            <a:spLocks noChangeArrowheads="1"/>
          </p:cNvSpPr>
          <p:nvPr/>
        </p:nvSpPr>
        <p:spPr bwMode="auto">
          <a:xfrm>
            <a:off x="6032500" y="1384300"/>
            <a:ext cx="2882900" cy="48514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en-US" b="0">
              <a:solidFill>
                <a:srgbClr val="CC0000"/>
              </a:solidFill>
            </a:endParaRPr>
          </a:p>
        </p:txBody>
      </p:sp>
      <p:sp>
        <p:nvSpPr>
          <p:cNvPr id="60446" name="Text Box 30"/>
          <p:cNvSpPr txBox="1">
            <a:spLocks noChangeArrowheads="1"/>
          </p:cNvSpPr>
          <p:nvPr/>
        </p:nvSpPr>
        <p:spPr bwMode="auto">
          <a:xfrm>
            <a:off x="2324100" y="176213"/>
            <a:ext cx="39068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b="1">
                <a:solidFill>
                  <a:srgbClr val="CC0000"/>
                </a:solidFill>
                <a:latin typeface="Chalkboard" charset="0"/>
              </a:rPr>
              <a:t>So what is the resolution?</a:t>
            </a:r>
          </a:p>
        </p:txBody>
      </p:sp>
      <p:sp>
        <p:nvSpPr>
          <p:cNvPr id="60447" name="Text Box 31"/>
          <p:cNvSpPr txBox="1">
            <a:spLocks noChangeArrowheads="1"/>
          </p:cNvSpPr>
          <p:nvPr/>
        </p:nvSpPr>
        <p:spPr bwMode="auto">
          <a:xfrm>
            <a:off x="6116638" y="1774825"/>
            <a:ext cx="2570162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000" b="0">
                <a:latin typeface="Chalkboard" charset="0"/>
              </a:rPr>
              <a:t>Example:</a:t>
            </a:r>
          </a:p>
          <a:p>
            <a:pPr algn="ctr"/>
            <a:r>
              <a:rPr lang="en-US" altLang="en-US" sz="2000" b="0">
                <a:latin typeface="Chalkboard" charset="0"/>
              </a:rPr>
              <a:t>a high-end objective</a:t>
            </a:r>
          </a:p>
        </p:txBody>
      </p:sp>
      <p:sp>
        <p:nvSpPr>
          <p:cNvPr id="60448" name="Line 32"/>
          <p:cNvSpPr>
            <a:spLocks noChangeShapeType="1"/>
          </p:cNvSpPr>
          <p:nvPr/>
        </p:nvSpPr>
        <p:spPr bwMode="auto">
          <a:xfrm>
            <a:off x="6299200" y="3479800"/>
            <a:ext cx="317500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49" name="Line 33"/>
          <p:cNvSpPr>
            <a:spLocks noChangeShapeType="1"/>
          </p:cNvSpPr>
          <p:nvPr/>
        </p:nvSpPr>
        <p:spPr bwMode="auto">
          <a:xfrm>
            <a:off x="7188200" y="4241800"/>
            <a:ext cx="317500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50" name="Text Box 34"/>
          <p:cNvSpPr txBox="1">
            <a:spLocks noChangeArrowheads="1"/>
          </p:cNvSpPr>
          <p:nvPr/>
        </p:nvSpPr>
        <p:spPr bwMode="auto">
          <a:xfrm>
            <a:off x="866775" y="4568825"/>
            <a:ext cx="1349375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“Missing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Cone” of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information</a:t>
            </a:r>
          </a:p>
        </p:txBody>
      </p:sp>
      <p:sp>
        <p:nvSpPr>
          <p:cNvPr id="60451" name="Line 35"/>
          <p:cNvSpPr>
            <a:spLocks noChangeShapeType="1"/>
          </p:cNvSpPr>
          <p:nvPr/>
        </p:nvSpPr>
        <p:spPr bwMode="auto">
          <a:xfrm flipV="1">
            <a:off x="2070100" y="3975100"/>
            <a:ext cx="850900" cy="596900"/>
          </a:xfrm>
          <a:prstGeom prst="line">
            <a:avLst/>
          </a:prstGeom>
          <a:noFill/>
          <a:ln w="19050">
            <a:solidFill>
              <a:srgbClr val="6600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b="0"/>
          </a:p>
        </p:txBody>
      </p:sp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3200400" y="3046413"/>
            <a:ext cx="287338" cy="1755775"/>
            <a:chOff x="3196" y="1554"/>
            <a:chExt cx="398" cy="1180"/>
          </a:xfrm>
        </p:grpSpPr>
        <p:grpSp>
          <p:nvGrpSpPr>
            <p:cNvPr id="7" name="Group 37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60454" name="Freeform 38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60455" name="Freeform 39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  <p:grpSp>
          <p:nvGrpSpPr>
            <p:cNvPr id="8" name="Group 40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60457" name="Freeform 41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60458" name="Freeform 42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</p:grpSp>
      <p:grpSp>
        <p:nvGrpSpPr>
          <p:cNvPr id="9" name="Group 43"/>
          <p:cNvGrpSpPr>
            <a:grpSpLocks/>
          </p:cNvGrpSpPr>
          <p:nvPr/>
        </p:nvGrpSpPr>
        <p:grpSpPr bwMode="auto">
          <a:xfrm>
            <a:off x="3054350" y="2589213"/>
            <a:ext cx="579438" cy="2651125"/>
            <a:chOff x="3196" y="1554"/>
            <a:chExt cx="398" cy="1180"/>
          </a:xfrm>
        </p:grpSpPr>
        <p:grpSp>
          <p:nvGrpSpPr>
            <p:cNvPr id="10" name="Group 44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60461" name="Freeform 45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60462" name="Freeform 46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  <p:grpSp>
          <p:nvGrpSpPr>
            <p:cNvPr id="11" name="Group 47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60464" name="Freeform 48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60465" name="Freeform 49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</p:grpSp>
      <p:grpSp>
        <p:nvGrpSpPr>
          <p:cNvPr id="12" name="Group 50"/>
          <p:cNvGrpSpPr>
            <a:grpSpLocks/>
          </p:cNvGrpSpPr>
          <p:nvPr/>
        </p:nvGrpSpPr>
        <p:grpSpPr bwMode="auto">
          <a:xfrm>
            <a:off x="3311525" y="3471863"/>
            <a:ext cx="74613" cy="892175"/>
            <a:chOff x="3196" y="1554"/>
            <a:chExt cx="398" cy="1180"/>
          </a:xfrm>
        </p:grpSpPr>
        <p:grpSp>
          <p:nvGrpSpPr>
            <p:cNvPr id="13" name="Group 51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60468" name="Freeform 52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60469" name="Freeform 53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  <p:grpSp>
          <p:nvGrpSpPr>
            <p:cNvPr id="14" name="Group 54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60471" name="Freeform 55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60472" name="Freeform 56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2"/>
          <p:cNvSpPr txBox="1">
            <a:spLocks noChangeArrowheads="1"/>
          </p:cNvSpPr>
          <p:nvPr/>
        </p:nvSpPr>
        <p:spPr bwMode="auto">
          <a:xfrm>
            <a:off x="2817813" y="412750"/>
            <a:ext cx="3014662" cy="66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3600">
                <a:solidFill>
                  <a:schemeClr val="tx2"/>
                </a:solidFill>
                <a:latin typeface="Chalkboard" charset="0"/>
              </a:rPr>
              <a:t>Nomenclature</a:t>
            </a:r>
          </a:p>
        </p:txBody>
      </p:sp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1905000" y="2682875"/>
            <a:ext cx="5562600" cy="255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228600" indent="-228600">
              <a:buFontTx/>
              <a:buChar char="•"/>
            </a:pPr>
            <a:r>
              <a:rPr lang="en-US" altLang="en-US" b="0" dirty="0">
                <a:solidFill>
                  <a:srgbClr val="660066"/>
                </a:solidFill>
                <a:latin typeface="Chalkboard" charset="0"/>
              </a:rPr>
              <a:t>Optical Transfer Function, OTF</a:t>
            </a:r>
            <a:endParaRPr lang="en-US" altLang="en-US" b="0" dirty="0">
              <a:solidFill>
                <a:schemeClr val="tx2"/>
              </a:solidFill>
              <a:latin typeface="Chalkboard" charset="0"/>
            </a:endParaRPr>
          </a:p>
          <a:p>
            <a:pPr lvl="1"/>
            <a:r>
              <a:rPr lang="en-US" altLang="en-US" sz="2000" b="0" dirty="0">
                <a:solidFill>
                  <a:schemeClr val="accent2"/>
                </a:solidFill>
                <a:latin typeface="Chalkboard" charset="0"/>
              </a:rPr>
              <a:t>Complex value with amplitude and phase</a:t>
            </a:r>
          </a:p>
          <a:p>
            <a:pPr lvl="1"/>
            <a:endParaRPr lang="en-US" altLang="en-US" b="0" dirty="0">
              <a:solidFill>
                <a:schemeClr val="tx2"/>
              </a:solidFill>
              <a:latin typeface="Chalkboard" charset="0"/>
            </a:endParaRPr>
          </a:p>
          <a:p>
            <a:pPr marL="228600" indent="-228600">
              <a:buFontTx/>
              <a:buChar char="•"/>
            </a:pPr>
            <a:r>
              <a:rPr lang="en-US" altLang="en-US" b="0" dirty="0">
                <a:solidFill>
                  <a:srgbClr val="660066"/>
                </a:solidFill>
                <a:latin typeface="Chalkboard" charset="0"/>
              </a:rPr>
              <a:t>Contrast Transfer Function, CTF</a:t>
            </a:r>
          </a:p>
          <a:p>
            <a:pPr marL="228600" indent="-228600">
              <a:buFontTx/>
              <a:buChar char="•"/>
            </a:pPr>
            <a:r>
              <a:rPr lang="en-US" altLang="en-US" b="0" dirty="0">
                <a:solidFill>
                  <a:srgbClr val="660066"/>
                </a:solidFill>
                <a:latin typeface="Chalkboard" charset="0"/>
              </a:rPr>
              <a:t>Modulation Transfer Function, MTF</a:t>
            </a:r>
          </a:p>
          <a:p>
            <a:pPr lvl="1"/>
            <a:r>
              <a:rPr lang="en-US" altLang="en-US" sz="2000" b="0" dirty="0">
                <a:solidFill>
                  <a:schemeClr val="accent2"/>
                </a:solidFill>
                <a:latin typeface="Chalkboard" charset="0"/>
              </a:rPr>
              <a:t>Same thing without the phase information</a:t>
            </a:r>
          </a:p>
          <a:p>
            <a:pPr lvl="1"/>
            <a:endParaRPr lang="en-US" altLang="en-US" sz="1800" dirty="0">
              <a:solidFill>
                <a:schemeClr val="accent2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62000"/>
          </a:xfrm>
        </p:spPr>
        <p:txBody>
          <a:bodyPr/>
          <a:lstStyle/>
          <a:p>
            <a:r>
              <a:rPr lang="en-US"/>
              <a:t>Resources</a:t>
            </a:r>
          </a:p>
        </p:txBody>
      </p:sp>
      <p:sp>
        <p:nvSpPr>
          <p:cNvPr id="325640" name="Text Box 8"/>
          <p:cNvSpPr txBox="1">
            <a:spLocks noChangeArrowheads="1"/>
          </p:cNvSpPr>
          <p:nvPr/>
        </p:nvSpPr>
        <p:spPr bwMode="auto">
          <a:xfrm>
            <a:off x="457200" y="1295400"/>
            <a:ext cx="8229600" cy="3662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b="0" dirty="0" smtClean="0">
                <a:latin typeface="Arial" charset="0"/>
              </a:rPr>
              <a:t>Slides available at: http://nic.ucsf.edu/edu.html </a:t>
            </a:r>
            <a:br>
              <a:rPr lang="en-US" b="0" dirty="0" smtClean="0">
                <a:latin typeface="Arial" charset="0"/>
              </a:rPr>
            </a:br>
            <a:endParaRPr lang="en-US" b="0" dirty="0" smtClean="0">
              <a:latin typeface="Arial" charset="0"/>
            </a:endParaRP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b="0" dirty="0" smtClean="0">
                <a:latin typeface="Arial" charset="0"/>
              </a:rPr>
              <a:t>http</a:t>
            </a:r>
            <a:r>
              <a:rPr lang="en-US" b="0" dirty="0">
                <a:latin typeface="Arial" charset="0"/>
              </a:rPr>
              <a:t>://www.microscopyu.com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latin typeface="Arial" charset="0"/>
              </a:rPr>
              <a:t>http://micro.magnet.fsu.edu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latin typeface="Arial" charset="0"/>
              </a:rPr>
              <a:t>Douglas B. Murphy “Fundamentals of Light Microscopy and Electronic Imaging”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latin typeface="Arial" charset="0"/>
              </a:rPr>
              <a:t>James Pawley, Ed. “Handbook of Biological </a:t>
            </a:r>
            <a:r>
              <a:rPr lang="en-US" b="0" dirty="0" err="1">
                <a:latin typeface="Arial" charset="0"/>
              </a:rPr>
              <a:t>Confocal</a:t>
            </a:r>
            <a:r>
              <a:rPr lang="en-US" b="0" dirty="0">
                <a:latin typeface="Arial" charset="0"/>
              </a:rPr>
              <a:t> Microscopy, 3rd ed.”</a:t>
            </a:r>
          </a:p>
        </p:txBody>
      </p:sp>
      <p:sp>
        <p:nvSpPr>
          <p:cNvPr id="325641" name="Text Box 9"/>
          <p:cNvSpPr txBox="1">
            <a:spLocks noChangeArrowheads="1"/>
          </p:cNvSpPr>
          <p:nvPr/>
        </p:nvSpPr>
        <p:spPr bwMode="auto">
          <a:xfrm>
            <a:off x="2438400" y="5029200"/>
            <a:ext cx="4191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0" dirty="0">
                <a:latin typeface="Arial" charset="0"/>
              </a:rPr>
              <a:t>Acknowledgements</a:t>
            </a:r>
          </a:p>
        </p:txBody>
      </p:sp>
      <p:sp>
        <p:nvSpPr>
          <p:cNvPr id="325642" name="Text Box 10"/>
          <p:cNvSpPr txBox="1">
            <a:spLocks noChangeArrowheads="1"/>
          </p:cNvSpPr>
          <p:nvPr/>
        </p:nvSpPr>
        <p:spPr bwMode="auto">
          <a:xfrm>
            <a:off x="609600" y="5715000"/>
            <a:ext cx="7848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0" dirty="0" smtClean="0">
                <a:latin typeface="Arial" charset="0"/>
              </a:rPr>
              <a:t>Steve </a:t>
            </a:r>
            <a:r>
              <a:rPr lang="en-US" b="0" dirty="0">
                <a:latin typeface="Arial" charset="0"/>
              </a:rPr>
              <a:t>Ross, </a:t>
            </a:r>
            <a:r>
              <a:rPr lang="en-US" b="0" dirty="0" smtClean="0">
                <a:latin typeface="Arial" charset="0"/>
              </a:rPr>
              <a:t>Mats </a:t>
            </a:r>
            <a:r>
              <a:rPr lang="en-US" b="0" dirty="0" err="1">
                <a:latin typeface="Arial" charset="0"/>
              </a:rPr>
              <a:t>Gustafsson</a:t>
            </a:r>
            <a:endParaRPr lang="en-US" b="0" dirty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1">
      <a:majorFont>
        <a:latin typeface="Chalkboard"/>
        <a:ea typeface=""/>
        <a:cs typeface=""/>
      </a:majorFont>
      <a:minorFont>
        <a:latin typeface="Chalkboa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20780</TotalTime>
  <Words>1731</Words>
  <Application>Microsoft Office PowerPoint</Application>
  <PresentationFormat>On-screen Show (4:3)</PresentationFormat>
  <Paragraphs>626</Paragraphs>
  <Slides>52</Slides>
  <Notes>51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4" baseType="lpstr">
      <vt:lpstr>Theme1</vt:lpstr>
      <vt:lpstr>Equation</vt:lpstr>
      <vt:lpstr>PowerPoint Presentation</vt:lpstr>
      <vt:lpstr>Aperture and Resolution</vt:lpstr>
      <vt:lpstr>Aperture and Resolution</vt:lpstr>
      <vt:lpstr>Aperture and Resolution</vt:lpstr>
      <vt:lpstr>Aperture and Resolution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Z-resolution, a.k.a. depth of field, for widefield microscopy</vt:lpstr>
      <vt:lpstr>Summary: Numerical Aperture and Resolution</vt:lpstr>
      <vt:lpstr>Specifications for some common objectives</vt:lpstr>
      <vt:lpstr>PowerPoint Presentation</vt:lpstr>
      <vt:lpstr>PowerPoint Presentation</vt:lpstr>
      <vt:lpstr>Wavefront Aberrations</vt:lpstr>
      <vt:lpstr>PowerPoint Presentation</vt:lpstr>
      <vt:lpstr>PowerPoint Presentation</vt:lpstr>
      <vt:lpstr>Spherical Aberration</vt:lpstr>
      <vt:lpstr>PowerPoint Presentation</vt:lpstr>
      <vt:lpstr>Causes of spherical aberration</vt:lpstr>
      <vt:lpstr>PowerPoint Presentation</vt:lpstr>
      <vt:lpstr>PowerPoint Presentation</vt:lpstr>
      <vt:lpstr>PowerPoint Presentation</vt:lpstr>
      <vt:lpstr> How to recognize spherical aberration</vt:lpstr>
      <vt:lpstr>What can you do about spherical aberration?</vt:lpstr>
      <vt:lpstr>Correction collars</vt:lpstr>
      <vt:lpstr>Correction collars</vt:lpstr>
      <vt:lpstr>Example</vt:lpstr>
      <vt:lpstr>PowerPoint Presentation</vt:lpstr>
      <vt:lpstr>Index Mismatch &amp; Axial Scaling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Resources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Light Microscopy  Kurt Thorn NIC</dc:title>
  <dc:creator>kthorn</dc:creator>
  <cp:lastModifiedBy>Kurt Thorn</cp:lastModifiedBy>
  <cp:revision>237</cp:revision>
  <dcterms:created xsi:type="dcterms:W3CDTF">2002-01-07T13:00:14Z</dcterms:created>
  <dcterms:modified xsi:type="dcterms:W3CDTF">2013-04-17T00:57:00Z</dcterms:modified>
</cp:coreProperties>
</file>