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33" r:id="rId3"/>
    <p:sldId id="330" r:id="rId4"/>
    <p:sldId id="328" r:id="rId5"/>
    <p:sldId id="339" r:id="rId6"/>
    <p:sldId id="340" r:id="rId7"/>
    <p:sldId id="334" r:id="rId8"/>
    <p:sldId id="335" r:id="rId9"/>
    <p:sldId id="336" r:id="rId10"/>
    <p:sldId id="332" r:id="rId11"/>
    <p:sldId id="342" r:id="rId12"/>
    <p:sldId id="341" r:id="rId13"/>
    <p:sldId id="338" r:id="rId14"/>
    <p:sldId id="343" r:id="rId15"/>
    <p:sldId id="32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gNyV/6DXXGSaK5xJN/s8gg==" hashData="nAbwg57sSYHTn1+8KrDxI6VtU+4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A7C"/>
    <a:srgbClr val="73C48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6" autoAdjust="0"/>
    <p:restoredTop sz="94668" autoAdjust="0"/>
  </p:normalViewPr>
  <p:slideViewPr>
    <p:cSldViewPr snapToObjects="1">
      <p:cViewPr varScale="1">
        <p:scale>
          <a:sx n="84" d="100"/>
          <a:sy n="84" d="100"/>
        </p:scale>
        <p:origin x="-10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dsharma\Desktop\Evolve%20presentation%20Jan%202009\Final%20talks\Completed%20Videos\graph%20for%20QuantView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dsharma\Desktop\Evolve%20presentation%20Jan%202009\Final%20talks\Completed%20Videos\graph%20for%20QuantView.xls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07307086614174"/>
          <c:y val="6.837950811704091E-2"/>
          <c:w val="0.76260262467191642"/>
          <c:h val="0.71187226596675368"/>
        </c:manualLayout>
      </c:layout>
      <c:lineChart>
        <c:grouping val="stacked"/>
        <c:ser>
          <c:idx val="1"/>
          <c:order val="0"/>
          <c:tx>
            <c:strRef>
              <c:f>Sheet1!$C$12</c:f>
              <c:strCache>
                <c:ptCount val="1"/>
                <c:pt idx="0">
                  <c:v>ADU corrected</c:v>
                </c:pt>
              </c:strCache>
            </c:strRef>
          </c:tx>
          <c:spPr>
            <a:ln>
              <a:solidFill>
                <a:srgbClr val="000000"/>
              </a:solidFill>
            </a:ln>
          </c:spPr>
          <c:marker>
            <c:symbol val="none"/>
          </c:marker>
          <c:cat>
            <c:numRef>
              <c:f>Sheet1!$B$13:$B$18</c:f>
              <c:numCache>
                <c:formatCode>General</c:formatCode>
                <c:ptCount val="6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400</c:v>
                </c:pt>
                <c:pt idx="5">
                  <c:v>800</c:v>
                </c:pt>
              </c:numCache>
            </c:numRef>
          </c:cat>
          <c:val>
            <c:numRef>
              <c:f>Sheet1!$C$13:$C$18</c:f>
              <c:numCache>
                <c:formatCode>General</c:formatCode>
                <c:ptCount val="6"/>
                <c:pt idx="0">
                  <c:v>45</c:v>
                </c:pt>
                <c:pt idx="1">
                  <c:v>1539</c:v>
                </c:pt>
                <c:pt idx="2">
                  <c:v>2978</c:v>
                </c:pt>
                <c:pt idx="3">
                  <c:v>6393</c:v>
                </c:pt>
                <c:pt idx="4">
                  <c:v>13770</c:v>
                </c:pt>
                <c:pt idx="5">
                  <c:v>24708</c:v>
                </c:pt>
              </c:numCache>
            </c:numRef>
          </c:val>
        </c:ser>
        <c:marker val="1"/>
        <c:axId val="54049408"/>
        <c:axId val="62809984"/>
      </c:lineChart>
      <c:catAx>
        <c:axId val="5404940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EM Gain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62809984"/>
        <c:crosses val="autoZero"/>
        <c:auto val="1"/>
        <c:lblAlgn val="ctr"/>
        <c:lblOffset val="100"/>
      </c:catAx>
      <c:valAx>
        <c:axId val="62809984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ADU</a:t>
                </a:r>
                <a:r>
                  <a:rPr lang="en-US" sz="1400" baseline="0"/>
                  <a:t> </a:t>
                </a:r>
              </a:p>
            </c:rich>
          </c:tx>
          <c:layout/>
        </c:title>
        <c:numFmt formatCode="General" sourceLinked="1"/>
        <c:tickLblPos val="nextTo"/>
        <c:crossAx val="54049408"/>
        <c:crosses val="autoZero"/>
        <c:crossBetween val="between"/>
      </c:valAx>
    </c:plotArea>
    <c:plotVisOnly val="1"/>
    <c:dispBlanksAs val="zero"/>
  </c:chart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150363416111458"/>
          <c:y val="6.5937382827146687E-2"/>
          <c:w val="0.79323995558247562"/>
          <c:h val="0.68644825646794161"/>
        </c:manualLayout>
      </c:layout>
      <c:lineChart>
        <c:grouping val="standard"/>
        <c:ser>
          <c:idx val="1"/>
          <c:order val="0"/>
          <c:tx>
            <c:strRef>
              <c:f>Sheet1!$C$21</c:f>
              <c:strCache>
                <c:ptCount val="1"/>
                <c:pt idx="0">
                  <c:v>electrons</c:v>
                </c:pt>
              </c:strCache>
            </c:strRef>
          </c:tx>
          <c:spPr>
            <a:ln>
              <a:solidFill>
                <a:srgbClr val="000000"/>
              </a:solidFill>
            </a:ln>
          </c:spPr>
          <c:marker>
            <c:symbol val="none"/>
          </c:marker>
          <c:cat>
            <c:numRef>
              <c:f>Sheet1!$B$22:$B$27</c:f>
              <c:numCache>
                <c:formatCode>General</c:formatCode>
                <c:ptCount val="6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400</c:v>
                </c:pt>
                <c:pt idx="5">
                  <c:v>800</c:v>
                </c:pt>
              </c:numCache>
            </c:numRef>
          </c:cat>
          <c:val>
            <c:numRef>
              <c:f>Sheet1!$C$22:$C$27</c:f>
              <c:numCache>
                <c:formatCode>General</c:formatCode>
                <c:ptCount val="6"/>
                <c:pt idx="0">
                  <c:v>275</c:v>
                </c:pt>
                <c:pt idx="1">
                  <c:v>182</c:v>
                </c:pt>
                <c:pt idx="2">
                  <c:v>153</c:v>
                </c:pt>
                <c:pt idx="3">
                  <c:v>155</c:v>
                </c:pt>
                <c:pt idx="4">
                  <c:v>162</c:v>
                </c:pt>
                <c:pt idx="5">
                  <c:v>157</c:v>
                </c:pt>
              </c:numCache>
            </c:numRef>
          </c:val>
        </c:ser>
        <c:marker val="1"/>
        <c:axId val="63337600"/>
        <c:axId val="63339520"/>
      </c:lineChart>
      <c:catAx>
        <c:axId val="633376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EM Gain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63339520"/>
        <c:crosses val="autoZero"/>
        <c:auto val="1"/>
        <c:lblAlgn val="ctr"/>
        <c:lblOffset val="100"/>
      </c:catAx>
      <c:valAx>
        <c:axId val="63339520"/>
        <c:scaling>
          <c:orientation val="minMax"/>
          <c:max val="500"/>
        </c:scaling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Electrons</a:t>
                </a:r>
              </a:p>
            </c:rich>
          </c:tx>
          <c:layout/>
        </c:title>
        <c:numFmt formatCode="General" sourceLinked="1"/>
        <c:tickLblPos val="nextTo"/>
        <c:crossAx val="63337600"/>
        <c:crosses val="autoZero"/>
        <c:crossBetween val="between"/>
      </c:valAx>
    </c:plotArea>
    <c:plotVisOnly val="1"/>
    <c:dispBlanksAs val="gap"/>
  </c:chart>
  <c:externalData r:id="rId2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28E73-920B-4542-8011-9DEF1F724FDF}" type="datetimeFigureOut">
              <a:rPr lang="en-US" smtClean="0"/>
              <a:pPr/>
              <a:t>3/31/2012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85CF7-41CE-FE45-BE3F-57B489F6FE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137758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0EC38-B96E-C949-9B07-D094BABD0DA9}" type="datetimeFigureOut">
              <a:rPr lang="en-US" smtClean="0"/>
              <a:pPr/>
              <a:t>3/31/2012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ACD0B-9417-5E43-A1C6-5838D4CC6B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93145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1pPr>
            <a:lvl2pPr marL="702756" indent="-270291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2pPr>
            <a:lvl3pPr marL="1081164" indent="-216233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3pPr>
            <a:lvl4pPr marL="1513629" indent="-216233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4pPr>
            <a:lvl5pPr marL="1946095" indent="-216233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5pPr>
            <a:lvl6pPr marL="2378560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6pPr>
            <a:lvl7pPr marL="2811026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7pPr>
            <a:lvl8pPr marL="3243491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8pPr>
            <a:lvl9pPr marL="3675957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3DCFE17F-3CC7-453F-B125-B59478846EBD}" type="slidenum">
              <a:rPr lang="en-US" sz="1200">
                <a:latin typeface="Times" pitchFamily="18" charset="0"/>
              </a:rPr>
              <a:pPr/>
              <a:t>4</a:t>
            </a:fld>
            <a:endParaRPr lang="en-US" sz="1200">
              <a:latin typeface="Times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1pPr>
            <a:lvl2pPr marL="702756" indent="-270291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2pPr>
            <a:lvl3pPr marL="1081164" indent="-216233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3pPr>
            <a:lvl4pPr marL="1513629" indent="-216233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4pPr>
            <a:lvl5pPr marL="1946095" indent="-216233" defTabSz="921992" eaLnBrk="0" hangingPunct="0">
              <a:defRPr sz="1900">
                <a:solidFill>
                  <a:schemeClr val="tx1"/>
                </a:solidFill>
                <a:latin typeface="Verdana" pitchFamily="34" charset="0"/>
              </a:defRPr>
            </a:lvl5pPr>
            <a:lvl6pPr marL="2378560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6pPr>
            <a:lvl7pPr marL="2811026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7pPr>
            <a:lvl8pPr marL="3243491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8pPr>
            <a:lvl9pPr marL="3675957" indent="-216233" algn="ctr" defTabSz="921992" eaLnBrk="0" fontAlgn="base" hangingPunct="0">
              <a:spcBef>
                <a:spcPct val="2000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3DCFE17F-3CC7-453F-B125-B59478846EBD}" type="slidenum">
              <a:rPr lang="en-US" sz="1200">
                <a:latin typeface="Times" pitchFamily="18" charset="0"/>
              </a:rPr>
              <a:pPr/>
              <a:t>5</a:t>
            </a:fld>
            <a:endParaRPr lang="en-US" sz="1200">
              <a:latin typeface="Times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416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defTabSz="900416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defTabSz="900416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defTabSz="900416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defTabSz="900416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defTabSz="90041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defTabSz="90041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defTabSz="90041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defTabSz="900416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45FA282B-BEB6-49F0-8C9F-D995B55DC2B4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00200"/>
            <a:ext cx="3810000" cy="2057400"/>
          </a:xfrm>
        </p:spPr>
        <p:txBody>
          <a:bodyPr anchor="t">
            <a:noAutofit/>
          </a:bodyPr>
          <a:lstStyle>
            <a:lvl1pPr>
              <a:defRPr sz="2800">
                <a:solidFill>
                  <a:srgbClr val="174A7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3810000" cy="16764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9" name="Picture 8" descr="Neuron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86677" y="2209800"/>
            <a:ext cx="4000123" cy="3091329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3124200" y="6400800"/>
            <a:ext cx="5638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3200400" y="6400800"/>
            <a:ext cx="5562600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 smtClean="0">
                <a:solidFill>
                  <a:srgbClr val="4884C4"/>
                </a:solidFill>
                <a:latin typeface="Arial Bold"/>
                <a:cs typeface="Arial Bold"/>
              </a:rPr>
              <a:t>www.photometrics.com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0584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040"/>
            <a:ext cx="8229600" cy="428212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959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0584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44040"/>
            <a:ext cx="4038600" cy="428212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44040"/>
            <a:ext cx="4038600" cy="428212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4999"/>
            <a:ext cx="4040188" cy="457201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14599"/>
            <a:ext cx="4040188" cy="36115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904999"/>
            <a:ext cx="4041775" cy="457201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599"/>
            <a:ext cx="4041775" cy="361156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0584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3008313" cy="2133600"/>
          </a:xfrm>
        </p:spPr>
        <p:txBody>
          <a:bodyPr anchor="b">
            <a:normAutofit/>
          </a:bodyPr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71600"/>
            <a:ext cx="5111750" cy="47545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581400"/>
            <a:ext cx="3008313" cy="2544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447799"/>
            <a:ext cx="5486400" cy="3279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0584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44040"/>
            <a:ext cx="8229600" cy="4282123"/>
          </a:xfrm>
        </p:spPr>
        <p:txBody>
          <a:bodyPr vert="eaVer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1143000"/>
            <a:ext cx="1447800" cy="4983163"/>
          </a:xfrm>
        </p:spPr>
        <p:txBody>
          <a:bodyPr vert="eaVert">
            <a:normAutofit/>
          </a:bodyPr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553200" cy="4983163"/>
          </a:xfrm>
        </p:spPr>
        <p:txBody>
          <a:bodyPr vert="eaVer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2029"/>
            <a:ext cx="822960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37868"/>
            <a:ext cx="8229600" cy="4288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7" name="Picture 6" descr="pm-header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4000" cy="832029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81000" y="6477000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rgbClr val="808080"/>
                </a:solidFill>
                <a:latin typeface="+mn-lt"/>
                <a:cs typeface="Arial"/>
              </a:rPr>
              <a:t>Copyright © 2010 Photometrics. All rights reserved.</a:t>
            </a:r>
            <a:endParaRPr lang="en-US" sz="800" dirty="0" smtClean="0">
              <a:solidFill>
                <a:srgbClr val="808080"/>
              </a:solidFill>
              <a:latin typeface="+mn-lt"/>
            </a:endParaRPr>
          </a:p>
          <a:p>
            <a:endParaRPr lang="en-US" sz="800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124200" y="6444476"/>
            <a:ext cx="2895600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 smtClean="0">
                <a:solidFill>
                  <a:srgbClr val="4884C4"/>
                </a:solidFill>
                <a:latin typeface="Arial Bold"/>
                <a:cs typeface="Arial Bold"/>
              </a:rPr>
              <a:t>www.photometrics.com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772400" y="6444476"/>
            <a:ext cx="990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B905DF-F269-D244-888E-F981068495D8}" type="slidenum">
              <a:rPr lang="en-US" sz="1100" smtClean="0">
                <a:solidFill>
                  <a:schemeClr val="bg2"/>
                </a:solidFill>
              </a:rPr>
              <a:pPr algn="r"/>
              <a:t>‹#›</a:t>
            </a:fld>
            <a:endParaRPr lang="en-US" sz="1100" dirty="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55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174A7C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74A7C"/>
        </a:buClr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otome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EMCCD Cameras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Rachit Mohindra</a:t>
            </a:r>
          </a:p>
          <a:p>
            <a:r>
              <a:rPr lang="en-US" dirty="0" smtClean="0"/>
              <a:t>Photometrics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EMCCDs – The Need for Low Light Imaging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Low excitation energy to reduce photo-bleaching/toxicity</a:t>
            </a:r>
          </a:p>
          <a:p>
            <a:pPr lvl="1"/>
            <a:r>
              <a:rPr lang="en-US" sz="1600" dirty="0" smtClean="0"/>
              <a:t>Live cell fluorescence</a:t>
            </a:r>
          </a:p>
          <a:p>
            <a:pPr lvl="1"/>
            <a:r>
              <a:rPr lang="en-US" sz="1600" dirty="0" smtClean="0"/>
              <a:t>Fast bleaching dyes</a:t>
            </a:r>
          </a:p>
          <a:p>
            <a:pPr lvl="1"/>
            <a:endParaRPr lang="en-US" sz="1600" dirty="0" smtClean="0"/>
          </a:p>
          <a:p>
            <a:r>
              <a:rPr lang="en-US" dirty="0" smtClean="0"/>
              <a:t>Samples in ultra-low concentrations</a:t>
            </a:r>
          </a:p>
          <a:p>
            <a:pPr lvl="1"/>
            <a:r>
              <a:rPr lang="en-US" sz="1600" dirty="0" smtClean="0"/>
              <a:t>~10</a:t>
            </a:r>
            <a:r>
              <a:rPr lang="en-US" sz="1600" baseline="30000" dirty="0" smtClean="0"/>
              <a:t>-10</a:t>
            </a:r>
            <a:r>
              <a:rPr lang="en-US" sz="1600" dirty="0" smtClean="0"/>
              <a:t> M in typical single molecule fluorescence applications</a:t>
            </a:r>
          </a:p>
          <a:p>
            <a:pPr lvl="1"/>
            <a:endParaRPr lang="en-US" sz="1600" dirty="0" smtClean="0"/>
          </a:p>
          <a:p>
            <a:r>
              <a:rPr lang="en-US" dirty="0" smtClean="0"/>
              <a:t>Observe Processes with fast kinetics</a:t>
            </a:r>
          </a:p>
          <a:p>
            <a:pPr lvl="1"/>
            <a:r>
              <a:rPr lang="en-US" sz="1600" dirty="0" smtClean="0"/>
              <a:t>Motility studies</a:t>
            </a:r>
          </a:p>
          <a:p>
            <a:pPr lvl="1"/>
            <a:r>
              <a:rPr lang="en-US" sz="1600" dirty="0" smtClean="0"/>
              <a:t>Ion ratio imaging</a:t>
            </a:r>
          </a:p>
          <a:p>
            <a:pPr lvl="1"/>
            <a:endParaRPr lang="en-US" sz="1600" dirty="0" smtClean="0"/>
          </a:p>
          <a:p>
            <a:endParaRPr lang="en-US" dirty="0" smtClean="0"/>
          </a:p>
          <a:p>
            <a:r>
              <a:rPr lang="en-US" dirty="0" smtClean="0"/>
              <a:t>Essentially - Low Light and Speed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1026"/>
          <p:cNvSpPr>
            <a:spLocks noChangeArrowheads="1"/>
          </p:cNvSpPr>
          <p:nvPr/>
        </p:nvSpPr>
        <p:spPr bwMode="auto">
          <a:xfrm>
            <a:off x="304800" y="1066800"/>
            <a:ext cx="7391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>
              <a:lnSpc>
                <a:spcPct val="90000"/>
              </a:lnSpc>
            </a:pPr>
            <a:endParaRPr lang="en-US" sz="360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360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363" y="854327"/>
            <a:ext cx="8229600" cy="100584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CCD Image Acquisition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88919" y="2667000"/>
            <a:ext cx="4678681" cy="3454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73178" y="2057400"/>
            <a:ext cx="311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Frame Transfer CCD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88918" y="2638274"/>
            <a:ext cx="176883" cy="37625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9415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17" name="Rectangle 9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EMCCD Cameras</a:t>
            </a:r>
          </a:p>
        </p:txBody>
      </p:sp>
      <p:sp>
        <p:nvSpPr>
          <p:cNvPr id="447" name="Rectangle 966"/>
          <p:cNvSpPr>
            <a:spLocks noChangeArrowheads="1"/>
          </p:cNvSpPr>
          <p:nvPr/>
        </p:nvSpPr>
        <p:spPr bwMode="auto">
          <a:xfrm>
            <a:off x="3822700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" name="Rectangle 4"/>
          <p:cNvSpPr>
            <a:spLocks noChangeArrowheads="1"/>
          </p:cNvSpPr>
          <p:nvPr/>
        </p:nvSpPr>
        <p:spPr bwMode="auto">
          <a:xfrm>
            <a:off x="2840037" y="2848173"/>
            <a:ext cx="3103563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1" name="Rectangle 6"/>
          <p:cNvSpPr>
            <a:spLocks noChangeArrowheads="1"/>
          </p:cNvSpPr>
          <p:nvPr/>
        </p:nvSpPr>
        <p:spPr bwMode="auto">
          <a:xfrm flipH="1">
            <a:off x="5279311" y="2941835"/>
            <a:ext cx="291861" cy="295275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2" name="Rectangle 7"/>
          <p:cNvSpPr>
            <a:spLocks noChangeArrowheads="1"/>
          </p:cNvSpPr>
          <p:nvPr/>
        </p:nvSpPr>
        <p:spPr bwMode="auto">
          <a:xfrm flipH="1">
            <a:off x="4984670" y="2941835"/>
            <a:ext cx="29464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3" name="Rectangle 8"/>
          <p:cNvSpPr>
            <a:spLocks noChangeArrowheads="1"/>
          </p:cNvSpPr>
          <p:nvPr/>
        </p:nvSpPr>
        <p:spPr bwMode="auto">
          <a:xfrm flipH="1">
            <a:off x="4398169" y="2941835"/>
            <a:ext cx="29464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4" name="Rectangle 9"/>
          <p:cNvSpPr>
            <a:spLocks noChangeArrowheads="1"/>
          </p:cNvSpPr>
          <p:nvPr/>
        </p:nvSpPr>
        <p:spPr bwMode="auto">
          <a:xfrm flipH="1">
            <a:off x="3811667" y="2941835"/>
            <a:ext cx="29186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5" name="Rectangle 10"/>
          <p:cNvSpPr>
            <a:spLocks noChangeArrowheads="1"/>
          </p:cNvSpPr>
          <p:nvPr/>
        </p:nvSpPr>
        <p:spPr bwMode="auto">
          <a:xfrm flipH="1">
            <a:off x="5571171" y="2941835"/>
            <a:ext cx="29464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6" name="Rectangle 11"/>
          <p:cNvSpPr>
            <a:spLocks noChangeArrowheads="1"/>
          </p:cNvSpPr>
          <p:nvPr/>
        </p:nvSpPr>
        <p:spPr bwMode="auto">
          <a:xfrm flipH="1">
            <a:off x="3225166" y="2941835"/>
            <a:ext cx="29186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7" name="Rectangle 12"/>
          <p:cNvSpPr>
            <a:spLocks noChangeArrowheads="1"/>
          </p:cNvSpPr>
          <p:nvPr/>
        </p:nvSpPr>
        <p:spPr bwMode="auto">
          <a:xfrm flipH="1">
            <a:off x="2930525" y="2941835"/>
            <a:ext cx="29464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8" name="Rectangle 13"/>
          <p:cNvSpPr>
            <a:spLocks noChangeArrowheads="1"/>
          </p:cNvSpPr>
          <p:nvPr/>
        </p:nvSpPr>
        <p:spPr bwMode="auto">
          <a:xfrm flipH="1">
            <a:off x="5279311" y="2941835"/>
            <a:ext cx="29186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9" name="Rectangle 14"/>
          <p:cNvSpPr>
            <a:spLocks noChangeArrowheads="1"/>
          </p:cNvSpPr>
          <p:nvPr/>
        </p:nvSpPr>
        <p:spPr bwMode="auto">
          <a:xfrm flipH="1">
            <a:off x="4692809" y="2941835"/>
            <a:ext cx="29186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" name="Rectangle 15"/>
          <p:cNvSpPr>
            <a:spLocks noChangeArrowheads="1"/>
          </p:cNvSpPr>
          <p:nvPr/>
        </p:nvSpPr>
        <p:spPr bwMode="auto">
          <a:xfrm flipH="1">
            <a:off x="3517026" y="2941835"/>
            <a:ext cx="29464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" name="Rectangle 16"/>
          <p:cNvSpPr>
            <a:spLocks noChangeArrowheads="1"/>
          </p:cNvSpPr>
          <p:nvPr/>
        </p:nvSpPr>
        <p:spPr bwMode="auto">
          <a:xfrm flipH="1">
            <a:off x="4103528" y="2941835"/>
            <a:ext cx="294641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4" name="Rectangle 31"/>
          <p:cNvSpPr>
            <a:spLocks noChangeArrowheads="1"/>
          </p:cNvSpPr>
          <p:nvPr/>
        </p:nvSpPr>
        <p:spPr bwMode="auto">
          <a:xfrm>
            <a:off x="2944812" y="2133798"/>
            <a:ext cx="292100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5" name="Rectangle 32"/>
          <p:cNvSpPr>
            <a:spLocks noChangeArrowheads="1"/>
          </p:cNvSpPr>
          <p:nvPr/>
        </p:nvSpPr>
        <p:spPr bwMode="auto">
          <a:xfrm>
            <a:off x="2944812" y="2429073"/>
            <a:ext cx="292100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7" name="Rectangle 35"/>
          <p:cNvSpPr>
            <a:spLocks noChangeArrowheads="1"/>
          </p:cNvSpPr>
          <p:nvPr/>
        </p:nvSpPr>
        <p:spPr bwMode="auto">
          <a:xfrm>
            <a:off x="3236912" y="2133798"/>
            <a:ext cx="295275" cy="295275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8" name="Rectangle 36"/>
          <p:cNvSpPr>
            <a:spLocks noChangeArrowheads="1"/>
          </p:cNvSpPr>
          <p:nvPr/>
        </p:nvSpPr>
        <p:spPr bwMode="auto">
          <a:xfrm>
            <a:off x="3236912" y="2429073"/>
            <a:ext cx="295275" cy="2921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" name="Rectangle 39"/>
          <p:cNvSpPr>
            <a:spLocks noChangeArrowheads="1"/>
          </p:cNvSpPr>
          <p:nvPr/>
        </p:nvSpPr>
        <p:spPr bwMode="auto">
          <a:xfrm>
            <a:off x="3532187" y="2133798"/>
            <a:ext cx="292100" cy="295275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" name="Rectangle 40"/>
          <p:cNvSpPr>
            <a:spLocks noChangeArrowheads="1"/>
          </p:cNvSpPr>
          <p:nvPr/>
        </p:nvSpPr>
        <p:spPr bwMode="auto">
          <a:xfrm>
            <a:off x="3532187" y="2429073"/>
            <a:ext cx="292100" cy="292100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" name="Rectangle 41"/>
          <p:cNvSpPr>
            <a:spLocks noChangeArrowheads="1"/>
          </p:cNvSpPr>
          <p:nvPr/>
        </p:nvSpPr>
        <p:spPr bwMode="auto">
          <a:xfrm>
            <a:off x="3824287" y="2133798"/>
            <a:ext cx="295275" cy="295275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4" name="Rectangle 45"/>
          <p:cNvSpPr>
            <a:spLocks noChangeArrowheads="1"/>
          </p:cNvSpPr>
          <p:nvPr/>
        </p:nvSpPr>
        <p:spPr bwMode="auto">
          <a:xfrm>
            <a:off x="4119562" y="2133798"/>
            <a:ext cx="292100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5" name="Rectangle 46"/>
          <p:cNvSpPr>
            <a:spLocks noChangeArrowheads="1"/>
          </p:cNvSpPr>
          <p:nvPr/>
        </p:nvSpPr>
        <p:spPr bwMode="auto">
          <a:xfrm>
            <a:off x="4119562" y="2429073"/>
            <a:ext cx="292100" cy="292100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6" name="Rectangle 48"/>
          <p:cNvSpPr>
            <a:spLocks noChangeArrowheads="1"/>
          </p:cNvSpPr>
          <p:nvPr/>
        </p:nvSpPr>
        <p:spPr bwMode="auto">
          <a:xfrm>
            <a:off x="4411662" y="2429073"/>
            <a:ext cx="293688" cy="292100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8" name="Rectangle 51"/>
          <p:cNvSpPr>
            <a:spLocks noChangeArrowheads="1"/>
          </p:cNvSpPr>
          <p:nvPr/>
        </p:nvSpPr>
        <p:spPr bwMode="auto">
          <a:xfrm>
            <a:off x="4705350" y="2133798"/>
            <a:ext cx="295275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9" name="Rectangle 52"/>
          <p:cNvSpPr>
            <a:spLocks noChangeArrowheads="1"/>
          </p:cNvSpPr>
          <p:nvPr/>
        </p:nvSpPr>
        <p:spPr bwMode="auto">
          <a:xfrm>
            <a:off x="4705350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" name="Rectangle 55"/>
          <p:cNvSpPr>
            <a:spLocks noChangeArrowheads="1"/>
          </p:cNvSpPr>
          <p:nvPr/>
        </p:nvSpPr>
        <p:spPr bwMode="auto">
          <a:xfrm>
            <a:off x="5292725" y="2133798"/>
            <a:ext cx="295275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2" name="Rectangle 56"/>
          <p:cNvSpPr>
            <a:spLocks noChangeArrowheads="1"/>
          </p:cNvSpPr>
          <p:nvPr/>
        </p:nvSpPr>
        <p:spPr bwMode="auto">
          <a:xfrm>
            <a:off x="5292725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4" name="Rectangle 59"/>
          <p:cNvSpPr>
            <a:spLocks noChangeArrowheads="1"/>
          </p:cNvSpPr>
          <p:nvPr/>
        </p:nvSpPr>
        <p:spPr bwMode="auto">
          <a:xfrm>
            <a:off x="5588000" y="2133798"/>
            <a:ext cx="292100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5" name="Rectangle 60"/>
          <p:cNvSpPr>
            <a:spLocks noChangeArrowheads="1"/>
          </p:cNvSpPr>
          <p:nvPr/>
        </p:nvSpPr>
        <p:spPr bwMode="auto">
          <a:xfrm>
            <a:off x="5588000" y="2429073"/>
            <a:ext cx="292100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7" name="Rectangle 63"/>
          <p:cNvSpPr>
            <a:spLocks noChangeArrowheads="1"/>
          </p:cNvSpPr>
          <p:nvPr/>
        </p:nvSpPr>
        <p:spPr bwMode="auto">
          <a:xfrm>
            <a:off x="3236912" y="2133798"/>
            <a:ext cx="295275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8" name="Rectangle 64"/>
          <p:cNvSpPr>
            <a:spLocks noChangeArrowheads="1"/>
          </p:cNvSpPr>
          <p:nvPr/>
        </p:nvSpPr>
        <p:spPr bwMode="auto">
          <a:xfrm>
            <a:off x="3236912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0" name="Rectangle 67"/>
          <p:cNvSpPr>
            <a:spLocks noChangeArrowheads="1"/>
          </p:cNvSpPr>
          <p:nvPr/>
        </p:nvSpPr>
        <p:spPr bwMode="auto">
          <a:xfrm>
            <a:off x="5000625" y="2133798"/>
            <a:ext cx="292100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" name="Rectangle 68"/>
          <p:cNvSpPr>
            <a:spLocks noChangeArrowheads="1"/>
          </p:cNvSpPr>
          <p:nvPr/>
        </p:nvSpPr>
        <p:spPr bwMode="auto">
          <a:xfrm>
            <a:off x="5000625" y="2429073"/>
            <a:ext cx="292100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3" name="Rectangle 70"/>
          <p:cNvSpPr>
            <a:spLocks noChangeArrowheads="1"/>
          </p:cNvSpPr>
          <p:nvPr/>
        </p:nvSpPr>
        <p:spPr bwMode="auto">
          <a:xfrm>
            <a:off x="4411662" y="2133798"/>
            <a:ext cx="293688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6" name="Rectangle 74"/>
          <p:cNvSpPr>
            <a:spLocks noChangeArrowheads="1"/>
          </p:cNvSpPr>
          <p:nvPr/>
        </p:nvSpPr>
        <p:spPr bwMode="auto">
          <a:xfrm>
            <a:off x="3810000" y="2133798"/>
            <a:ext cx="295275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7" name="Rectangle 75"/>
          <p:cNvSpPr>
            <a:spLocks noChangeArrowheads="1"/>
          </p:cNvSpPr>
          <p:nvPr/>
        </p:nvSpPr>
        <p:spPr bwMode="auto">
          <a:xfrm>
            <a:off x="3822700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9" name="Rectangle 78"/>
          <p:cNvSpPr>
            <a:spLocks noChangeArrowheads="1"/>
          </p:cNvSpPr>
          <p:nvPr/>
        </p:nvSpPr>
        <p:spPr bwMode="auto">
          <a:xfrm>
            <a:off x="4411662" y="2133798"/>
            <a:ext cx="295275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0" name="Rectangle 79"/>
          <p:cNvSpPr>
            <a:spLocks noChangeArrowheads="1"/>
          </p:cNvSpPr>
          <p:nvPr/>
        </p:nvSpPr>
        <p:spPr bwMode="auto">
          <a:xfrm>
            <a:off x="4411662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" name="Rectangle 82"/>
          <p:cNvSpPr>
            <a:spLocks noChangeArrowheads="1"/>
          </p:cNvSpPr>
          <p:nvPr/>
        </p:nvSpPr>
        <p:spPr bwMode="auto">
          <a:xfrm>
            <a:off x="5002212" y="2133798"/>
            <a:ext cx="295275" cy="295275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3" name="Rectangle 83"/>
          <p:cNvSpPr>
            <a:spLocks noChangeArrowheads="1"/>
          </p:cNvSpPr>
          <p:nvPr/>
        </p:nvSpPr>
        <p:spPr bwMode="auto">
          <a:xfrm>
            <a:off x="5002212" y="2429073"/>
            <a:ext cx="295275" cy="292100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5" name="Rectangle 86"/>
          <p:cNvSpPr>
            <a:spLocks noChangeArrowheads="1"/>
          </p:cNvSpPr>
          <p:nvPr/>
        </p:nvSpPr>
        <p:spPr bwMode="auto">
          <a:xfrm>
            <a:off x="2840037" y="3737173"/>
            <a:ext cx="3103563" cy="5064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6" name="Rectangle 88"/>
          <p:cNvSpPr>
            <a:spLocks noChangeArrowheads="1"/>
          </p:cNvSpPr>
          <p:nvPr/>
        </p:nvSpPr>
        <p:spPr bwMode="auto">
          <a:xfrm>
            <a:off x="3225166" y="3832423"/>
            <a:ext cx="291861" cy="293687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7" name="Rectangle 89"/>
          <p:cNvSpPr>
            <a:spLocks noChangeArrowheads="1"/>
          </p:cNvSpPr>
          <p:nvPr/>
        </p:nvSpPr>
        <p:spPr bwMode="auto">
          <a:xfrm>
            <a:off x="3517026" y="3832423"/>
            <a:ext cx="29464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8" name="Rectangle 90"/>
          <p:cNvSpPr>
            <a:spLocks noChangeArrowheads="1"/>
          </p:cNvSpPr>
          <p:nvPr/>
        </p:nvSpPr>
        <p:spPr bwMode="auto">
          <a:xfrm>
            <a:off x="4103528" y="3832423"/>
            <a:ext cx="29464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9" name="Rectangle 91"/>
          <p:cNvSpPr>
            <a:spLocks noChangeArrowheads="1"/>
          </p:cNvSpPr>
          <p:nvPr/>
        </p:nvSpPr>
        <p:spPr bwMode="auto">
          <a:xfrm>
            <a:off x="4692809" y="3832423"/>
            <a:ext cx="29186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0" name="Rectangle 92"/>
          <p:cNvSpPr>
            <a:spLocks noChangeArrowheads="1"/>
          </p:cNvSpPr>
          <p:nvPr/>
        </p:nvSpPr>
        <p:spPr bwMode="auto">
          <a:xfrm>
            <a:off x="2930525" y="3832423"/>
            <a:ext cx="29464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1" name="Rectangle 93"/>
          <p:cNvSpPr>
            <a:spLocks noChangeArrowheads="1"/>
          </p:cNvSpPr>
          <p:nvPr/>
        </p:nvSpPr>
        <p:spPr bwMode="auto">
          <a:xfrm>
            <a:off x="5279311" y="3832423"/>
            <a:ext cx="29186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" name="Rectangle 94"/>
          <p:cNvSpPr>
            <a:spLocks noChangeArrowheads="1"/>
          </p:cNvSpPr>
          <p:nvPr/>
        </p:nvSpPr>
        <p:spPr bwMode="auto">
          <a:xfrm>
            <a:off x="5571171" y="3832423"/>
            <a:ext cx="29464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" name="Rectangle 95"/>
          <p:cNvSpPr>
            <a:spLocks noChangeArrowheads="1"/>
          </p:cNvSpPr>
          <p:nvPr/>
        </p:nvSpPr>
        <p:spPr bwMode="auto">
          <a:xfrm>
            <a:off x="3225166" y="3832423"/>
            <a:ext cx="29186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" name="Rectangle 96"/>
          <p:cNvSpPr>
            <a:spLocks noChangeArrowheads="1"/>
          </p:cNvSpPr>
          <p:nvPr/>
        </p:nvSpPr>
        <p:spPr bwMode="auto">
          <a:xfrm>
            <a:off x="3811667" y="3832423"/>
            <a:ext cx="29186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" name="Rectangle 97"/>
          <p:cNvSpPr>
            <a:spLocks noChangeArrowheads="1"/>
          </p:cNvSpPr>
          <p:nvPr/>
        </p:nvSpPr>
        <p:spPr bwMode="auto">
          <a:xfrm>
            <a:off x="4984670" y="3832423"/>
            <a:ext cx="29464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" name="Rectangle 98"/>
          <p:cNvSpPr>
            <a:spLocks noChangeArrowheads="1"/>
          </p:cNvSpPr>
          <p:nvPr/>
        </p:nvSpPr>
        <p:spPr bwMode="auto">
          <a:xfrm>
            <a:off x="4398169" y="3832423"/>
            <a:ext cx="294641" cy="293687"/>
          </a:xfrm>
          <a:prstGeom prst="rect">
            <a:avLst/>
          </a:prstGeom>
          <a:solidFill>
            <a:srgbClr val="5F5F5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7" name="AutoShape 112"/>
          <p:cNvSpPr>
            <a:spLocks noChangeArrowheads="1"/>
          </p:cNvSpPr>
          <p:nvPr/>
        </p:nvSpPr>
        <p:spPr bwMode="auto">
          <a:xfrm rot="16200000">
            <a:off x="2337594" y="2863254"/>
            <a:ext cx="1185862" cy="13462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3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5F5F5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8" name="Line 113"/>
          <p:cNvSpPr>
            <a:spLocks noChangeShapeType="1"/>
          </p:cNvSpPr>
          <p:nvPr/>
        </p:nvSpPr>
        <p:spPr bwMode="auto">
          <a:xfrm>
            <a:off x="2262267" y="3546035"/>
            <a:ext cx="3317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9" name="Line 114"/>
          <p:cNvSpPr>
            <a:spLocks noChangeShapeType="1"/>
          </p:cNvSpPr>
          <p:nvPr/>
        </p:nvSpPr>
        <p:spPr bwMode="auto">
          <a:xfrm flipV="1">
            <a:off x="2363959" y="3708183"/>
            <a:ext cx="283283" cy="1379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0" name="Line 115"/>
          <p:cNvSpPr>
            <a:spLocks noChangeShapeType="1"/>
          </p:cNvSpPr>
          <p:nvPr/>
        </p:nvSpPr>
        <p:spPr bwMode="auto">
          <a:xfrm>
            <a:off x="2356695" y="3221738"/>
            <a:ext cx="280862" cy="1669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1" name="Line 116"/>
          <p:cNvSpPr>
            <a:spLocks noChangeShapeType="1"/>
          </p:cNvSpPr>
          <p:nvPr/>
        </p:nvSpPr>
        <p:spPr bwMode="auto">
          <a:xfrm flipV="1">
            <a:off x="2613345" y="3797728"/>
            <a:ext cx="152537" cy="2686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" name="Line 117"/>
          <p:cNvSpPr>
            <a:spLocks noChangeShapeType="1"/>
          </p:cNvSpPr>
          <p:nvPr/>
        </p:nvSpPr>
        <p:spPr bwMode="auto">
          <a:xfrm>
            <a:off x="2623030" y="3008766"/>
            <a:ext cx="145273" cy="2516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23" name="Picture 1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41762" y="3083123"/>
            <a:ext cx="123825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4" name="Picture 1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94025" y="3092648"/>
            <a:ext cx="123825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5" name="Picture 1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7962" y="308788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6" name="Picture 1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67012" y="30164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7" name="AutoShape 623"/>
          <p:cNvSpPr>
            <a:spLocks noChangeArrowheads="1"/>
          </p:cNvSpPr>
          <p:nvPr/>
        </p:nvSpPr>
        <p:spPr bwMode="auto">
          <a:xfrm>
            <a:off x="2727325" y="31434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28" name="AutoShape 624"/>
          <p:cNvSpPr>
            <a:spLocks noChangeArrowheads="1"/>
          </p:cNvSpPr>
          <p:nvPr/>
        </p:nvSpPr>
        <p:spPr bwMode="auto">
          <a:xfrm rot="1800000">
            <a:off x="2727325" y="31434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29" name="Picture 6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21088" y="3076773"/>
            <a:ext cx="123825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0" name="Picture 6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87712" y="31037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1" name="Picture 1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9838" y="31974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" name="Picture 1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24125" y="30735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3" name="Picture 1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5075" y="31831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4" name="Picture 1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1831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5" name="AutoShape 639"/>
          <p:cNvSpPr>
            <a:spLocks noChangeArrowheads="1"/>
          </p:cNvSpPr>
          <p:nvPr/>
        </p:nvSpPr>
        <p:spPr bwMode="auto">
          <a:xfrm>
            <a:off x="2536825" y="32736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36" name="AutoShape 640"/>
          <p:cNvSpPr>
            <a:spLocks noChangeArrowheads="1"/>
          </p:cNvSpPr>
          <p:nvPr/>
        </p:nvSpPr>
        <p:spPr bwMode="auto">
          <a:xfrm rot="1800000">
            <a:off x="2536825" y="32736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37" name="AutoShape 642"/>
          <p:cNvSpPr>
            <a:spLocks noChangeArrowheads="1"/>
          </p:cNvSpPr>
          <p:nvPr/>
        </p:nvSpPr>
        <p:spPr bwMode="auto">
          <a:xfrm>
            <a:off x="2489200" y="32196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38" name="AutoShape 643"/>
          <p:cNvSpPr>
            <a:spLocks noChangeArrowheads="1"/>
          </p:cNvSpPr>
          <p:nvPr/>
        </p:nvSpPr>
        <p:spPr bwMode="auto">
          <a:xfrm rot="1800000">
            <a:off x="2489200" y="32196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39" name="Picture 1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33637" y="33498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0" name="Picture 1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33637" y="33498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1" name="Picture 1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57437" y="32736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" name="Picture 1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55850" y="33307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" name="Picture 18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3942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4" name="AutoShape 645"/>
          <p:cNvSpPr>
            <a:spLocks noChangeArrowheads="1"/>
          </p:cNvSpPr>
          <p:nvPr/>
        </p:nvSpPr>
        <p:spPr bwMode="auto">
          <a:xfrm>
            <a:off x="2335212" y="34307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45" name="AutoShape 646"/>
          <p:cNvSpPr>
            <a:spLocks noChangeArrowheads="1"/>
          </p:cNvSpPr>
          <p:nvPr/>
        </p:nvSpPr>
        <p:spPr bwMode="auto">
          <a:xfrm rot="1800000">
            <a:off x="2335212" y="34307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46" name="AutoShape 654"/>
          <p:cNvSpPr>
            <a:spLocks noChangeArrowheads="1"/>
          </p:cNvSpPr>
          <p:nvPr/>
        </p:nvSpPr>
        <p:spPr bwMode="auto">
          <a:xfrm>
            <a:off x="2390775" y="341967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47" name="AutoShape 655"/>
          <p:cNvSpPr>
            <a:spLocks noChangeArrowheads="1"/>
          </p:cNvSpPr>
          <p:nvPr/>
        </p:nvSpPr>
        <p:spPr bwMode="auto">
          <a:xfrm rot="1800000">
            <a:off x="2390775" y="341967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48" name="Picture 1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52700" y="3727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9" name="Picture 1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1900" y="37752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0" name="Picture 1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9037" y="37816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1" name="Picture 19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82850" y="38228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" name="Picture 1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32062" y="38038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" name="Picture 19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60637" y="37768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4" name="AutoShape 651"/>
          <p:cNvSpPr>
            <a:spLocks noChangeArrowheads="1"/>
          </p:cNvSpPr>
          <p:nvPr/>
        </p:nvSpPr>
        <p:spPr bwMode="auto">
          <a:xfrm>
            <a:off x="2574925" y="38451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55" name="AutoShape 652"/>
          <p:cNvSpPr>
            <a:spLocks noChangeArrowheads="1"/>
          </p:cNvSpPr>
          <p:nvPr/>
        </p:nvSpPr>
        <p:spPr bwMode="auto">
          <a:xfrm rot="1800000">
            <a:off x="2574925" y="38451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56" name="Picture 6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22537" y="38927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7" name="Picture 1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33637" y="35784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8" name="Picture 1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35212" y="35784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9" name="Picture 1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514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0" name="Picture 1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82837" y="36260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1" name="Picture 1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32037" y="35530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2" name="Picture 6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5862" y="36260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" name="Picture 6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52675" y="36752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673"/>
          <p:cNvGrpSpPr>
            <a:grpSpLocks/>
          </p:cNvGrpSpPr>
          <p:nvPr/>
        </p:nvGrpSpPr>
        <p:grpSpPr bwMode="auto">
          <a:xfrm>
            <a:off x="2416175" y="3665735"/>
            <a:ext cx="107950" cy="107950"/>
            <a:chOff x="1056" y="2016"/>
            <a:chExt cx="96" cy="96"/>
          </a:xfrm>
        </p:grpSpPr>
        <p:sp>
          <p:nvSpPr>
            <p:cNvPr id="565" name="AutoShape 674"/>
            <p:cNvSpPr>
              <a:spLocks noChangeArrowheads="1"/>
            </p:cNvSpPr>
            <p:nvPr/>
          </p:nvSpPr>
          <p:spPr bwMode="auto">
            <a:xfrm>
              <a:off x="1056" y="2016"/>
              <a:ext cx="96" cy="96"/>
            </a:xfrm>
            <a:prstGeom prst="star5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6" name="AutoShape 675"/>
            <p:cNvSpPr>
              <a:spLocks noChangeArrowheads="1"/>
            </p:cNvSpPr>
            <p:nvPr/>
          </p:nvSpPr>
          <p:spPr bwMode="auto">
            <a:xfrm rot="1800000">
              <a:off x="1056" y="2016"/>
              <a:ext cx="96" cy="96"/>
            </a:xfrm>
            <a:prstGeom prst="star5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4" name="Group 679"/>
          <p:cNvGrpSpPr>
            <a:grpSpLocks/>
          </p:cNvGrpSpPr>
          <p:nvPr/>
        </p:nvGrpSpPr>
        <p:grpSpPr bwMode="auto">
          <a:xfrm>
            <a:off x="2509837" y="3648273"/>
            <a:ext cx="107950" cy="107950"/>
            <a:chOff x="1056" y="2016"/>
            <a:chExt cx="96" cy="96"/>
          </a:xfrm>
        </p:grpSpPr>
        <p:sp>
          <p:nvSpPr>
            <p:cNvPr id="568" name="AutoShape 680"/>
            <p:cNvSpPr>
              <a:spLocks noChangeArrowheads="1"/>
            </p:cNvSpPr>
            <p:nvPr/>
          </p:nvSpPr>
          <p:spPr bwMode="auto">
            <a:xfrm>
              <a:off x="1056" y="2016"/>
              <a:ext cx="96" cy="96"/>
            </a:xfrm>
            <a:prstGeom prst="star5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9" name="AutoShape 681"/>
            <p:cNvSpPr>
              <a:spLocks noChangeArrowheads="1"/>
            </p:cNvSpPr>
            <p:nvPr/>
          </p:nvSpPr>
          <p:spPr bwMode="auto">
            <a:xfrm rot="1800000">
              <a:off x="1056" y="2016"/>
              <a:ext cx="96" cy="96"/>
            </a:xfrm>
            <a:prstGeom prst="star5">
              <a:avLst/>
            </a:prstGeom>
            <a:solidFill>
              <a:srgbClr val="FFFF00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570" name="Picture 3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2037" y="39832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1" name="Picture 2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02175" y="38578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2" name="Picture 2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38687" y="38355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" name="Picture 2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54562" y="3864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4" name="Picture 2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2187" y="3864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5" name="Picture 2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89487" y="38165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6" name="Picture 2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1237" y="38689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7" name="Picture 2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2825" y="38879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8" name="Picture 2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2825" y="38784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9" name="Picture 2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46637" y="38467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0" name="Picture 29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32337" y="39117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1" name="Picture 2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97412" y="39419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2" name="Picture 29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68850" y="39610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" name="Picture 2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6000" y="39419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4" name="Picture 2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35525" y="39705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5" name="Picture 29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48225" y="39117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6" name="Picture 29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2512" y="39641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7" name="Picture 2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38700" y="38435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8" name="Picture 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02175" y="38355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9" name="Picture 3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11700" y="3854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0" name="Picture 3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00587" y="3981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1" name="Picture 3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9467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2" name="Picture 3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57737" y="39371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" name="AutoShape 620"/>
          <p:cNvSpPr>
            <a:spLocks noChangeArrowheads="1"/>
          </p:cNvSpPr>
          <p:nvPr/>
        </p:nvSpPr>
        <p:spPr bwMode="auto">
          <a:xfrm>
            <a:off x="4841875" y="38959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4" name="AutoShape 621"/>
          <p:cNvSpPr>
            <a:spLocks noChangeArrowheads="1"/>
          </p:cNvSpPr>
          <p:nvPr/>
        </p:nvSpPr>
        <p:spPr bwMode="auto">
          <a:xfrm rot="1800000">
            <a:off x="4841875" y="38959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5" name="AutoShape 704"/>
          <p:cNvSpPr>
            <a:spLocks noChangeArrowheads="1"/>
          </p:cNvSpPr>
          <p:nvPr/>
        </p:nvSpPr>
        <p:spPr bwMode="auto">
          <a:xfrm>
            <a:off x="4843462" y="38292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6" name="AutoShape 705"/>
          <p:cNvSpPr>
            <a:spLocks noChangeArrowheads="1"/>
          </p:cNvSpPr>
          <p:nvPr/>
        </p:nvSpPr>
        <p:spPr bwMode="auto">
          <a:xfrm rot="1800000">
            <a:off x="4843462" y="38292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7" name="AutoShape 707"/>
          <p:cNvSpPr>
            <a:spLocks noChangeArrowheads="1"/>
          </p:cNvSpPr>
          <p:nvPr/>
        </p:nvSpPr>
        <p:spPr bwMode="auto">
          <a:xfrm>
            <a:off x="4849812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8" name="AutoShape 708"/>
          <p:cNvSpPr>
            <a:spLocks noChangeArrowheads="1"/>
          </p:cNvSpPr>
          <p:nvPr/>
        </p:nvSpPr>
        <p:spPr bwMode="auto">
          <a:xfrm rot="1800000">
            <a:off x="4849812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9" name="AutoShape 710"/>
          <p:cNvSpPr>
            <a:spLocks noChangeArrowheads="1"/>
          </p:cNvSpPr>
          <p:nvPr/>
        </p:nvSpPr>
        <p:spPr bwMode="auto">
          <a:xfrm>
            <a:off x="4784725" y="391021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00" name="AutoShape 711"/>
          <p:cNvSpPr>
            <a:spLocks noChangeArrowheads="1"/>
          </p:cNvSpPr>
          <p:nvPr/>
        </p:nvSpPr>
        <p:spPr bwMode="auto">
          <a:xfrm rot="1800000">
            <a:off x="4784725" y="391021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01" name="Picture 2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51162" y="38609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2" name="Picture 2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73387" y="38768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3" name="Picture 2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22600" y="38673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" name="Picture 2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60700" y="38403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5" name="Picture 2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70225" y="3854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6" name="Picture 2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71812" y="38863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7" name="Picture 2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14662" y="3841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8" name="Picture 2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73387" y="39229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9" name="Picture 2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35300" y="39292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0" name="Picture 2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68637" y="39403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1" name="Picture 6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97200" y="39784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2" name="Picture 6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86100" y="39943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3" name="AutoShape 630"/>
          <p:cNvSpPr>
            <a:spLocks noChangeArrowheads="1"/>
          </p:cNvSpPr>
          <p:nvPr/>
        </p:nvSpPr>
        <p:spPr bwMode="auto">
          <a:xfrm>
            <a:off x="3036887" y="40149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4" name="AutoShape 631"/>
          <p:cNvSpPr>
            <a:spLocks noChangeArrowheads="1"/>
          </p:cNvSpPr>
          <p:nvPr/>
        </p:nvSpPr>
        <p:spPr bwMode="auto">
          <a:xfrm rot="1800000">
            <a:off x="3036887" y="40149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5" name="AutoShape 713"/>
          <p:cNvSpPr>
            <a:spLocks noChangeArrowheads="1"/>
          </p:cNvSpPr>
          <p:nvPr/>
        </p:nvSpPr>
        <p:spPr bwMode="auto">
          <a:xfrm>
            <a:off x="3032125" y="39213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6" name="AutoShape 714"/>
          <p:cNvSpPr>
            <a:spLocks noChangeArrowheads="1"/>
          </p:cNvSpPr>
          <p:nvPr/>
        </p:nvSpPr>
        <p:spPr bwMode="auto">
          <a:xfrm rot="1800000">
            <a:off x="3032125" y="39213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7" name="AutoShape 716"/>
          <p:cNvSpPr>
            <a:spLocks noChangeArrowheads="1"/>
          </p:cNvSpPr>
          <p:nvPr/>
        </p:nvSpPr>
        <p:spPr bwMode="auto">
          <a:xfrm>
            <a:off x="3098800" y="39387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8" name="AutoShape 717"/>
          <p:cNvSpPr>
            <a:spLocks noChangeArrowheads="1"/>
          </p:cNvSpPr>
          <p:nvPr/>
        </p:nvSpPr>
        <p:spPr bwMode="auto">
          <a:xfrm rot="1800000">
            <a:off x="3098800" y="39387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9" name="AutoShape 636"/>
          <p:cNvSpPr>
            <a:spLocks noChangeArrowheads="1"/>
          </p:cNvSpPr>
          <p:nvPr/>
        </p:nvSpPr>
        <p:spPr bwMode="auto">
          <a:xfrm>
            <a:off x="5168900" y="39181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0" name="AutoShape 637"/>
          <p:cNvSpPr>
            <a:spLocks noChangeArrowheads="1"/>
          </p:cNvSpPr>
          <p:nvPr/>
        </p:nvSpPr>
        <p:spPr bwMode="auto">
          <a:xfrm rot="1800000">
            <a:off x="5168900" y="39181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21" name="Picture 3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87925" y="38625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" name="Picture 3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4437" y="38403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3" name="Picture 3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40312" y="38689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" name="Picture 3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87937" y="38689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5" name="Picture 3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75237" y="38213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6" name="Picture 3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6987" y="38736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7" name="Picture 3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8575" y="38927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8" name="Picture 3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8575" y="38832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9" name="Picture 3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32387" y="38514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0" name="Picture 3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18087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1" name="Picture 3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83162" y="39467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2" name="Picture 3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54600" y="39657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3" name="Picture 3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11750" y="39467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" name="Picture 3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21275" y="3975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5" name="Picture 3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33975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6" name="Picture 3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48262" y="3968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7" name="Picture 3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24450" y="3848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8" name="Picture 3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87925" y="38403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9" name="Picture 3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57787" y="39879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0" name="Picture 3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97450" y="38594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1" name="Picture 3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86337" y="39864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2" name="Picture 3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92700" y="39562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3" name="Picture 3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68887" y="3991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4" name="Picture 3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30800" y="38451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" name="Picture 3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60950" y="38435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6" name="AutoShape 722"/>
          <p:cNvSpPr>
            <a:spLocks noChangeArrowheads="1"/>
          </p:cNvSpPr>
          <p:nvPr/>
        </p:nvSpPr>
        <p:spPr bwMode="auto">
          <a:xfrm>
            <a:off x="51276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47" name="AutoShape 723"/>
          <p:cNvSpPr>
            <a:spLocks noChangeArrowheads="1"/>
          </p:cNvSpPr>
          <p:nvPr/>
        </p:nvSpPr>
        <p:spPr bwMode="auto">
          <a:xfrm rot="1800000">
            <a:off x="51276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48" name="AutoShape 725"/>
          <p:cNvSpPr>
            <a:spLocks noChangeArrowheads="1"/>
          </p:cNvSpPr>
          <p:nvPr/>
        </p:nvSpPr>
        <p:spPr bwMode="auto">
          <a:xfrm>
            <a:off x="51276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49" name="AutoShape 726"/>
          <p:cNvSpPr>
            <a:spLocks noChangeArrowheads="1"/>
          </p:cNvSpPr>
          <p:nvPr/>
        </p:nvSpPr>
        <p:spPr bwMode="auto">
          <a:xfrm rot="1800000">
            <a:off x="51276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50" name="AutoShape 728"/>
          <p:cNvSpPr>
            <a:spLocks noChangeArrowheads="1"/>
          </p:cNvSpPr>
          <p:nvPr/>
        </p:nvSpPr>
        <p:spPr bwMode="auto">
          <a:xfrm>
            <a:off x="51276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51" name="AutoShape 729"/>
          <p:cNvSpPr>
            <a:spLocks noChangeArrowheads="1"/>
          </p:cNvSpPr>
          <p:nvPr/>
        </p:nvSpPr>
        <p:spPr bwMode="auto">
          <a:xfrm rot="1800000">
            <a:off x="51276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52" name="AutoShape 737"/>
          <p:cNvSpPr>
            <a:spLocks noChangeArrowheads="1"/>
          </p:cNvSpPr>
          <p:nvPr/>
        </p:nvSpPr>
        <p:spPr bwMode="auto">
          <a:xfrm>
            <a:off x="50514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53" name="AutoShape 738"/>
          <p:cNvSpPr>
            <a:spLocks noChangeArrowheads="1"/>
          </p:cNvSpPr>
          <p:nvPr/>
        </p:nvSpPr>
        <p:spPr bwMode="auto">
          <a:xfrm rot="1800000">
            <a:off x="50514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54" name="Picture 3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8438" y="38625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" name="Picture 3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14950" y="38403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6" name="Picture 3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0825" y="38689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7" name="Picture 3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78450" y="38689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8" name="Picture 3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5750" y="38213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9" name="Picture 3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8736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0" name="Picture 3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9088" y="38927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1" name="Picture 3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9088" y="38832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2" name="Picture 3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22900" y="38514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" name="Picture 3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08600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" name="Picture 3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3675" y="39467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" name="Picture 3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45113" y="39657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6" name="Picture 3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02263" y="39467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7" name="Picture 3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1788" y="3975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8" name="Picture 3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24488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9" name="Picture 3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8775" y="3968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0" name="Picture 3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4963" y="3848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1" name="Picture 3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8438" y="38403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2" name="Picture 3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48300" y="39879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3" name="Picture 3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87963" y="38594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4" name="Picture 3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6850" y="39864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" name="Picture 3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89563" y="38927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" name="Picture 3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21313" y="38895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7" name="Picture 3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2425" y="38451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8" name="Picture 3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41950" y="38308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9" name="Picture 37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56225" y="38340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0" name="Picture 3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14950" y="38340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1" name="Picture 3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00663" y="39117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2" name="Picture 3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19713" y="39578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3" name="AutoShape 633"/>
          <p:cNvSpPr>
            <a:spLocks noChangeArrowheads="1"/>
          </p:cNvSpPr>
          <p:nvPr/>
        </p:nvSpPr>
        <p:spPr bwMode="auto">
          <a:xfrm>
            <a:off x="5449888" y="391656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4" name="AutoShape 634"/>
          <p:cNvSpPr>
            <a:spLocks noChangeArrowheads="1"/>
          </p:cNvSpPr>
          <p:nvPr/>
        </p:nvSpPr>
        <p:spPr bwMode="auto">
          <a:xfrm rot="1800000">
            <a:off x="5449888" y="391656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5" name="AutoShape 719"/>
          <p:cNvSpPr>
            <a:spLocks noChangeArrowheads="1"/>
          </p:cNvSpPr>
          <p:nvPr/>
        </p:nvSpPr>
        <p:spPr bwMode="auto">
          <a:xfrm>
            <a:off x="54324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6" name="AutoShape 720"/>
          <p:cNvSpPr>
            <a:spLocks noChangeArrowheads="1"/>
          </p:cNvSpPr>
          <p:nvPr/>
        </p:nvSpPr>
        <p:spPr bwMode="auto">
          <a:xfrm rot="1800000">
            <a:off x="54324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7" name="AutoShape 734"/>
          <p:cNvSpPr>
            <a:spLocks noChangeArrowheads="1"/>
          </p:cNvSpPr>
          <p:nvPr/>
        </p:nvSpPr>
        <p:spPr bwMode="auto">
          <a:xfrm>
            <a:off x="53562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8" name="AutoShape 735"/>
          <p:cNvSpPr>
            <a:spLocks noChangeArrowheads="1"/>
          </p:cNvSpPr>
          <p:nvPr/>
        </p:nvSpPr>
        <p:spPr bwMode="auto">
          <a:xfrm rot="1800000">
            <a:off x="53562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89" name="AutoShape 743"/>
          <p:cNvSpPr>
            <a:spLocks noChangeArrowheads="1"/>
          </p:cNvSpPr>
          <p:nvPr/>
        </p:nvSpPr>
        <p:spPr bwMode="auto">
          <a:xfrm>
            <a:off x="54324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0" name="AutoShape 744"/>
          <p:cNvSpPr>
            <a:spLocks noChangeArrowheads="1"/>
          </p:cNvSpPr>
          <p:nvPr/>
        </p:nvSpPr>
        <p:spPr bwMode="auto">
          <a:xfrm rot="1800000">
            <a:off x="54324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1" name="AutoShape 746"/>
          <p:cNvSpPr>
            <a:spLocks noChangeArrowheads="1"/>
          </p:cNvSpPr>
          <p:nvPr/>
        </p:nvSpPr>
        <p:spPr bwMode="auto">
          <a:xfrm>
            <a:off x="5356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2" name="AutoShape 747"/>
          <p:cNvSpPr>
            <a:spLocks noChangeArrowheads="1"/>
          </p:cNvSpPr>
          <p:nvPr/>
        </p:nvSpPr>
        <p:spPr bwMode="auto">
          <a:xfrm rot="1800000">
            <a:off x="5356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3" name="AutoShape 749"/>
          <p:cNvSpPr>
            <a:spLocks noChangeArrowheads="1"/>
          </p:cNvSpPr>
          <p:nvPr/>
        </p:nvSpPr>
        <p:spPr bwMode="auto">
          <a:xfrm>
            <a:off x="52800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4" name="AutoShape 750"/>
          <p:cNvSpPr>
            <a:spLocks noChangeArrowheads="1"/>
          </p:cNvSpPr>
          <p:nvPr/>
        </p:nvSpPr>
        <p:spPr bwMode="auto">
          <a:xfrm rot="1800000">
            <a:off x="52800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5" name="AutoShape 782"/>
          <p:cNvSpPr>
            <a:spLocks noChangeArrowheads="1"/>
          </p:cNvSpPr>
          <p:nvPr/>
        </p:nvSpPr>
        <p:spPr bwMode="auto">
          <a:xfrm>
            <a:off x="53562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96" name="AutoShape 783"/>
          <p:cNvSpPr>
            <a:spLocks noChangeArrowheads="1"/>
          </p:cNvSpPr>
          <p:nvPr/>
        </p:nvSpPr>
        <p:spPr bwMode="auto">
          <a:xfrm rot="1800000">
            <a:off x="53562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97" name="Picture 3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3237" y="38673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8" name="Picture 3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19750" y="38451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9" name="Picture 3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5625" y="38736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0" name="Picture 3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83250" y="38736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1" name="Picture 3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70550" y="38260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2" name="Picture 3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02300" y="38784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" name="Picture 3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03887" y="38975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4" name="Picture 3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03887" y="38879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5" name="Picture 3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27700" y="38562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" name="Picture 3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13400" y="39213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7" name="Picture 3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8475" y="39514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8" name="Picture 3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49912" y="39705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9" name="Picture 3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07062" y="39514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0" name="Picture 3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6587" y="39800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1" name="Picture 3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29287" y="39213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2" name="Picture 3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43575" y="39737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3" name="Picture 3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9762" y="38530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4" name="Picture 3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3237" y="38451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5" name="Picture 3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53100" y="39927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" name="Picture 36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92762" y="3864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" name="Picture 3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1650" y="3991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" name="Picture 38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72137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" name="Picture 3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7212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" name="Picture 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53087" y="39546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1" name="Picture 3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70550" y="39419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2" name="Picture 3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9181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3" name="Picture 3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34050" y="38498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4" name="Picture 3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45150" y="38355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5" name="Picture 3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6887" y="38324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6" name="Picture 3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6887" y="38228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" name="Picture 3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8475" y="39149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8" name="Picture 3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02287" y="3981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9" name="Picture 39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56262" y="39959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0" name="Picture 3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51512" y="38228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1" name="Picture 39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73725" y="3968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2" name="AutoShape 695"/>
          <p:cNvSpPr>
            <a:spLocks noChangeArrowheads="1"/>
          </p:cNvSpPr>
          <p:nvPr/>
        </p:nvSpPr>
        <p:spPr bwMode="auto">
          <a:xfrm>
            <a:off x="5732462" y="391021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3" name="AutoShape 696"/>
          <p:cNvSpPr>
            <a:spLocks noChangeArrowheads="1"/>
          </p:cNvSpPr>
          <p:nvPr/>
        </p:nvSpPr>
        <p:spPr bwMode="auto">
          <a:xfrm rot="1800000">
            <a:off x="5732462" y="391021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4" name="AutoShape 698"/>
          <p:cNvSpPr>
            <a:spLocks noChangeArrowheads="1"/>
          </p:cNvSpPr>
          <p:nvPr/>
        </p:nvSpPr>
        <p:spPr bwMode="auto">
          <a:xfrm>
            <a:off x="57372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5" name="AutoShape 699"/>
          <p:cNvSpPr>
            <a:spLocks noChangeArrowheads="1"/>
          </p:cNvSpPr>
          <p:nvPr/>
        </p:nvSpPr>
        <p:spPr bwMode="auto">
          <a:xfrm rot="1800000">
            <a:off x="57372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6" name="AutoShape 731"/>
          <p:cNvSpPr>
            <a:spLocks noChangeArrowheads="1"/>
          </p:cNvSpPr>
          <p:nvPr/>
        </p:nvSpPr>
        <p:spPr bwMode="auto">
          <a:xfrm>
            <a:off x="56610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7" name="AutoShape 732"/>
          <p:cNvSpPr>
            <a:spLocks noChangeArrowheads="1"/>
          </p:cNvSpPr>
          <p:nvPr/>
        </p:nvSpPr>
        <p:spPr bwMode="auto">
          <a:xfrm rot="1800000">
            <a:off x="56610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8" name="AutoShape 752"/>
          <p:cNvSpPr>
            <a:spLocks noChangeArrowheads="1"/>
          </p:cNvSpPr>
          <p:nvPr/>
        </p:nvSpPr>
        <p:spPr bwMode="auto">
          <a:xfrm>
            <a:off x="5584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39" name="AutoShape 753"/>
          <p:cNvSpPr>
            <a:spLocks noChangeArrowheads="1"/>
          </p:cNvSpPr>
          <p:nvPr/>
        </p:nvSpPr>
        <p:spPr bwMode="auto">
          <a:xfrm rot="1800000">
            <a:off x="5584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0" name="AutoShape 755"/>
          <p:cNvSpPr>
            <a:spLocks noChangeArrowheads="1"/>
          </p:cNvSpPr>
          <p:nvPr/>
        </p:nvSpPr>
        <p:spPr bwMode="auto">
          <a:xfrm>
            <a:off x="56610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1" name="AutoShape 756"/>
          <p:cNvSpPr>
            <a:spLocks noChangeArrowheads="1"/>
          </p:cNvSpPr>
          <p:nvPr/>
        </p:nvSpPr>
        <p:spPr bwMode="auto">
          <a:xfrm rot="1800000">
            <a:off x="56610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2" name="AutoShape 758"/>
          <p:cNvSpPr>
            <a:spLocks noChangeArrowheads="1"/>
          </p:cNvSpPr>
          <p:nvPr/>
        </p:nvSpPr>
        <p:spPr bwMode="auto">
          <a:xfrm>
            <a:off x="56610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3" name="AutoShape 759"/>
          <p:cNvSpPr>
            <a:spLocks noChangeArrowheads="1"/>
          </p:cNvSpPr>
          <p:nvPr/>
        </p:nvSpPr>
        <p:spPr bwMode="auto">
          <a:xfrm rot="1800000">
            <a:off x="56610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4" name="AutoShape 761"/>
          <p:cNvSpPr>
            <a:spLocks noChangeArrowheads="1"/>
          </p:cNvSpPr>
          <p:nvPr/>
        </p:nvSpPr>
        <p:spPr bwMode="auto">
          <a:xfrm>
            <a:off x="5584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5" name="AutoShape 762"/>
          <p:cNvSpPr>
            <a:spLocks noChangeArrowheads="1"/>
          </p:cNvSpPr>
          <p:nvPr/>
        </p:nvSpPr>
        <p:spPr bwMode="auto">
          <a:xfrm rot="1800000">
            <a:off x="5584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6" name="AutoShape 764"/>
          <p:cNvSpPr>
            <a:spLocks noChangeArrowheads="1"/>
          </p:cNvSpPr>
          <p:nvPr/>
        </p:nvSpPr>
        <p:spPr bwMode="auto">
          <a:xfrm>
            <a:off x="56610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7" name="AutoShape 765"/>
          <p:cNvSpPr>
            <a:spLocks noChangeArrowheads="1"/>
          </p:cNvSpPr>
          <p:nvPr/>
        </p:nvSpPr>
        <p:spPr bwMode="auto">
          <a:xfrm rot="1800000">
            <a:off x="56610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8" name="AutoShape 767"/>
          <p:cNvSpPr>
            <a:spLocks noChangeArrowheads="1"/>
          </p:cNvSpPr>
          <p:nvPr/>
        </p:nvSpPr>
        <p:spPr bwMode="auto">
          <a:xfrm>
            <a:off x="56610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49" name="AutoShape 768"/>
          <p:cNvSpPr>
            <a:spLocks noChangeArrowheads="1"/>
          </p:cNvSpPr>
          <p:nvPr/>
        </p:nvSpPr>
        <p:spPr bwMode="auto">
          <a:xfrm rot="1800000">
            <a:off x="56610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0" name="AutoShape 770"/>
          <p:cNvSpPr>
            <a:spLocks noChangeArrowheads="1"/>
          </p:cNvSpPr>
          <p:nvPr/>
        </p:nvSpPr>
        <p:spPr bwMode="auto">
          <a:xfrm>
            <a:off x="5584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1" name="AutoShape 771"/>
          <p:cNvSpPr>
            <a:spLocks noChangeArrowheads="1"/>
          </p:cNvSpPr>
          <p:nvPr/>
        </p:nvSpPr>
        <p:spPr bwMode="auto">
          <a:xfrm rot="1800000">
            <a:off x="5584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2" name="AutoShape 785"/>
          <p:cNvSpPr>
            <a:spLocks noChangeArrowheads="1"/>
          </p:cNvSpPr>
          <p:nvPr/>
        </p:nvSpPr>
        <p:spPr bwMode="auto">
          <a:xfrm>
            <a:off x="55848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3" name="AutoShape 786"/>
          <p:cNvSpPr>
            <a:spLocks noChangeArrowheads="1"/>
          </p:cNvSpPr>
          <p:nvPr/>
        </p:nvSpPr>
        <p:spPr bwMode="auto">
          <a:xfrm rot="1800000">
            <a:off x="5584825" y="38070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4" name="AutoShape 788"/>
          <p:cNvSpPr>
            <a:spLocks noChangeArrowheads="1"/>
          </p:cNvSpPr>
          <p:nvPr/>
        </p:nvSpPr>
        <p:spPr bwMode="auto">
          <a:xfrm>
            <a:off x="5737225" y="40356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5" name="AutoShape 789"/>
          <p:cNvSpPr>
            <a:spLocks noChangeArrowheads="1"/>
          </p:cNvSpPr>
          <p:nvPr/>
        </p:nvSpPr>
        <p:spPr bwMode="auto">
          <a:xfrm rot="1800000">
            <a:off x="5737225" y="40356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6" name="AutoShape 791"/>
          <p:cNvSpPr>
            <a:spLocks noChangeArrowheads="1"/>
          </p:cNvSpPr>
          <p:nvPr/>
        </p:nvSpPr>
        <p:spPr bwMode="auto">
          <a:xfrm>
            <a:off x="56610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57" name="AutoShape 792"/>
          <p:cNvSpPr>
            <a:spLocks noChangeArrowheads="1"/>
          </p:cNvSpPr>
          <p:nvPr/>
        </p:nvSpPr>
        <p:spPr bwMode="auto">
          <a:xfrm rot="1800000">
            <a:off x="56610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58" name="Picture 2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6350" y="3854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9" name="Picture 2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864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0" name="Picture 2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32237" y="3848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1" name="Picture 2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75087" y="38435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2" name="Picture 2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13187" y="3848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3" name="Picture 2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37000" y="38911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4" name="Picture 2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2875" y="39149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5" name="Picture 2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7637" y="39324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6" name="Picture 2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94137" y="39229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7" name="Picture 2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43337" y="39229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" name="Picture 2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78262" y="393243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9" name="Picture 2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16362" y="39467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0" name="Picture 2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63987" y="3841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1" name="Picture 2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9225" y="39419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2" name="Picture 2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65575" y="39737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3" name="Picture 6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51275" y="39737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4" name="Picture 6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8705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5" name="Picture 6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71912" y="4002286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6" name="AutoShape 683"/>
          <p:cNvSpPr>
            <a:spLocks noChangeArrowheads="1"/>
          </p:cNvSpPr>
          <p:nvPr/>
        </p:nvSpPr>
        <p:spPr bwMode="auto">
          <a:xfrm>
            <a:off x="3989387" y="39435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77" name="AutoShape 684"/>
          <p:cNvSpPr>
            <a:spLocks noChangeArrowheads="1"/>
          </p:cNvSpPr>
          <p:nvPr/>
        </p:nvSpPr>
        <p:spPr bwMode="auto">
          <a:xfrm rot="1800000">
            <a:off x="3989387" y="3943548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78" name="AutoShape 794"/>
          <p:cNvSpPr>
            <a:spLocks noChangeArrowheads="1"/>
          </p:cNvSpPr>
          <p:nvPr/>
        </p:nvSpPr>
        <p:spPr bwMode="auto">
          <a:xfrm>
            <a:off x="39846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79" name="AutoShape 795"/>
          <p:cNvSpPr>
            <a:spLocks noChangeArrowheads="1"/>
          </p:cNvSpPr>
          <p:nvPr/>
        </p:nvSpPr>
        <p:spPr bwMode="auto">
          <a:xfrm rot="1800000">
            <a:off x="39846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80" name="AutoShape 797"/>
          <p:cNvSpPr>
            <a:spLocks noChangeArrowheads="1"/>
          </p:cNvSpPr>
          <p:nvPr/>
        </p:nvSpPr>
        <p:spPr bwMode="auto">
          <a:xfrm>
            <a:off x="38322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81" name="AutoShape 798"/>
          <p:cNvSpPr>
            <a:spLocks noChangeArrowheads="1"/>
          </p:cNvSpPr>
          <p:nvPr/>
        </p:nvSpPr>
        <p:spPr bwMode="auto">
          <a:xfrm rot="1800000">
            <a:off x="38322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82" name="AutoShape 803"/>
          <p:cNvSpPr>
            <a:spLocks noChangeArrowheads="1"/>
          </p:cNvSpPr>
          <p:nvPr/>
        </p:nvSpPr>
        <p:spPr bwMode="auto">
          <a:xfrm>
            <a:off x="3832225" y="394831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83" name="AutoShape 804"/>
          <p:cNvSpPr>
            <a:spLocks noChangeArrowheads="1"/>
          </p:cNvSpPr>
          <p:nvPr/>
        </p:nvSpPr>
        <p:spPr bwMode="auto">
          <a:xfrm rot="1800000">
            <a:off x="3832225" y="3948311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84" name="Picture 2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22738" y="38530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5" name="Picture 2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62425" y="38260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6" name="Picture 2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98938" y="38340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7" name="Picture 2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24338" y="3841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" name="Picture 2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52913" y="38609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9" name="Picture 2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60850" y="3854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0" name="Picture 2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56088" y="39213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1" name="Picture 2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08463" y="39022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2" name="Picture 2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44963" y="39165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3" name="Picture 2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13213" y="39562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4" name="Picture 2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13225" y="395466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5" name="Picture 2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08463" y="3986411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6" name="Picture 26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57675" y="39943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7" name="AutoShape 686"/>
          <p:cNvSpPr>
            <a:spLocks noChangeArrowheads="1"/>
          </p:cNvSpPr>
          <p:nvPr/>
        </p:nvSpPr>
        <p:spPr bwMode="auto">
          <a:xfrm>
            <a:off x="4289425" y="3894336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98" name="AutoShape 687"/>
          <p:cNvSpPr>
            <a:spLocks noChangeArrowheads="1"/>
          </p:cNvSpPr>
          <p:nvPr/>
        </p:nvSpPr>
        <p:spPr bwMode="auto">
          <a:xfrm rot="1800000">
            <a:off x="4289425" y="3894336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99" name="AutoShape 773"/>
          <p:cNvSpPr>
            <a:spLocks noChangeArrowheads="1"/>
          </p:cNvSpPr>
          <p:nvPr/>
        </p:nvSpPr>
        <p:spPr bwMode="auto">
          <a:xfrm>
            <a:off x="4213225" y="3894336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0" name="AutoShape 774"/>
          <p:cNvSpPr>
            <a:spLocks noChangeArrowheads="1"/>
          </p:cNvSpPr>
          <p:nvPr/>
        </p:nvSpPr>
        <p:spPr bwMode="auto">
          <a:xfrm rot="1800000">
            <a:off x="4213225" y="3894336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1" name="AutoShape 776"/>
          <p:cNvSpPr>
            <a:spLocks noChangeArrowheads="1"/>
          </p:cNvSpPr>
          <p:nvPr/>
        </p:nvSpPr>
        <p:spPr bwMode="auto">
          <a:xfrm>
            <a:off x="4213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2" name="AutoShape 777"/>
          <p:cNvSpPr>
            <a:spLocks noChangeArrowheads="1"/>
          </p:cNvSpPr>
          <p:nvPr/>
        </p:nvSpPr>
        <p:spPr bwMode="auto">
          <a:xfrm rot="1800000">
            <a:off x="4213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3" name="AutoShape 800"/>
          <p:cNvSpPr>
            <a:spLocks noChangeArrowheads="1"/>
          </p:cNvSpPr>
          <p:nvPr/>
        </p:nvSpPr>
        <p:spPr bwMode="auto">
          <a:xfrm>
            <a:off x="4213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4" name="AutoShape 801"/>
          <p:cNvSpPr>
            <a:spLocks noChangeArrowheads="1"/>
          </p:cNvSpPr>
          <p:nvPr/>
        </p:nvSpPr>
        <p:spPr bwMode="auto">
          <a:xfrm rot="1800000">
            <a:off x="4213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5" name="AutoShape 806"/>
          <p:cNvSpPr>
            <a:spLocks noChangeArrowheads="1"/>
          </p:cNvSpPr>
          <p:nvPr/>
        </p:nvSpPr>
        <p:spPr bwMode="auto">
          <a:xfrm>
            <a:off x="42894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6" name="AutoShape 807"/>
          <p:cNvSpPr>
            <a:spLocks noChangeArrowheads="1"/>
          </p:cNvSpPr>
          <p:nvPr/>
        </p:nvSpPr>
        <p:spPr bwMode="auto">
          <a:xfrm rot="1800000">
            <a:off x="42894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807" name="Picture 2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3250" y="3854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" name="Picture 2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52937" y="38276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" name="Picture 2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9450" y="38355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0" name="Picture 2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14850" y="38435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1" name="Picture 2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43425" y="386258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2" name="Picture 2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9937" y="38800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3" name="Picture 27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9229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4" name="Picture 2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4687" y="39086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5" name="Picture 2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35475" y="39181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6" name="Picture 2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03725" y="39578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7" name="Picture 2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03737" y="39562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8" name="Picture 27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8975" y="39879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" name="Picture 2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48187" y="39959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" name="Picture 2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6275" y="3864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" name="AutoShape 648"/>
          <p:cNvSpPr>
            <a:spLocks noChangeArrowheads="1"/>
          </p:cNvSpPr>
          <p:nvPr/>
        </p:nvSpPr>
        <p:spPr bwMode="auto">
          <a:xfrm>
            <a:off x="4459287" y="38879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2" name="AutoShape 649"/>
          <p:cNvSpPr>
            <a:spLocks noChangeArrowheads="1"/>
          </p:cNvSpPr>
          <p:nvPr/>
        </p:nvSpPr>
        <p:spPr bwMode="auto">
          <a:xfrm rot="1800000">
            <a:off x="4459287" y="38879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3" name="AutoShape 701"/>
          <p:cNvSpPr>
            <a:spLocks noChangeArrowheads="1"/>
          </p:cNvSpPr>
          <p:nvPr/>
        </p:nvSpPr>
        <p:spPr bwMode="auto">
          <a:xfrm>
            <a:off x="4529137" y="38879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4" name="AutoShape 702"/>
          <p:cNvSpPr>
            <a:spLocks noChangeArrowheads="1"/>
          </p:cNvSpPr>
          <p:nvPr/>
        </p:nvSpPr>
        <p:spPr bwMode="auto">
          <a:xfrm rot="1800000">
            <a:off x="4529137" y="38879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5" name="AutoShape 779"/>
          <p:cNvSpPr>
            <a:spLocks noChangeArrowheads="1"/>
          </p:cNvSpPr>
          <p:nvPr/>
        </p:nvSpPr>
        <p:spPr bwMode="auto">
          <a:xfrm>
            <a:off x="4594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6" name="AutoShape 780"/>
          <p:cNvSpPr>
            <a:spLocks noChangeArrowheads="1"/>
          </p:cNvSpPr>
          <p:nvPr/>
        </p:nvSpPr>
        <p:spPr bwMode="auto">
          <a:xfrm rot="1800000">
            <a:off x="45942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7" name="AutoShape 809"/>
          <p:cNvSpPr>
            <a:spLocks noChangeArrowheads="1"/>
          </p:cNvSpPr>
          <p:nvPr/>
        </p:nvSpPr>
        <p:spPr bwMode="auto">
          <a:xfrm>
            <a:off x="4491037" y="40022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8" name="AutoShape 810"/>
          <p:cNvSpPr>
            <a:spLocks noChangeArrowheads="1"/>
          </p:cNvSpPr>
          <p:nvPr/>
        </p:nvSpPr>
        <p:spPr bwMode="auto">
          <a:xfrm rot="1800000">
            <a:off x="4491037" y="40022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829" name="Picture 2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25838" y="38578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0" name="Picture 2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68700" y="38816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1" name="Picture 2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94100" y="386258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2" name="Picture 2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19500" y="38467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3" name="Picture 2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43313" y="38736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4" name="Picture 2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67125" y="39070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5" name="Picture 2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2838" y="39070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6" name="Picture 2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92513" y="39054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7" name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67113" y="39308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8" name="Picture 2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52825" y="392608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" name="Picture 2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16325" y="3981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0" name="Picture 2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2838" y="39578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1" name="Picture 2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63950" y="38594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2" name="Picture 6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73475" y="39800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3" name="Picture 6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21075" y="39752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4" name="AutoShape 689"/>
          <p:cNvSpPr>
            <a:spLocks noChangeArrowheads="1"/>
          </p:cNvSpPr>
          <p:nvPr/>
        </p:nvSpPr>
        <p:spPr bwMode="auto">
          <a:xfrm>
            <a:off x="3624263" y="39006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45" name="AutoShape 690"/>
          <p:cNvSpPr>
            <a:spLocks noChangeArrowheads="1"/>
          </p:cNvSpPr>
          <p:nvPr/>
        </p:nvSpPr>
        <p:spPr bwMode="auto">
          <a:xfrm rot="1800000">
            <a:off x="3624263" y="390068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46" name="AutoShape 812"/>
          <p:cNvSpPr>
            <a:spLocks noChangeArrowheads="1"/>
          </p:cNvSpPr>
          <p:nvPr/>
        </p:nvSpPr>
        <p:spPr bwMode="auto">
          <a:xfrm>
            <a:off x="36798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47" name="AutoShape 813"/>
          <p:cNvSpPr>
            <a:spLocks noChangeArrowheads="1"/>
          </p:cNvSpPr>
          <p:nvPr/>
        </p:nvSpPr>
        <p:spPr bwMode="auto">
          <a:xfrm rot="1800000">
            <a:off x="36798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48" name="AutoShape 815"/>
          <p:cNvSpPr>
            <a:spLocks noChangeArrowheads="1"/>
          </p:cNvSpPr>
          <p:nvPr/>
        </p:nvSpPr>
        <p:spPr bwMode="auto">
          <a:xfrm>
            <a:off x="3679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49" name="AutoShape 816"/>
          <p:cNvSpPr>
            <a:spLocks noChangeArrowheads="1"/>
          </p:cNvSpPr>
          <p:nvPr/>
        </p:nvSpPr>
        <p:spPr bwMode="auto">
          <a:xfrm rot="1800000">
            <a:off x="3679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50" name="AutoShape 821"/>
          <p:cNvSpPr>
            <a:spLocks noChangeArrowheads="1"/>
          </p:cNvSpPr>
          <p:nvPr/>
        </p:nvSpPr>
        <p:spPr bwMode="auto">
          <a:xfrm>
            <a:off x="3651250" y="389433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51" name="AutoShape 822"/>
          <p:cNvSpPr>
            <a:spLocks noChangeArrowheads="1"/>
          </p:cNvSpPr>
          <p:nvPr/>
        </p:nvSpPr>
        <p:spPr bwMode="auto">
          <a:xfrm rot="1800000">
            <a:off x="3651250" y="3894335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852" name="Picture 2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0563" y="38546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3" name="Picture 2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67075" y="38689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4" name="Picture 2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14700" y="383718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5" name="Picture 2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0100" y="38467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6" name="Picture 2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71850" y="38641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" name="Picture 2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76613" y="39022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8" name="Picture 2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9625" y="39117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" name="Picture 2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9308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" name="Picture 2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71838" y="39451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" name="Picture 2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89300" y="39102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" name="Picture 2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9625" y="39578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3" name="Picture 2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4075" y="38990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4" name="Picture 2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73438" y="39721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5" name="Picture 6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08350" y="39991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6" name="Picture 66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67088" y="398799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7" name="Picture 6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40088" y="39165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8" name="Picture 6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17875" y="39943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" name="AutoShape 692"/>
          <p:cNvSpPr>
            <a:spLocks noChangeArrowheads="1"/>
          </p:cNvSpPr>
          <p:nvPr/>
        </p:nvSpPr>
        <p:spPr bwMode="auto">
          <a:xfrm>
            <a:off x="3403600" y="3948310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70" name="AutoShape 693"/>
          <p:cNvSpPr>
            <a:spLocks noChangeArrowheads="1"/>
          </p:cNvSpPr>
          <p:nvPr/>
        </p:nvSpPr>
        <p:spPr bwMode="auto">
          <a:xfrm rot="1800000">
            <a:off x="3403600" y="3948310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71" name="AutoShape 818"/>
          <p:cNvSpPr>
            <a:spLocks noChangeArrowheads="1"/>
          </p:cNvSpPr>
          <p:nvPr/>
        </p:nvSpPr>
        <p:spPr bwMode="auto">
          <a:xfrm>
            <a:off x="33750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72" name="AutoShape 819"/>
          <p:cNvSpPr>
            <a:spLocks noChangeArrowheads="1"/>
          </p:cNvSpPr>
          <p:nvPr/>
        </p:nvSpPr>
        <p:spPr bwMode="auto">
          <a:xfrm rot="1800000">
            <a:off x="3375025" y="39594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73" name="AutoShape 824"/>
          <p:cNvSpPr>
            <a:spLocks noChangeArrowheads="1"/>
          </p:cNvSpPr>
          <p:nvPr/>
        </p:nvSpPr>
        <p:spPr bwMode="auto">
          <a:xfrm>
            <a:off x="3298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74" name="AutoShape 825"/>
          <p:cNvSpPr>
            <a:spLocks noChangeArrowheads="1"/>
          </p:cNvSpPr>
          <p:nvPr/>
        </p:nvSpPr>
        <p:spPr bwMode="auto">
          <a:xfrm rot="1800000">
            <a:off x="32988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875" name="Picture 1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8435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" name="Picture 1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93987" y="387052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7" name="Picture 6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82887" y="382766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8" name="Picture 19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03512" y="3894335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9" name="Picture 19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95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" name="Picture 1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57487" y="39229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1" name="Picture 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60662" y="39483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2" name="Picture 2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13037" y="3953073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3" name="Picture 6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872110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4" name="Picture 6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8125" y="3968948"/>
            <a:ext cx="1238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5" name="AutoShape 677"/>
          <p:cNvSpPr>
            <a:spLocks noChangeArrowheads="1"/>
          </p:cNvSpPr>
          <p:nvPr/>
        </p:nvSpPr>
        <p:spPr bwMode="auto">
          <a:xfrm>
            <a:off x="2825750" y="392767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86" name="AutoShape 678"/>
          <p:cNvSpPr>
            <a:spLocks noChangeArrowheads="1"/>
          </p:cNvSpPr>
          <p:nvPr/>
        </p:nvSpPr>
        <p:spPr bwMode="auto">
          <a:xfrm rot="1800000">
            <a:off x="2825750" y="392767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87" name="AutoShape 827"/>
          <p:cNvSpPr>
            <a:spLocks noChangeArrowheads="1"/>
          </p:cNvSpPr>
          <p:nvPr/>
        </p:nvSpPr>
        <p:spPr bwMode="auto">
          <a:xfrm>
            <a:off x="27654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88" name="AutoShape 828"/>
          <p:cNvSpPr>
            <a:spLocks noChangeArrowheads="1"/>
          </p:cNvSpPr>
          <p:nvPr/>
        </p:nvSpPr>
        <p:spPr bwMode="auto">
          <a:xfrm rot="1800000">
            <a:off x="2765425" y="3883223"/>
            <a:ext cx="107950" cy="107950"/>
          </a:xfrm>
          <a:prstGeom prst="star5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89" name="Text Box 855"/>
          <p:cNvSpPr txBox="1">
            <a:spLocks noChangeArrowheads="1"/>
          </p:cNvSpPr>
          <p:nvPr/>
        </p:nvSpPr>
        <p:spPr bwMode="auto">
          <a:xfrm>
            <a:off x="2994025" y="3349823"/>
            <a:ext cx="2743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latin typeface="Arial" charset="0"/>
              </a:rPr>
              <a:t>Normal Voltage Serial Register</a:t>
            </a:r>
          </a:p>
        </p:txBody>
      </p:sp>
      <p:sp>
        <p:nvSpPr>
          <p:cNvPr id="890" name="Text Box 935"/>
          <p:cNvSpPr txBox="1">
            <a:spLocks noChangeArrowheads="1"/>
          </p:cNvSpPr>
          <p:nvPr/>
        </p:nvSpPr>
        <p:spPr bwMode="auto">
          <a:xfrm>
            <a:off x="2994025" y="4416623"/>
            <a:ext cx="2743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latin typeface="Arial" charset="0"/>
              </a:rPr>
              <a:t>High Voltage Serial Register</a:t>
            </a:r>
          </a:p>
        </p:txBody>
      </p:sp>
      <p:sp>
        <p:nvSpPr>
          <p:cNvPr id="893" name="Text Box 967"/>
          <p:cNvSpPr txBox="1">
            <a:spLocks noChangeArrowheads="1"/>
          </p:cNvSpPr>
          <p:nvPr/>
        </p:nvSpPr>
        <p:spPr bwMode="auto">
          <a:xfrm>
            <a:off x="1775618" y="5715000"/>
            <a:ext cx="6570663" cy="646331"/>
          </a:xfrm>
          <a:prstGeom prst="rect">
            <a:avLst/>
          </a:prstGeom>
          <a:solidFill>
            <a:schemeClr val="bg1">
              <a:alpha val="85881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Back-illuminated, frame-transfer CCD (for &gt;90% QE</a:t>
            </a:r>
            <a:r>
              <a:rPr 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) or standard front-illuminated (65% QE)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25949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17" name="Rectangle 9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EMCCD Cameras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7312" y="1676399"/>
            <a:ext cx="6701288" cy="449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5949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this Help?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are trying to measure signal that is lower than the read noise – You’re not going to see anything</a:t>
            </a:r>
          </a:p>
          <a:p>
            <a:endParaRPr lang="en-US" dirty="0" smtClean="0"/>
          </a:p>
          <a:p>
            <a:r>
              <a:rPr lang="en-US" dirty="0" smtClean="0"/>
              <a:t>If you multiply up the signal over the read-noise – Then you’ll see something.</a:t>
            </a:r>
          </a:p>
          <a:p>
            <a:endParaRPr lang="en-US" dirty="0" smtClean="0"/>
          </a:p>
          <a:p>
            <a:r>
              <a:rPr lang="en-US" dirty="0" smtClean="0"/>
              <a:t>But – the signal you’re measuring isn’t actually changing. </a:t>
            </a:r>
          </a:p>
          <a:p>
            <a:endParaRPr lang="en-US" dirty="0" smtClean="0"/>
          </a:p>
          <a:p>
            <a:r>
              <a:rPr lang="en-US" dirty="0" smtClean="0"/>
              <a:t>You’re effectively reducing the read noise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Reduction of Read Noise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EM Gain factor of 200X</a:t>
            </a:r>
          </a:p>
          <a:p>
            <a:endParaRPr lang="en-US" dirty="0" smtClean="0"/>
          </a:p>
          <a:p>
            <a:r>
              <a:rPr lang="en-US" dirty="0" smtClean="0"/>
              <a:t>Boost Signal 200X</a:t>
            </a:r>
          </a:p>
          <a:p>
            <a:endParaRPr lang="en-US" dirty="0" smtClean="0"/>
          </a:p>
          <a:p>
            <a:r>
              <a:rPr lang="en-US" dirty="0" smtClean="0"/>
              <a:t>Equivalent to reducing the read noise by a factor of 200X</a:t>
            </a:r>
          </a:p>
          <a:p>
            <a:endParaRPr lang="en-US" dirty="0" smtClean="0"/>
          </a:p>
          <a:p>
            <a:r>
              <a:rPr lang="en-US" dirty="0" smtClean="0"/>
              <a:t>If Read Noise is 50e-, after EM gain, it is equal to 0.25e-</a:t>
            </a:r>
          </a:p>
          <a:p>
            <a:endParaRPr lang="en-US" dirty="0" smtClean="0"/>
          </a:p>
          <a:p>
            <a:r>
              <a:rPr lang="en-US" dirty="0" smtClean="0"/>
              <a:t>Allows extremely low-light detection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 Signals Below the Read-Noise</a:t>
            </a:r>
            <a:endParaRPr lang="en-US" dirty="0"/>
          </a:p>
        </p:txBody>
      </p:sp>
      <p:pic>
        <p:nvPicPr>
          <p:cNvPr id="4" name="Picture 5" descr="SMF-Cascade-100ms-cmg6-fa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332037"/>
            <a:ext cx="3297826" cy="249439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Picture 8" descr="SMF-Cascade-100ms-cmg135-fast-RO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2362200"/>
            <a:ext cx="3343366" cy="246423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652667" y="504086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Without EM Gain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30867" y="502920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With EM Gain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Downfalls of EMCCDs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Clock Induced Charge increases</a:t>
            </a:r>
          </a:p>
          <a:p>
            <a:pPr lvl="1"/>
            <a:r>
              <a:rPr lang="en-US" dirty="0" smtClean="0"/>
              <a:t>Time independent (unlike dark current)</a:t>
            </a:r>
          </a:p>
          <a:p>
            <a:pPr lvl="1"/>
            <a:r>
              <a:rPr lang="en-US" dirty="0" smtClean="0"/>
              <a:t>Increases background events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Excess Noise Factor</a:t>
            </a:r>
          </a:p>
          <a:p>
            <a:pPr lvl="1"/>
            <a:r>
              <a:rPr lang="en-US" dirty="0" smtClean="0"/>
              <a:t>Increases noise by a factor of ~1.4</a:t>
            </a:r>
          </a:p>
          <a:p>
            <a:pPr lvl="1"/>
            <a:r>
              <a:rPr lang="en-US" dirty="0" smtClean="0"/>
              <a:t>“Halves the Quantum Efficiency” – Not exactly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Loss of Full Well Capacity</a:t>
            </a:r>
          </a:p>
          <a:p>
            <a:pPr lvl="1"/>
            <a:r>
              <a:rPr lang="en-US" dirty="0" smtClean="0"/>
              <a:t>Inversely proportional to the amount of EM Gain applied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Aging of EM Gain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Excess Noise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1905000"/>
            <a:ext cx="2209800" cy="4343400"/>
          </a:xfrm>
        </p:spPr>
        <p:txBody>
          <a:bodyPr/>
          <a:lstStyle/>
          <a:p>
            <a:r>
              <a:rPr lang="en-US" dirty="0" smtClean="0"/>
              <a:t>Increases only Shot Noise and Dark Noise by a factor </a:t>
            </a:r>
            <a:r>
              <a:rPr lang="en-US" dirty="0"/>
              <a:t>of ~√2 </a:t>
            </a:r>
            <a:r>
              <a:rPr lang="en-US" dirty="0" smtClean="0"/>
              <a:t>or ~1.4</a:t>
            </a:r>
          </a:p>
          <a:p>
            <a:r>
              <a:rPr lang="en-US" dirty="0" smtClean="0"/>
              <a:t>Important at higher light levels, where images are dominated by Shot Noise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5286368" cy="401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06258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Calibrate your EM Gain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EM Gain ages – setting 300X doesn’t always provide 300X…</a:t>
            </a:r>
          </a:p>
          <a:p>
            <a:endParaRPr lang="en-US" dirty="0" smtClean="0"/>
          </a:p>
          <a:p>
            <a:r>
              <a:rPr lang="en-US" dirty="0" smtClean="0"/>
              <a:t>Most Cameras provide you the ability to calibrate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Sweet Spot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Maximum EM Gain is not the best setting</a:t>
            </a:r>
          </a:p>
          <a:p>
            <a:pPr lvl="1"/>
            <a:r>
              <a:rPr lang="en-US" dirty="0" smtClean="0"/>
              <a:t>Maximizes Excess Noise</a:t>
            </a:r>
          </a:p>
          <a:p>
            <a:pPr lvl="1"/>
            <a:r>
              <a:rPr lang="en-US" dirty="0" smtClean="0"/>
              <a:t>Maximizes Clock Induced Charge/Spurious noise</a:t>
            </a:r>
          </a:p>
          <a:p>
            <a:pPr lvl="1"/>
            <a:r>
              <a:rPr lang="en-US" dirty="0" smtClean="0"/>
              <a:t>Drastically reduced Dynamic Range</a:t>
            </a:r>
          </a:p>
          <a:p>
            <a:pPr lvl="1"/>
            <a:r>
              <a:rPr lang="en-US" dirty="0" smtClean="0"/>
              <a:t>Read Noise asymptotically reaches a minimum Read Noise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Reduce the Read Noise to &lt;1e-</a:t>
            </a:r>
          </a:p>
          <a:p>
            <a:pPr lvl="1"/>
            <a:r>
              <a:rPr lang="en-US" dirty="0" smtClean="0"/>
              <a:t>No more EM Gain needed</a:t>
            </a:r>
          </a:p>
          <a:p>
            <a:pPr lvl="1"/>
            <a:r>
              <a:rPr lang="en-US" dirty="0" smtClean="0"/>
              <a:t>Maximize the sensitivity, minimize the noise</a:t>
            </a:r>
          </a:p>
          <a:p>
            <a:pPr lvl="1"/>
            <a:r>
              <a:rPr lang="en-US" dirty="0" smtClean="0"/>
              <a:t>Extend the life of the EM Gain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152400" y="4933652"/>
            <a:ext cx="8686800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63550" indent="-463550"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With increasing EM Gain – ADU’s </a:t>
            </a: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increase, But Signal detected by the sensor remains constant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463550" indent="-463550">
              <a:buFont typeface="Arial" charset="0"/>
              <a:buChar char="•"/>
              <a:defRPr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463550" indent="-463550">
              <a:buFont typeface="Arial" charset="0"/>
              <a:buChar char="•"/>
              <a:defRPr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After a certain point, the electron count will remain the same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463550" indent="-463550">
              <a:buFont typeface="Arial" charset="0"/>
              <a:buChar char="•"/>
              <a:defRPr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463550" indent="-463550">
              <a:buFont typeface="Arial" charset="0"/>
              <a:buChar char="•"/>
              <a:defRPr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457200" y="1447800"/>
          <a:ext cx="38100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4419600" y="1447800"/>
          <a:ext cx="39624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="" xmlns:p14="http://schemas.microsoft.com/office/powerpoint/2010/main" val="406600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EMCCD’s – A Summary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844040"/>
            <a:ext cx="8229600" cy="428212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Light Imaging that requires Speed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Effectively reduces your EM Gain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perfect technology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endParaRPr lang="en-US" sz="2000" baseline="0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Find the Sweet Spot – Don’t need more EM than this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74A7C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04800"/>
            <a:ext cx="77724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3200" smtClean="0">
              <a:latin typeface="Calibri" pitchFamily="34" charset="0"/>
            </a:endParaRPr>
          </a:p>
        </p:txBody>
      </p:sp>
      <p:sp>
        <p:nvSpPr>
          <p:cNvPr id="79875" name="TextBox 2"/>
          <p:cNvSpPr txBox="1">
            <a:spLocks noChangeArrowheads="1"/>
          </p:cNvSpPr>
          <p:nvPr/>
        </p:nvSpPr>
        <p:spPr bwMode="auto">
          <a:xfrm>
            <a:off x="838200" y="2133600"/>
            <a:ext cx="76962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8800">
                <a:latin typeface="Calibri" pitchFamily="34" charset="0"/>
              </a:rPr>
              <a:t>Thank You!</a:t>
            </a:r>
          </a:p>
          <a:p>
            <a:pPr algn="ctr"/>
            <a:endParaRPr lang="en-US" sz="2000">
              <a:latin typeface="Calibri" pitchFamily="34" charset="0"/>
            </a:endParaRPr>
          </a:p>
          <a:p>
            <a:pPr algn="ctr"/>
            <a:endParaRPr lang="en-US" sz="2000">
              <a:latin typeface="Calibri" pitchFamily="34" charset="0"/>
            </a:endParaRP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457200" y="3886200"/>
            <a:ext cx="8229600" cy="1981200"/>
          </a:xfrm>
          <a:prstGeom prst="rect">
            <a:avLst/>
          </a:prstGeom>
          <a:solidFill>
            <a:srgbClr val="D1EB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5800" y="4114800"/>
            <a:ext cx="7772400" cy="1600200"/>
          </a:xfrm>
          <a:prstGeom prst="rect">
            <a:avLst/>
          </a:prstGeom>
          <a:solidFill>
            <a:srgbClr val="D1EBFF"/>
          </a:solidFill>
          <a:ln>
            <a:miter lim="800000"/>
            <a:headEnd/>
            <a:tailEnd/>
          </a:ln>
        </p:spPr>
        <p:txBody>
          <a:bodyPr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Verdana" pitchFamily="34" charset="0"/>
              </a:rPr>
              <a:t>For more information please visit:-</a:t>
            </a:r>
          </a:p>
          <a:p>
            <a:pPr marL="800100" lvl="1" indent="-342900" algn="ctr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latin typeface="Verdana" pitchFamily="34" charset="0"/>
            </a:endParaRPr>
          </a:p>
          <a:p>
            <a:pPr marL="800100" lvl="1" indent="-342900" algn="ctr" eaLnBrk="0" hangingPunct="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 smtClean="0">
                <a:latin typeface="Verdana" pitchFamily="34" charset="0"/>
                <a:hlinkClick r:id="rId2"/>
              </a:rPr>
              <a:t>www.photometrics.com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>
                <a:latin typeface="Verdana" pitchFamily="34" charset="0"/>
              </a:rPr>
              <a:t/>
            </a:r>
            <a:br>
              <a:rPr lang="en-US" sz="2000" kern="0" dirty="0">
                <a:latin typeface="Verdana" pitchFamily="34" charset="0"/>
              </a:rPr>
            </a:br>
            <a:endParaRPr lang="en-US" sz="2000" kern="0" dirty="0">
              <a:latin typeface="Verdana" pitchFamily="34" charset="0"/>
            </a:endParaRP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solidFill>
                <a:schemeClr val="accent2"/>
              </a:solidFill>
              <a:latin typeface="Verdana" pitchFamily="34" charset="0"/>
            </a:endParaRP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–"/>
              <a:defRPr/>
            </a:pPr>
            <a:endParaRPr lang="en-US" sz="2000" kern="0" dirty="0">
              <a:solidFill>
                <a:schemeClr val="accent2"/>
              </a:solidFill>
              <a:latin typeface="Verdana" pitchFamily="34" charset="0"/>
            </a:endParaRP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solidFill>
                <a:schemeClr val="accent2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132473"/>
      </a:accent1>
      <a:accent2>
        <a:srgbClr val="6EC6A8"/>
      </a:accent2>
      <a:accent3>
        <a:srgbClr val="4884C4"/>
      </a:accent3>
      <a:accent4>
        <a:srgbClr val="F8981D"/>
      </a:accent4>
      <a:accent5>
        <a:srgbClr val="5D9732"/>
      </a:accent5>
      <a:accent6>
        <a:srgbClr val="9B5BA4"/>
      </a:accent6>
      <a:hlink>
        <a:srgbClr val="1F5E9D"/>
      </a:hlink>
      <a:folHlink>
        <a:srgbClr val="1F5E9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0000"/>
    </a:dk2>
    <a:lt2>
      <a:srgbClr val="808080"/>
    </a:lt2>
    <a:accent1>
      <a:srgbClr val="0067B1"/>
    </a:accent1>
    <a:accent2>
      <a:srgbClr val="6EC6A8"/>
    </a:accent2>
    <a:accent3>
      <a:srgbClr val="4884C4"/>
    </a:accent3>
    <a:accent4>
      <a:srgbClr val="F8981D"/>
    </a:accent4>
    <a:accent5>
      <a:srgbClr val="5D9732"/>
    </a:accent5>
    <a:accent6>
      <a:srgbClr val="9B5BA4"/>
    </a:accent6>
    <a:hlink>
      <a:srgbClr val="0067B1"/>
    </a:hlink>
    <a:folHlink>
      <a:srgbClr val="0067B1"/>
    </a:folHlink>
  </a:clrScheme>
  <a:fontScheme name="Aspect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0000"/>
    </a:dk2>
    <a:lt2>
      <a:srgbClr val="808080"/>
    </a:lt2>
    <a:accent1>
      <a:srgbClr val="0067B1"/>
    </a:accent1>
    <a:accent2>
      <a:srgbClr val="6EC6A8"/>
    </a:accent2>
    <a:accent3>
      <a:srgbClr val="4884C4"/>
    </a:accent3>
    <a:accent4>
      <a:srgbClr val="F8981D"/>
    </a:accent4>
    <a:accent5>
      <a:srgbClr val="5D9732"/>
    </a:accent5>
    <a:accent6>
      <a:srgbClr val="9B5BA4"/>
    </a:accent6>
    <a:hlink>
      <a:srgbClr val="0067B1"/>
    </a:hlink>
    <a:folHlink>
      <a:srgbClr val="0067B1"/>
    </a:folHlink>
  </a:clrScheme>
  <a:fontScheme name="Aspect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3701</TotalTime>
  <Words>448</Words>
  <Application>Microsoft Office PowerPoint</Application>
  <PresentationFormat>On-screen Show (4:3)</PresentationFormat>
  <Paragraphs>100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PM theme</vt:lpstr>
      <vt:lpstr>EMCCD Cameras</vt:lpstr>
      <vt:lpstr>EMCCDs – The Need for Low Light Imaging</vt:lpstr>
      <vt:lpstr>CCD Image Acquisition</vt:lpstr>
      <vt:lpstr>EMCCD Cameras</vt:lpstr>
      <vt:lpstr>EMCCD Cameras</vt:lpstr>
      <vt:lpstr>How Does this Help?</vt:lpstr>
      <vt:lpstr>Reduction of Read Noise</vt:lpstr>
      <vt:lpstr>Detect Signals Below the Read-Noise</vt:lpstr>
      <vt:lpstr>Downfalls of EMCCDs</vt:lpstr>
      <vt:lpstr>Excess Noise Factor</vt:lpstr>
      <vt:lpstr>Calibrate your EM Gain</vt:lpstr>
      <vt:lpstr>The Sweet Spot</vt:lpstr>
      <vt:lpstr>Slide 13</vt:lpstr>
      <vt:lpstr>EMCCD’s – A Summary</vt:lpstr>
      <vt:lpstr>Slide 15</vt:lpstr>
    </vt:vector>
  </TitlesOfParts>
  <Company>Manas Design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Melissa Manas</dc:creator>
  <cp:lastModifiedBy>Rachit Mohindra</cp:lastModifiedBy>
  <cp:revision>119</cp:revision>
  <dcterms:created xsi:type="dcterms:W3CDTF">2010-10-08T14:14:41Z</dcterms:created>
  <dcterms:modified xsi:type="dcterms:W3CDTF">2012-03-31T17:37:11Z</dcterms:modified>
</cp:coreProperties>
</file>